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~30 seconds  ·  OPENING</a:t>
            </a:r>
          </a:p>
          <a:p/>
          <a:p>
            <a:r>
              <a:t>Good morning. We are group FYP-26-S3-13, and this is our Human-in-the-Loop</a:t>
            </a:r>
          </a:p>
          <a:p>
            <a:r>
              <a:t>Intrusion Detection Dashboard.</a:t>
            </a:r>
          </a:p>
          <a:p/>
          <a:p>
            <a:r>
              <a:t>The short version of the whole project: two detectors disagree about a piece of</a:t>
            </a:r>
          </a:p>
          <a:p>
            <a:r>
              <a:t>network traffic, an analyst decides who is right, and the system carries that</a:t>
            </a:r>
          </a:p>
          <a:p>
            <a:r>
              <a:t>decision to every alert like it — inside limits that explain themselves.</a:t>
            </a:r>
          </a:p>
          <a:p/>
          <a:p>
            <a:r>
              <a:t>We will take about fifteen minutes, then show you the console running.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~20 seconds</a:t>
            </a:r>
          </a:p>
          <a:p/>
          <a:p>
            <a:r>
              <a:t>Six parts, one speaker each. The problem and the research behind it. What we</a:t>
            </a:r>
          </a:p>
          <a:p>
            <a:r>
              <a:t>built and why it is built this way. The workflow end to end. Where we sit</a:t>
            </a:r>
          </a:p>
          <a:p>
            <a:r>
              <a:t>against the commercial tools. The live demo. Then the team and what comes next.</a:t>
            </a:r>
          </a:p>
          <a:p/>
          <a:p>
            <a:r>
              <a:t>Everything technical — the dataset, the mathematics, the evaluation — is held in</a:t>
            </a:r>
          </a:p>
          <a:p>
            <a:r>
              <a:t>an appendix at the back. If you want any of it, ask and we will go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PART ONE</a:t>
            </a:r>
          </a:p>
          <a:p/>
          <a:p>
            <a:r>
              <a:t>The problem is not that we cannot detect attacks. It is that we detect far more</a:t>
            </a:r>
          </a:p>
          <a:p>
            <a:r>
              <a:t>than anyone can read.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~60 seconds</a:t>
            </a:r>
          </a:p>
          <a:p/>
          <a:p>
            <a:r>
              <a:t>A modern network produces more security events than a team can work through.</a:t>
            </a:r>
          </a:p>
          <a:p>
            <a:r>
              <a:t>Most are low value, and they pile up.</a:t>
            </a:r>
          </a:p>
          <a:p/>
          <a:p>
            <a:r>
              <a:t>Both kinds of detector have the same blind spot. A signature rule knows a</a:t>
            </a:r>
          </a:p>
          <a:p>
            <a:r>
              <a:t>pattern. A machine-learning model knows a shape in the data. Neither knows</a:t>
            </a:r>
          </a:p>
          <a:p>
            <a:r>
              <a:t>whether this particular event is authorised — whether that scan is your own</a:t>
            </a:r>
          </a:p>
          <a:p>
            <a:r>
              <a:t>scheduled scan, whether that transfer is a backup job.</a:t>
            </a:r>
          </a:p>
          <a:p/>
          <a:p>
            <a:r>
              <a:t>That judgement is organisational knowledge, and it only exists in the analyst's</a:t>
            </a:r>
          </a:p>
          <a:p>
            <a:r>
              <a:t>head. So the bottleneck has moved: detection is no longer the hard part.</a:t>
            </a:r>
          </a:p>
          <a:p>
            <a:r>
              <a:t>Deciding what deserves a human's attention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~60 seconds</a:t>
            </a:r>
          </a:p>
          <a:p/>
          <a:p>
            <a:r>
              <a:t>We did not assume that — we read the literature, and it shaped specific design</a:t>
            </a:r>
          </a:p>
          <a:p>
            <a:r>
              <a:t>choices.</a:t>
            </a:r>
          </a:p>
          <a:p/>
          <a:p>
            <a:r>
              <a:t>Analysts accept explanations, but only when the explanation is evidence they can</a:t>
            </a:r>
          </a:p>
          <a:p>
            <a:r>
              <a:t>check, not the model's internals. Recommending relevant context raised accuracy</a:t>
            </a:r>
          </a:p>
          <a:p>
            <a:r>
              <a:t>twenty-one per cent and cut validation time by a quarter — so we show a short</a:t>
            </a:r>
          </a:p>
          <a:p>
            <a:r>
              <a:t>curated evidence panel, not every field. Uncalibrated confidence numbers are</a:t>
            </a:r>
          </a:p>
          <a:p>
            <a:r>
              <a:t>hard to read under pressure. And in a ten-month study of analysts using AI, they</a:t>
            </a:r>
          </a:p>
          <a:p>
            <a:r>
              <a:t>kept decision authority and used it to make sense of things.</a:t>
            </a:r>
          </a:p>
          <a:p/>
          <a:p>
            <a:r>
              <a:t>That last one is our whole design: the model advises, the analyst decides.</a:t>
            </a:r>
          </a:p>
          <a:p/>
          <a:p>
            <a:r>
              <a:t>The two papers at the bottom are cited from metadata only. We say so rather than</a:t>
            </a:r>
          </a:p>
          <a:p>
            <a:r>
              <a:t>imply we read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~50 seconds  ·  HANDOFF</a:t>
            </a:r>
          </a:p>
          <a:p/>
          <a:p>
            <a:r>
              <a:t>So why not just automate it?</a:t>
            </a:r>
          </a:p>
          <a:p/>
          <a:p>
            <a:r>
              <a:t>A rule is precise and checkable, but blind to anything new. A model finds what</a:t>
            </a:r>
          </a:p>
          <a:p>
            <a:r>
              <a:t>rules cannot express, but it is opaque. And neither can know your operational</a:t>
            </a:r>
          </a:p>
          <a:p>
            <a:r>
              <a:t>context.</a:t>
            </a:r>
          </a:p>
          <a:p/>
          <a:p>
            <a:r>
              <a:t>The conclusion we draw is not "add more automation". It is: let the machine</a:t>
            </a:r>
          </a:p>
          <a:p>
            <a:r>
              <a:t>narrow the field, let the human supply the context, and — this is the part most</a:t>
            </a:r>
          </a:p>
          <a:p>
            <a:r>
              <a:t>products skip — make the machine tell the analyst where its own evidence is</a:t>
            </a:r>
          </a:p>
          <a:p>
            <a:r>
              <a:t>weak.</a:t>
            </a:r>
          </a:p>
          <a:p/>
          <a:p>
            <a:r>
              <a:t>Hand over: “That is the premise. [Speaker 2] will show you what we built on</a:t>
            </a:r>
          </a:p>
          <a:p>
            <a:r>
              <a:t>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PART TWO</a:t>
            </a:r>
          </a:p>
          <a:p/>
          <a:p>
            <a:r>
              <a:t>Our solution, and the one claim we are willing to defend.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~75 seconds</a:t>
            </a:r>
          </a:p>
          <a:p/>
          <a:p>
            <a:r>
              <a:t>Four things happen to every flow.</a:t>
            </a:r>
          </a:p>
          <a:p/>
          <a:p>
            <a:r>
              <a:t>One: two detectors score it, and fusion turns them into a single alert with one</a:t>
            </a:r>
          </a:p>
          <a:p>
            <a:r>
              <a:t>evidence class, one score, one review flag and one explanation.</a:t>
            </a:r>
          </a:p>
          <a:p/>
          <a:p>
            <a:r>
              <a:t>Two: we show the analyst why — the rule's clauses, the model's prediction, and</a:t>
            </a:r>
          </a:p>
          <a:p>
            <a:r>
              <a:t>which measurements pushed it towards and away.</a:t>
            </a:r>
          </a:p>
          <a:p/>
          <a:p>
            <a:r>
              <a:t>Three: the analyst gives a verdict. That moves the alert's operational score</a:t>
            </a:r>
          </a:p>
          <a:p>
            <a:r>
              <a:t>through the guardrails, and the screen states exactly how far it moved and what</a:t>
            </a:r>
          </a:p>
          <a:p>
            <a:r>
              <a:t>stopped it.</a:t>
            </a:r>
          </a:p>
          <a:p/>
          <a:p>
            <a:r>
              <a:t>Four — this is the part that makes it a product rather than a dashboard — the</a:t>
            </a:r>
          </a:p>
          <a:p>
            <a:r>
              <a:t>verdict teaches the alerts like it, but only once at least three verdicts agree.</a:t>
            </a:r>
          </a:p>
          <a:p/>
          <a:p>
            <a:r>
              <a:t>Read the line at the bottom out loud: we do not claim the hybrid detects more.</a:t>
            </a:r>
          </a:p>
          <a:p>
            <a:r>
              <a:t>It does not, on this data, and our own analysis says so. What it does is tell the</a:t>
            </a:r>
          </a:p>
          <a:p>
            <a:r>
              <a:t>analyst where their attention is worth spending.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~60 seconds  ·  HANDOFF</a:t>
            </a:r>
          </a:p>
          <a:p/>
          <a:p>
            <a:r>
              <a:t>Every row here was forced by a measurement, not a preference.</a:t>
            </a:r>
          </a:p>
          <a:p/>
          <a:p>
            <a:r>
              <a:t>We do not average the two detectors, because their scores are not the same kind</a:t>
            </a:r>
          </a:p>
          <a:p>
            <a:r>
              <a:t>of thing. We tried: a weight sweep left the ranking identical at every setting —</a:t>
            </a:r>
          </a:p>
          <a:p>
            <a:r>
              <a:t>correlation exactly one. Averaging could only hide the problem.</a:t>
            </a:r>
          </a:p>
          <a:p/>
          <a:p>
            <a:r>
              <a:t>We retuned the signature rules to precision one point zero, and they still added</a:t>
            </a:r>
          </a:p>
          <a:p>
            <a:r>
              <a:t>no unique detections. So we stopped justifying that layer by coverage and</a:t>
            </a:r>
          </a:p>
          <a:p>
            <a:r>
              <a:t>justified it by trust instead: when a rule fires, a human can check why.</a:t>
            </a:r>
          </a:p>
          <a:p/>
          <a:p>
            <a:r>
              <a:t>And the ranking formula was chosen by running four candidates, not by arguing for</a:t>
            </a:r>
          </a:p>
          <a:p>
            <a:r>
              <a:t>one.</a:t>
            </a:r>
          </a:p>
          <a:p/>
          <a:p>
            <a:r>
              <a:t>Hand over: “[Speaker 3] will take you through what actually runs.”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PART THREE</a:t>
            </a:r>
          </a:p>
          <a:p/>
          <a:p>
            <a:r>
              <a:t>From a recorded flow to a re-ranked queue.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~75 seconds  ·  HANDOFF</a:t>
            </a:r>
          </a:p>
          <a:p/>
          <a:p>
            <a:r>
              <a:t>Eight stages, left to right. Flow in; both detectors; a detection score; the</a:t>
            </a:r>
          </a:p>
          <a:p>
            <a:r>
              <a:t>analyst; their feedback; the guardrails; an operational priority; a re-ranked</a:t>
            </a:r>
          </a:p>
          <a:p>
            <a:r>
              <a:t>queue.</a:t>
            </a:r>
          </a:p>
          <a:p/>
          <a:p>
            <a:r>
              <a:t>Two things to notice.</a:t>
            </a:r>
          </a:p>
          <a:p/>
          <a:p>
            <a:r>
              <a:t>Every alert carries two scores. The detection score is what the detectors</a:t>
            </a:r>
          </a:p>
          <a:p>
            <a:r>
              <a:t>concluded and never changes. The operational score is the one feedback moves. We</a:t>
            </a:r>
          </a:p>
          <a:p>
            <a:r>
              <a:t>keep both deliberately — the gap between them is the measurable effect of human</a:t>
            </a:r>
          </a:p>
          <a:p>
            <a:r>
              <a:t>judgement, and you will see both columns in the demo.</a:t>
            </a:r>
          </a:p>
          <a:p/>
          <a:p>
            <a:r>
              <a:t>And every flow becomes an alert, including the four thousand nothing flagged.</a:t>
            </a:r>
          </a:p>
          <a:p>
            <a:r>
              <a:t>They are the bottom of the queue and the denominator of our evaluation. We never</a:t>
            </a:r>
          </a:p>
          <a:p>
            <a:r>
              <a:t>quietly drop the traffic that makes the numbers look harder.</a:t>
            </a:r>
          </a:p>
          <a:p/>
          <a:p>
            <a:r>
              <a:t>Hand over: “[Speaker 4] will place this against the tools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PART FOUR</a:t>
            </a:r>
          </a:p>
          <a:p/>
          <a:p>
            <a:r>
              <a:t>Where we sit among the tools a real security team already runs.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~60 seconds</a:t>
            </a:r>
          </a:p>
          <a:p/>
          <a:p>
            <a:r>
              <a:t>Snort and Suricata are mature signature engines. Their matches are explainable,</a:t>
            </a:r>
          </a:p>
          <a:p>
            <a:r>
              <a:t>which is exactly why we kept a rule layer — but every rule hit arrives with the</a:t>
            </a:r>
          </a:p>
          <a:p>
            <a:r>
              <a:t>same standing, and the triage burden passes downstream.</a:t>
            </a:r>
          </a:p>
          <a:p/>
          <a:p>
            <a:r>
              <a:t>Darktrace and Vectra bring behavioural machine learning at enterprise scale, and</a:t>
            </a:r>
          </a:p>
          <a:p>
            <a:r>
              <a:t>are correspondingly opaque as a decision surface.</a:t>
            </a:r>
          </a:p>
          <a:p/>
          <a:p>
            <a:r>
              <a:t>The SIEM consoles — Sentinel, Elastic, Splunk — genuinely have good triage</a:t>
            </a:r>
          </a:p>
          <a:p>
            <a:r>
              <a:t>workflow. We copied from them rather than inventing.</a:t>
            </a:r>
          </a:p>
          <a:p/>
          <a:p>
            <a:r>
              <a:t>The gap in all of them is the same: nothing shows the analyst how their feedback</a:t>
            </a:r>
          </a:p>
          <a:p>
            <a:r>
              <a:t>is supposed to change what they see next.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~60 seconds  ·  HANDOFF</a:t>
            </a:r>
          </a:p>
          <a:p/>
          <a:p>
            <a:r>
              <a:t>This is a Tier 1 tool. The queue is a Tier 1 queue and every verdict is a Tier 1</a:t>
            </a:r>
          </a:p>
          <a:p>
            <a:r>
              <a:t>decision.</a:t>
            </a:r>
          </a:p>
          <a:p/>
          <a:p>
            <a:r>
              <a:t>Our five verdicts are the industry's own words — True Positive, Benign Positive,</a:t>
            </a:r>
          </a:p>
          <a:p>
            <a:r>
              <a:t>False Positive, Needs investigation, Escalate — and they map one-to-one onto the</a:t>
            </a:r>
          </a:p>
          <a:p>
            <a:r>
              <a:t>closing classifications those consoles already require. An analyst who has used</a:t>
            </a:r>
          </a:p>
          <a:p>
            <a:r>
              <a:t>Sentinel does not need retraining.</a:t>
            </a:r>
          </a:p>
          <a:p/>
          <a:p>
            <a:r>
              <a:t>Be direct about the last box. No live capture, no automated blocking, no agents,</a:t>
            </a:r>
          </a:p>
          <a:p>
            <a:r>
              <a:t>no online retraining. Nothing on the screen is invented for the demo — no</a:t>
            </a:r>
          </a:p>
          <a:p>
            <a:r>
              <a:t>geolocation, no threat feeds, no asset names. The console says "Recorded flows",</a:t>
            </a:r>
          </a:p>
          <a:p>
            <a:r>
              <a:t>because that is what it has.</a:t>
            </a:r>
          </a:p>
          <a:p/>
          <a:p>
            <a:r>
              <a:t>Hand over: “[Speaker 5] will show it running.”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5  ·  PART FIVE</a:t>
            </a:r>
          </a:p>
          <a:p/>
          <a:p>
            <a:r>
              <a:t>The demo — what is built, and then the thing itself.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5  ·  ~45 seconds</a:t>
            </a:r>
          </a:p>
          <a:p/>
          <a:p>
            <a:r>
              <a:t>Quickly, what is actually running: five thousand flows become five thousand</a:t>
            </a:r>
          </a:p>
          <a:p>
            <a:r>
              <a:t>alerts; four hundred and sixty-six Python tests and a hundred and fifty-seven web</a:t>
            </a:r>
          </a:p>
          <a:p>
            <a:r>
              <a:t>tests pass; forty-seven rehearsal checks pass against the demo database; and</a:t>
            </a:r>
          </a:p>
          <a:p>
            <a:r>
              <a:t>there are three real accounts, each signing in to its own role — not one user</a:t>
            </a:r>
          </a:p>
          <a:p>
            <a:r>
              <a:t>flipping a dropdown.</a:t>
            </a:r>
          </a:p>
          <a:p/>
          <a:p>
            <a:r>
              <a:t>The line at the bottom is worth saying. The browser end-to-end test caught a</a:t>
            </a:r>
          </a:p>
          <a:p>
            <a:r>
              <a:t>database threading bug that three hundred and eighty-one passing Python tests</a:t>
            </a:r>
          </a:p>
          <a:p>
            <a:r>
              <a:t>missed, because only a real browser fires three reads at once. That is why we</a:t>
            </a:r>
          </a:p>
          <a:p>
            <a:r>
              <a:t>test in a browser and not only in unit tests.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5  ·  THE LIVE DEMO  ·  ~8 minutes</a:t>
            </a:r>
          </a:p>
          <a:p/>
          <a:p>
            <a:r>
              <a:t>SWITCH TO THE CONSOLE NOW. Follow hitl-ids/docs/demo-script.md — this slide is</a:t>
            </a:r>
          </a:p>
          <a:p>
            <a:r>
              <a:t>the fallback if anything fails, and every number on it came from the rehearsal</a:t>
            </a:r>
          </a:p>
          <a:p>
            <a:r>
              <a:t>script, so you can read them straight off.</a:t>
            </a:r>
          </a:p>
          <a:p/>
          <a:p>
            <a:r>
              <a:t>The five beats: sign in and show the two score columns · AL-00478, where the</a:t>
            </a:r>
          </a:p>
          <a:p>
            <a:r>
              <a:t>model is confidently wrong and the guardrail catches the correction at seventy</a:t>
            </a:r>
          </a:p>
          <a:p>
            <a:r>
              <a:t>— SAY THE WORDING MISMATCH YOURSELF: the sentence reads “this alert is</a:t>
            </a:r>
          </a:p>
          <a:p>
            <a:r>
              <a:t>Critical” while the badge reads High, because the floor triggers on the score</a:t>
            </a:r>
          </a:p>
          <a:p>
            <a:r>
              <a:t>reaching eighty and the badge is capped by the attack type ·</a:t>
            </a:r>
          </a:p>
          <a:p>
            <a:r>
              <a:t>AL-03086, the attack both detectors missed · the family, where the third</a:t>
            </a:r>
          </a:p>
          <a:p>
            <a:r>
              <a:t>agreeing verdict moves alerts nobody judged · then admin and evaluator.</a:t>
            </a:r>
          </a:p>
          <a:p/>
          <a:p>
            <a:r>
              <a:t>BEFORE YOU START: the API on port 8000 and the console on 5173 must both be</a:t>
            </a:r>
          </a:p>
          <a:p>
            <a:r>
              <a:t>running, and the database should be freshly rebuilt — delete data/demo.db first,</a:t>
            </a:r>
          </a:p>
          <a:p>
            <a:r>
              <a:t>because the script appends rather than replaces. The strip should read zero</a:t>
            </a:r>
          </a:p>
          <a:p>
            <a:r>
              <a:t>verdicts.</a:t>
            </a:r>
          </a:p>
          <a:p/>
          <a:p>
            <a:r>
              <a:t>If the demo dies: stay on this slide and narrate it. Every number here is real.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6  ·  PART SIX</a:t>
            </a:r>
          </a:p>
          <a:p/>
          <a:p>
            <a:r>
              <a:t>The team, and what happens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6  ·  ~30 seconds</a:t>
            </a:r>
          </a:p>
          <a:p/>
          <a:p>
            <a:r>
              <a:t>Six of us, with the roles shown. Supervisor Mr Lim Min Han.</a:t>
            </a:r>
          </a:p>
          <a:p/>
          <a:p>
            <a:r>
              <a:t>Keep this short — the panel can read names. One sentence on how the work was</a:t>
            </a:r>
          </a:p>
          <a:p>
            <a:r>
              <a:t>divided is enough,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6  ·  ~60 seconds</a:t>
            </a:r>
          </a:p>
          <a:p/>
          <a:p>
            <a:r>
              <a:t>Two things are not built, and we would rather say so than be asked.</a:t>
            </a:r>
          </a:p>
          <a:p/>
          <a:p>
            <a:r>
              <a:t>The flow exporter that turns real captured traffic into the features we consume.</a:t>
            </a:r>
          </a:p>
          <a:p>
            <a:r>
              <a:t>It enters through the same interface the CSV replay already uses, so nothing</a:t>
            </a:r>
          </a:p>
          <a:p>
            <a:r>
              <a:t>downstream changes — and its exit condition is strict: if the columns do not</a:t>
            </a:r>
          </a:p>
          <a:p>
            <a:r>
              <a:t>reconcile, it stops and reports rather than quietly coercing them.</a:t>
            </a:r>
          </a:p>
          <a:p/>
          <a:p>
            <a:r>
              <a:t>And the full backend: SQLite becomes PostgreSQL, which the schema was written for</a:t>
            </a:r>
          </a:p>
          <a:p>
            <a:r>
              <a:t>from the start.</a:t>
            </a:r>
          </a:p>
          <a:p/>
          <a:p>
            <a:r>
              <a:t>The open items at the bottom are recorded, not dropped. The stress test is built</a:t>
            </a:r>
          </a:p>
          <a:p>
            <a:r>
              <a:t>and measured; the run over it is what remains, and it will be reported as its own</a:t>
            </a:r>
          </a:p>
          <a:p>
            <a:r>
              <a:t>labelled experiment — never folded into the headline.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6  ·  ~45 seconds  ·  CLOSING</a:t>
            </a:r>
          </a:p>
          <a:p/>
          <a:p>
            <a:r>
              <a:t>Twelve weeks, sequenced by dependency rather than by date: the exporter, then the</a:t>
            </a:r>
          </a:p>
          <a:p>
            <a:r>
              <a:t>backend, with evaluation follow-ups throughout.</a:t>
            </a:r>
          </a:p>
          <a:p/>
          <a:p>
            <a:r>
              <a:t>The reason the remaining work is additive is that we fixed the schema, the data</a:t>
            </a:r>
          </a:p>
          <a:p>
            <a:r>
              <a:t>contract and the queue order early. The exporter and the backend can be built</a:t>
            </a:r>
          </a:p>
          <a:p>
            <a:r>
              <a:t>without disturbing anything you have just seen.</a:t>
            </a:r>
          </a:p>
          <a:p/>
          <a:p>
            <a:r>
              <a:t>Close with the claim we opened on: the machine narrows the field, the human</a:t>
            </a:r>
          </a:p>
          <a:p>
            <a:r>
              <a:t>supplies the context, and the system carries that decision to the alerts like it</a:t>
            </a:r>
          </a:p>
          <a:p>
            <a:r>
              <a:t>— inside guardrails that explain themselves.</a:t>
            </a:r>
          </a:p>
          <a:p/>
          <a:p>
            <a:r>
              <a:t>Then: “Thank you. We are happy to take questions, and we have a technical</a:t>
            </a:r>
          </a:p>
          <a:p>
            <a:r>
              <a:t>appendix if you want to go deeper.”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Say: everything from here is reference — tell us what you want to see.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data does the system actually read? 91 columns in, 16 checkable fields for the rules, 82 numbers for the model, 11 refused outright.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does each detector contribute? The rule's clauses are checkable; the model's explanation is not. Same flow, both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are the two combined? Four paths, no averaging. Worked on the alert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where do severity and the review flag come from? One threshold at 80, then the attack type caps the label. This is why a 99.89 alert can read High.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orders the queue? Severity, then score. Also the honest one: 975 of 996 alerts share a score, so feedback re-ranks the band and the deciders behind it, not the number.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can an analyst do, and what stops them? The five verdicts and the four guardrails, with the real chain: 99.89 down to 70.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does one verdict move others? The family key, the three-verdict gate, and the 147 alerts one dismissal moved.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would we verify that? The moved alerts are named with rank before and after, and the queue can be grouped by family.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for the evidence half.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only 250,000 rows out of 63 million? Because 94% is ordinary traffic — and we used 100% of the two rarest attacks.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did your analysis change? Three dataset findings, plus the claim we withdrew about the detectors being complementary.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was the model trained and tested? 80/20, stratified, plus a separate demo pile. Precision, recall and F1 in plain words.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is 0.99 real, or leakage? We deleted the port and protocol and retrained — the score barely moved. The real cause is the testbed.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only two rules? Because the rest cannot reach usable precision. The layer earns its place on trust, not coverage.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did you pick the movement formula? Four candidates, a rule written down in advance — and an honest limit on how thin the win 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did the evaluation measure, and did it work? Learning works and does not leak. It also promoted a false positive to rank 1, and we report that.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are the limits? Read them out. Every one is in the repository's deviations register.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29984"/>
            <a:ext cx="12191695" cy="12801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7" y="1170432"/>
            <a:ext cx="10509199" cy="274320"/>
          </a:xfrm>
          <a:prstGeom prst="rect">
            <a:avLst/>
          </a:prstGeom>
          <a:noFill/>
        </p:spPr>
        <p:txBody>
          <a:bodyPr wrap="square" anchor="t" lIns="0" rIns="0" tIns="0" bIns="0">
            <a:spAutoFit/>
          </a:bodyPr>
          <a:lstStyle/>
          <a:p>
            <a:pPr algn="l">
              <a:spcBef>
                <a:spcPts val="0"/>
              </a:spcBef>
              <a:spcAft>
                <a:spcPts val="0"/>
              </a:spcAft>
            </a:pPr>
            <a:r>
              <a:rPr sz="1200" b="1" i="0">
                <a:solidFill>
                  <a:srgbClr val="1F6FEB"/>
                </a:solidFill>
                <a:latin typeface="Segoe UI"/>
              </a:rPr>
              <a:t>CSIT321  ·  FINAL YEAR PROJECT  ·  FYP-26-S3-13</a:t>
            </a:r>
          </a:p>
        </p:txBody>
      </p:sp>
      <p:sp>
        <p:nvSpPr>
          <p:cNvPr id="5" name="TextBox 4"/>
          <p:cNvSpPr txBox="1"/>
          <p:nvPr/>
        </p:nvSpPr>
        <p:spPr>
          <a:xfrm>
            <a:off x="841247" y="1627632"/>
            <a:ext cx="10143439" cy="1371600"/>
          </a:xfrm>
          <a:prstGeom prst="rect">
            <a:avLst/>
          </a:prstGeom>
          <a:noFill/>
        </p:spPr>
        <p:txBody>
          <a:bodyPr wrap="square" anchor="t" lIns="0" rIns="0" tIns="0" bIns="0">
            <a:spAutoFit/>
          </a:bodyPr>
          <a:lstStyle/>
          <a:p>
            <a:pPr algn="l">
              <a:lnSpc>
                <a:spcPct val="100000"/>
              </a:lnSpc>
              <a:spcBef>
                <a:spcPts val="0"/>
              </a:spcBef>
              <a:spcAft>
                <a:spcPts val="0"/>
              </a:spcAft>
            </a:pPr>
            <a:r>
              <a:rPr sz="4400" b="1" i="0">
                <a:solidFill>
                  <a:srgbClr val="0F2A47"/>
                </a:solidFill>
                <a:latin typeface="Segoe UI"/>
              </a:rPr>
              <a:t>Human-in-the-Loop</a:t>
            </a:r>
          </a:p>
          <a:p>
            <a:pPr algn="l">
              <a:lnSpc>
                <a:spcPct val="100000"/>
              </a:lnSpc>
              <a:spcBef>
                <a:spcPts val="0"/>
              </a:spcBef>
              <a:spcAft>
                <a:spcPts val="0"/>
              </a:spcAft>
            </a:pPr>
            <a:r>
              <a:rPr sz="4400" b="1" i="0">
                <a:solidFill>
                  <a:srgbClr val="0F2A47"/>
                </a:solidFill>
                <a:latin typeface="Segoe UI"/>
              </a:rPr>
              <a:t>Intrusion Detection Dashboard</a:t>
            </a:r>
          </a:p>
        </p:txBody>
      </p:sp>
      <p:sp>
        <p:nvSpPr>
          <p:cNvPr id="6" name="Rectangle 5"/>
          <p:cNvSpPr/>
          <p:nvPr/>
        </p:nvSpPr>
        <p:spPr>
          <a:xfrm>
            <a:off x="841247" y="3054096"/>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3255264"/>
            <a:ext cx="9594799" cy="457200"/>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6B7684"/>
                </a:solidFill>
                <a:latin typeface="Segoe UI"/>
              </a:rPr>
              <a:t>Fusing signature and machine-learning detection with analyst feedback, bounded by safety guardrails.</a:t>
            </a:r>
          </a:p>
        </p:txBody>
      </p:sp>
      <p:sp>
        <p:nvSpPr>
          <p:cNvPr id="8" name="Rectangle 7"/>
          <p:cNvSpPr/>
          <p:nvPr/>
        </p:nvSpPr>
        <p:spPr>
          <a:xfrm>
            <a:off x="841247" y="3931920"/>
            <a:ext cx="10509199"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4078224"/>
            <a:ext cx="5852160" cy="137160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PROJECT TEAM</a:t>
            </a:r>
          </a:p>
          <a:p>
            <a:pPr algn="l">
              <a:lnSpc>
                <a:spcPct val="105000"/>
              </a:lnSpc>
              <a:spcBef>
                <a:spcPts val="0"/>
              </a:spcBef>
              <a:spcAft>
                <a:spcPts val="150"/>
              </a:spcAft>
            </a:pPr>
            <a:r>
              <a:rPr sz="1100" b="0" i="0">
                <a:solidFill>
                  <a:srgbClr val="2A3441"/>
                </a:solidFill>
                <a:latin typeface="Segoe UI"/>
              </a:rPr>
              <a:t>Tan Jing Kai</a:t>
            </a:r>
          </a:p>
          <a:p>
            <a:pPr algn="l">
              <a:lnSpc>
                <a:spcPct val="105000"/>
              </a:lnSpc>
              <a:spcBef>
                <a:spcPts val="0"/>
              </a:spcBef>
              <a:spcAft>
                <a:spcPts val="150"/>
              </a:spcAft>
            </a:pPr>
            <a:r>
              <a:rPr sz="1100" b="0" i="0">
                <a:solidFill>
                  <a:srgbClr val="2A3441"/>
                </a:solidFill>
                <a:latin typeface="Segoe UI"/>
              </a:rPr>
              <a:t>Zay Yar Naing</a:t>
            </a:r>
          </a:p>
          <a:p>
            <a:pPr algn="l">
              <a:lnSpc>
                <a:spcPct val="105000"/>
              </a:lnSpc>
              <a:spcBef>
                <a:spcPts val="0"/>
              </a:spcBef>
              <a:spcAft>
                <a:spcPts val="150"/>
              </a:spcAft>
            </a:pPr>
            <a:r>
              <a:rPr sz="1100" b="0" i="0">
                <a:solidFill>
                  <a:srgbClr val="2A3441"/>
                </a:solidFill>
                <a:latin typeface="Segoe UI"/>
              </a:rPr>
              <a:t>Glenn Ang Zhen Xiang</a:t>
            </a:r>
          </a:p>
          <a:p>
            <a:pPr algn="l">
              <a:lnSpc>
                <a:spcPct val="105000"/>
              </a:lnSpc>
              <a:spcBef>
                <a:spcPts val="0"/>
              </a:spcBef>
              <a:spcAft>
                <a:spcPts val="150"/>
              </a:spcAft>
            </a:pPr>
            <a:r>
              <a:rPr sz="1100" b="0" i="0">
                <a:solidFill>
                  <a:srgbClr val="2A3441"/>
                </a:solidFill>
                <a:latin typeface="Segoe UI"/>
              </a:rPr>
              <a:t>Isaac Koh Zhi Xian</a:t>
            </a:r>
          </a:p>
          <a:p>
            <a:pPr algn="l">
              <a:lnSpc>
                <a:spcPct val="105000"/>
              </a:lnSpc>
              <a:spcBef>
                <a:spcPts val="0"/>
              </a:spcBef>
              <a:spcAft>
                <a:spcPts val="150"/>
              </a:spcAft>
            </a:pPr>
            <a:r>
              <a:rPr sz="1100" b="0" i="0">
                <a:solidFill>
                  <a:srgbClr val="2A3441"/>
                </a:solidFill>
                <a:latin typeface="Segoe UI"/>
              </a:rPr>
              <a:t>Thian Wen Jun Gene</a:t>
            </a:r>
          </a:p>
          <a:p>
            <a:pPr algn="l">
              <a:lnSpc>
                <a:spcPct val="105000"/>
              </a:lnSpc>
              <a:spcBef>
                <a:spcPts val="0"/>
              </a:spcBef>
              <a:spcAft>
                <a:spcPts val="150"/>
              </a:spcAft>
            </a:pPr>
            <a:r>
              <a:rPr sz="1100" b="0" i="0">
                <a:solidFill>
                  <a:srgbClr val="2A3441"/>
                </a:solidFill>
                <a:latin typeface="Segoe UI"/>
              </a:rPr>
              <a:t>Liow Chee Kuang</a:t>
            </a:r>
          </a:p>
        </p:txBody>
      </p:sp>
      <p:sp>
        <p:nvSpPr>
          <p:cNvPr id="10" name="TextBox 9"/>
          <p:cNvSpPr txBox="1"/>
          <p:nvPr/>
        </p:nvSpPr>
        <p:spPr>
          <a:xfrm>
            <a:off x="6949440" y="4078224"/>
            <a:ext cx="4657039" cy="109728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SUPERVISOR</a:t>
            </a:r>
          </a:p>
          <a:p>
            <a:pPr algn="l">
              <a:lnSpc>
                <a:spcPct val="105000"/>
              </a:lnSpc>
              <a:spcBef>
                <a:spcPts val="0"/>
              </a:spcBef>
              <a:spcAft>
                <a:spcPts val="800"/>
              </a:spcAft>
            </a:pPr>
            <a:r>
              <a:rPr sz="1100" b="0" i="0">
                <a:solidFill>
                  <a:srgbClr val="2A3441"/>
                </a:solidFill>
                <a:latin typeface="Segoe UI"/>
              </a:rPr>
              <a:t>Mr Lim Min Han</a:t>
            </a:r>
          </a:p>
          <a:p>
            <a:pPr algn="l">
              <a:spcBef>
                <a:spcPts val="0"/>
              </a:spcBef>
              <a:spcAft>
                <a:spcPts val="400"/>
              </a:spcAft>
            </a:pPr>
            <a:r>
              <a:rPr sz="950" b="1" i="0">
                <a:solidFill>
                  <a:srgbClr val="1F6FEB"/>
                </a:solidFill>
                <a:latin typeface="Segoe UI"/>
              </a:rPr>
              <a:t>REPOSITORY</a:t>
            </a:r>
          </a:p>
          <a:p>
            <a:pPr algn="l">
              <a:lnSpc>
                <a:spcPct val="115000"/>
              </a:lnSpc>
              <a:spcBef>
                <a:spcPts val="0"/>
              </a:spcBef>
              <a:spcAft>
                <a:spcPts val="0"/>
              </a:spcAft>
            </a:pPr>
            <a:r>
              <a:rPr sz="950" b="0" i="0">
                <a:solidFill>
                  <a:srgbClr val="6B7684"/>
                </a:solidFill>
                <a:latin typeface="Consolas"/>
              </a:rPr>
              <a:t>github.com/CSIT-321/CSIT321-Human-in-the-loop_IDS</a:t>
            </a:r>
          </a:p>
        </p:txBody>
      </p:sp>
      <p:sp>
        <p:nvSpPr>
          <p:cNvPr id="11" name="TextBox 10"/>
          <p:cNvSpPr txBox="1"/>
          <p:nvPr/>
        </p:nvSpPr>
        <p:spPr>
          <a:xfrm>
            <a:off x="841247" y="6053328"/>
            <a:ext cx="11057839" cy="274320"/>
          </a:xfrm>
          <a:prstGeom prst="rect">
            <a:avLst/>
          </a:prstGeom>
          <a:noFill/>
        </p:spPr>
        <p:txBody>
          <a:bodyPr wrap="square" anchor="t" lIns="0" rIns="0" tIns="0" bIns="0">
            <a:spAutoFit/>
          </a:bodyPr>
          <a:lstStyle/>
          <a:p>
            <a:pPr algn="l">
              <a:spcBef>
                <a:spcPts val="0"/>
              </a:spcBef>
              <a:spcAft>
                <a:spcPts val="0"/>
              </a:spcAft>
            </a:pPr>
            <a:r>
              <a:rPr sz="950" b="0" i="0">
                <a:solidFill>
                  <a:srgbClr val="9AA4B0"/>
                </a:solidFill>
                <a:latin typeface="Segoe UI"/>
              </a:rPr>
              <a:t>Presented by the project team  ·  Demo build,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CONTENTS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presentation covers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a:t>
            </a:r>
          </a:p>
        </p:txBody>
      </p:sp>
      <p:sp>
        <p:nvSpPr>
          <p:cNvPr id="8" name="TextBox 7"/>
          <p:cNvSpPr txBox="1"/>
          <p:nvPr/>
        </p:nvSpPr>
        <p:spPr>
          <a:xfrm>
            <a:off x="566928"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problem: analyst alert fatigue, and what the research shows</a:t>
            </a:r>
          </a:p>
          <a:p>
            <a:pPr algn="l">
              <a:lnSpc>
                <a:spcPct val="118000"/>
              </a:lnSpc>
              <a:spcBef>
                <a:spcPts val="0"/>
              </a:spcBef>
              <a:spcAft>
                <a:spcPts val="1100"/>
              </a:spcAft>
            </a:pPr>
            <a:r>
              <a:rPr sz="1250" b="1" i="0">
                <a:solidFill>
                  <a:srgbClr val="2A3441"/>
                </a:solidFill>
                <a:latin typeface="Segoe UI"/>
              </a:rPr>
              <a:t>—  Our solution, and why we built it this specific way</a:t>
            </a:r>
          </a:p>
          <a:p>
            <a:pPr algn="l">
              <a:lnSpc>
                <a:spcPct val="118000"/>
              </a:lnSpc>
              <a:spcBef>
                <a:spcPts val="0"/>
              </a:spcBef>
              <a:spcAft>
                <a:spcPts val="1100"/>
              </a:spcAft>
            </a:pPr>
            <a:r>
              <a:rPr sz="1250" b="1" i="0">
                <a:solidFill>
                  <a:srgbClr val="2A3441"/>
                </a:solidFill>
                <a:latin typeface="Segoe UI"/>
              </a:rPr>
              <a:t>—  How it works: the implemented workflow, end to end</a:t>
            </a:r>
          </a:p>
          <a:p>
            <a:pPr algn="l">
              <a:lnSpc>
                <a:spcPct val="118000"/>
              </a:lnSpc>
              <a:spcBef>
                <a:spcPts val="0"/>
              </a:spcBef>
              <a:spcAft>
                <a:spcPts val="1100"/>
              </a:spcAft>
            </a:pPr>
            <a:r>
              <a:rPr sz="1250" b="1" i="0">
                <a:solidFill>
                  <a:srgbClr val="2A3441"/>
                </a:solidFill>
                <a:latin typeface="Segoe UI"/>
              </a:rPr>
              <a:t>—  Where we fit: existing IDS tools, and the gap we close</a:t>
            </a:r>
          </a:p>
          <a:p>
            <a:pPr algn="l">
              <a:lnSpc>
                <a:spcPct val="118000"/>
              </a:lnSpc>
              <a:spcBef>
                <a:spcPts val="0"/>
              </a:spcBef>
              <a:spcAft>
                <a:spcPts val="1100"/>
              </a:spcAft>
            </a:pPr>
            <a:r>
              <a:rPr sz="1250" b="1" i="0">
                <a:solidFill>
                  <a:srgbClr val="2A3441"/>
                </a:solidFill>
                <a:latin typeface="Segoe UI"/>
              </a:rPr>
              <a:t>—  The live demo — the console, end to end</a:t>
            </a:r>
          </a:p>
        </p:txBody>
      </p:sp>
      <p:sp>
        <p:nvSpPr>
          <p:cNvPr id="9" name="TextBox 8"/>
          <p:cNvSpPr txBox="1"/>
          <p:nvPr/>
        </p:nvSpPr>
        <p:spPr>
          <a:xfrm>
            <a:off x="6297015"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team, and what comes next</a:t>
            </a:r>
          </a:p>
          <a:p>
            <a:pPr algn="l">
              <a:lnSpc>
                <a:spcPct val="118000"/>
              </a:lnSpc>
              <a:spcBef>
                <a:spcPts val="0"/>
              </a:spcBef>
              <a:spcAft>
                <a:spcPts val="1100"/>
              </a:spcAft>
            </a:pPr>
            <a:r>
              <a:rPr sz="1250" b="0" i="0">
                <a:solidFill>
                  <a:srgbClr val="2A3441"/>
                </a:solidFill>
                <a:latin typeface="Segoe UI"/>
              </a:rPr>
              <a:t>—  Technical FAQ — held back in case it is asked for: architecture, the dataset and its audit, notebooks 04 to 07, the fusion and ranking mathematics, and the three-arm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1 · PART ONE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problem</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Networks generate more security events than analysts can read. The evidence says the bottleneck is no longer detection — it is deciding what deserves attention.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01</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Analysts are drowning in alerts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Volume is not the only problem — context is the missing half.</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a:t>
            </a:r>
          </a:p>
        </p:txBody>
      </p:sp>
      <p:sp>
        <p:nvSpPr>
          <p:cNvPr id="9" name="Rectangle 8"/>
          <p:cNvSpPr/>
          <p:nvPr/>
        </p:nvSpPr>
        <p:spPr>
          <a:xfrm>
            <a:off x="566928"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261358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Huge</a:t>
            </a:r>
          </a:p>
          <a:p>
            <a:pPr algn="ctr">
              <a:lnSpc>
                <a:spcPct val="112000"/>
              </a:lnSpc>
              <a:spcBef>
                <a:spcPts val="0"/>
              </a:spcBef>
              <a:spcAft>
                <a:spcPts val="0"/>
              </a:spcAft>
            </a:pPr>
            <a:r>
              <a:rPr sz="950" b="0" i="0">
                <a:solidFill>
                  <a:srgbClr val="6B7684"/>
                </a:solidFill>
                <a:latin typeface="Segoe UI"/>
              </a:rPr>
              <a:t>security events generated by modern networks</a:t>
            </a:r>
          </a:p>
        </p:txBody>
      </p:sp>
      <p:sp>
        <p:nvSpPr>
          <p:cNvPr id="12" name="Rectangle 11"/>
          <p:cNvSpPr/>
          <p:nvPr/>
        </p:nvSpPr>
        <p:spPr>
          <a:xfrm>
            <a:off x="3381679"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1679" y="1700784"/>
            <a:ext cx="261358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Repetitive</a:t>
            </a:r>
          </a:p>
          <a:p>
            <a:pPr algn="ctr">
              <a:lnSpc>
                <a:spcPct val="112000"/>
              </a:lnSpc>
              <a:spcBef>
                <a:spcPts val="0"/>
              </a:spcBef>
              <a:spcAft>
                <a:spcPts val="0"/>
              </a:spcAft>
            </a:pPr>
            <a:r>
              <a:rPr sz="950" b="0" i="0">
                <a:solidFill>
                  <a:srgbClr val="6B7684"/>
                </a:solidFill>
                <a:latin typeface="Segoe UI"/>
              </a:rPr>
              <a:t>low-value alerts that pile up unattended</a:t>
            </a:r>
          </a:p>
        </p:txBody>
      </p:sp>
      <p:sp>
        <p:nvSpPr>
          <p:cNvPr id="15" name="Rectangle 14"/>
          <p:cNvSpPr/>
          <p:nvPr/>
        </p:nvSpPr>
        <p:spPr>
          <a:xfrm>
            <a:off x="6196431"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96431" y="1700784"/>
            <a:ext cx="2613583" cy="45720"/>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4447"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B08900"/>
                </a:solidFill>
                <a:latin typeface="Segoe UI"/>
              </a:rPr>
              <a:t>Falling</a:t>
            </a:r>
          </a:p>
          <a:p>
            <a:pPr algn="ctr">
              <a:lnSpc>
                <a:spcPct val="112000"/>
              </a:lnSpc>
              <a:spcBef>
                <a:spcPts val="0"/>
              </a:spcBef>
              <a:spcAft>
                <a:spcPts val="0"/>
              </a:spcAft>
            </a:pPr>
            <a:r>
              <a:rPr sz="950" b="0" i="0">
                <a:solidFill>
                  <a:srgbClr val="6B7684"/>
                </a:solidFill>
                <a:latin typeface="Segoe UI"/>
              </a:rPr>
              <a:t>investigation efficiency as the backlog grows</a:t>
            </a:r>
          </a:p>
        </p:txBody>
      </p:sp>
      <p:sp>
        <p:nvSpPr>
          <p:cNvPr id="18" name="Rectangle 17"/>
          <p:cNvSpPr/>
          <p:nvPr/>
        </p:nvSpPr>
        <p:spPr>
          <a:xfrm>
            <a:off x="9011183"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11183" y="1700784"/>
            <a:ext cx="261358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39199"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C0392B"/>
                </a:solidFill>
                <a:latin typeface="Segoe UI"/>
              </a:rPr>
              <a:t>Fatigue</a:t>
            </a:r>
          </a:p>
          <a:p>
            <a:pPr algn="ctr">
              <a:lnSpc>
                <a:spcPct val="112000"/>
              </a:lnSpc>
              <a:spcBef>
                <a:spcPts val="0"/>
              </a:spcBef>
              <a:spcAft>
                <a:spcPts val="0"/>
              </a:spcAft>
            </a:pPr>
            <a:r>
              <a:rPr sz="950" b="0" i="0">
                <a:solidFill>
                  <a:srgbClr val="6B7684"/>
                </a:solidFill>
                <a:latin typeface="Segoe UI"/>
              </a:rPr>
              <a:t>the human result of triaging without context</a:t>
            </a:r>
          </a:p>
        </p:txBody>
      </p:sp>
      <p:sp>
        <p:nvSpPr>
          <p:cNvPr id="21" name="TextBox 20"/>
          <p:cNvSpPr txBox="1"/>
          <p:nvPr/>
        </p:nvSpPr>
        <p:spPr>
          <a:xfrm>
            <a:off x="566928" y="2962656"/>
            <a:ext cx="11057839" cy="2377440"/>
          </a:xfrm>
          <a:prstGeom prst="rect">
            <a:avLst/>
          </a:prstGeom>
          <a:noFill/>
        </p:spPr>
        <p:txBody>
          <a:bodyPr wrap="square" anchor="t" lIns="0" rIns="0" tIns="0" bIns="0">
            <a:spAutoFit/>
          </a:bodyPr>
          <a:lstStyle/>
          <a:p>
            <a:pPr algn="l">
              <a:lnSpc>
                <a:spcPct val="118000"/>
              </a:lnSpc>
              <a:spcBef>
                <a:spcPts val="0"/>
              </a:spcBef>
              <a:spcAft>
                <a:spcPts val="900"/>
              </a:spcAft>
            </a:pPr>
            <a:r>
              <a:rPr sz="1250" b="0" i="0">
                <a:solidFill>
                  <a:srgbClr val="2A3441"/>
                </a:solidFill>
                <a:latin typeface="Segoe UI"/>
              </a:rPr>
              <a:t>Modern networks generate enormous volumes of security activity, so analysts cannot tell quickly what needs attention first.</a:t>
            </a:r>
          </a:p>
          <a:p>
            <a:pPr algn="l">
              <a:lnSpc>
                <a:spcPct val="118000"/>
              </a:lnSpc>
              <a:spcBef>
                <a:spcPts val="0"/>
              </a:spcBef>
              <a:spcAft>
                <a:spcPts val="900"/>
              </a:spcAft>
            </a:pPr>
            <a:r>
              <a:rPr sz="1250" b="0" i="0">
                <a:solidFill>
                  <a:srgbClr val="2A3441"/>
                </a:solidFill>
                <a:latin typeface="Segoe UI"/>
              </a:rPr>
              <a:t>Signature and machine-learning detectors each catch different patterns, but neither understands operational context.</a:t>
            </a:r>
          </a:p>
          <a:p>
            <a:pPr algn="l">
              <a:lnSpc>
                <a:spcPct val="118000"/>
              </a:lnSpc>
              <a:spcBef>
                <a:spcPts val="0"/>
              </a:spcBef>
              <a:spcAft>
                <a:spcPts val="900"/>
              </a:spcAft>
            </a:pPr>
            <a:r>
              <a:rPr sz="1250" b="0" i="0">
                <a:solidFill>
                  <a:srgbClr val="2A3441"/>
                </a:solidFill>
                <a:latin typeface="Segoe UI"/>
              </a:rPr>
              <a:t>An event flagged as malicious may be authorised, expected, or a scheduled scan inside a given environment.</a:t>
            </a:r>
          </a:p>
          <a:p>
            <a:pPr algn="l">
              <a:lnSpc>
                <a:spcPct val="118000"/>
              </a:lnSpc>
              <a:spcBef>
                <a:spcPts val="0"/>
              </a:spcBef>
              <a:spcAft>
                <a:spcPts val="900"/>
              </a:spcAft>
            </a:pPr>
            <a:r>
              <a:rPr sz="1250" b="0" i="0">
                <a:solidFill>
                  <a:srgbClr val="2A3441"/>
                </a:solidFill>
                <a:latin typeface="Segoe UI"/>
              </a:rPr>
              <a:t>The result is the same in every report: repetitive low-value alerts accumulate, investigation efficiency drops, and alert fatigue sets in.</a:t>
            </a:r>
          </a:p>
        </p:txBody>
      </p:sp>
      <p:sp>
        <p:nvSpPr>
          <p:cNvPr id="22" name="Rectangle 21"/>
          <p:cNvSpPr/>
          <p:nvPr/>
        </p:nvSpPr>
        <p:spPr>
          <a:xfrm>
            <a:off x="566928" y="513892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266944"/>
            <a:ext cx="10655503" cy="566928"/>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0F2A47"/>
                </a:solidFill>
                <a:latin typeface="Segoe UI"/>
              </a:rPr>
              <a:t>The bottleneck has moved. Detection is no longer the hard part — deciding what deserves a human's attention is.</a:t>
            </a:r>
          </a:p>
          <a:p>
            <a:pPr algn="l">
              <a:spcBef>
                <a:spcPts val="0"/>
              </a:spcBef>
              <a:spcAft>
                <a:spcPts val="0"/>
              </a:spcAft>
            </a:pPr>
            <a:r>
              <a:rPr sz="1050" b="0" i="0">
                <a:solidFill>
                  <a:srgbClr val="6B7684"/>
                </a:solidFill>
                <a:latin typeface="Segoe UI"/>
              </a:rPr>
              <a:t>That is the problem this project takes as its starting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research says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Sources below were fetched and read; two further papers are cited from metadata only, and are marked as such.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5</a:t>
            </a:r>
          </a:p>
        </p:txBody>
      </p:sp>
      <p:graphicFrame>
        <p:nvGraphicFramePr>
          <p:cNvPr id="9" name="Table 8"/>
          <p:cNvGraphicFramePr>
            <a:graphicFrameLocks noGrp="1"/>
          </p:cNvGraphicFramePr>
          <p:nvPr/>
        </p:nvGraphicFramePr>
        <p:xfrm>
          <a:off x="566928" y="1773936"/>
          <a:ext cx="11091671" cy="3904488"/>
        </p:xfrm>
        <a:graphic>
          <a:graphicData uri="http://schemas.openxmlformats.org/drawingml/2006/table">
            <a:tbl>
              <a:tblPr firstRow="0" bandRow="0"/>
              <a:tblGrid>
                <a:gridCol w="1874519"/>
                <a:gridCol w="4617720"/>
                <a:gridCol w="4599432"/>
              </a:tblGrid>
              <a:tr h="292608">
                <a:tc>
                  <a:txBody>
                    <a:bodyPr wrap="square"/>
                    <a:lstStyle/>
                    <a:p>
                      <a:pPr algn="l"/>
                      <a:r>
                        <a:rPr sz="900" b="1">
                          <a:solidFill>
                            <a:srgbClr val="FFFFFF"/>
                          </a:solidFill>
                          <a:latin typeface="Segoe UI"/>
                        </a:rPr>
                        <a:t>Source</a:t>
                      </a:r>
                    </a:p>
                  </a:txBody>
                  <a:tcPr marL="82296" marR="82296" marT="13716" marB="13716" anchor="ctr">
                    <a:solidFill>
                      <a:srgbClr val="0F2A47"/>
                    </a:solidFill>
                  </a:tcPr>
                </a:tc>
                <a:tc>
                  <a:txBody>
                    <a:bodyPr wrap="square"/>
                    <a:lstStyle/>
                    <a:p>
                      <a:pPr algn="l"/>
                      <a:r>
                        <a:rPr sz="900" b="1">
                          <a:solidFill>
                            <a:srgbClr val="FFFFFF"/>
                          </a:solidFill>
                          <a:latin typeface="Segoe UI"/>
                        </a:rPr>
                        <a:t>What it found</a:t>
                      </a:r>
                    </a:p>
                  </a:txBody>
                  <a:tcPr marL="82296" marR="82296" marT="13716" marB="13716" anchor="ctr">
                    <a:solidFill>
                      <a:srgbClr val="0F2A47"/>
                    </a:solidFill>
                  </a:tcPr>
                </a:tc>
                <a:tc>
                  <a:txBody>
                    <a:bodyPr wrap="square"/>
                    <a:lstStyle/>
                    <a:p>
                      <a:pPr algn="l"/>
                      <a:r>
                        <a:rPr sz="900" b="1">
                          <a:solidFill>
                            <a:srgbClr val="FFFFFF"/>
                          </a:solidFill>
                          <a:latin typeface="Segoe UI"/>
                        </a:rPr>
                        <a:t>Why it shapes our design</a:t>
                      </a:r>
                    </a:p>
                  </a:txBody>
                  <a:tcPr marL="82296" marR="82296" marT="13716" marB="13716" anchor="ctr">
                    <a:solidFill>
                      <a:srgbClr val="0F2A47"/>
                    </a:solidFill>
                  </a:tcPr>
                </a:tc>
              </a:tr>
              <a:tr h="722376">
                <a:tc>
                  <a:txBody>
                    <a:bodyPr wrap="square"/>
                    <a:lstStyle/>
                    <a:p>
                      <a:pPr algn="l"/>
                      <a:r>
                        <a:rPr sz="930" b="0">
                          <a:solidFill>
                            <a:srgbClr val="2A3441"/>
                          </a:solidFill>
                          <a:latin typeface="Segoe UI"/>
                        </a:rPr>
                        <a:t>Too Much to Trust?
(CCS 2025)</a:t>
                      </a:r>
                    </a:p>
                  </a:txBody>
                  <a:tcPr marL="82296" marR="82296" marT="13716" marB="13716" anchor="ctr">
                    <a:solidFill>
                      <a:srgbClr val="FFFFFF"/>
                    </a:solidFill>
                  </a:tcPr>
                </a:tc>
                <a:tc>
                  <a:txBody>
                    <a:bodyPr wrap="square"/>
                    <a:lstStyle/>
                    <a:p>
                      <a:pPr algn="l"/>
                      <a:r>
                        <a:rPr sz="930" b="0">
                          <a:solidFill>
                            <a:srgbClr val="2A3441"/>
                          </a:solidFill>
                          <a:latin typeface="Segoe UI"/>
                        </a:rPr>
                        <a:t>Survey N = 248, interviews N = 24. Analysts accepted explainable output when explanations were relevant and evidence-backed.</a:t>
                      </a:r>
                    </a:p>
                  </a:txBody>
                  <a:tcPr marL="82296" marR="82296" marT="13716" marB="13716" anchor="ctr">
                    <a:solidFill>
                      <a:srgbClr val="FFFFFF"/>
                    </a:solidFill>
                  </a:tcPr>
                </a:tc>
                <a:tc>
                  <a:txBody>
                    <a:bodyPr wrap="square"/>
                    <a:lstStyle/>
                    <a:p>
                      <a:pPr algn="l"/>
                      <a:r>
                        <a:rPr sz="930" b="0">
                          <a:solidFill>
                            <a:srgbClr val="2A3441"/>
                          </a:solidFill>
                          <a:latin typeface="Segoe UI"/>
                        </a:rPr>
                        <a:t>Pair every model verdict with raw evidence, not model internals.</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ContextBuddy
(2025)</a:t>
                      </a:r>
                    </a:p>
                  </a:txBody>
                  <a:tcPr marL="82296" marR="82296" marT="13716" marB="13716" anchor="ctr">
                    <a:solidFill>
                      <a:srgbClr val="F4F7FB"/>
                    </a:solidFill>
                  </a:tcPr>
                </a:tc>
                <a:tc>
                  <a:txBody>
                    <a:bodyPr wrap="square"/>
                    <a:lstStyle/>
                    <a:p>
                      <a:pPr algn="l"/>
                      <a:r>
                        <a:rPr sz="930" b="0">
                          <a:solidFill>
                            <a:srgbClr val="2A3441"/>
                          </a:solidFill>
                          <a:latin typeface="Segoe UI"/>
                        </a:rPr>
                        <a:t>Recommending relevant context cues raised classification accuracy 21.1% and cut alert-validation time 24%.</a:t>
                      </a:r>
                    </a:p>
                  </a:txBody>
                  <a:tcPr marL="82296" marR="82296" marT="13716" marB="13716" anchor="ctr">
                    <a:solidFill>
                      <a:srgbClr val="F4F7FB"/>
                    </a:solidFill>
                  </a:tcPr>
                </a:tc>
                <a:tc>
                  <a:txBody>
                    <a:bodyPr wrap="square"/>
                    <a:lstStyle/>
                    <a:p>
                      <a:pPr algn="l"/>
                      <a:r>
                        <a:rPr sz="930" b="0">
                          <a:solidFill>
                            <a:srgbClr val="2A3441"/>
                          </a:solidFill>
                          <a:latin typeface="Segoe UI"/>
                        </a:rPr>
                        <a:t>Show a short, curated key-evidence panel instead of every field.</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Decision-Aware Trust
Signal Alignment</a:t>
                      </a:r>
                    </a:p>
                  </a:txBody>
                  <a:tcPr marL="82296" marR="82296" marT="13716" marB="13716" anchor="ctr">
                    <a:solidFill>
                      <a:srgbClr val="FFFFFF"/>
                    </a:solidFill>
                  </a:tcPr>
                </a:tc>
                <a:tc>
                  <a:txBody>
                    <a:bodyPr wrap="square"/>
                    <a:lstStyle/>
                    <a:p>
                      <a:pPr algn="l"/>
                      <a:r>
                        <a:rPr sz="930" b="0">
                          <a:solidFill>
                            <a:srgbClr val="2A3441"/>
                          </a:solidFill>
                          <a:latin typeface="Segoe UI"/>
                        </a:rPr>
                        <a:t>Uncalibrated confidence displays are hard to read under pressure and amplify false negatives.</a:t>
                      </a:r>
                    </a:p>
                  </a:txBody>
                  <a:tcPr marL="82296" marR="82296" marT="13716" marB="13716" anchor="ctr">
                    <a:solidFill>
                      <a:srgbClr val="FFFFFF"/>
                    </a:solidFill>
                  </a:tcPr>
                </a:tc>
                <a:tc>
                  <a:txBody>
                    <a:bodyPr wrap="square"/>
                    <a:lstStyle/>
                    <a:p>
                      <a:pPr algn="l"/>
                      <a:r>
                        <a:rPr sz="930" b="0">
                          <a:solidFill>
                            <a:srgbClr val="2A3441"/>
                          </a:solidFill>
                          <a:latin typeface="Segoe UI"/>
                        </a:rPr>
                        <a:t>Show confidence as a band, and keep guardrail floors separate from model confidence.</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LLMs in the SOC
(2025)</a:t>
                      </a:r>
                    </a:p>
                  </a:txBody>
                  <a:tcPr marL="82296" marR="82296" marT="13716" marB="13716" anchor="ctr">
                    <a:solidFill>
                      <a:srgbClr val="F4F7FB"/>
                    </a:solidFill>
                  </a:tcPr>
                </a:tc>
                <a:tc>
                  <a:txBody>
                    <a:bodyPr wrap="square"/>
                    <a:lstStyle/>
                    <a:p>
                      <a:pPr algn="l"/>
                      <a:r>
                        <a:rPr sz="930" b="0">
                          <a:solidFill>
                            <a:srgbClr val="2A3441"/>
                          </a:solidFill>
                          <a:latin typeface="Segoe UI"/>
                        </a:rPr>
                        <a:t>3,090 queries from 45 analysts over 10 months. Analysts retained decision authority and used AI as a sensemaking aid.</a:t>
                      </a:r>
                    </a:p>
                  </a:txBody>
                  <a:tcPr marL="82296" marR="82296" marT="13716" marB="13716" anchor="ctr">
                    <a:solidFill>
                      <a:srgbClr val="F4F7FB"/>
                    </a:solidFill>
                  </a:tcPr>
                </a:tc>
                <a:tc>
                  <a:txBody>
                    <a:bodyPr wrap="square"/>
                    <a:lstStyle/>
                    <a:p>
                      <a:pPr algn="l"/>
                      <a:r>
                        <a:rPr sz="930" b="0">
                          <a:solidFill>
                            <a:srgbClr val="2A3441"/>
                          </a:solidFill>
                          <a:latin typeface="Segoe UI"/>
                        </a:rPr>
                        <a:t>The model advises; the verdict is always the analyst's.</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Vendor console docs
(Sentinel, Elastic, Splunk)</a:t>
                      </a:r>
                    </a:p>
                  </a:txBody>
                  <a:tcPr marL="82296" marR="82296" marT="13716" marB="13716" anchor="ctr">
                    <a:solidFill>
                      <a:srgbClr val="FFFFFF"/>
                    </a:solidFill>
                  </a:tcPr>
                </a:tc>
                <a:tc>
                  <a:txBody>
                    <a:bodyPr wrap="square"/>
                    <a:lstStyle/>
                    <a:p>
                      <a:pPr algn="l"/>
                      <a:r>
                        <a:rPr sz="930" b="0">
                          <a:solidFill>
                            <a:srgbClr val="2A3441"/>
                          </a:solidFill>
                          <a:latin typeface="Segoe UI"/>
                        </a:rPr>
                        <a:t>Every console requires a closing classification, and all expose owner, status and severity as triage controls.</a:t>
                      </a:r>
                    </a:p>
                  </a:txBody>
                  <a:tcPr marL="82296" marR="82296" marT="13716" marB="13716" anchor="ctr">
                    <a:solidFill>
                      <a:srgbClr val="FFFFFF"/>
                    </a:solidFill>
                  </a:tcPr>
                </a:tc>
                <a:tc>
                  <a:txBody>
                    <a:bodyPr wrap="square"/>
                    <a:lstStyle/>
                    <a:p>
                      <a:pPr algn="l"/>
                      <a:r>
                        <a:rPr sz="930" b="0">
                          <a:solidFill>
                            <a:srgbClr val="2A3441"/>
                          </a:solidFill>
                          <a:latin typeface="Segoe UI"/>
                        </a:rPr>
                        <a:t>One verdict per alert, with industry-standard labels.</a:t>
                      </a:r>
                    </a:p>
                  </a:txBody>
                  <a:tcPr marL="82296" marR="82296" marT="13716" marB="13716" anchor="ctr">
                    <a:solidFill>
                      <a:srgbClr val="FFFFFF"/>
                    </a:solidFill>
                  </a:tcPr>
                </a:tc>
              </a:tr>
            </a:tbl>
          </a:graphicData>
        </a:graphic>
      </p:graphicFrame>
      <p:sp>
        <p:nvSpPr>
          <p:cNvPr id="10" name="TextBox 9"/>
          <p:cNvSpPr txBox="1"/>
          <p:nvPr/>
        </p:nvSpPr>
        <p:spPr>
          <a:xfrm>
            <a:off x="566928" y="6089904"/>
            <a:ext cx="11057839" cy="365760"/>
          </a:xfrm>
          <a:prstGeom prst="rect">
            <a:avLst/>
          </a:prstGeom>
          <a:noFill/>
        </p:spPr>
        <p:txBody>
          <a:bodyPr wrap="square" anchor="t" lIns="0" rIns="0" tIns="0" bIns="0">
            <a:spAutoFit/>
          </a:bodyPr>
          <a:lstStyle/>
          <a:p>
            <a:pPr algn="l">
              <a:lnSpc>
                <a:spcPct val="115000"/>
              </a:lnSpc>
              <a:spcBef>
                <a:spcPts val="0"/>
              </a:spcBef>
              <a:spcAft>
                <a:spcPts val="0"/>
              </a:spcAft>
            </a:pPr>
            <a:r>
              <a:rPr sz="900" b="0" i="1">
                <a:solidFill>
                  <a:srgbClr val="6B7684"/>
                </a:solidFill>
                <a:latin typeface="Segoe UI"/>
              </a:rPr>
              <a:t>Cited from metadata only, not yet re-fetched: Alahmadi et al., “99% False Positives” (USENIX Security 2022) and Tariq et al., “Alert Fatigue in SOCs” (ACM CSUR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automation alone falls short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6</a:t>
            </a:r>
          </a:p>
        </p:txBody>
      </p:sp>
      <p:sp>
        <p:nvSpPr>
          <p:cNvPr id="8" name="Rectangle 7"/>
          <p:cNvSpPr/>
          <p:nvPr/>
        </p:nvSpPr>
        <p:spPr>
          <a:xfrm>
            <a:off x="566928"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Signature-based detection</a:t>
            </a:r>
          </a:p>
          <a:p>
            <a:pPr algn="l">
              <a:lnSpc>
                <a:spcPct val="120000"/>
              </a:lnSpc>
              <a:spcBef>
                <a:spcPts val="0"/>
              </a:spcBef>
              <a:spcAft>
                <a:spcPts val="0"/>
              </a:spcAft>
            </a:pPr>
            <a:r>
              <a:rPr sz="1070" b="0" i="0">
                <a:solidFill>
                  <a:srgbClr val="2A3441"/>
                </a:solidFill>
                <a:latin typeface="Segoe UI"/>
              </a:rPr>
              <a:t>Matches known attack patterns against packet and flow fields. Precise and human-checkable — but blind to anything new, and it offers no way to say which of its matches matter most.</a:t>
            </a:r>
          </a:p>
        </p:txBody>
      </p:sp>
      <p:sp>
        <p:nvSpPr>
          <p:cNvPr id="11" name="Rectangle 10"/>
          <p:cNvSpPr/>
          <p:nvPr/>
        </p:nvSpPr>
        <p:spPr>
          <a:xfrm>
            <a:off x="6205575"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Machine-learning detection</a:t>
            </a:r>
          </a:p>
          <a:p>
            <a:pPr algn="l">
              <a:lnSpc>
                <a:spcPct val="120000"/>
              </a:lnSpc>
              <a:spcBef>
                <a:spcPts val="0"/>
              </a:spcBef>
              <a:spcAft>
                <a:spcPts val="0"/>
              </a:spcAft>
            </a:pPr>
            <a:r>
              <a:rPr sz="1070" b="0" i="0">
                <a:solidFill>
                  <a:srgbClr val="2A3441"/>
                </a:solidFill>
                <a:latin typeface="Segoe UI"/>
              </a:rPr>
              <a:t>Finds complex patterns that rules cannot express. Powerful on volume — but an opaque decision, and its confidence is only useful where it is calibrated.</a:t>
            </a:r>
          </a:p>
        </p:txBody>
      </p:sp>
      <p:sp>
        <p:nvSpPr>
          <p:cNvPr id="14" name="Rectangle 13"/>
          <p:cNvSpPr/>
          <p:nvPr/>
        </p:nvSpPr>
        <p:spPr>
          <a:xfrm>
            <a:off x="566928"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Operational context</a:t>
            </a:r>
          </a:p>
          <a:p>
            <a:pPr algn="l">
              <a:lnSpc>
                <a:spcPct val="120000"/>
              </a:lnSpc>
              <a:spcBef>
                <a:spcPts val="0"/>
              </a:spcBef>
              <a:spcAft>
                <a:spcPts val="0"/>
              </a:spcAft>
            </a:pPr>
            <a:r>
              <a:rPr sz="1070" b="0" i="0">
                <a:solidFill>
                  <a:srgbClr val="2A3441"/>
                </a:solidFill>
                <a:latin typeface="Segoe UI"/>
              </a:rPr>
              <a:t>Neither approach can know whether a flagged event is authorised or expected in this environment. That judgement is organisational knowledge, and it lives with the analyst.</a:t>
            </a:r>
          </a:p>
        </p:txBody>
      </p:sp>
      <p:sp>
        <p:nvSpPr>
          <p:cNvPr id="17" name="Rectangle 16"/>
          <p:cNvSpPr/>
          <p:nvPr/>
        </p:nvSpPr>
        <p:spPr>
          <a:xfrm>
            <a:off x="6205575"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The triage burden</a:t>
            </a:r>
          </a:p>
          <a:p>
            <a:pPr algn="l">
              <a:lnSpc>
                <a:spcPct val="120000"/>
              </a:lnSpc>
              <a:spcBef>
                <a:spcPts val="0"/>
              </a:spcBef>
              <a:spcAft>
                <a:spcPts val="0"/>
              </a:spcAft>
            </a:pPr>
            <a:r>
              <a:rPr sz="1070" b="0" i="0">
                <a:solidFill>
                  <a:srgbClr val="2A3441"/>
                </a:solidFill>
                <a:latin typeface="Segoe UI"/>
              </a:rPr>
              <a:t>Existing products still produce high alert volumes, need complex configuration, and give limited transparency into how analyst feedback is supposed to change prioritisation.</a:t>
            </a:r>
          </a:p>
        </p:txBody>
      </p:sp>
      <p:sp>
        <p:nvSpPr>
          <p:cNvPr id="20" name="Rectangle 19"/>
          <p:cNvSpPr/>
          <p:nvPr/>
        </p:nvSpPr>
        <p:spPr>
          <a:xfrm>
            <a:off x="566928" y="4846320"/>
            <a:ext cx="11057839" cy="107899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956048"/>
            <a:ext cx="10618927" cy="877824"/>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0F2A47"/>
                </a:solidFill>
                <a:latin typeface="Segoe UI"/>
              </a:rPr>
              <a:t>→  We need automation and human judgement, working together — and we need the machine to tell the analyst where its own evidence is weak.</a:t>
            </a:r>
          </a:p>
          <a:p>
            <a:pPr algn="l">
              <a:lnSpc>
                <a:spcPct val="120000"/>
              </a:lnSpc>
              <a:spcBef>
                <a:spcPts val="0"/>
              </a:spcBef>
              <a:spcAft>
                <a:spcPts val="0"/>
              </a:spcAft>
            </a:pPr>
            <a:r>
              <a:rPr sz="1050" b="0" i="0">
                <a:solidFill>
                  <a:srgbClr val="6B7684"/>
                </a:solidFill>
                <a:latin typeface="Segoe UI"/>
              </a:rPr>
              <a:t>That is the design premise of a human-in-the-loop system: the machine narrows the field, the human supplies context, and the system learns from the human's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2 · PART TWO</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Our solution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A hybrid detector that ranks its own evidence, and an analyst verdict that re-ranks future alerts — inside guardrails that explain themselves.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we built, and the claim we can defend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8</a:t>
            </a:r>
          </a:p>
        </p:txBody>
      </p:sp>
      <p:sp>
        <p:nvSpPr>
          <p:cNvPr id="8" name="Rectangle 7"/>
          <p:cNvSpPr/>
          <p:nvPr/>
        </p:nvSpPr>
        <p:spPr>
          <a:xfrm>
            <a:off x="566928" y="1481328"/>
            <a:ext cx="11057839" cy="85953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1609344"/>
            <a:ext cx="10618927" cy="621792"/>
          </a:xfrm>
          <a:prstGeom prst="rect">
            <a:avLst/>
          </a:prstGeom>
          <a:noFill/>
        </p:spPr>
        <p:txBody>
          <a:bodyPr wrap="square" anchor="t" lIns="0" rIns="0" tIns="0" bIns="0">
            <a:spAutoFit/>
          </a:bodyPr>
          <a:lstStyle/>
          <a:p>
            <a:pPr algn="l">
              <a:lnSpc>
                <a:spcPct val="120000"/>
              </a:lnSpc>
              <a:spcBef>
                <a:spcPts val="0"/>
              </a:spcBef>
              <a:spcAft>
                <a:spcPts val="0"/>
              </a:spcAft>
            </a:pPr>
            <a:r>
              <a:rPr sz="1350" b="1" i="0">
                <a:solidFill>
                  <a:srgbClr val="FFFFFF"/>
                </a:solidFill>
                <a:latin typeface="Segoe UI"/>
              </a:rPr>
              <a:t>The model is confidently wrong. A human overrules it inside guardrails that explain themselves, and the correction spreads — measurably, and within limits — to the alerts like it.</a:t>
            </a:r>
          </a:p>
        </p:txBody>
      </p:sp>
      <p:sp>
        <p:nvSpPr>
          <p:cNvPr id="10" name="Rectangle 9"/>
          <p:cNvSpPr/>
          <p:nvPr/>
        </p:nvSpPr>
        <p:spPr>
          <a:xfrm>
            <a:off x="566928"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1 · Fuse two detectors into one ranked alert</a:t>
            </a:r>
          </a:p>
          <a:p>
            <a:pPr algn="l">
              <a:lnSpc>
                <a:spcPct val="120000"/>
              </a:lnSpc>
              <a:spcBef>
                <a:spcPts val="0"/>
              </a:spcBef>
              <a:spcAft>
                <a:spcPts val="0"/>
              </a:spcAft>
            </a:pPr>
            <a:r>
              <a:rPr sz="1050" b="0" i="0">
                <a:solidFill>
                  <a:srgbClr val="2A3441"/>
                </a:solidFill>
                <a:latin typeface="Segoe UI"/>
              </a:rPr>
              <a:t>A signature engine and an 8-class XGBoost model score every flow. Fusion assigns one evidence class, one score, one review flag and one explanation.</a:t>
            </a:r>
          </a:p>
        </p:txBody>
      </p:sp>
      <p:sp>
        <p:nvSpPr>
          <p:cNvPr id="13" name="Rectangle 12"/>
          <p:cNvSpPr/>
          <p:nvPr/>
        </p:nvSpPr>
        <p:spPr>
          <a:xfrm>
            <a:off x="6205575"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2 · Show the analyst why</a:t>
            </a:r>
          </a:p>
          <a:p>
            <a:pPr algn="l">
              <a:lnSpc>
                <a:spcPct val="120000"/>
              </a:lnSpc>
              <a:spcBef>
                <a:spcPts val="0"/>
              </a:spcBef>
              <a:spcAft>
                <a:spcPts val="0"/>
              </a:spcAft>
            </a:pPr>
            <a:r>
              <a:rPr sz="1050" b="0" i="0">
                <a:solidFill>
                  <a:srgbClr val="2A3441"/>
                </a:solidFill>
                <a:latin typeface="Segoe UI"/>
              </a:rPr>
              <a:t>Every alert carries the rule's checkable clauses, the model's prediction, and a native TreeSHAP attribution of the features that pushed towards and away.</a:t>
            </a:r>
          </a:p>
        </p:txBody>
      </p:sp>
      <p:sp>
        <p:nvSpPr>
          <p:cNvPr id="16" name="Rectangle 15"/>
          <p:cNvSpPr/>
          <p:nvPr/>
        </p:nvSpPr>
        <p:spPr>
          <a:xfrm>
            <a:off x="566928"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3 · Take the analyst's verdict</a:t>
            </a:r>
          </a:p>
          <a:p>
            <a:pPr algn="l">
              <a:lnSpc>
                <a:spcPct val="120000"/>
              </a:lnSpc>
              <a:spcBef>
                <a:spcPts val="0"/>
              </a:spcBef>
              <a:spcAft>
                <a:spcPts val="0"/>
              </a:spcAft>
            </a:pPr>
            <a:r>
              <a:rPr sz="1050" b="0" i="0">
                <a:solidFill>
                  <a:srgbClr val="2A3441"/>
                </a:solidFill>
                <a:latin typeface="Segoe UI"/>
              </a:rPr>
              <a:t>One of five verdicts per alert. The verdict moves the alert's operational score through the guardrails, and the adjustment chain states exactly how far it moved and why.</a:t>
            </a:r>
          </a:p>
        </p:txBody>
      </p:sp>
      <p:sp>
        <p:nvSpPr>
          <p:cNvPr id="19" name="Rectangle 18"/>
          <p:cNvSpPr/>
          <p:nvPr/>
        </p:nvSpPr>
        <p:spPr>
          <a:xfrm>
            <a:off x="6205575"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88455"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4 · Spread it to similar alerts</a:t>
            </a:r>
          </a:p>
          <a:p>
            <a:pPr algn="l">
              <a:lnSpc>
                <a:spcPct val="120000"/>
              </a:lnSpc>
              <a:spcBef>
                <a:spcPts val="0"/>
              </a:spcBef>
              <a:spcAft>
                <a:spcPts val="0"/>
              </a:spcAft>
            </a:pPr>
            <a:r>
              <a:rPr sz="1050" b="0" i="0">
                <a:solidFill>
                  <a:srgbClr val="2A3441"/>
                </a:solidFill>
                <a:latin typeface="Segoe UI"/>
              </a:rPr>
              <a:t>A verdict teaches its family of similar alerts — but only after at least three agree. Unjudged alerts in that family then move too.</a:t>
            </a:r>
          </a:p>
        </p:txBody>
      </p:sp>
      <p:sp>
        <p:nvSpPr>
          <p:cNvPr id="22" name="Rectangle 21"/>
          <p:cNvSpPr/>
          <p:nvPr/>
        </p:nvSpPr>
        <p:spPr>
          <a:xfrm>
            <a:off x="566928" y="5541264"/>
            <a:ext cx="11057839" cy="65836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200" b="1" i="0">
                <a:solidFill>
                  <a:srgbClr val="0F2A47"/>
                </a:solidFill>
                <a:latin typeface="Segoe UI"/>
              </a:rPr>
              <a:t>The claim we can defend:  the hybrid does not detect more — it tells the analyst where their attention is worth spending.</a:t>
            </a:r>
          </a:p>
          <a:p>
            <a:pPr algn="l">
              <a:spcBef>
                <a:spcPts val="0"/>
              </a:spcBef>
              <a:spcAft>
                <a:spcPts val="0"/>
              </a:spcAft>
            </a:pPr>
            <a:r>
              <a:rPr sz="980" b="0" i="0">
                <a:solidFill>
                  <a:srgbClr val="6B7684"/>
                </a:solidFill>
                <a:latin typeface="Segoe UI"/>
              </a:rPr>
              <a:t>We deliberately do not claim a detection-coverage gain. Notebook 04 shows there is none on this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we built it this specific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Each choice below was forced by a measurement, not by preference.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9</a:t>
            </a:r>
          </a:p>
        </p:txBody>
      </p:sp>
      <p:graphicFrame>
        <p:nvGraphicFramePr>
          <p:cNvPr id="9" name="Table 8"/>
          <p:cNvGraphicFramePr>
            <a:graphicFrameLocks noGrp="1"/>
          </p:cNvGraphicFramePr>
          <p:nvPr/>
        </p:nvGraphicFramePr>
        <p:xfrm>
          <a:off x="566928" y="1792224"/>
          <a:ext cx="11055096" cy="4242816"/>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Design decision</a:t>
                      </a:r>
                    </a:p>
                  </a:txBody>
                  <a:tcPr marL="82296" marR="82296" marT="13716" marB="13716" anchor="ctr">
                    <a:solidFill>
                      <a:srgbClr val="0F2A47"/>
                    </a:solidFill>
                  </a:tcPr>
                </a:tc>
                <a:tc>
                  <a:txBody>
                    <a:bodyPr wrap="square"/>
                    <a:lstStyle/>
                    <a:p>
                      <a:pPr algn="l"/>
                      <a:r>
                        <a:rPr sz="900" b="1">
                          <a:solidFill>
                            <a:srgbClr val="FFFFFF"/>
                          </a:solidFill>
                          <a:latin typeface="Segoe UI"/>
                        </a:rPr>
                        <a:t>Why — the evidence that forced it</a:t>
                      </a:r>
                    </a:p>
                  </a:txBody>
                  <a:tcPr marL="82296" marR="82296" marT="13716" marB="13716" anchor="ctr">
                    <a:solidFill>
                      <a:srgbClr val="0F2A47"/>
                    </a:solidFill>
                  </a:tcPr>
                </a:tc>
              </a:tr>
              <a:tr h="658368">
                <a:tc>
                  <a:txBody>
                    <a:bodyPr wrap="square"/>
                    <a:lstStyle/>
                    <a:p>
                      <a:pPr algn="l"/>
                      <a:r>
                        <a:rPr sz="940" b="0">
                          <a:solidFill>
                            <a:srgbClr val="2A3441"/>
                          </a:solidFill>
                          <a:latin typeface="Segoe UI"/>
                        </a:rPr>
                        <a:t>Complementary Evidence Fusion, not a weighted sum</a:t>
                      </a:r>
                    </a:p>
                  </a:txBody>
                  <a:tcPr marL="82296" marR="82296" marT="13716" marB="13716" anchor="ctr">
                    <a:solidFill>
                      <a:srgbClr val="FFFFFF"/>
                    </a:solidFill>
                  </a:tcPr>
                </a:tc>
                <a:tc>
                  <a:txBody>
                    <a:bodyPr wrap="square"/>
                    <a:lstStyle/>
                    <a:p>
                      <a:pPr algn="l"/>
                      <a:r>
                        <a:rPr sz="940" b="0">
                          <a:solidFill>
                            <a:srgbClr val="2A3441"/>
                          </a:solidFill>
                          <a:latin typeface="Segoe UI"/>
                        </a:rPr>
                        <a:t>The two detectors produce scores from different evidence classes, which are not commensurable. A weight sweep rescaled two disjoint populations: rank correlation stayed ρ = 1.0000 at every setting. All averaging could do was hide the real problem.</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Evidence classes instead of one blended number</a:t>
                      </a:r>
                    </a:p>
                  </a:txBody>
                  <a:tcPr marL="82296" marR="82296" marT="13716" marB="13716" anchor="ctr">
                    <a:solidFill>
                      <a:srgbClr val="F4F7FB"/>
                    </a:solidFill>
                  </a:tcPr>
                </a:tc>
                <a:tc>
                  <a:txBody>
                    <a:bodyPr wrap="square"/>
                    <a:lstStyle/>
                    <a:p>
                      <a:pPr algn="l"/>
                      <a:r>
                        <a:rPr sz="940" b="0">
                          <a:solidFill>
                            <a:srgbClr val="2A3441"/>
                          </a:solidFill>
                          <a:latin typeface="Segoe UI"/>
                        </a:rPr>
                        <a:t>Classes preserve what averaging destroys: whether an alert is fast-track, needs review, or is a rule the model disputes. They also let the queue order carry a triage meaning.</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The signature layer repositioned as trust, not coverage</a:t>
                      </a:r>
                    </a:p>
                  </a:txBody>
                  <a:tcPr marL="82296" marR="82296" marT="13716" marB="13716" anchor="ctr">
                    <a:solidFill>
                      <a:srgbClr val="FFFFFF"/>
                    </a:solidFill>
                  </a:tcPr>
                </a:tc>
                <a:tc>
                  <a:txBody>
                    <a:bodyPr wrap="square"/>
                    <a:lstStyle/>
                    <a:p>
                      <a:pPr algn="l"/>
                      <a:r>
                        <a:rPr sz="940" b="0">
                          <a:solidFill>
                            <a:srgbClr val="2A3441"/>
                          </a:solidFill>
                          <a:latin typeface="Segoe UI"/>
                        </a:rPr>
                        <a:t>Retuning the rules reached precision 1.000 and recall 20%, yet unique signature coverage stayed at exactly zero. Coverage could not be the justification, so trust and explainability became it.</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Ranking parameters chosen by experiment</a:t>
                      </a:r>
                    </a:p>
                  </a:txBody>
                  <a:tcPr marL="82296" marR="82296" marT="13716" marB="13716" anchor="ctr">
                    <a:solidFill>
                      <a:srgbClr val="F4F7FB"/>
                    </a:solidFill>
                  </a:tcPr>
                </a:tc>
                <a:tc>
                  <a:txBody>
                    <a:bodyPr wrap="square"/>
                    <a:lstStyle/>
                    <a:p>
                      <a:pPr algn="l"/>
                      <a:r>
                        <a:rPr sz="940" b="0">
                          <a:solidFill>
                            <a:srgbClr val="2A3441"/>
                          </a:solidFill>
                          <a:latin typeface="Segoe UI"/>
                        </a:rPr>
                        <a:t>The project lead's decision: test candidate systems and pick one, rather than argue for one. Four formulas and two movement rules were pre-registered and run.</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Guardrail values taken from the collaborator's engine</a:t>
                      </a:r>
                    </a:p>
                  </a:txBody>
                  <a:tcPr marL="82296" marR="82296" marT="13716" marB="13716" anchor="ctr">
                    <a:solidFill>
                      <a:srgbClr val="FFFFFF"/>
                    </a:solidFill>
                  </a:tcPr>
                </a:tc>
                <a:tc>
                  <a:txBody>
                    <a:bodyPr wrap="square"/>
                    <a:lstStyle/>
                    <a:p>
                      <a:pPr algn="l"/>
                      <a:r>
                        <a:rPr sz="940" b="0">
                          <a:solidFill>
                            <a:srgbClr val="2A3441"/>
                          </a:solidFill>
                          <a:latin typeface="Segoe UI"/>
                        </a:rPr>
                        <a:t>Their feedback engine states the caps, floors and thresholds in code, and is richer than the written documents — the documents omit a positive cap entirely, without which confirmations inflate without bound.</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TreeSHAP computed inside the detection run</a:t>
                      </a:r>
                    </a:p>
                  </a:txBody>
                  <a:tcPr marL="82296" marR="82296" marT="13716" marB="13716" anchor="ctr">
                    <a:solidFill>
                      <a:srgbClr val="F4F7FB"/>
                    </a:solidFill>
                  </a:tcPr>
                </a:tc>
                <a:tc>
                  <a:txBody>
                    <a:bodyPr wrap="square"/>
                    <a:lstStyle/>
                    <a:p>
                      <a:pPr algn="l"/>
                      <a:r>
                        <a:rPr sz="940" b="0">
                          <a:solidFill>
                            <a:srgbClr val="2A3441"/>
                          </a:solidFill>
                          <a:latin typeface="Segoe UI"/>
                        </a:rPr>
                        <a:t>Explainability is a hard requirement, but computing it on demand would break the 2-second response budget. Inside the batch run it is free at request time.</a:t>
                      </a:r>
                    </a:p>
                  </a:txBody>
                  <a:tcPr marL="82296" marR="82296" marT="13716" marB="13716" anchor="ctr">
                    <a:solidFill>
                      <a:srgbClr val="F4F7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3 · PART THREE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workflow, and what we built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From a recorded flow to a re-ranked queue — and the eight stages that sit between them.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03</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End to end, in eight stages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11</a:t>
            </a:r>
          </a:p>
        </p:txBody>
      </p:sp>
      <p:sp>
        <p:nvSpPr>
          <p:cNvPr id="8" name="Chevron 7"/>
          <p:cNvSpPr/>
          <p:nvPr/>
        </p:nvSpPr>
        <p:spPr>
          <a:xfrm>
            <a:off x="566928"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Recorded flow</a:t>
            </a:r>
          </a:p>
        </p:txBody>
      </p:sp>
      <p:sp>
        <p:nvSpPr>
          <p:cNvPr id="10" name="Chevron 9"/>
          <p:cNvSpPr/>
          <p:nvPr/>
        </p:nvSpPr>
        <p:spPr>
          <a:xfrm>
            <a:off x="1956015"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2916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Signature + ML</a:t>
            </a:r>
          </a:p>
        </p:txBody>
      </p:sp>
      <p:sp>
        <p:nvSpPr>
          <p:cNvPr id="12" name="Chevron 11"/>
          <p:cNvSpPr/>
          <p:nvPr/>
        </p:nvSpPr>
        <p:spPr>
          <a:xfrm>
            <a:off x="334510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825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Detection score</a:t>
            </a:r>
          </a:p>
        </p:txBody>
      </p:sp>
      <p:sp>
        <p:nvSpPr>
          <p:cNvPr id="14" name="Chevron 13"/>
          <p:cNvSpPr/>
          <p:nvPr/>
        </p:nvSpPr>
        <p:spPr>
          <a:xfrm>
            <a:off x="4734191"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07343"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Analyst review</a:t>
            </a:r>
          </a:p>
        </p:txBody>
      </p:sp>
      <p:sp>
        <p:nvSpPr>
          <p:cNvPr id="16" name="Chevron 15"/>
          <p:cNvSpPr/>
          <p:nvPr/>
        </p:nvSpPr>
        <p:spPr>
          <a:xfrm>
            <a:off x="6123279"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96431"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Human feedback</a:t>
            </a:r>
          </a:p>
        </p:txBody>
      </p:sp>
      <p:sp>
        <p:nvSpPr>
          <p:cNvPr id="18" name="Chevron 17"/>
          <p:cNvSpPr/>
          <p:nvPr/>
        </p:nvSpPr>
        <p:spPr>
          <a:xfrm>
            <a:off x="7512367"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5519"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Guard- rails</a:t>
            </a:r>
          </a:p>
        </p:txBody>
      </p:sp>
      <p:sp>
        <p:nvSpPr>
          <p:cNvPr id="20" name="Chevron 19"/>
          <p:cNvSpPr/>
          <p:nvPr/>
        </p:nvSpPr>
        <p:spPr>
          <a:xfrm>
            <a:off x="8901455"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7460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Operational priority</a:t>
            </a:r>
          </a:p>
        </p:txBody>
      </p:sp>
      <p:sp>
        <p:nvSpPr>
          <p:cNvPr id="22" name="Chevron 21"/>
          <p:cNvSpPr/>
          <p:nvPr/>
        </p:nvSpPr>
        <p:spPr>
          <a:xfrm>
            <a:off x="1029054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36369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Re-ranked queue</a:t>
            </a:r>
          </a:p>
        </p:txBody>
      </p:sp>
      <p:sp>
        <p:nvSpPr>
          <p:cNvPr id="24" name="Rectangle 23"/>
          <p:cNvSpPr/>
          <p:nvPr/>
        </p:nvSpPr>
        <p:spPr>
          <a:xfrm>
            <a:off x="566928"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395728"/>
            <a:ext cx="50292"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The four lanes of the system</a:t>
            </a:r>
          </a:p>
          <a:p>
            <a:pPr algn="l">
              <a:lnSpc>
                <a:spcPct val="120000"/>
              </a:lnSpc>
              <a:spcBef>
                <a:spcPts val="0"/>
              </a:spcBef>
              <a:spcAft>
                <a:spcPts val="0"/>
              </a:spcAft>
            </a:pPr>
            <a:r>
              <a:rPr sz="1019" b="0" i="0">
                <a:solidFill>
                  <a:srgbClr val="2A3441"/>
                </a:solidFill>
                <a:latin typeface="Segoe UI"/>
              </a:rPr>
              <a:t>1 · Real world (post-demo, S17): traffic → flow exporter → ExporterSource.   2 · Local today: dataset → sample → CsvReplaySource.   3 · Detection core (built): two views → two detectors → fusion → alert.   4 · Store, show, feedback: SQLite → API → analyst → guardrails → new score.</a:t>
            </a:r>
          </a:p>
        </p:txBody>
      </p:sp>
      <p:sp>
        <p:nvSpPr>
          <p:cNvPr id="27" name="Rectangle 26"/>
          <p:cNvSpPr/>
          <p:nvPr/>
        </p:nvSpPr>
        <p:spPr>
          <a:xfrm>
            <a:off x="6205575"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395728"/>
            <a:ext cx="50292" cy="12984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Two score fields on every alert</a:t>
            </a:r>
          </a:p>
          <a:p>
            <a:pPr algn="l">
              <a:lnSpc>
                <a:spcPct val="120000"/>
              </a:lnSpc>
              <a:spcBef>
                <a:spcPts val="0"/>
              </a:spcBef>
              <a:spcAft>
                <a:spcPts val="0"/>
              </a:spcAft>
            </a:pPr>
            <a:r>
              <a:rPr sz="1019" b="0" i="0">
                <a:solidFill>
                  <a:srgbClr val="2A3441"/>
                </a:solidFill>
                <a:latin typeface="Segoe UI"/>
              </a:rPr>
              <a:t>detection_score is what the detectors concluded, set once and never changed. combined_score is the operational score that feedback moves. Keeping both is deliberate: their difference is the measurable effect of human feedback.</a:t>
            </a:r>
          </a:p>
        </p:txBody>
      </p:sp>
      <p:sp>
        <p:nvSpPr>
          <p:cNvPr id="30" name="TextBox 29"/>
          <p:cNvSpPr txBox="1"/>
          <p:nvPr/>
        </p:nvSpPr>
        <p:spPr>
          <a:xfrm>
            <a:off x="566928" y="3895344"/>
            <a:ext cx="11057839" cy="1371600"/>
          </a:xfrm>
          <a:prstGeom prst="rect">
            <a:avLst/>
          </a:prstGeom>
          <a:noFill/>
        </p:spPr>
        <p:txBody>
          <a:bodyPr wrap="square" anchor="t" lIns="0" rIns="0" tIns="0" bIns="0">
            <a:spAutoFit/>
          </a:bodyPr>
          <a:lstStyle/>
          <a:p>
            <a:pPr algn="l">
              <a:lnSpc>
                <a:spcPct val="118000"/>
              </a:lnSpc>
              <a:spcBef>
                <a:spcPts val="0"/>
              </a:spcBef>
              <a:spcAft>
                <a:spcPts val="800"/>
              </a:spcAft>
            </a:pPr>
            <a:r>
              <a:rPr sz="1150" b="0" i="0">
                <a:solidFill>
                  <a:srgbClr val="2A3441"/>
                </a:solidFill>
                <a:latin typeface="Segoe UI"/>
              </a:rPr>
              <a:t>Detection is an offline batch run: python scripts/run_detection.py turns 5,000 flows into 5,000 alerts in about 21 seconds.</a:t>
            </a:r>
          </a:p>
          <a:p>
            <a:pPr algn="l">
              <a:lnSpc>
                <a:spcPct val="118000"/>
              </a:lnSpc>
              <a:spcBef>
                <a:spcPts val="0"/>
              </a:spcBef>
              <a:spcAft>
                <a:spcPts val="800"/>
              </a:spcAft>
            </a:pPr>
            <a:r>
              <a:rPr sz="1150" b="0" i="0">
                <a:solidFill>
                  <a:srgbClr val="2A3441"/>
                </a:solidFill>
                <a:latin typeface="Segoe UI"/>
              </a:rPr>
              <a:t>Every flow becomes an alert — including the 4,004 no detector flagged. They are the queue's bottom band and the evaluation's denominator.</a:t>
            </a:r>
          </a:p>
          <a:p>
            <a:pPr algn="l">
              <a:lnSpc>
                <a:spcPct val="118000"/>
              </a:lnSpc>
              <a:spcBef>
                <a:spcPts val="0"/>
              </a:spcBef>
              <a:spcAft>
                <a:spcPts val="800"/>
              </a:spcAft>
            </a:pPr>
            <a:r>
              <a:rPr sz="1150" b="0" i="0">
                <a:solidFill>
                  <a:srgbClr val="2A3441"/>
                </a:solidFill>
                <a:latin typeface="Segoe UI"/>
              </a:rPr>
              <a:t>The system is deterministic: a second run over the same sample differs in no scored field, for any of the 5,000 alerts (NFR-05).</a:t>
            </a:r>
          </a:p>
        </p:txBody>
      </p:sp>
      <p:sp>
        <p:nvSpPr>
          <p:cNvPr id="31" name="Rectangle 30"/>
          <p:cNvSpPr/>
          <p:nvPr/>
        </p:nvSpPr>
        <p:spPr>
          <a:xfrm>
            <a:off x="566928" y="5358384"/>
            <a:ext cx="11057839" cy="84124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68096" y="5468112"/>
            <a:ext cx="10655503" cy="64008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Shipped and reachable:  python -m uvicorn apps.api.main:app serves the API on port 8000; cd apps/web &amp;&amp; npm run dev serves the console on port 5173.</a:t>
            </a:r>
          </a:p>
          <a:p>
            <a:pPr algn="l">
              <a:spcBef>
                <a:spcPts val="0"/>
              </a:spcBef>
              <a:spcAft>
                <a:spcPts val="0"/>
              </a:spcAft>
            </a:pPr>
            <a:r>
              <a:rPr sz="980" b="0" i="0">
                <a:solidFill>
                  <a:srgbClr val="6B7684"/>
                </a:solidFill>
                <a:latin typeface="Segoe UI"/>
              </a:rPr>
              <a:t>The console's three views are three real accounts, each signing in to its own role — not one user switching a dropdown.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4 · PART FOUR</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Commercial tools, and where we fit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The commercial landscape, what the research says consoles must do, and where this project sits inside a real SOC workflow.</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04</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Existing IDS tools, and the gap they leave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13</a:t>
            </a:r>
          </a:p>
        </p:txBody>
      </p:sp>
      <p:graphicFrame>
        <p:nvGraphicFramePr>
          <p:cNvPr id="8" name="Table 7"/>
          <p:cNvGraphicFramePr>
            <a:graphicFrameLocks noGrp="1"/>
          </p:cNvGraphicFramePr>
          <p:nvPr/>
        </p:nvGraphicFramePr>
        <p:xfrm>
          <a:off x="566928" y="1572768"/>
          <a:ext cx="11055096" cy="3877056"/>
        </p:xfrm>
        <a:graphic>
          <a:graphicData uri="http://schemas.openxmlformats.org/drawingml/2006/table">
            <a:tbl>
              <a:tblPr firstRow="0" bandRow="0"/>
              <a:tblGrid>
                <a:gridCol w="1691640"/>
                <a:gridCol w="2148840"/>
                <a:gridCol w="3703320"/>
                <a:gridCol w="3511296"/>
              </a:tblGrid>
              <a:tr h="310896">
                <a:tc>
                  <a:txBody>
                    <a:bodyPr wrap="square"/>
                    <a:lstStyle/>
                    <a:p>
                      <a:pPr algn="l"/>
                      <a:r>
                        <a:rPr sz="900" b="1">
                          <a:solidFill>
                            <a:srgbClr val="FFFFFF"/>
                          </a:solidFill>
                          <a:latin typeface="Segoe UI"/>
                        </a:rPr>
                        <a:t>Product</a:t>
                      </a:r>
                    </a:p>
                  </a:txBody>
                  <a:tcPr marL="82296" marR="82296" marT="13716" marB="13716" anchor="ctr">
                    <a:solidFill>
                      <a:srgbClr val="0F2A47"/>
                    </a:solidFill>
                  </a:tcPr>
                </a:tc>
                <a:tc>
                  <a:txBody>
                    <a:bodyPr wrap="square"/>
                    <a:lstStyle/>
                    <a:p>
                      <a:pPr algn="l"/>
                      <a:r>
                        <a:rPr sz="900" b="1">
                          <a:solidFill>
                            <a:srgbClr val="FFFFFF"/>
                          </a:solidFill>
                          <a:latin typeface="Segoe UI"/>
                        </a:rPr>
                        <a:t>Approach</a:t>
                      </a:r>
                    </a:p>
                  </a:txBody>
                  <a:tcPr marL="82296" marR="82296" marT="13716" marB="13716" anchor="ctr">
                    <a:solidFill>
                      <a:srgbClr val="0F2A47"/>
                    </a:solidFill>
                  </a:tcPr>
                </a:tc>
                <a:tc>
                  <a:txBody>
                    <a:bodyPr wrap="square"/>
                    <a:lstStyle/>
                    <a:p>
                      <a:pPr algn="l"/>
                      <a:r>
                        <a:rPr sz="900" b="1">
                          <a:solidFill>
                            <a:srgbClr val="FFFFFF"/>
                          </a:solidFill>
                          <a:latin typeface="Segoe UI"/>
                        </a:rPr>
                        <a:t>What it does well</a:t>
                      </a:r>
                    </a:p>
                  </a:txBody>
                  <a:tcPr marL="82296" marR="82296" marT="13716" marB="13716" anchor="ctr">
                    <a:solidFill>
                      <a:srgbClr val="0F2A47"/>
                    </a:solidFill>
                  </a:tcPr>
                </a:tc>
                <a:tc>
                  <a:txBody>
                    <a:bodyPr wrap="square"/>
                    <a:lstStyle/>
                    <a:p>
                      <a:pPr algn="l"/>
                      <a:r>
                        <a:rPr sz="900" b="1">
                          <a:solidFill>
                            <a:srgbClr val="FFFFFF"/>
                          </a:solidFill>
                          <a:latin typeface="Segoe UI"/>
                        </a:rPr>
                        <a:t>The gap this project targets</a:t>
                      </a:r>
                    </a:p>
                  </a:txBody>
                  <a:tcPr marL="82296" marR="82296" marT="13716" marB="13716" anchor="ctr">
                    <a:solidFill>
                      <a:srgbClr val="0F2A47"/>
                    </a:solidFill>
                  </a:tcPr>
                </a:tc>
              </a:tr>
              <a:tr h="713232">
                <a:tc>
                  <a:txBody>
                    <a:bodyPr wrap="square"/>
                    <a:lstStyle/>
                    <a:p>
                      <a:pPr algn="l"/>
                      <a:r>
                        <a:rPr sz="919" b="0">
                          <a:solidFill>
                            <a:srgbClr val="2A3441"/>
                          </a:solidFill>
                          <a:latin typeface="Segoe UI"/>
                        </a:rPr>
                        <a:t>Snort</a:t>
                      </a:r>
                    </a:p>
                  </a:txBody>
                  <a:tcPr marL="82296" marR="82296" marT="13716" marB="13716" anchor="ctr">
                    <a:solidFill>
                      <a:srgbClr val="FFFFFF"/>
                    </a:solidFill>
                  </a:tcPr>
                </a:tc>
                <a:tc>
                  <a:txBody>
                    <a:bodyPr wrap="square"/>
                    <a:lstStyle/>
                    <a:p>
                      <a:pPr algn="l"/>
                      <a:r>
                        <a:rPr sz="919" b="0">
                          <a:solidFill>
                            <a:srgbClr val="2A3441"/>
                          </a:solidFill>
                          <a:latin typeface="Segoe UI"/>
                        </a:rPr>
                        <a:t>Signature-based IDS</a:t>
                      </a:r>
                    </a:p>
                  </a:txBody>
                  <a:tcPr marL="82296" marR="82296" marT="13716" marB="13716" anchor="ctr">
                    <a:solidFill>
                      <a:srgbClr val="FFFFFF"/>
                    </a:solidFill>
                  </a:tcPr>
                </a:tc>
                <a:tc>
                  <a:txBody>
                    <a:bodyPr wrap="square"/>
                    <a:lstStyle/>
                    <a:p>
                      <a:pPr algn="l"/>
                      <a:r>
                        <a:rPr sz="919" b="0">
                          <a:solidFill>
                            <a:srgbClr val="2A3441"/>
                          </a:solidFill>
                          <a:latin typeface="Segoe UI"/>
                        </a:rPr>
                        <a:t>Mature rule ecosystem; matches are explainable</a:t>
                      </a:r>
                    </a:p>
                  </a:txBody>
                  <a:tcPr marL="82296" marR="82296" marT="13716" marB="13716" anchor="ctr">
                    <a:solidFill>
                      <a:srgbClr val="FFFFFF"/>
                    </a:solidFill>
                  </a:tcPr>
                </a:tc>
                <a:tc>
                  <a:txBody>
                    <a:bodyPr wrap="square"/>
                    <a:lstStyle/>
                    <a:p>
                      <a:pPr algn="l"/>
                      <a:r>
                        <a:rPr sz="919" b="0">
                          <a:solidFill>
                            <a:srgbClr val="2A3441"/>
                          </a:solidFill>
                          <a:latin typeface="Segoe UI"/>
                        </a:rPr>
                        <a:t>No feedback-driven prioritisation — every rule hit arrives with the same standing</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Suricata</a:t>
                      </a:r>
                    </a:p>
                  </a:txBody>
                  <a:tcPr marL="82296" marR="82296" marT="13716" marB="13716" anchor="ctr">
                    <a:solidFill>
                      <a:srgbClr val="F4F7FB"/>
                    </a:solidFill>
                  </a:tcPr>
                </a:tc>
                <a:tc>
                  <a:txBody>
                    <a:bodyPr wrap="square"/>
                    <a:lstStyle/>
                    <a:p>
                      <a:pPr algn="l"/>
                      <a:r>
                        <a:rPr sz="919" b="0">
                          <a:solidFill>
                            <a:srgbClr val="2A3441"/>
                          </a:solidFill>
                          <a:latin typeface="Segoe UI"/>
                        </a:rPr>
                        <a:t>Signature and protocol analysis</a:t>
                      </a:r>
                    </a:p>
                  </a:txBody>
                  <a:tcPr marL="82296" marR="82296" marT="13716" marB="13716" anchor="ctr">
                    <a:solidFill>
                      <a:srgbClr val="F4F7FB"/>
                    </a:solidFill>
                  </a:tcPr>
                </a:tc>
                <a:tc>
                  <a:txBody>
                    <a:bodyPr wrap="square"/>
                    <a:lstStyle/>
                    <a:p>
                      <a:pPr algn="l"/>
                      <a:r>
                        <a:rPr sz="919" b="0">
                          <a:solidFill>
                            <a:srgbClr val="2A3441"/>
                          </a:solidFill>
                          <a:latin typeface="Segoe UI"/>
                        </a:rPr>
                        <a:t>High throughput; detailed, well-structured logs</a:t>
                      </a:r>
                    </a:p>
                  </a:txBody>
                  <a:tcPr marL="82296" marR="82296" marT="13716" marB="13716" anchor="ctr">
                    <a:solidFill>
                      <a:srgbClr val="F4F7FB"/>
                    </a:solidFill>
                  </a:tcPr>
                </a:tc>
                <a:tc>
                  <a:txBody>
                    <a:bodyPr wrap="square"/>
                    <a:lstStyle/>
                    <a:p>
                      <a:pPr algn="l"/>
                      <a:r>
                        <a:rPr sz="919" b="0">
                          <a:solidFill>
                            <a:srgbClr val="2A3441"/>
                          </a:solidFill>
                          <a:latin typeface="Segoe UI"/>
                        </a:rPr>
                        <a:t>The same triage burden is passed downstream to the analyst</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Darktrace</a:t>
                      </a:r>
                    </a:p>
                  </a:txBody>
                  <a:tcPr marL="82296" marR="82296" marT="13716" marB="13716" anchor="ctr">
                    <a:solidFill>
                      <a:srgbClr val="FFFFFF"/>
                    </a:solidFill>
                  </a:tcPr>
                </a:tc>
                <a:tc>
                  <a:txBody>
                    <a:bodyPr wrap="square"/>
                    <a:lstStyle/>
                    <a:p>
                      <a:pPr algn="l"/>
                      <a:r>
                        <a:rPr sz="919" b="0">
                          <a:solidFill>
                            <a:srgbClr val="2A3441"/>
                          </a:solidFill>
                          <a:latin typeface="Segoe UI"/>
                        </a:rPr>
                        <a:t>Behavioural machine learning</a:t>
                      </a:r>
                    </a:p>
                  </a:txBody>
                  <a:tcPr marL="82296" marR="82296" marT="13716" marB="13716" anchor="ctr">
                    <a:solidFill>
                      <a:srgbClr val="FFFFFF"/>
                    </a:solidFill>
                  </a:tcPr>
                </a:tc>
                <a:tc>
                  <a:txBody>
                    <a:bodyPr wrap="square"/>
                    <a:lstStyle/>
                    <a:p>
                      <a:pPr algn="l"/>
                      <a:r>
                        <a:rPr sz="919" b="0">
                          <a:solidFill>
                            <a:srgbClr val="2A3441"/>
                          </a:solidFill>
                          <a:latin typeface="Segoe UI"/>
                        </a:rPr>
                        <a:t>Self-learning; offers autonomous response</a:t>
                      </a:r>
                    </a:p>
                  </a:txBody>
                  <a:tcPr marL="82296" marR="82296" marT="13716" marB="13716" anchor="ctr">
                    <a:solidFill>
                      <a:srgbClr val="FFFFFF"/>
                    </a:solidFill>
                  </a:tcPr>
                </a:tc>
                <a:tc>
                  <a:txBody>
                    <a:bodyPr wrap="square"/>
                    <a:lstStyle/>
                    <a:p>
                      <a:pPr algn="l"/>
                      <a:r>
                        <a:rPr sz="919" b="0">
                          <a:solidFill>
                            <a:srgbClr val="2A3441"/>
                          </a:solidFill>
                          <a:latin typeface="Segoe UI"/>
                        </a:rPr>
                        <a:t>Limited transparency into how decisions are reached</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Vectra AI</a:t>
                      </a:r>
                    </a:p>
                  </a:txBody>
                  <a:tcPr marL="82296" marR="82296" marT="13716" marB="13716" anchor="ctr">
                    <a:solidFill>
                      <a:srgbClr val="F4F7FB"/>
                    </a:solidFill>
                  </a:tcPr>
                </a:tc>
                <a:tc>
                  <a:txBody>
                    <a:bodyPr wrap="square"/>
                    <a:lstStyle/>
                    <a:p>
                      <a:pPr algn="l"/>
                      <a:r>
                        <a:rPr sz="919" b="0">
                          <a:solidFill>
                            <a:srgbClr val="2A3441"/>
                          </a:solidFill>
                          <a:latin typeface="Segoe UI"/>
                        </a:rPr>
                        <a:t>AI behavioural detection (NDR)</a:t>
                      </a:r>
                    </a:p>
                  </a:txBody>
                  <a:tcPr marL="82296" marR="82296" marT="13716" marB="13716" anchor="ctr">
                    <a:solidFill>
                      <a:srgbClr val="F4F7FB"/>
                    </a:solidFill>
                  </a:tcPr>
                </a:tc>
                <a:tc>
                  <a:txBody>
                    <a:bodyPr wrap="square"/>
                    <a:lstStyle/>
                    <a:p>
                      <a:pPr algn="l"/>
                      <a:r>
                        <a:rPr sz="919" b="0">
                          <a:solidFill>
                            <a:srgbClr val="2A3441"/>
                          </a:solidFill>
                          <a:latin typeface="Segoe UI"/>
                        </a:rPr>
                        <a:t>Correlates and scores attacker behaviour across the estate</a:t>
                      </a:r>
                    </a:p>
                  </a:txBody>
                  <a:tcPr marL="82296" marR="82296" marT="13716" marB="13716" anchor="ctr">
                    <a:solidFill>
                      <a:srgbClr val="F4F7FB"/>
                    </a:solidFill>
                  </a:tcPr>
                </a:tc>
                <a:tc>
                  <a:txBody>
                    <a:bodyPr wrap="square"/>
                    <a:lstStyle/>
                    <a:p>
                      <a:pPr algn="l"/>
                      <a:r>
                        <a:rPr sz="919" b="0">
                          <a:solidFill>
                            <a:srgbClr val="2A3441"/>
                          </a:solidFill>
                          <a:latin typeface="Segoe UI"/>
                        </a:rPr>
                        <a:t>Enterprise-priced, and opaque as a decision surface</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SIEM consoles
(Sentinel, Elastic, Splunk)</a:t>
                      </a:r>
                    </a:p>
                  </a:txBody>
                  <a:tcPr marL="82296" marR="82296" marT="13716" marB="13716" anchor="ctr">
                    <a:solidFill>
                      <a:srgbClr val="FFFFFF"/>
                    </a:solidFill>
                  </a:tcPr>
                </a:tc>
                <a:tc>
                  <a:txBody>
                    <a:bodyPr wrap="square"/>
                    <a:lstStyle/>
                    <a:p>
                      <a:pPr algn="l"/>
                      <a:r>
                        <a:rPr sz="919" b="0">
                          <a:solidFill>
                            <a:srgbClr val="2A3441"/>
                          </a:solidFill>
                          <a:latin typeface="Segoe UI"/>
                        </a:rPr>
                        <a:t>Aggregation and triage on top of detection</a:t>
                      </a:r>
                    </a:p>
                  </a:txBody>
                  <a:tcPr marL="82296" marR="82296" marT="13716" marB="13716" anchor="ctr">
                    <a:solidFill>
                      <a:srgbClr val="FFFFFF"/>
                    </a:solidFill>
                  </a:tcPr>
                </a:tc>
                <a:tc>
                  <a:txBody>
                    <a:bodyPr wrap="square"/>
                    <a:lstStyle/>
                    <a:p>
                      <a:pPr algn="l"/>
                      <a:r>
                        <a:rPr sz="919" b="0">
                          <a:solidFill>
                            <a:srgbClr val="2A3441"/>
                          </a:solidFill>
                          <a:latin typeface="Segoe UI"/>
                        </a:rPr>
                        <a:t>Genuinely good triage workflow — queue, owner, status, classification, notes</a:t>
                      </a:r>
                    </a:p>
                  </a:txBody>
                  <a:tcPr marL="82296" marR="82296" marT="13716" marB="13716" anchor="ctr">
                    <a:solidFill>
                      <a:srgbClr val="FFFFFF"/>
                    </a:solidFill>
                  </a:tcPr>
                </a:tc>
                <a:tc>
                  <a:txBody>
                    <a:bodyPr wrap="square"/>
                    <a:lstStyle/>
                    <a:p>
                      <a:pPr algn="l"/>
                      <a:r>
                        <a:rPr sz="919" b="0">
                          <a:solidFill>
                            <a:srgbClr val="2A3441"/>
                          </a:solidFill>
                          <a:latin typeface="Segoe UI"/>
                        </a:rPr>
                        <a:t>They inherit the alert volume, and still leave the analyst to decide what matters</a:t>
                      </a:r>
                    </a:p>
                  </a:txBody>
                  <a:tcPr marL="82296" marR="82296" marT="13716" marB="13716" anchor="ctr">
                    <a:solidFill>
                      <a:srgbClr val="FFFFFF"/>
                    </a:solidFill>
                  </a:tcPr>
                </a:tc>
              </a:tr>
            </a:tbl>
          </a:graphicData>
        </a:graphic>
      </p:graphicFrame>
      <p:sp>
        <p:nvSpPr>
          <p:cNvPr id="9" name="Rectangle 8"/>
          <p:cNvSpPr/>
          <p:nvPr/>
        </p:nvSpPr>
        <p:spPr>
          <a:xfrm>
            <a:off x="566928" y="5541264"/>
            <a:ext cx="11057839" cy="65836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The gap: existing products still generate large alert volumes, need complex configuration, and give limited transparency into how analyst feedback should shape prioritisation.</a:t>
            </a:r>
          </a:p>
          <a:p>
            <a:pPr algn="l">
              <a:spcBef>
                <a:spcPts val="0"/>
              </a:spcBef>
              <a:spcAft>
                <a:spcPts val="0"/>
              </a:spcAft>
            </a:pPr>
            <a:r>
              <a:rPr sz="960" b="0" i="0">
                <a:solidFill>
                  <a:srgbClr val="6B7684"/>
                </a:solidFill>
                <a:latin typeface="Segoe UI"/>
              </a:rPr>
              <a:t>This project fuses two detectors into one explainable alert and closes the loop with guardrailed, structured feedback.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our product fits the workflow commercial settings already use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14</a:t>
            </a:r>
          </a:p>
        </p:txBody>
      </p:sp>
      <p:graphicFrame>
        <p:nvGraphicFramePr>
          <p:cNvPr id="8" name="Table 7"/>
          <p:cNvGraphicFramePr>
            <a:graphicFrameLocks noGrp="1"/>
          </p:cNvGraphicFramePr>
          <p:nvPr/>
        </p:nvGraphicFramePr>
        <p:xfrm>
          <a:off x="566928" y="1572768"/>
          <a:ext cx="11055095" cy="2670048"/>
        </p:xfrm>
        <a:graphic>
          <a:graphicData uri="http://schemas.openxmlformats.org/drawingml/2006/table">
            <a:tbl>
              <a:tblPr firstRow="0" bandRow="0"/>
              <a:tblGrid>
                <a:gridCol w="2194560"/>
                <a:gridCol w="3977639"/>
                <a:gridCol w="4882896"/>
              </a:tblGrid>
              <a:tr h="310896">
                <a:tc>
                  <a:txBody>
                    <a:bodyPr wrap="square"/>
                    <a:lstStyle/>
                    <a:p>
                      <a:pPr algn="l"/>
                      <a:r>
                        <a:rPr sz="900" b="1">
                          <a:solidFill>
                            <a:srgbClr val="FFFFFF"/>
                          </a:solidFill>
                          <a:latin typeface="Segoe UI"/>
                        </a:rPr>
                        <a:t>SOC tier</a:t>
                      </a:r>
                    </a:p>
                  </a:txBody>
                  <a:tcPr marL="82296" marR="82296" marT="13716" marB="13716" anchor="ctr">
                    <a:solidFill>
                      <a:srgbClr val="0F2A47"/>
                    </a:solidFill>
                  </a:tcPr>
                </a:tc>
                <a:tc>
                  <a:txBody>
                    <a:bodyPr wrap="square"/>
                    <a:lstStyle/>
                    <a:p>
                      <a:pPr algn="l"/>
                      <a:r>
                        <a:rPr sz="900" b="1">
                          <a:solidFill>
                            <a:srgbClr val="FFFFFF"/>
                          </a:solidFill>
                          <a:latin typeface="Segoe UI"/>
                        </a:rPr>
                        <a:t>What they do</a:t>
                      </a:r>
                    </a:p>
                  </a:txBody>
                  <a:tcPr marL="82296" marR="82296" marT="13716" marB="13716" anchor="ctr">
                    <a:solidFill>
                      <a:srgbClr val="0F2A47"/>
                    </a:solidFill>
                  </a:tcPr>
                </a:tc>
                <a:tc>
                  <a:txBody>
                    <a:bodyPr wrap="square"/>
                    <a:lstStyle/>
                    <a:p>
                      <a:pPr algn="l"/>
                      <a:r>
                        <a:rPr sz="900" b="1">
                          <a:solidFill>
                            <a:srgbClr val="FFFFFF"/>
                          </a:solidFill>
                          <a:latin typeface="Segoe UI"/>
                        </a:rPr>
                        <a:t>Where our system sits</a:t>
                      </a:r>
                    </a:p>
                  </a:txBody>
                  <a:tcPr marL="82296" marR="82296" marT="13716" marB="13716" anchor="ctr">
                    <a:solidFill>
                      <a:srgbClr val="0F2A47"/>
                    </a:solidFill>
                  </a:tcPr>
                </a:tc>
              </a:tr>
              <a:tr h="786384">
                <a:tc>
                  <a:txBody>
                    <a:bodyPr wrap="square"/>
                    <a:lstStyle/>
                    <a:p>
                      <a:pPr algn="l"/>
                      <a:r>
                        <a:rPr sz="940" b="0">
                          <a:solidFill>
                            <a:srgbClr val="2A3441"/>
                          </a:solidFill>
                          <a:latin typeface="Segoe UI"/>
                        </a:rPr>
                        <a:t>Tier 1 — triage</a:t>
                      </a:r>
                    </a:p>
                  </a:txBody>
                  <a:tcPr marL="82296" marR="82296" marT="13716" marB="13716" anchor="ctr">
                    <a:solidFill>
                      <a:srgbClr val="FFFFFF"/>
                    </a:solidFill>
                  </a:tcPr>
                </a:tc>
                <a:tc>
                  <a:txBody>
                    <a:bodyPr wrap="square"/>
                    <a:lstStyle/>
                    <a:p>
                      <a:pPr algn="l"/>
                      <a:r>
                        <a:rPr sz="940" b="0">
                          <a:solidFill>
                            <a:srgbClr val="2A3441"/>
                          </a:solidFill>
                          <a:latin typeface="Segoe UI"/>
                        </a:rPr>
                        <a:t>Monitors the queue, decides real or false positive, enriches, escalates</a:t>
                      </a:r>
                    </a:p>
                  </a:txBody>
                  <a:tcPr marL="82296" marR="82296" marT="13716" marB="13716" anchor="ctr">
                    <a:solidFill>
                      <a:srgbClr val="FFFFFF"/>
                    </a:solidFill>
                  </a:tcPr>
                </a:tc>
                <a:tc>
                  <a:txBody>
                    <a:bodyPr wrap="square"/>
                    <a:lstStyle/>
                    <a:p>
                      <a:pPr algn="l"/>
                      <a:r>
                        <a:rPr sz="940" b="0">
                          <a:solidFill>
                            <a:srgbClr val="2A3441"/>
                          </a:solidFill>
                          <a:latin typeface="Segoe UI"/>
                        </a:rPr>
                        <a:t>This is Tier 1's tool. The analyst queue is Tier 1's queue and every verdict is a Tier 1 decision.</a:t>
                      </a:r>
                    </a:p>
                  </a:txBody>
                  <a:tcPr marL="82296" marR="82296" marT="13716" marB="13716" anchor="ctr">
                    <a:solidFill>
                      <a:srgbClr val="FFFFFF"/>
                    </a:solidFill>
                  </a:tcPr>
                </a:tc>
              </a:tr>
              <a:tr h="786384">
                <a:tc>
                  <a:txBody>
                    <a:bodyPr wrap="square"/>
                    <a:lstStyle/>
                    <a:p>
                      <a:pPr algn="l"/>
                      <a:r>
                        <a:rPr sz="940" b="0">
                          <a:solidFill>
                            <a:srgbClr val="2A3441"/>
                          </a:solidFill>
                          <a:latin typeface="Segoe UI"/>
                        </a:rPr>
                        <a:t>Tier 2 — incident response</a:t>
                      </a:r>
                    </a:p>
                  </a:txBody>
                  <a:tcPr marL="82296" marR="82296" marT="13716" marB="13716" anchor="ctr">
                    <a:solidFill>
                      <a:srgbClr val="F4F7FB"/>
                    </a:solidFill>
                  </a:tcPr>
                </a:tc>
                <a:tc>
                  <a:txBody>
                    <a:bodyPr wrap="square"/>
                    <a:lstStyle/>
                    <a:p>
                      <a:pPr algn="l"/>
                      <a:r>
                        <a:rPr sz="940" b="0">
                          <a:solidFill>
                            <a:srgbClr val="2A3441"/>
                          </a:solidFill>
                          <a:latin typeface="Segoe UI"/>
                        </a:rPr>
                        <a:t>Takes escalated incidents; deep investigation, containment, remediation</a:t>
                      </a:r>
                    </a:p>
                  </a:txBody>
                  <a:tcPr marL="82296" marR="82296" marT="13716" marB="13716" anchor="ctr">
                    <a:solidFill>
                      <a:srgbClr val="F4F7FB"/>
                    </a:solidFill>
                  </a:tcPr>
                </a:tc>
                <a:tc>
                  <a:txBody>
                    <a:bodyPr wrap="square"/>
                    <a:lstStyle/>
                    <a:p>
                      <a:pPr algn="l"/>
                      <a:r>
                        <a:rPr sz="940" b="0">
                          <a:solidFill>
                            <a:srgbClr val="2A3441"/>
                          </a:solidFill>
                          <a:latin typeface="Segoe UI"/>
                        </a:rPr>
                        <a:t>Alerts meeting escalation criteria carry a → Tier 2 marker. In the demo this is a recommendation; automatic routing is post-demo.</a:t>
                      </a:r>
                    </a:p>
                  </a:txBody>
                  <a:tcPr marL="82296" marR="82296" marT="13716" marB="13716" anchor="ctr">
                    <a:solidFill>
                      <a:srgbClr val="F4F7FB"/>
                    </a:solidFill>
                  </a:tcPr>
                </a:tc>
              </a:tr>
              <a:tr h="786384">
                <a:tc>
                  <a:txBody>
                    <a:bodyPr wrap="square"/>
                    <a:lstStyle/>
                    <a:p>
                      <a:pPr algn="l"/>
                      <a:r>
                        <a:rPr sz="940" b="0">
                          <a:solidFill>
                            <a:srgbClr val="2A3441"/>
                          </a:solidFill>
                          <a:latin typeface="Segoe UI"/>
                        </a:rPr>
                        <a:t>Tier 3 — detection engineering</a:t>
                      </a:r>
                    </a:p>
                  </a:txBody>
                  <a:tcPr marL="82296" marR="82296" marT="13716" marB="13716" anchor="ctr">
                    <a:solidFill>
                      <a:srgbClr val="FFFFFF"/>
                    </a:solidFill>
                  </a:tcPr>
                </a:tc>
                <a:tc>
                  <a:txBody>
                    <a:bodyPr wrap="square"/>
                    <a:lstStyle/>
                    <a:p>
                      <a:pPr algn="l"/>
                      <a:r>
                        <a:rPr sz="940" b="0">
                          <a:solidFill>
                            <a:srgbClr val="2A3441"/>
                          </a:solidFill>
                          <a:latin typeface="Segoe UI"/>
                        </a:rPr>
                        <a:t>Hunts advanced threats; builds and fixes detections</a:t>
                      </a:r>
                    </a:p>
                  </a:txBody>
                  <a:tcPr marL="82296" marR="82296" marT="13716" marB="13716" anchor="ctr">
                    <a:solidFill>
                      <a:srgbClr val="FFFFFF"/>
                    </a:solidFill>
                  </a:tcPr>
                </a:tc>
                <a:tc>
                  <a:txBody>
                    <a:bodyPr wrap="square"/>
                    <a:lstStyle/>
                    <a:p>
                      <a:pPr algn="l"/>
                      <a:r>
                        <a:rPr sz="940" b="0">
                          <a:solidFill>
                            <a:srgbClr val="2A3441"/>
                          </a:solidFill>
                          <a:latin typeface="Segoe UI"/>
                        </a:rPr>
                        <a:t>A verdict that disputes a precision-1.000 rule is routed to the administrator, as are the attacks both detectors missed.</a:t>
                      </a:r>
                    </a:p>
                  </a:txBody>
                  <a:tcPr marL="82296" marR="82296" marT="13716" marB="13716" anchor="ctr">
                    <a:solidFill>
                      <a:srgbClr val="FFFFFF"/>
                    </a:solidFill>
                  </a:tcPr>
                </a:tc>
              </a:tr>
            </a:tbl>
          </a:graphicData>
        </a:graphic>
      </p:graphicFrame>
      <p:sp>
        <p:nvSpPr>
          <p:cNvPr id="9" name="Rectangle 8"/>
          <p:cNvSpPr/>
          <p:nvPr/>
        </p:nvSpPr>
        <p:spPr>
          <a:xfrm>
            <a:off x="566928"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151376"/>
            <a:ext cx="50292" cy="1847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Our verdicts use the industry's own vocabulary</a:t>
            </a:r>
          </a:p>
          <a:p>
            <a:pPr algn="l">
              <a:lnSpc>
                <a:spcPct val="120000"/>
              </a:lnSpc>
              <a:spcBef>
                <a:spcPts val="0"/>
              </a:spcBef>
              <a:spcAft>
                <a:spcPts val="0"/>
              </a:spcAft>
            </a:pPr>
            <a:r>
              <a:rPr sz="919" b="0" i="0">
                <a:solidFill>
                  <a:srgbClr val="2A3441"/>
                </a:solidFill>
                <a:latin typeface="Segoe UI"/>
              </a:rPr>
              <a:t>True Positive · Benign Positive · False Positive · Needs investigation · Escalate to Tier 2. These map one-to-one onto the closing classifications that Sentinel, Elastic and Splunk already require.</a:t>
            </a:r>
          </a:p>
        </p:txBody>
      </p:sp>
      <p:sp>
        <p:nvSpPr>
          <p:cNvPr id="12" name="Rectangle 11"/>
          <p:cNvSpPr/>
          <p:nvPr/>
        </p:nvSpPr>
        <p:spPr>
          <a:xfrm>
            <a:off x="4326026"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4151376"/>
            <a:ext cx="50292" cy="18470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Console patterns we adopted from verified product documentation</a:t>
            </a:r>
          </a:p>
          <a:p>
            <a:pPr algn="l">
              <a:lnSpc>
                <a:spcPct val="120000"/>
              </a:lnSpc>
              <a:spcBef>
                <a:spcPts val="0"/>
              </a:spcBef>
              <a:spcAft>
                <a:spcPts val="0"/>
              </a:spcAft>
            </a:pPr>
            <a:r>
              <a:rPr sz="919" b="0" i="0">
                <a:solidFill>
                  <a:srgbClr val="2A3441"/>
                </a:solidFill>
                <a:latin typeface="Segoe UI"/>
              </a:rPr>
              <a:t>A queue beside a details pane, not a page per alert. Explanation first. Four triage controls. Related context as a first-class section — our family is Sentinel's “similar incidents”. Guardrail floors kept visually separate from model confidence.</a:t>
            </a:r>
          </a:p>
        </p:txBody>
      </p:sp>
      <p:sp>
        <p:nvSpPr>
          <p:cNvPr id="15" name="Rectangle 14"/>
          <p:cNvSpPr/>
          <p:nvPr/>
        </p:nvSpPr>
        <p:spPr>
          <a:xfrm>
            <a:off x="8085124"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4151376"/>
            <a:ext cx="50292" cy="184708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Where we deliberately stop</a:t>
            </a:r>
          </a:p>
          <a:p>
            <a:pPr algn="l">
              <a:lnSpc>
                <a:spcPct val="120000"/>
              </a:lnSpc>
              <a:spcBef>
                <a:spcPts val="0"/>
              </a:spcBef>
              <a:spcAft>
                <a:spcPts val="0"/>
              </a:spcAft>
            </a:pPr>
            <a:r>
              <a:rPr sz="919" b="0" i="0">
                <a:solidFill>
                  <a:srgbClr val="2A3441"/>
                </a:solidFill>
                <a:latin typeface="Segoe UI"/>
              </a:rPr>
              <a:t>No live capture, no automated response, no host-based agents, and no online retraining. Nothing invented for the demo: no geolocation, no threat-intel feeds, no asset names. The console says “Recorded flows”, not “Live”.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5 · PART FIVE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demo</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is implemented and running, what remains planned, and the narrative the demo performs.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05</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demo covers — implemented and running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16</a:t>
            </a:r>
          </a:p>
        </p:txBody>
      </p:sp>
      <p:sp>
        <p:nvSpPr>
          <p:cNvPr id="8" name="Rectangle 7"/>
          <p:cNvSpPr/>
          <p:nvPr/>
        </p:nvSpPr>
        <p:spPr>
          <a:xfrm>
            <a:off x="566928"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5,000</a:t>
            </a:r>
          </a:p>
          <a:p>
            <a:pPr algn="ctr">
              <a:lnSpc>
                <a:spcPct val="112000"/>
              </a:lnSpc>
              <a:spcBef>
                <a:spcPts val="0"/>
              </a:spcBef>
              <a:spcAft>
                <a:spcPts val="0"/>
              </a:spcAft>
            </a:pPr>
            <a:r>
              <a:rPr sz="950" b="0" i="0">
                <a:solidFill>
                  <a:srgbClr val="6B7684"/>
                </a:solidFill>
                <a:latin typeface="Segoe UI"/>
              </a:rPr>
              <a:t>flows → 5,000 alerts</a:t>
            </a:r>
          </a:p>
        </p:txBody>
      </p:sp>
      <p:sp>
        <p:nvSpPr>
          <p:cNvPr id="11" name="Rectangle 10"/>
          <p:cNvSpPr/>
          <p:nvPr/>
        </p:nvSpPr>
        <p:spPr>
          <a:xfrm>
            <a:off x="2818729"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818729"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46745"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466</a:t>
            </a:r>
          </a:p>
          <a:p>
            <a:pPr algn="ctr">
              <a:lnSpc>
                <a:spcPct val="112000"/>
              </a:lnSpc>
              <a:spcBef>
                <a:spcPts val="0"/>
              </a:spcBef>
              <a:spcAft>
                <a:spcPts val="0"/>
              </a:spcAft>
            </a:pPr>
            <a:r>
              <a:rPr sz="950" b="0" i="0">
                <a:solidFill>
                  <a:srgbClr val="6B7684"/>
                </a:solidFill>
                <a:latin typeface="Segoe UI"/>
              </a:rPr>
              <a:t>Python tests, 0 skipped</a:t>
            </a:r>
          </a:p>
        </p:txBody>
      </p:sp>
      <p:sp>
        <p:nvSpPr>
          <p:cNvPr id="14" name="Rectangle 13"/>
          <p:cNvSpPr/>
          <p:nvPr/>
        </p:nvSpPr>
        <p:spPr>
          <a:xfrm>
            <a:off x="5070530"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70530"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98546"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157</a:t>
            </a:r>
          </a:p>
          <a:p>
            <a:pPr algn="ctr">
              <a:lnSpc>
                <a:spcPct val="112000"/>
              </a:lnSpc>
              <a:spcBef>
                <a:spcPts val="0"/>
              </a:spcBef>
              <a:spcAft>
                <a:spcPts val="0"/>
              </a:spcAft>
            </a:pPr>
            <a:r>
              <a:rPr sz="950" b="0" i="0">
                <a:solidFill>
                  <a:srgbClr val="6B7684"/>
                </a:solidFill>
                <a:latin typeface="Segoe UI"/>
              </a:rPr>
              <a:t>web tests</a:t>
            </a:r>
          </a:p>
        </p:txBody>
      </p:sp>
      <p:sp>
        <p:nvSpPr>
          <p:cNvPr id="17" name="Rectangle 16"/>
          <p:cNvSpPr/>
          <p:nvPr/>
        </p:nvSpPr>
        <p:spPr>
          <a:xfrm>
            <a:off x="7322332"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22332"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50348"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47/47</a:t>
            </a:r>
          </a:p>
          <a:p>
            <a:pPr algn="ctr">
              <a:lnSpc>
                <a:spcPct val="112000"/>
              </a:lnSpc>
              <a:spcBef>
                <a:spcPts val="0"/>
              </a:spcBef>
              <a:spcAft>
                <a:spcPts val="0"/>
              </a:spcAft>
            </a:pPr>
            <a:r>
              <a:rPr sz="950" b="0" i="0">
                <a:solidFill>
                  <a:srgbClr val="6B7684"/>
                </a:solidFill>
                <a:latin typeface="Segoe UI"/>
              </a:rPr>
              <a:t>rehearsal checks</a:t>
            </a:r>
          </a:p>
        </p:txBody>
      </p:sp>
      <p:sp>
        <p:nvSpPr>
          <p:cNvPr id="20" name="Rectangle 19"/>
          <p:cNvSpPr/>
          <p:nvPr/>
        </p:nvSpPr>
        <p:spPr>
          <a:xfrm>
            <a:off x="9574133"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574133"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02149"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3</a:t>
            </a:r>
          </a:p>
          <a:p>
            <a:pPr algn="ctr">
              <a:lnSpc>
                <a:spcPct val="112000"/>
              </a:lnSpc>
              <a:spcBef>
                <a:spcPts val="0"/>
              </a:spcBef>
              <a:spcAft>
                <a:spcPts val="0"/>
              </a:spcAft>
            </a:pPr>
            <a:r>
              <a:rPr sz="950" b="0" i="0">
                <a:solidFill>
                  <a:srgbClr val="6B7684"/>
                </a:solidFill>
                <a:latin typeface="Segoe UI"/>
              </a:rPr>
              <a:t>real signed-in accounts</a:t>
            </a:r>
          </a:p>
        </p:txBody>
      </p:sp>
      <p:sp>
        <p:nvSpPr>
          <p:cNvPr id="23" name="Rectangle 22"/>
          <p:cNvSpPr/>
          <p:nvPr/>
        </p:nvSpPr>
        <p:spPr>
          <a:xfrm>
            <a:off x="566928"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9808"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the workstation</a:t>
            </a:r>
          </a:p>
          <a:p>
            <a:pPr algn="l">
              <a:lnSpc>
                <a:spcPct val="120000"/>
              </a:lnSpc>
              <a:spcBef>
                <a:spcPts val="0"/>
              </a:spcBef>
              <a:spcAft>
                <a:spcPts val="0"/>
              </a:spcAft>
            </a:pPr>
            <a:r>
              <a:rPr sz="960" b="0" i="0">
                <a:solidFill>
                  <a:srgbClr val="2A3441"/>
                </a:solidFill>
                <a:latin typeface="Segoe UI"/>
              </a:rPr>
              <a:t>Ranked queue with filters, sort and paging; alert detail with the four evidence panels, the family panel and the flow record; the verdict form with the score-adjustment chain and its guardrail sentences; Investigations and Feedback Impact; journey keys j and k.</a:t>
            </a:r>
          </a:p>
        </p:txBody>
      </p:sp>
      <p:sp>
        <p:nvSpPr>
          <p:cNvPr id="26" name="Rectangle 25"/>
          <p:cNvSpPr/>
          <p:nvPr/>
        </p:nvSpPr>
        <p:spPr>
          <a:xfrm>
            <a:off x="6205575"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05575"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88455"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Overview and Entity</a:t>
            </a:r>
          </a:p>
          <a:p>
            <a:pPr algn="l">
              <a:lnSpc>
                <a:spcPct val="120000"/>
              </a:lnSpc>
              <a:spcBef>
                <a:spcPts val="0"/>
              </a:spcBef>
              <a:spcAft>
                <a:spcPts val="0"/>
              </a:spcAft>
            </a:pPr>
            <a:r>
              <a:rPr sz="960" b="0" i="0">
                <a:solidFill>
                  <a:srgbClr val="2A3441"/>
                </a:solidFill>
                <a:latin typeface="Segoe UI"/>
              </a:rPr>
              <a:t>Overview: flow volume by capture hour, top source and destination addresses and ports, alerts by predicted class, verdict and status mix, guardrail interventions. Entity: a per-address page with its peers, each linking onward.</a:t>
            </a:r>
          </a:p>
        </p:txBody>
      </p:sp>
      <p:sp>
        <p:nvSpPr>
          <p:cNvPr id="29" name="Rectangle 28"/>
          <p:cNvSpPr/>
          <p:nvPr/>
        </p:nvSpPr>
        <p:spPr>
          <a:xfrm>
            <a:off x="566928"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Administrator</a:t>
            </a:r>
          </a:p>
          <a:p>
            <a:pPr algn="l">
              <a:lnSpc>
                <a:spcPct val="120000"/>
              </a:lnSpc>
              <a:spcBef>
                <a:spcPts val="0"/>
              </a:spcBef>
              <a:spcAft>
                <a:spcPts val="0"/>
              </a:spcAft>
            </a:pPr>
            <a:r>
              <a:rPr sz="960" b="0" i="0">
                <a:solidFill>
                  <a:srgbClr val="2A3441"/>
                </a:solidFill>
                <a:latin typeface="Segoe UI"/>
              </a:rPr>
              <a:t>The platform owner, not a triage role: they own the guardrail policy — how far feedback may move a score, which floors protect critical findings — plus service health, the guardrail log and the audit trail with CSV export.</a:t>
            </a:r>
          </a:p>
        </p:txBody>
      </p:sp>
      <p:sp>
        <p:nvSpPr>
          <p:cNvPr id="32" name="Rectangle 31"/>
          <p:cNvSpPr/>
          <p:nvPr/>
        </p:nvSpPr>
        <p:spPr>
          <a:xfrm>
            <a:off x="6205575"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05575"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8455"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Evaluator</a:t>
            </a:r>
          </a:p>
          <a:p>
            <a:pPr algn="l">
              <a:lnSpc>
                <a:spcPct val="120000"/>
              </a:lnSpc>
              <a:spcBef>
                <a:spcPts val="0"/>
              </a:spcBef>
              <a:spcAft>
                <a:spcPts val="0"/>
              </a:spcAft>
            </a:pPr>
            <a:r>
              <a:rPr sz="960" b="0" i="0">
                <a:solidFill>
                  <a:srgbClr val="2A3441"/>
                </a:solidFill>
                <a:latin typeface="Segoe UI"/>
              </a:rPr>
              <a:t>The detection engineer who answers "is this getting better?": the three-arm comparison with every delta as measured, per-class metrics, and each run's pre-registration — accountability rather than a black box.</a:t>
            </a:r>
          </a:p>
        </p:txBody>
      </p:sp>
      <p:sp>
        <p:nvSpPr>
          <p:cNvPr id="35" name="Rectangle 34"/>
          <p:cNvSpPr/>
          <p:nvPr/>
        </p:nvSpPr>
        <p:spPr>
          <a:xfrm>
            <a:off x="566928" y="5669280"/>
            <a:ext cx="11057839" cy="54864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6" y="5760720"/>
            <a:ext cx="10655503" cy="384048"/>
          </a:xfrm>
          <a:prstGeom prst="rect">
            <a:avLst/>
          </a:prstGeom>
          <a:noFill/>
        </p:spPr>
        <p:txBody>
          <a:bodyPr wrap="square" anchor="t" lIns="0" rIns="0" tIns="0" bIns="0">
            <a:spAutoFit/>
          </a:bodyPr>
          <a:lstStyle/>
          <a:p>
            <a:pPr algn="l">
              <a:lnSpc>
                <a:spcPct val="118000"/>
              </a:lnSpc>
              <a:spcBef>
                <a:spcPts val="0"/>
              </a:spcBef>
              <a:spcAft>
                <a:spcPts val="0"/>
              </a:spcAft>
            </a:pPr>
            <a:r>
              <a:rPr sz="940" b="0" i="0">
                <a:solidFill>
                  <a:srgbClr val="2A3441"/>
                </a:solidFill>
                <a:latin typeface="Segoe UI"/>
              </a:rPr>
              <a:t>Verification that found what tests missed: the browser end-to-end run caught a SQLite cross-thread error that 381 passing Python tests, TestClient and curl all missed — because only a browser fires an alert's three reads at once.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narrative, click by click</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Every number below was produced by scripts/rehearse_demo.py against the demo database.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17</a:t>
            </a:r>
          </a:p>
        </p:txBody>
      </p:sp>
      <p:graphicFrame>
        <p:nvGraphicFramePr>
          <p:cNvPr id="9" name="Table 8"/>
          <p:cNvGraphicFramePr>
            <a:graphicFrameLocks noGrp="1"/>
          </p:cNvGraphicFramePr>
          <p:nvPr/>
        </p:nvGraphicFramePr>
        <p:xfrm>
          <a:off x="566928" y="1773936"/>
          <a:ext cx="11055096" cy="4549140"/>
        </p:xfrm>
        <a:graphic>
          <a:graphicData uri="http://schemas.openxmlformats.org/drawingml/2006/table">
            <a:tbl>
              <a:tblPr firstRow="0" bandRow="0"/>
              <a:tblGrid>
                <a:gridCol w="502920"/>
                <a:gridCol w="3063240"/>
                <a:gridCol w="7488936"/>
              </a:tblGrid>
              <a:tr h="292608">
                <a:tc>
                  <a:txBody>
                    <a:bodyPr wrap="square"/>
                    <a:lstStyle/>
                    <a:p>
                      <a:pPr algn="r"/>
                      <a:r>
                        <a:rPr sz="900" b="1">
                          <a:solidFill>
                            <a:srgbClr val="FFFFFF"/>
                          </a:solidFill>
                          <a:latin typeface="Segoe UI"/>
                        </a:rPr>
                        <a:t>Step</a:t>
                      </a:r>
                    </a:p>
                  </a:txBody>
                  <a:tcPr marL="82296" marR="82296" marT="13716" marB="13716" anchor="ctr">
                    <a:solidFill>
                      <a:srgbClr val="0F2A47"/>
                    </a:solidFill>
                  </a:tcPr>
                </a:tc>
                <a:tc>
                  <a:txBody>
                    <a:bodyPr wrap="square"/>
                    <a:lstStyle/>
                    <a:p>
                      <a:pPr algn="l"/>
                      <a:r>
                        <a:rPr sz="900" b="1">
                          <a:solidFill>
                            <a:srgbClr val="FFFFFF"/>
                          </a:solidFill>
                          <a:latin typeface="Segoe UI"/>
                        </a:rPr>
                        <a:t>The action</a:t>
                      </a:r>
                    </a:p>
                  </a:txBody>
                  <a:tcPr marL="82296" marR="82296" marT="13716" marB="13716" anchor="ctr">
                    <a:solidFill>
                      <a:srgbClr val="0F2A47"/>
                    </a:solidFill>
                  </a:tcPr>
                </a:tc>
                <a:tc>
                  <a:txBody>
                    <a:bodyPr wrap="square"/>
                    <a:lstStyle/>
                    <a:p>
                      <a:pPr algn="l"/>
                      <a:r>
                        <a:rPr sz="900" b="1">
                          <a:solidFill>
                            <a:srgbClr val="FFFFFF"/>
                          </a:solidFill>
                          <a:latin typeface="Segoe UI"/>
                        </a:rPr>
                        <a:t>What the screen shows</a:t>
                      </a:r>
                    </a:p>
                  </a:txBody>
                  <a:tcPr marL="82296" marR="82296" marT="13716" marB="13716" anchor="ctr">
                    <a:solidFill>
                      <a:srgbClr val="0F2A47"/>
                    </a:solidFill>
                  </a:tcPr>
                </a:tc>
              </a:tr>
              <a:tr h="608076">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l"/>
                      <a:r>
                        <a:rPr sz="919" b="0">
                          <a:solidFill>
                            <a:srgbClr val="2A3441"/>
                          </a:solidFill>
                          <a:latin typeface="Segoe UI"/>
                        </a:rPr>
                        <a:t>Sign in as g.ang / analyst-demo</a:t>
                      </a:r>
                    </a:p>
                  </a:txBody>
                  <a:tcPr marL="82296" marR="82296" marT="13716" marB="13716" anchor="ctr">
                    <a:solidFill>
                      <a:srgbClr val="FFFFFF"/>
                    </a:solidFill>
                  </a:tcPr>
                </a:tc>
                <a:tc>
                  <a:txBody>
                    <a:bodyPr wrap="square"/>
                    <a:lstStyle/>
                    <a:p>
                      <a:pPr algn="l"/>
                      <a:r>
                        <a:rPr sz="919" b="0">
                          <a:solidFill>
                            <a:srgbClr val="2A3441"/>
                          </a:solidFill>
                          <a:latin typeface="Segoe UI"/>
                        </a:rPr>
                        <a:t>Lands on the Workstation — “5,000 alerts”. Every flow becomes an alert; two score columns: Detection never changes, Operational is what analysts move.</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0">
                          <a:solidFill>
                            <a:srgbClr val="2A3441"/>
                          </a:solidFill>
                          <a:latin typeface="Segoe UI"/>
                        </a:rPr>
                        <a:t>Search AL-00478 and open it</a:t>
                      </a:r>
                    </a:p>
                  </a:txBody>
                  <a:tcPr marL="82296" marR="82296" marT="13716" marB="13716" anchor="ctr">
                    <a:solidFill>
                      <a:srgbClr val="F4F7FB"/>
                    </a:solidFill>
                  </a:tcPr>
                </a:tc>
                <a:tc>
                  <a:txBody>
                    <a:bodyPr wrap="square"/>
                    <a:lstStyle/>
                    <a:p>
                      <a:pPr algn="l"/>
                      <a:r>
                        <a:rPr sz="919" b="0">
                          <a:solidFill>
                            <a:srgbClr val="2A3441"/>
                          </a:solidFill>
                          <a:latin typeface="Segoe UI"/>
                        </a:rPr>
                        <a:t>A Tier 2 candidate at 99.89, rank 639. No rule matched. The model says Web Attack with 99.9% confidence. Ground truth: benign.</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l"/>
                      <a:r>
                        <a:rPr sz="919" b="0">
                          <a:solidFill>
                            <a:srgbClr val="2A3441"/>
                          </a:solidFill>
                          <a:latin typeface="Segoe UI"/>
                        </a:rPr>
                        <a:t>Record verdict: False Positive</a:t>
                      </a:r>
                    </a:p>
                  </a:txBody>
                  <a:tcPr marL="82296" marR="82296" marT="13716" marB="13716" anchor="ctr">
                    <a:solidFill>
                      <a:srgbClr val="FFFFFF"/>
                    </a:solidFill>
                  </a:tcPr>
                </a:tc>
                <a:tc>
                  <a:txBody>
                    <a:bodyPr wrap="square"/>
                    <a:lstStyle/>
                    <a:p>
                      <a:pPr algn="l"/>
                      <a:r>
                        <a:rPr sz="919" b="0">
                          <a:solidFill>
                            <a:srgbClr val="2A3441"/>
                          </a:solidFill>
                          <a:latin typeface="Segoe UI"/>
                        </a:rPr>
                        <a:t>The chain reads 99.89 → requested −30.00 → bound → applied −29.89 → 70.00, labelled “Capped by a guardrail”, with the guardrail's own sentence. Band moves Tier 2 candidate → Model only; rank 639 → 996. Refresh: still 70.00, and the history shows the verdict in effect.</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4</a:t>
                      </a:r>
                    </a:p>
                  </a:txBody>
                  <a:tcPr marL="82296" marR="82296" marT="13716" marB="13716" anchor="ctr">
                    <a:solidFill>
                      <a:srgbClr val="F4F7FB"/>
                    </a:solidFill>
                  </a:tcPr>
                </a:tc>
                <a:tc>
                  <a:txBody>
                    <a:bodyPr wrap="square"/>
                    <a:lstStyle/>
                    <a:p>
                      <a:pPr algn="l"/>
                      <a:r>
                        <a:rPr sz="919" b="0">
                          <a:solidFill>
                            <a:srgbClr val="2A3441"/>
                          </a:solidFill>
                          <a:latin typeface="Segoe UI"/>
                        </a:rPr>
                        <a:t>Search AL-03086 and confirm it</a:t>
                      </a:r>
                    </a:p>
                  </a:txBody>
                  <a:tcPr marL="82296" marR="82296" marT="13716" marB="13716" anchor="ctr">
                    <a:solidFill>
                      <a:srgbClr val="F4F7FB"/>
                    </a:solidFill>
                  </a:tcPr>
                </a:tc>
                <a:tc>
                  <a:txBody>
                    <a:bodyPr wrap="square"/>
                    <a:lstStyle/>
                    <a:p>
                      <a:pPr algn="l"/>
                      <a:r>
                        <a:rPr sz="919" b="0">
                          <a:solidFill>
                            <a:srgbClr val="2A3441"/>
                          </a:solidFill>
                          <a:latin typeface="Segoe UI"/>
                        </a:rPr>
                        <a:t>The attack both detectors missed, at 36.94, bottom band. True Positive requests +10 and is applied as requested: 36.94 → 46.94. It leaves the bottom band but climbs only from rank 998 to 997 — one confirmation moves one band.</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5</a:t>
                      </a:r>
                    </a:p>
                  </a:txBody>
                  <a:tcPr marL="82296" marR="82296" marT="13716" marB="13716" anchor="ctr">
                    <a:solidFill>
                      <a:srgbClr val="FFFFFF"/>
                    </a:solidFill>
                  </a:tcPr>
                </a:tc>
                <a:tc>
                  <a:txBody>
                    <a:bodyPr wrap="square"/>
                    <a:lstStyle/>
                    <a:p>
                      <a:pPr algn="l"/>
                      <a:r>
                        <a:rPr sz="919" b="0">
                          <a:solidFill>
                            <a:srgbClr val="2A3441"/>
                          </a:solidFill>
                          <a:latin typeface="Segoe UI"/>
                        </a:rPr>
                        <a:t>Confirm three members of the Port Scan / port 445 family</a:t>
                      </a:r>
                    </a:p>
                  </a:txBody>
                  <a:tcPr marL="82296" marR="82296" marT="13716" marB="13716" anchor="ctr">
                    <a:solidFill>
                      <a:srgbClr val="FFFFFF"/>
                    </a:solidFill>
                  </a:tcPr>
                </a:tc>
                <a:tc>
                  <a:txBody>
                    <a:bodyPr wrap="square"/>
                    <a:lstStyle/>
                    <a:p>
                      <a:pPr algn="l"/>
                      <a:r>
                        <a:rPr sz="919" b="0">
                          <a:solidFill>
                            <a:srgbClr val="2A3441"/>
                          </a:solidFill>
                          <a:latin typeface="Segoe UI"/>
                        </a:rPr>
                        <a:t>The first two say learning did not apply — not enough learning verdicts. The third says: learning applied, 2 other alerts in this family moved. AL-03044 and AL-04526 are now Tier 2 candidates, with no verdict of their own.</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6</a:t>
                      </a:r>
                    </a:p>
                  </a:txBody>
                  <a:tcPr marL="82296" marR="82296" marT="13716" marB="13716" anchor="ctr">
                    <a:solidFill>
                      <a:srgbClr val="F4F7FB"/>
                    </a:solidFill>
                  </a:tcPr>
                </a:tc>
                <a:tc>
                  <a:txBody>
                    <a:bodyPr wrap="square"/>
                    <a:lstStyle/>
                    <a:p>
                      <a:pPr algn="l"/>
                      <a:r>
                        <a:rPr sz="919" b="0">
                          <a:solidFill>
                            <a:srgbClr val="2A3441"/>
                          </a:solidFill>
                          <a:latin typeface="Segoe UI"/>
                        </a:rPr>
                        <a:t>Sign in as admin / admin-demo</a:t>
                      </a:r>
                    </a:p>
                  </a:txBody>
                  <a:tcPr marL="82296" marR="82296" marT="13716" marB="13716" anchor="ctr">
                    <a:solidFill>
                      <a:srgbClr val="F4F7FB"/>
                    </a:solidFill>
                  </a:tcPr>
                </a:tc>
                <a:tc>
                  <a:txBody>
                    <a:bodyPr wrap="square"/>
                    <a:lstStyle/>
                    <a:p>
                      <a:pPr algn="l"/>
                      <a:r>
                        <a:rPr sz="919" b="0">
                          <a:solidFill>
                            <a:srgbClr val="2A3441"/>
                          </a:solidFill>
                          <a:latin typeface="Segoe UI"/>
                        </a:rPr>
                        <a:t>The guardrail log shows the cap on AL-00478 with the same sentence. The audit trail shows every verdict, guardrail action and family-learning event, exportable as CSV.</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7</a:t>
                      </a:r>
                    </a:p>
                  </a:txBody>
                  <a:tcPr marL="82296" marR="82296" marT="13716" marB="13716" anchor="ctr">
                    <a:solidFill>
                      <a:srgbClr val="FFFFFF"/>
                    </a:solidFill>
                  </a:tcPr>
                </a:tc>
                <a:tc>
                  <a:txBody>
                    <a:bodyPr wrap="square"/>
                    <a:lstStyle/>
                    <a:p>
                      <a:pPr algn="l"/>
                      <a:r>
                        <a:rPr sz="919" b="0">
                          <a:solidFill>
                            <a:srgbClr val="2A3441"/>
                          </a:solidFill>
                          <a:latin typeface="Segoe UI"/>
                        </a:rPr>
                        <a:t>Sign in as evaluator / evaluator-demo</a:t>
                      </a:r>
                    </a:p>
                  </a:txBody>
                  <a:tcPr marL="82296" marR="82296" marT="13716" marB="13716" anchor="ctr">
                    <a:solidFill>
                      <a:srgbClr val="FFFFFF"/>
                    </a:solidFill>
                  </a:tcPr>
                </a:tc>
                <a:tc>
                  <a:txBody>
                    <a:bodyPr wrap="square"/>
                    <a:lstStyle/>
                    <a:p>
                      <a:pPr algn="l"/>
                      <a:r>
                        <a:rPr sz="919" b="0">
                          <a:solidFill>
                            <a:srgbClr val="2A3441"/>
                          </a:solidFill>
                          <a:latin typeface="Segoe UI"/>
                        </a:rPr>
                        <a:t>Open the newest evaluation run. Detection metrics are identical across all three arms. Under the v1.31 severity-first order precision@50 holds at 1.000 in every arm; the honest cost is the small mean-rank shift (Δ −0.515) and precision@200 (Δ −0.010).</a:t>
                      </a:r>
                    </a:p>
                  </a:txBody>
                  <a:tcPr marL="82296" marR="82296" marT="13716" marB="1371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6 · PART SIX</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Team, and what comes next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Six people, one trust loop — and the two steps still ahead: the prefix flow exporter, and the full backend.</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06</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TEAM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Six people, one trust loop</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19</a:t>
            </a:r>
          </a:p>
        </p:txBody>
      </p:sp>
      <p:sp>
        <p:nvSpPr>
          <p:cNvPr id="8" name="Rectangle 7"/>
          <p:cNvSpPr/>
          <p:nvPr/>
        </p:nvSpPr>
        <p:spPr>
          <a:xfrm>
            <a:off x="566928"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GA</a:t>
            </a:r>
          </a:p>
        </p:txBody>
      </p:sp>
      <p:sp>
        <p:nvSpPr>
          <p:cNvPr id="12" name="TextBox 11"/>
          <p:cNvSpPr txBox="1"/>
          <p:nvPr/>
        </p:nvSpPr>
        <p:spPr>
          <a:xfrm>
            <a:off x="1554480"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Glenn Ang Zhen Xiang</a:t>
            </a:r>
          </a:p>
          <a:p>
            <a:pPr algn="l">
              <a:lnSpc>
                <a:spcPct val="118000"/>
              </a:lnSpc>
              <a:spcBef>
                <a:spcPts val="0"/>
              </a:spcBef>
              <a:spcAft>
                <a:spcPts val="0"/>
              </a:spcAft>
            </a:pPr>
            <a:r>
              <a:rPr sz="960" b="0" i="0">
                <a:solidFill>
                  <a:srgbClr val="6B7684"/>
                </a:solidFill>
                <a:latin typeface="Segoe UI"/>
              </a:rPr>
              <a:t>Project Leader, Developer, Tester, Documentation</a:t>
            </a:r>
          </a:p>
        </p:txBody>
      </p:sp>
      <p:sp>
        <p:nvSpPr>
          <p:cNvPr id="13" name="Rectangle 12"/>
          <p:cNvSpPr/>
          <p:nvPr/>
        </p:nvSpPr>
        <p:spPr>
          <a:xfrm>
            <a:off x="4332122"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32122"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33290"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3290"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LC</a:t>
            </a:r>
          </a:p>
        </p:txBody>
      </p:sp>
      <p:sp>
        <p:nvSpPr>
          <p:cNvPr id="17" name="TextBox 16"/>
          <p:cNvSpPr txBox="1"/>
          <p:nvPr/>
        </p:nvSpPr>
        <p:spPr>
          <a:xfrm>
            <a:off x="5319674"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Liow Chee Kuang</a:t>
            </a:r>
          </a:p>
          <a:p>
            <a:pPr algn="l">
              <a:lnSpc>
                <a:spcPct val="118000"/>
              </a:lnSpc>
              <a:spcBef>
                <a:spcPts val="0"/>
              </a:spcBef>
              <a:spcAft>
                <a:spcPts val="0"/>
              </a:spcAft>
            </a:pPr>
            <a:r>
              <a:rPr sz="960" b="0" i="0">
                <a:solidFill>
                  <a:srgbClr val="6B7684"/>
                </a:solidFill>
                <a:latin typeface="Segoe UI"/>
              </a:rPr>
              <a:t>Lead Developer, Software Tester, Documentation</a:t>
            </a:r>
          </a:p>
        </p:txBody>
      </p:sp>
      <p:sp>
        <p:nvSpPr>
          <p:cNvPr id="18" name="Rectangle 17"/>
          <p:cNvSpPr/>
          <p:nvPr/>
        </p:nvSpPr>
        <p:spPr>
          <a:xfrm>
            <a:off x="8097316"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97316"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98484"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8484"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TJ</a:t>
            </a:r>
          </a:p>
        </p:txBody>
      </p:sp>
      <p:sp>
        <p:nvSpPr>
          <p:cNvPr id="22" name="TextBox 21"/>
          <p:cNvSpPr txBox="1"/>
          <p:nvPr/>
        </p:nvSpPr>
        <p:spPr>
          <a:xfrm>
            <a:off x="9084868"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Tan Jing Kai</a:t>
            </a:r>
          </a:p>
          <a:p>
            <a:pPr algn="l">
              <a:lnSpc>
                <a:spcPct val="118000"/>
              </a:lnSpc>
              <a:spcBef>
                <a:spcPts val="0"/>
              </a:spcBef>
              <a:spcAft>
                <a:spcPts val="0"/>
              </a:spcAft>
            </a:pPr>
            <a:r>
              <a:rPr sz="960" b="0" i="0">
                <a:solidFill>
                  <a:srgbClr val="6B7684"/>
                </a:solidFill>
                <a:latin typeface="Segoe UI"/>
              </a:rPr>
              <a:t>Lead Documentation, Software Tester, Developer</a:t>
            </a:r>
          </a:p>
        </p:txBody>
      </p:sp>
      <p:sp>
        <p:nvSpPr>
          <p:cNvPr id="23" name="Rectangle 22"/>
          <p:cNvSpPr/>
          <p:nvPr/>
        </p:nvSpPr>
        <p:spPr>
          <a:xfrm>
            <a:off x="566928"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68096"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IK</a:t>
            </a:r>
          </a:p>
        </p:txBody>
      </p:sp>
      <p:sp>
        <p:nvSpPr>
          <p:cNvPr id="27" name="TextBox 26"/>
          <p:cNvSpPr txBox="1"/>
          <p:nvPr/>
        </p:nvSpPr>
        <p:spPr>
          <a:xfrm>
            <a:off x="1554480"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Isaac Koh Zhi Xian</a:t>
            </a:r>
          </a:p>
          <a:p>
            <a:pPr algn="l">
              <a:lnSpc>
                <a:spcPct val="118000"/>
              </a:lnSpc>
              <a:spcBef>
                <a:spcPts val="0"/>
              </a:spcBef>
              <a:spcAft>
                <a:spcPts val="0"/>
              </a:spcAft>
            </a:pPr>
            <a:r>
              <a:rPr sz="960" b="0" i="0">
                <a:solidFill>
                  <a:srgbClr val="6B7684"/>
                </a:solidFill>
                <a:latin typeface="Segoe UI"/>
              </a:rPr>
              <a:t>Lead Tester, Documentation, Developer</a:t>
            </a:r>
          </a:p>
        </p:txBody>
      </p:sp>
      <p:sp>
        <p:nvSpPr>
          <p:cNvPr id="28" name="Rectangle 27"/>
          <p:cNvSpPr/>
          <p:nvPr/>
        </p:nvSpPr>
        <p:spPr>
          <a:xfrm>
            <a:off x="4332122"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32122"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533290"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33290"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TW</a:t>
            </a:r>
          </a:p>
        </p:txBody>
      </p:sp>
      <p:sp>
        <p:nvSpPr>
          <p:cNvPr id="32" name="TextBox 31"/>
          <p:cNvSpPr txBox="1"/>
          <p:nvPr/>
        </p:nvSpPr>
        <p:spPr>
          <a:xfrm>
            <a:off x="5319674"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Thian Wen Jun Gene</a:t>
            </a:r>
          </a:p>
          <a:p>
            <a:pPr algn="l">
              <a:lnSpc>
                <a:spcPct val="118000"/>
              </a:lnSpc>
              <a:spcBef>
                <a:spcPts val="0"/>
              </a:spcBef>
              <a:spcAft>
                <a:spcPts val="0"/>
              </a:spcAft>
            </a:pPr>
            <a:r>
              <a:rPr sz="960" b="0" i="0">
                <a:solidFill>
                  <a:srgbClr val="6B7684"/>
                </a:solidFill>
                <a:latin typeface="Segoe UI"/>
              </a:rPr>
              <a:t>QA Engineer, Developer, Documentation</a:t>
            </a:r>
          </a:p>
        </p:txBody>
      </p:sp>
      <p:sp>
        <p:nvSpPr>
          <p:cNvPr id="33" name="Rectangle 32"/>
          <p:cNvSpPr/>
          <p:nvPr/>
        </p:nvSpPr>
        <p:spPr>
          <a:xfrm>
            <a:off x="8097316"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97316"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98484"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98484"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ZY</a:t>
            </a:r>
          </a:p>
        </p:txBody>
      </p:sp>
      <p:sp>
        <p:nvSpPr>
          <p:cNvPr id="37" name="TextBox 36"/>
          <p:cNvSpPr txBox="1"/>
          <p:nvPr/>
        </p:nvSpPr>
        <p:spPr>
          <a:xfrm>
            <a:off x="9084868"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Zay Yar Naing</a:t>
            </a:r>
          </a:p>
          <a:p>
            <a:pPr algn="l">
              <a:lnSpc>
                <a:spcPct val="118000"/>
              </a:lnSpc>
              <a:spcBef>
                <a:spcPts val="0"/>
              </a:spcBef>
              <a:spcAft>
                <a:spcPts val="0"/>
              </a:spcAft>
            </a:pPr>
            <a:r>
              <a:rPr sz="960" b="0" i="0">
                <a:solidFill>
                  <a:srgbClr val="6B7684"/>
                </a:solidFill>
                <a:latin typeface="Segoe UI"/>
              </a:rPr>
              <a:t>Feedback &amp; Fusion Developer, Documentation</a:t>
            </a:r>
          </a:p>
        </p:txBody>
      </p:sp>
      <p:sp>
        <p:nvSpPr>
          <p:cNvPr id="38" name="Rectangle 37"/>
          <p:cNvSpPr/>
          <p:nvPr/>
        </p:nvSpPr>
        <p:spPr>
          <a:xfrm>
            <a:off x="566928" y="4553712"/>
            <a:ext cx="11057839" cy="71323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6384" y="4663440"/>
            <a:ext cx="10618927" cy="512064"/>
          </a:xfrm>
          <a:prstGeom prst="rect">
            <a:avLst/>
          </a:prstGeom>
          <a:noFill/>
        </p:spPr>
        <p:txBody>
          <a:bodyPr wrap="square" anchor="t" lIns="0" rIns="0" tIns="0" bIns="0">
            <a:spAutoFit/>
          </a:bodyPr>
          <a:lstStyle/>
          <a:p>
            <a:pPr algn="l">
              <a:spcBef>
                <a:spcPts val="0"/>
              </a:spcBef>
              <a:spcAft>
                <a:spcPts val="300"/>
              </a:spcAft>
            </a:pPr>
            <a:r>
              <a:rPr sz="1250" b="1" i="0">
                <a:solidFill>
                  <a:srgbClr val="FFFFFF"/>
                </a:solidFill>
                <a:latin typeface="Segoe UI"/>
              </a:rPr>
              <a:t>Supervisor: Mr Lim Min Han</a:t>
            </a:r>
          </a:p>
          <a:p>
            <a:pPr algn="l">
              <a:spcBef>
                <a:spcPts val="0"/>
              </a:spcBef>
              <a:spcAft>
                <a:spcPts val="0"/>
              </a:spcAft>
            </a:pPr>
            <a:r>
              <a:rPr sz="960" b="0" i="0">
                <a:solidFill>
                  <a:srgbClr val="C3CEDA"/>
                </a:solidFill>
                <a:latin typeface="Segoe UI"/>
              </a:rPr>
              <a:t>FYP-26-S3-13  ·  CSIT321 Final Year Project  ·  github.com/CSIT-321/CSIT321-Human-in-the-loop_IDS</a:t>
            </a:r>
          </a:p>
        </p:txBody>
      </p:sp>
      <p:sp>
        <p:nvSpPr>
          <p:cNvPr id="40" name="TextBox 39"/>
          <p:cNvSpPr txBox="1"/>
          <p:nvPr/>
        </p:nvSpPr>
        <p:spPr>
          <a:xfrm>
            <a:off x="566928" y="5468112"/>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960" b="0" i="1">
                <a:solidFill>
                  <a:srgbClr val="6B7684"/>
                </a:solidFill>
                <a:latin typeface="Segoe UI"/>
              </a:rPr>
              <a:t>The workplan for this build was the project lead plus delegated implementation workers; the team roles above are the project's own allocation.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remains planned, and how the pieces connect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20</a:t>
            </a:r>
          </a:p>
        </p:txBody>
      </p:sp>
      <p:sp>
        <p:nvSpPr>
          <p:cNvPr id="8" name="TextBox 7"/>
          <p:cNvSpPr txBox="1"/>
          <p:nvPr/>
        </p:nvSpPr>
        <p:spPr>
          <a:xfrm>
            <a:off x="566928" y="146304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NOT YET BUILT — PHASE 6, POST-DEMO</a:t>
            </a:r>
          </a:p>
        </p:txBody>
      </p:sp>
      <p:sp>
        <p:nvSpPr>
          <p:cNvPr id="9" name="Rectangle 8"/>
          <p:cNvSpPr/>
          <p:nvPr/>
        </p:nvSpPr>
        <p:spPr>
          <a:xfrm>
            <a:off x="566928"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S17 — the prefix flow exporter</a:t>
            </a:r>
          </a:p>
          <a:p>
            <a:pPr algn="l">
              <a:lnSpc>
                <a:spcPct val="120000"/>
              </a:lnSpc>
              <a:spcBef>
                <a:spcPts val="0"/>
              </a:spcBef>
              <a:spcAft>
                <a:spcPts val="0"/>
              </a:spcAft>
            </a:pPr>
            <a:r>
              <a:rPr sz="969" b="0" i="0">
                <a:solidFill>
                  <a:srgbClr val="2A3441"/>
                </a:solidFill>
                <a:latin typeface="Segoe UI"/>
              </a:rPr>
              <a:t>A capture path for real traffic: the GintsEngelen CICFlowMeter fork turns PCAP into CIC features, entering the pipeline through the same FlowSource interface that CSV replay already uses, so nothing downstream changes. Its exit criterion is strict: if schema reconciliation against feature-columns.json fails, the step stops and reports — it never silently coerces a column.</a:t>
            </a:r>
          </a:p>
        </p:txBody>
      </p:sp>
      <p:sp>
        <p:nvSpPr>
          <p:cNvPr id="12" name="Rectangle 11"/>
          <p:cNvSpPr/>
          <p:nvPr/>
        </p:nvSpPr>
        <p:spPr>
          <a:xfrm>
            <a:off x="6205575"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S18 — the full backend</a:t>
            </a:r>
          </a:p>
          <a:p>
            <a:pPr algn="l">
              <a:lnSpc>
                <a:spcPct val="120000"/>
              </a:lnSpc>
              <a:spcBef>
                <a:spcPts val="0"/>
              </a:spcBef>
              <a:spcAft>
                <a:spcPts val="0"/>
              </a:spcAft>
            </a:pPr>
            <a:r>
              <a:rPr sz="969" b="0" i="0">
                <a:solidFill>
                  <a:srgbClr val="2A3441"/>
                </a:solidFill>
                <a:latin typeface="Segoe UI"/>
              </a:rPr>
              <a:t>SQLite moves to PostgreSQL, which the schema was written for in S2. The remaining TDM endpoints arrive: user management, rule manager, model version management, fusion weight configuration, bulk feedback, exports and notifications. Append-only immutability and the RBAC matrix are re-proven on Postgres.</a:t>
            </a:r>
          </a:p>
        </p:txBody>
      </p:sp>
      <p:sp>
        <p:nvSpPr>
          <p:cNvPr id="15" name="TextBox 14"/>
          <p:cNvSpPr txBox="1"/>
          <p:nvPr/>
        </p:nvSpPr>
        <p:spPr>
          <a:xfrm>
            <a:off x="566928" y="347472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ALSO OPEN — RECORDED, NOT SILENTLY DROPPED</a:t>
            </a:r>
          </a:p>
        </p:txBody>
      </p:sp>
      <p:sp>
        <p:nvSpPr>
          <p:cNvPr id="16" name="TextBox 15"/>
          <p:cNvSpPr txBox="1"/>
          <p:nvPr/>
        </p:nvSpPr>
        <p:spPr>
          <a:xfrm>
            <a:off x="566928" y="3785615"/>
            <a:ext cx="11057839" cy="1828800"/>
          </a:xfrm>
          <a:prstGeom prst="rect">
            <a:avLst/>
          </a:prstGeom>
          <a:noFill/>
        </p:spPr>
        <p:txBody>
          <a:bodyPr wrap="square" anchor="t" lIns="0" rIns="0" tIns="0" bIns="0">
            <a:spAutoFit/>
          </a:bodyPr>
          <a:lstStyle/>
          <a:p>
            <a:pPr algn="l">
              <a:lnSpc>
                <a:spcPct val="118000"/>
              </a:lnSpc>
              <a:spcBef>
                <a:spcPts val="0"/>
              </a:spcBef>
              <a:spcAft>
                <a:spcPts val="700"/>
              </a:spcAft>
            </a:pPr>
            <a:r>
              <a:rPr sz="1000" b="0" i="0">
                <a:solidFill>
                  <a:srgbClr val="2A3441"/>
                </a:solidFill>
                <a:latin typeface="Segoe UI"/>
              </a:rPr>
              <a:t>The efficiency stress test. The weaker detector is now built and measured — data/stress.db, 600 false positives and 300 false negatives, precision@10 at 0.400 against 1.000 on the pristine queue. The pre-registered run over it is what remains, and it must be reported as its own labelled experiment, never folded into the headline.</a:t>
            </a:r>
          </a:p>
          <a:p>
            <a:pPr algn="l">
              <a:lnSpc>
                <a:spcPct val="118000"/>
              </a:lnSpc>
              <a:spcBef>
                <a:spcPts val="0"/>
              </a:spcBef>
              <a:spcAft>
                <a:spcPts val="700"/>
              </a:spcAft>
            </a:pPr>
            <a:r>
              <a:rPr sz="1000" b="0" i="0">
                <a:solidFill>
                  <a:srgbClr val="2A3441"/>
                </a:solidFill>
                <a:latin typeface="Segoe UI"/>
              </a:rPr>
              <a:t>A dismissal-direction sequence, so the guardrails-off arm has something to measure. An oracle analyst over a near-perfect detector produces no dismissals.</a:t>
            </a:r>
          </a:p>
          <a:p>
            <a:pPr algn="l">
              <a:lnSpc>
                <a:spcPct val="118000"/>
              </a:lnSpc>
              <a:spcBef>
                <a:spcPts val="0"/>
              </a:spcBef>
              <a:spcAft>
                <a:spcPts val="700"/>
              </a:spcAft>
            </a:pPr>
            <a:r>
              <a:rPr sz="1000" b="0" i="0">
                <a:solidFill>
                  <a:srgbClr val="2A3441"/>
                </a:solidFill>
                <a:latin typeface="Segoe UI"/>
              </a:rPr>
              <a:t>The fine family key as defence in depth, and the queue band names, which currently reuse the evidence-class names.</a:t>
            </a:r>
          </a:p>
        </p:txBody>
      </p:sp>
      <p:sp>
        <p:nvSpPr>
          <p:cNvPr id="17" name="Rectangle 16"/>
          <p:cNvSpPr/>
          <p:nvPr/>
        </p:nvSpPr>
        <p:spPr>
          <a:xfrm>
            <a:off x="566928" y="5504688"/>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614416"/>
            <a:ext cx="10655503" cy="512064"/>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How the pieces connect: the flow exporter becomes a second implementation of the same FlowSource interface, so detection, fusion, ranking, guardrails, storage, the API and the console are untouched. Postgres replaces SQLite behind the same repository layer.</a:t>
            </a:r>
          </a:p>
          <a:p>
            <a:pPr algn="l">
              <a:spcBef>
                <a:spcPts val="0"/>
              </a:spcBef>
              <a:spcAft>
                <a:spcPts val="0"/>
              </a:spcAft>
            </a:pPr>
            <a:r>
              <a:rPr sz="940" b="0" i="0">
                <a:solidFill>
                  <a:srgbClr val="6B7684"/>
                </a:solidFill>
                <a:latin typeface="Segoe UI"/>
              </a:rPr>
              <a:t>That is why the schema, the contract and the queue order were fixed early — so the remaining work is additive.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PLAN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happens after the demo</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21</a:t>
            </a:r>
          </a:p>
        </p:txBody>
      </p:sp>
      <p:sp>
        <p:nvSpPr>
          <p:cNvPr id="8" name="TextBox 7"/>
          <p:cNvSpPr txBox="1"/>
          <p:nvPr/>
        </p:nvSpPr>
        <p:spPr>
          <a:xfrm>
            <a:off x="566928" y="1426464"/>
            <a:ext cx="11057839" cy="256032"/>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HOW WE GOT HERE, AND WHAT FOLLOWS</a:t>
            </a:r>
          </a:p>
        </p:txBody>
      </p:sp>
      <p:sp>
        <p:nvSpPr>
          <p:cNvPr id="9" name="Rectangle 8"/>
          <p:cNvSpPr/>
          <p:nvPr/>
        </p:nvSpPr>
        <p:spPr>
          <a:xfrm>
            <a:off x="566928" y="1682496"/>
            <a:ext cx="3551834" cy="7132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1755648"/>
            <a:ext cx="3259226" cy="566928"/>
          </a:xfrm>
          <a:prstGeom prst="rect">
            <a:avLst/>
          </a:prstGeom>
          <a:noFill/>
        </p:spPr>
        <p:txBody>
          <a:bodyPr wrap="square" anchor="t" lIns="0" rIns="0" tIns="0" bIns="0">
            <a:spAutoFit/>
          </a:bodyPr>
          <a:lstStyle/>
          <a:p>
            <a:pPr algn="l">
              <a:spcBef>
                <a:spcPts val="0"/>
              </a:spcBef>
              <a:spcAft>
                <a:spcPts val="100"/>
              </a:spcAft>
            </a:pPr>
            <a:r>
              <a:rPr sz="880" b="1" i="0">
                <a:solidFill>
                  <a:srgbClr val="6B7684"/>
                </a:solidFill>
                <a:latin typeface="Segoe UI"/>
              </a:rPr>
              <a:t>PHASE 1</a:t>
            </a:r>
          </a:p>
          <a:p>
            <a:pPr algn="l">
              <a:lnSpc>
                <a:spcPct val="105000"/>
              </a:lnSpc>
              <a:spcBef>
                <a:spcPts val="0"/>
              </a:spcBef>
              <a:spcAft>
                <a:spcPts val="100"/>
              </a:spcAft>
            </a:pPr>
            <a:r>
              <a:rPr sz="1060" b="1" i="0">
                <a:solidFill>
                  <a:srgbClr val="0F2A47"/>
                </a:solidFill>
                <a:latin typeface="Segoe UI"/>
              </a:rPr>
              <a:t>Research and direction</a:t>
            </a:r>
          </a:p>
          <a:p>
            <a:pPr algn="l">
              <a:spcBef>
                <a:spcPts val="0"/>
              </a:spcBef>
              <a:spcAft>
                <a:spcPts val="0"/>
              </a:spcAft>
            </a:pPr>
            <a:r>
              <a:rPr sz="900" b="0" i="0">
                <a:solidFill>
                  <a:srgbClr val="6B7684"/>
                </a:solidFill>
                <a:latin typeface="Segoe UI"/>
              </a:rPr>
              <a:t>10 weeks</a:t>
            </a:r>
          </a:p>
        </p:txBody>
      </p:sp>
      <p:sp>
        <p:nvSpPr>
          <p:cNvPr id="11" name="Rectangle 10"/>
          <p:cNvSpPr/>
          <p:nvPr/>
        </p:nvSpPr>
        <p:spPr>
          <a:xfrm>
            <a:off x="4319930" y="1682496"/>
            <a:ext cx="3551834" cy="7132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66234" y="1755648"/>
            <a:ext cx="3259226" cy="566928"/>
          </a:xfrm>
          <a:prstGeom prst="rect">
            <a:avLst/>
          </a:prstGeom>
          <a:noFill/>
        </p:spPr>
        <p:txBody>
          <a:bodyPr wrap="square" anchor="t" lIns="0" rIns="0" tIns="0" bIns="0">
            <a:spAutoFit/>
          </a:bodyPr>
          <a:lstStyle/>
          <a:p>
            <a:pPr algn="l">
              <a:spcBef>
                <a:spcPts val="0"/>
              </a:spcBef>
              <a:spcAft>
                <a:spcPts val="100"/>
              </a:spcAft>
            </a:pPr>
            <a:r>
              <a:rPr sz="880" b="1" i="0">
                <a:solidFill>
                  <a:srgbClr val="6B7684"/>
                </a:solidFill>
                <a:latin typeface="Segoe UI"/>
              </a:rPr>
              <a:t>PHASE 2</a:t>
            </a:r>
          </a:p>
          <a:p>
            <a:pPr algn="l">
              <a:lnSpc>
                <a:spcPct val="105000"/>
              </a:lnSpc>
              <a:spcBef>
                <a:spcPts val="0"/>
              </a:spcBef>
              <a:spcAft>
                <a:spcPts val="100"/>
              </a:spcAft>
            </a:pPr>
            <a:r>
              <a:rPr sz="1060" b="1" i="0">
                <a:solidFill>
                  <a:srgbClr val="0F2A47"/>
                </a:solidFill>
                <a:latin typeface="Segoe UI"/>
              </a:rPr>
              <a:t>The build you have just seen</a:t>
            </a:r>
          </a:p>
          <a:p>
            <a:pPr algn="l">
              <a:spcBef>
                <a:spcPts val="0"/>
              </a:spcBef>
              <a:spcAft>
                <a:spcPts val="0"/>
              </a:spcAft>
            </a:pPr>
            <a:r>
              <a:rPr sz="900" b="0" i="0">
                <a:solidFill>
                  <a:srgbClr val="6B7684"/>
                </a:solidFill>
                <a:latin typeface="Segoe UI"/>
              </a:rPr>
              <a:t>to demo day</a:t>
            </a:r>
          </a:p>
        </p:txBody>
      </p:sp>
      <p:sp>
        <p:nvSpPr>
          <p:cNvPr id="13" name="Rectangle 12"/>
          <p:cNvSpPr/>
          <p:nvPr/>
        </p:nvSpPr>
        <p:spPr>
          <a:xfrm>
            <a:off x="8072932" y="1682496"/>
            <a:ext cx="3551834"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19236" y="1755648"/>
            <a:ext cx="3259226" cy="566928"/>
          </a:xfrm>
          <a:prstGeom prst="rect">
            <a:avLst/>
          </a:prstGeom>
          <a:noFill/>
        </p:spPr>
        <p:txBody>
          <a:bodyPr wrap="square" anchor="t" lIns="0" rIns="0" tIns="0" bIns="0">
            <a:spAutoFit/>
          </a:bodyPr>
          <a:lstStyle/>
          <a:p>
            <a:pPr algn="l">
              <a:spcBef>
                <a:spcPts val="0"/>
              </a:spcBef>
              <a:spcAft>
                <a:spcPts val="100"/>
              </a:spcAft>
            </a:pPr>
            <a:r>
              <a:rPr sz="880" b="1" i="0">
                <a:solidFill>
                  <a:srgbClr val="1F6FEB"/>
                </a:solidFill>
                <a:latin typeface="Segoe UI"/>
              </a:rPr>
              <a:t>FROM DEMO DAY</a:t>
            </a:r>
          </a:p>
          <a:p>
            <a:pPr algn="l">
              <a:lnSpc>
                <a:spcPct val="105000"/>
              </a:lnSpc>
              <a:spcBef>
                <a:spcPts val="0"/>
              </a:spcBef>
              <a:spcAft>
                <a:spcPts val="100"/>
              </a:spcAft>
            </a:pPr>
            <a:r>
              <a:rPr sz="1060" b="1" i="0">
                <a:solidFill>
                  <a:srgbClr val="0F2A47"/>
                </a:solidFill>
                <a:latin typeface="Segoe UI"/>
              </a:rPr>
              <a:t>The plan below</a:t>
            </a:r>
          </a:p>
          <a:p>
            <a:pPr algn="l">
              <a:spcBef>
                <a:spcPts val="0"/>
              </a:spcBef>
              <a:spcAft>
                <a:spcPts val="0"/>
              </a:spcAft>
            </a:pPr>
            <a:r>
              <a:rPr sz="900" b="0" i="0">
                <a:solidFill>
                  <a:srgbClr val="6B7684"/>
                </a:solidFill>
                <a:latin typeface="Segoe UI"/>
              </a:rPr>
              <a:t>12 weeks</a:t>
            </a:r>
          </a:p>
        </p:txBody>
      </p:sp>
      <p:sp>
        <p:nvSpPr>
          <p:cNvPr id="15" name="TextBox 14"/>
          <p:cNvSpPr txBox="1"/>
          <p:nvPr/>
        </p:nvSpPr>
        <p:spPr>
          <a:xfrm>
            <a:off x="566928" y="2505456"/>
            <a:ext cx="11057839" cy="256032"/>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REMAINING IMPLEMENTATION — SEQUENCED BY DEPENDENCY</a:t>
            </a:r>
          </a:p>
        </p:txBody>
      </p:sp>
      <p:graphicFrame>
        <p:nvGraphicFramePr>
          <p:cNvPr id="16" name="Table 15"/>
          <p:cNvGraphicFramePr>
            <a:graphicFrameLocks noGrp="1"/>
          </p:cNvGraphicFramePr>
          <p:nvPr/>
        </p:nvGraphicFramePr>
        <p:xfrm>
          <a:off x="566928" y="2743200"/>
          <a:ext cx="11055096" cy="2468880"/>
        </p:xfrm>
        <a:graphic>
          <a:graphicData uri="http://schemas.openxmlformats.org/drawingml/2006/table">
            <a:tbl>
              <a:tblPr firstRow="0" bandRow="0"/>
              <a:tblGrid>
                <a:gridCol w="2103120"/>
                <a:gridCol w="6967728"/>
                <a:gridCol w="1984248"/>
              </a:tblGrid>
              <a:tr h="274320">
                <a:tc>
                  <a:txBody>
                    <a:bodyPr wrap="square"/>
                    <a:lstStyle/>
                    <a:p>
                      <a:pPr algn="l"/>
                      <a:r>
                        <a:rPr sz="900" b="1">
                          <a:solidFill>
                            <a:srgbClr val="FFFFFF"/>
                          </a:solidFill>
                          <a:latin typeface="Segoe UI"/>
                        </a:rPr>
                        <a:t>Workstream</a:t>
                      </a:r>
                    </a:p>
                  </a:txBody>
                  <a:tcPr marL="82296" marR="82296" marT="13716" marB="13716" anchor="ctr">
                    <a:solidFill>
                      <a:srgbClr val="0F2A47"/>
                    </a:solidFill>
                  </a:tcPr>
                </a:tc>
                <a:tc>
                  <a:txBody>
                    <a:bodyPr wrap="square"/>
                    <a:lstStyle/>
                    <a:p>
                      <a:pPr algn="l"/>
                      <a:r>
                        <a:rPr sz="900" b="1">
                          <a:solidFill>
                            <a:srgbClr val="FFFFFF"/>
                          </a:solidFill>
                          <a:latin typeface="Segoe UI"/>
                        </a:rPr>
                        <a:t>What it delivers</a:t>
                      </a:r>
                    </a:p>
                  </a:txBody>
                  <a:tcPr marL="82296" marR="82296" marT="13716" marB="13716" anchor="ctr">
                    <a:solidFill>
                      <a:srgbClr val="0F2A47"/>
                    </a:solidFill>
                  </a:tcPr>
                </a:tc>
                <a:tc>
                  <a:txBody>
                    <a:bodyPr wrap="square"/>
                    <a:lstStyle/>
                    <a:p>
                      <a:pPr algn="l"/>
                      <a:r>
                        <a:rPr sz="900" b="1">
                          <a:solidFill>
                            <a:srgbClr val="FFFFFF"/>
                          </a:solidFill>
                          <a:latin typeface="Segoe UI"/>
                        </a:rPr>
                        <a:t>Window</a:t>
                      </a:r>
                    </a:p>
                  </a:txBody>
                  <a:tcPr marL="82296" marR="82296" marT="13716" marB="13716" anchor="ctr">
                    <a:solidFill>
                      <a:srgbClr val="0F2A47"/>
                    </a:solidFill>
                  </a:tcPr>
                </a:tc>
              </a:tr>
              <a:tr h="548640">
                <a:tc>
                  <a:txBody>
                    <a:bodyPr wrap="square"/>
                    <a:lstStyle/>
                    <a:p>
                      <a:pPr algn="l"/>
                      <a:r>
                        <a:rPr sz="910" b="0">
                          <a:solidFill>
                            <a:srgbClr val="2A3441"/>
                          </a:solidFill>
                          <a:latin typeface="Segoe UI"/>
                        </a:rPr>
                        <a:t>S17 · Prefix flow exporter</a:t>
                      </a:r>
                    </a:p>
                  </a:txBody>
                  <a:tcPr marL="82296" marR="82296" marT="13716" marB="13716" anchor="ctr">
                    <a:solidFill>
                      <a:srgbClr val="FFFFFF"/>
                    </a:solidFill>
                  </a:tcPr>
                </a:tc>
                <a:tc>
                  <a:txBody>
                    <a:bodyPr wrap="square"/>
                    <a:lstStyle/>
                    <a:p>
                      <a:pPr algn="l"/>
                      <a:r>
                        <a:rPr sz="910" b="0">
                          <a:solidFill>
                            <a:srgbClr val="2A3441"/>
                          </a:solidFill>
                          <a:latin typeface="Segoe UI"/>
                        </a:rPr>
                        <a:t>PCAP becomes CIC features through the same FlowSource seam CSV replay already uses, so detection, fusion, ranking, storage and the console are untouched. It stops and reports if schema reconciliation fails — it never silently coerces a column.</a:t>
                      </a:r>
                    </a:p>
                  </a:txBody>
                  <a:tcPr marL="82296" marR="82296" marT="13716" marB="13716" anchor="ctr">
                    <a:solidFill>
                      <a:srgbClr val="FFFFFF"/>
                    </a:solidFill>
                  </a:tcPr>
                </a:tc>
                <a:tc>
                  <a:txBody>
                    <a:bodyPr wrap="square"/>
                    <a:lstStyle/>
                    <a:p>
                      <a:pPr algn="l"/>
                      <a:r>
                        <a:rPr sz="910" b="0">
                          <a:solidFill>
                            <a:srgbClr val="2A3441"/>
                          </a:solidFill>
                          <a:latin typeface="Segoe UI"/>
                        </a:rPr>
                        <a:t>Weeks 1–3</a:t>
                      </a:r>
                    </a:p>
                  </a:txBody>
                  <a:tcPr marL="82296" marR="82296" marT="13716" marB="13716" anchor="ctr">
                    <a:solidFill>
                      <a:srgbClr val="FFFFFF"/>
                    </a:solidFill>
                  </a:tcPr>
                </a:tc>
              </a:tr>
              <a:tr h="548640">
                <a:tc>
                  <a:txBody>
                    <a:bodyPr wrap="square"/>
                    <a:lstStyle/>
                    <a:p>
                      <a:pPr algn="l"/>
                      <a:r>
                        <a:rPr sz="910" b="0">
                          <a:solidFill>
                            <a:srgbClr val="2A3441"/>
                          </a:solidFill>
                          <a:latin typeface="Segoe UI"/>
                        </a:rPr>
                        <a:t>S18 · Full backend</a:t>
                      </a:r>
                    </a:p>
                  </a:txBody>
                  <a:tcPr marL="82296" marR="82296" marT="13716" marB="13716" anchor="ctr">
                    <a:solidFill>
                      <a:srgbClr val="F4F7FB"/>
                    </a:solidFill>
                  </a:tcPr>
                </a:tc>
                <a:tc>
                  <a:txBody>
                    <a:bodyPr wrap="square"/>
                    <a:lstStyle/>
                    <a:p>
                      <a:pPr algn="l"/>
                      <a:r>
                        <a:rPr sz="910" b="0">
                          <a:solidFill>
                            <a:srgbClr val="2A3441"/>
                          </a:solidFill>
                          <a:latin typeface="Segoe UI"/>
                        </a:rPr>
                        <a:t>SQLite moves to PostgreSQL, which the schema was written for. The remaining TDM endpoints land: user, rule and model-version management, fusion weight configuration, bulk feedback, exports and notifications. Immutability and the RBAC matrix re-proven.</a:t>
                      </a:r>
                    </a:p>
                  </a:txBody>
                  <a:tcPr marL="82296" marR="82296" marT="13716" marB="13716" anchor="ctr">
                    <a:solidFill>
                      <a:srgbClr val="F4F7FB"/>
                    </a:solidFill>
                  </a:tcPr>
                </a:tc>
                <a:tc>
                  <a:txBody>
                    <a:bodyPr wrap="square"/>
                    <a:lstStyle/>
                    <a:p>
                      <a:pPr algn="l"/>
                      <a:r>
                        <a:rPr sz="910" b="0">
                          <a:solidFill>
                            <a:srgbClr val="2A3441"/>
                          </a:solidFill>
                          <a:latin typeface="Segoe UI"/>
                        </a:rPr>
                        <a:t>Weeks 4–9</a:t>
                      </a:r>
                    </a:p>
                  </a:txBody>
                  <a:tcPr marL="82296" marR="82296" marT="13716" marB="13716" anchor="ctr">
                    <a:solidFill>
                      <a:srgbClr val="F4F7FB"/>
                    </a:solidFill>
                  </a:tcPr>
                </a:tc>
              </a:tr>
              <a:tr h="548640">
                <a:tc>
                  <a:txBody>
                    <a:bodyPr wrap="square"/>
                    <a:lstStyle/>
                    <a:p>
                      <a:pPr algn="l"/>
                      <a:r>
                        <a:rPr sz="910" b="0">
                          <a:solidFill>
                            <a:srgbClr val="2A3441"/>
                          </a:solidFill>
                          <a:latin typeface="Segoe UI"/>
                        </a:rPr>
                        <a:t>Evaluation follow-ups</a:t>
                      </a:r>
                    </a:p>
                  </a:txBody>
                  <a:tcPr marL="82296" marR="82296" marT="13716" marB="13716" anchor="ctr">
                    <a:solidFill>
                      <a:srgbClr val="FFFFFF"/>
                    </a:solidFill>
                  </a:tcPr>
                </a:tc>
                <a:tc>
                  <a:txBody>
                    <a:bodyPr wrap="square"/>
                    <a:lstStyle/>
                    <a:p>
                      <a:pPr algn="l"/>
                      <a:r>
                        <a:rPr sz="910" b="0">
                          <a:solidFill>
                            <a:srgbClr val="2A3441"/>
                          </a:solidFill>
                          <a:latin typeface="Segoe UI"/>
                        </a:rPr>
                        <a:t>The pre-registered stress-test run over the weakened detector, reported as its own labelled experiment; a dismissal-direction sequence, so the guardrails-off arm has something to measure.</a:t>
                      </a:r>
                    </a:p>
                  </a:txBody>
                  <a:tcPr marL="82296" marR="82296" marT="13716" marB="13716" anchor="ctr">
                    <a:solidFill>
                      <a:srgbClr val="FFFFFF"/>
                    </a:solidFill>
                  </a:tcPr>
                </a:tc>
                <a:tc>
                  <a:txBody>
                    <a:bodyPr wrap="square"/>
                    <a:lstStyle/>
                    <a:p>
                      <a:pPr algn="l"/>
                      <a:r>
                        <a:rPr sz="910" b="0">
                          <a:solidFill>
                            <a:srgbClr val="2A3441"/>
                          </a:solidFill>
                          <a:latin typeface="Segoe UI"/>
                        </a:rPr>
                        <a:t>Throughout</a:t>
                      </a:r>
                    </a:p>
                  </a:txBody>
                  <a:tcPr marL="82296" marR="82296" marT="13716" marB="13716" anchor="ctr">
                    <a:solidFill>
                      <a:srgbClr val="FFFFFF"/>
                    </a:solidFill>
                  </a:tcPr>
                </a:tc>
              </a:tr>
              <a:tr h="548640">
                <a:tc>
                  <a:txBody>
                    <a:bodyPr wrap="square"/>
                    <a:lstStyle/>
                    <a:p>
                      <a:pPr algn="l"/>
                      <a:r>
                        <a:rPr sz="910" b="0">
                          <a:solidFill>
                            <a:srgbClr val="2A3441"/>
                          </a:solidFill>
                          <a:latin typeface="Segoe UI"/>
                        </a:rPr>
                        <a:t>Ranking refinements</a:t>
                      </a:r>
                    </a:p>
                  </a:txBody>
                  <a:tcPr marL="82296" marR="82296" marT="13716" marB="13716" anchor="ctr">
                    <a:solidFill>
                      <a:srgbClr val="F4F7FB"/>
                    </a:solidFill>
                  </a:tcPr>
                </a:tc>
                <a:tc>
                  <a:txBody>
                    <a:bodyPr wrap="square"/>
                    <a:lstStyle/>
                    <a:p>
                      <a:pPr algn="l"/>
                      <a:r>
                        <a:rPr sz="910" b="0">
                          <a:solidFill>
                            <a:srgbClr val="2A3441"/>
                          </a:solidFill>
                          <a:latin typeface="Segoe UI"/>
                        </a:rPr>
                        <a:t>The fine family key as defence in depth; the queue band names; automatic Tier 2 escalation, deferred at Q25.</a:t>
                      </a:r>
                    </a:p>
                  </a:txBody>
                  <a:tcPr marL="82296" marR="82296" marT="13716" marB="13716" anchor="ctr">
                    <a:solidFill>
                      <a:srgbClr val="F4F7FB"/>
                    </a:solidFill>
                  </a:tcPr>
                </a:tc>
                <a:tc>
                  <a:txBody>
                    <a:bodyPr wrap="square"/>
                    <a:lstStyle/>
                    <a:p>
                      <a:pPr algn="l"/>
                      <a:r>
                        <a:rPr sz="910" b="0">
                          <a:solidFill>
                            <a:srgbClr val="2A3441"/>
                          </a:solidFill>
                          <a:latin typeface="Segoe UI"/>
                        </a:rPr>
                        <a:t>Weeks 10–12</a:t>
                      </a:r>
                    </a:p>
                  </a:txBody>
                  <a:tcPr marL="82296" marR="82296" marT="13716" marB="13716" anchor="ctr">
                    <a:solidFill>
                      <a:srgbClr val="F4F7FB"/>
                    </a:solidFill>
                  </a:tcPr>
                </a:tc>
              </a:tr>
            </a:tbl>
          </a:graphicData>
        </a:graphic>
      </p:graphicFrame>
      <p:sp>
        <p:nvSpPr>
          <p:cNvPr id="17" name="Rectangle 16"/>
          <p:cNvSpPr/>
          <p:nvPr/>
        </p:nvSpPr>
        <p:spPr>
          <a:xfrm>
            <a:off x="566928" y="5358384"/>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449824"/>
            <a:ext cx="10655503" cy="530352"/>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Sequenced by dependency, not by date: each step's exit criterion gates the next.</a:t>
            </a:r>
          </a:p>
          <a:p>
            <a:pPr algn="l">
              <a:spcBef>
                <a:spcPts val="0"/>
              </a:spcBef>
              <a:spcAft>
                <a:spcPts val="0"/>
              </a:spcAft>
            </a:pPr>
            <a:r>
              <a:rPr sz="919" b="0" i="0">
                <a:solidFill>
                  <a:srgbClr val="6B7684"/>
                </a:solidFill>
                <a:latin typeface="Segoe UI"/>
              </a:rPr>
              <a:t>That is why the schema, the data contract and the queue order were fixed early — so everything remaining is additive, and the exporter and the backend can be built without disturbing what already works.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IF ASKED</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Technical FAQ</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Everything from here is reference material: architecture, the dataset and its audit, the notebooks, the fusion and ranking mathematics, and the evaluation. The pitch and the demo stand complete without it.</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F</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1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does the system actually receive?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One real record from the demo sample — AL-01958 — followed from here to the re-ranked queue.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23</a:t>
            </a:r>
          </a:p>
        </p:txBody>
      </p:sp>
      <p:sp>
        <p:nvSpPr>
          <p:cNvPr id="9" name="Rectangle 8"/>
          <p:cNvSpPr/>
          <p:nvPr/>
        </p:nvSpPr>
        <p:spPr>
          <a:xfrm>
            <a:off x="566928" y="1755648"/>
            <a:ext cx="11057839" cy="8412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847088"/>
            <a:ext cx="10618927" cy="676656"/>
          </a:xfrm>
          <a:prstGeom prst="rect">
            <a:avLst/>
          </a:prstGeom>
          <a:noFill/>
        </p:spPr>
        <p:txBody>
          <a:bodyPr wrap="square" anchor="t" lIns="0" rIns="0" tIns="0" bIns="0">
            <a:spAutoFit/>
          </a:bodyPr>
          <a:lstStyle/>
          <a:p>
            <a:pPr algn="l">
              <a:spcBef>
                <a:spcPts val="0"/>
              </a:spcBef>
              <a:spcAft>
                <a:spcPts val="300"/>
              </a:spcAft>
            </a:pPr>
            <a:r>
              <a:rPr sz="1500" b="1" i="0">
                <a:solidFill>
                  <a:srgbClr val="FFFFFF"/>
                </a:solidFill>
                <a:latin typeface="Consolas"/>
              </a:rPr>
              <a:t>AL-01958   18.221.219.4  →  172.31.69.25 : 21 / TCP</a:t>
            </a:r>
          </a:p>
          <a:p>
            <a:pPr algn="l">
              <a:spcBef>
                <a:spcPts val="0"/>
              </a:spcBef>
              <a:spcAft>
                <a:spcPts val="0"/>
              </a:spcAft>
            </a:pPr>
            <a:r>
              <a:rPr sz="940" b="0" i="0">
                <a:solidFill>
                  <a:srgbClr val="9FC3F0"/>
                </a:solidFill>
                <a:latin typeface="Segoe UI"/>
              </a:rPr>
              <a:t>captured 2018-02-14 · one flow record out of 63,195,145 in the corrected CSE-CIC-IDS2018 release</a:t>
            </a:r>
          </a:p>
        </p:txBody>
      </p:sp>
      <p:graphicFrame>
        <p:nvGraphicFramePr>
          <p:cNvPr id="11" name="Table 10"/>
          <p:cNvGraphicFramePr>
            <a:graphicFrameLocks noGrp="1"/>
          </p:cNvGraphicFramePr>
          <p:nvPr/>
        </p:nvGraphicFramePr>
        <p:xfrm>
          <a:off x="566928" y="2761488"/>
          <a:ext cx="11055096" cy="2414016"/>
        </p:xfrm>
        <a:graphic>
          <a:graphicData uri="http://schemas.openxmlformats.org/drawingml/2006/table">
            <a:tbl>
              <a:tblPr firstRow="0" bandRow="0"/>
              <a:tblGrid>
                <a:gridCol w="2331720"/>
                <a:gridCol w="713232"/>
                <a:gridCol w="4892040"/>
                <a:gridCol w="3118104"/>
              </a:tblGrid>
              <a:tr h="292608">
                <a:tc>
                  <a:txBody>
                    <a:bodyPr wrap="square"/>
                    <a:lstStyle/>
                    <a:p>
                      <a:pPr algn="l"/>
                      <a:r>
                        <a:rPr sz="900" b="1">
                          <a:solidFill>
                            <a:srgbClr val="FFFFFF"/>
                          </a:solidFill>
                          <a:latin typeface="Segoe UI"/>
                        </a:rPr>
                        <a:t>The record holds</a:t>
                      </a:r>
                    </a:p>
                  </a:txBody>
                  <a:tcPr marL="82296" marR="82296" marT="13716" marB="13716" anchor="ctr">
                    <a:solidFill>
                      <a:srgbClr val="0F2A47"/>
                    </a:solidFill>
                  </a:tcPr>
                </a:tc>
                <a:tc>
                  <a:txBody>
                    <a:bodyPr wrap="square"/>
                    <a:lstStyle/>
                    <a:p>
                      <a:pPr algn="r"/>
                      <a:r>
                        <a:rPr sz="900" b="1">
                          <a:solidFill>
                            <a:srgbClr val="FFFFFF"/>
                          </a:solidFill>
                          <a:latin typeface="Segoe UI"/>
                        </a:rPr>
                        <a:t>Count</a:t>
                      </a:r>
                    </a:p>
                  </a:txBody>
                  <a:tcPr marL="82296" marR="82296" marT="13716" marB="13716" anchor="ctr">
                    <a:solidFill>
                      <a:srgbClr val="0F2A47"/>
                    </a:solidFill>
                  </a:tcPr>
                </a:tc>
                <a:tc>
                  <a:txBody>
                    <a:bodyPr wrap="square"/>
                    <a:lstStyle/>
                    <a:p>
                      <a:pPr algn="l"/>
                      <a:r>
                        <a:rPr sz="900" b="1">
                          <a:solidFill>
                            <a:srgbClr val="FFFFFF"/>
                          </a:solidFill>
                          <a:latin typeface="Segoe UI"/>
                        </a:rPr>
                        <a:t>Example values</a:t>
                      </a:r>
                    </a:p>
                  </a:txBody>
                  <a:tcPr marL="82296" marR="82296" marT="13716" marB="13716" anchor="ctr">
                    <a:solidFill>
                      <a:srgbClr val="0F2A47"/>
                    </a:solidFill>
                  </a:tcPr>
                </a:tc>
                <a:tc>
                  <a:txBody>
                    <a:bodyPr wrap="square"/>
                    <a:lstStyle/>
                    <a:p>
                      <a:pPr algn="l"/>
                      <a:r>
                        <a:rPr sz="900" b="1">
                          <a:solidFill>
                            <a:srgbClr val="FFFFFF"/>
                          </a:solidFill>
                          <a:latin typeface="Segoe UI"/>
                        </a:rPr>
                        <a:t>Who reads it</a:t>
                      </a:r>
                    </a:p>
                  </a:txBody>
                  <a:tcPr marL="82296" marR="82296" marT="13716" marB="13716" anchor="ctr">
                    <a:solidFill>
                      <a:srgbClr val="0F2A47"/>
                    </a:solidFill>
                  </a:tcPr>
                </a:tc>
              </a:tr>
              <a:tr h="530352">
                <a:tc>
                  <a:txBody>
                    <a:bodyPr wrap="square"/>
                    <a:lstStyle/>
                    <a:p>
                      <a:pPr algn="l"/>
                      <a:r>
                        <a:rPr sz="930" b="0">
                          <a:solidFill>
                            <a:srgbClr val="2A3441"/>
                          </a:solidFill>
                          <a:latin typeface="Segoe UI"/>
                        </a:rPr>
                        <a:t>Columns in the source release</a:t>
                      </a:r>
                    </a:p>
                  </a:txBody>
                  <a:tcPr marL="82296" marR="82296" marT="13716" marB="13716" anchor="ctr">
                    <a:solidFill>
                      <a:srgbClr val="FFFFFF"/>
                    </a:solidFill>
                  </a:tcPr>
                </a:tc>
                <a:tc>
                  <a:txBody>
                    <a:bodyPr wrap="square"/>
                    <a:lstStyle/>
                    <a:p>
                      <a:pPr algn="r"/>
                      <a:r>
                        <a:rPr sz="930" b="0">
                          <a:solidFill>
                            <a:srgbClr val="2A3441"/>
                          </a:solidFill>
                          <a:latin typeface="Segoe UI"/>
                        </a:rPr>
                        <a:t>91</a:t>
                      </a:r>
                    </a:p>
                  </a:txBody>
                  <a:tcPr marL="82296" marR="82296" marT="13716" marB="13716" anchor="ctr">
                    <a:solidFill>
                      <a:srgbClr val="FFFFFF"/>
                    </a:solidFill>
                  </a:tcPr>
                </a:tc>
                <a:tc>
                  <a:txBody>
                    <a:bodyPr wrap="square"/>
                    <a:lstStyle/>
                    <a:p>
                      <a:pPr algn="l"/>
                      <a:r>
                        <a:rPr sz="930" b="0">
                          <a:solidFill>
                            <a:srgbClr val="2A3441"/>
                          </a:solidFill>
                          <a:latin typeface="Consolas"/>
                        </a:rPr>
                        <a:t>Dst Port 21 · Protocol 6 · Flow Duration 3 · Total Fwd Packet 1</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r>
              <a:tr h="530352">
                <a:tc>
                  <a:txBody>
                    <a:bodyPr wrap="square"/>
                    <a:lstStyle/>
                    <a:p>
                      <a:pPr algn="l"/>
                      <a:r>
                        <a:rPr sz="930" b="0">
                          <a:solidFill>
                            <a:srgbClr val="2A3441"/>
                          </a:solidFill>
                          <a:latin typeface="Segoe UI"/>
                        </a:rPr>
                        <a:t>Observable fields (rules)</a:t>
                      </a:r>
                    </a:p>
                  </a:txBody>
                  <a:tcPr marL="82296" marR="82296" marT="13716" marB="13716" anchor="ctr">
                    <a:solidFill>
                      <a:srgbClr val="F4F7FB"/>
                    </a:solidFill>
                  </a:tcPr>
                </a:tc>
                <a:tc>
                  <a:txBody>
                    <a:bodyPr wrap="square"/>
                    <a:lstStyle/>
                    <a:p>
                      <a:pPr algn="r"/>
                      <a:r>
                        <a:rPr sz="930" b="0">
                          <a:solidFill>
                            <a:srgbClr val="2A3441"/>
                          </a:solidFill>
                          <a:latin typeface="Segoe UI"/>
                        </a:rPr>
                        <a:t>16</a:t>
                      </a:r>
                    </a:p>
                  </a:txBody>
                  <a:tcPr marL="82296" marR="82296" marT="13716" marB="13716" anchor="ctr">
                    <a:solidFill>
                      <a:srgbClr val="F4F7FB"/>
                    </a:solidFill>
                  </a:tcPr>
                </a:tc>
                <a:tc>
                  <a:txBody>
                    <a:bodyPr wrap="square"/>
                    <a:lstStyle/>
                    <a:p>
                      <a:pPr algn="l"/>
                      <a:r>
                        <a:rPr sz="930" b="0">
                          <a:solidFill>
                            <a:srgbClr val="2A3441"/>
                          </a:solidFill>
                          <a:latin typeface="Consolas"/>
                        </a:rPr>
                        <a:t>destinationPort 21 · protocol TCP · totalFwdPackets 1 · flowPacketsPerSecond 666,666.67</a:t>
                      </a:r>
                    </a:p>
                  </a:txBody>
                  <a:tcPr marL="82296" marR="82296" marT="13716" marB="13716" anchor="ctr">
                    <a:solidFill>
                      <a:srgbClr val="F4F7FB"/>
                    </a:solidFill>
                  </a:tcPr>
                </a:tc>
                <a:tc>
                  <a:txBody>
                    <a:bodyPr wrap="square"/>
                    <a:lstStyle/>
                    <a:p>
                      <a:pPr algn="l"/>
                      <a:r>
                        <a:rPr sz="930" b="0">
                          <a:solidFill>
                            <a:srgbClr val="2A3441"/>
                          </a:solidFill>
                          <a:latin typeface="Segoe UI"/>
                        </a:rPr>
                        <a:t>The signature engine — every field human-checkable</a:t>
                      </a:r>
                    </a:p>
                  </a:txBody>
                  <a:tcPr marL="82296" marR="82296" marT="13716" marB="13716" anchor="ctr">
                    <a:solidFill>
                      <a:srgbClr val="F4F7FB"/>
                    </a:solidFill>
                  </a:tcPr>
                </a:tc>
              </a:tr>
              <a:tr h="530352">
                <a:tc>
                  <a:txBody>
                    <a:bodyPr wrap="square"/>
                    <a:lstStyle/>
                    <a:p>
                      <a:pPr algn="l"/>
                      <a:r>
                        <a:rPr sz="930" b="0">
                          <a:solidFill>
                            <a:srgbClr val="2A3441"/>
                          </a:solidFill>
                          <a:latin typeface="Segoe UI"/>
                        </a:rPr>
                        <a:t>Model features</a:t>
                      </a:r>
                    </a:p>
                  </a:txBody>
                  <a:tcPr marL="82296" marR="82296" marT="13716" marB="13716" anchor="ctr">
                    <a:solidFill>
                      <a:srgbClr val="FFFFFF"/>
                    </a:solidFill>
                  </a:tcPr>
                </a:tc>
                <a:tc>
                  <a:txBody>
                    <a:bodyPr wrap="square"/>
                    <a:lstStyle/>
                    <a:p>
                      <a:pPr algn="r"/>
                      <a:r>
                        <a:rPr sz="930" b="0">
                          <a:solidFill>
                            <a:srgbClr val="2A3441"/>
                          </a:solidFill>
                          <a:latin typeface="Segoe UI"/>
                        </a:rPr>
                        <a:t>82</a:t>
                      </a:r>
                    </a:p>
                  </a:txBody>
                  <a:tcPr marL="82296" marR="82296" marT="13716" marB="13716" anchor="ctr">
                    <a:solidFill>
                      <a:srgbClr val="FFFFFF"/>
                    </a:solidFill>
                  </a:tcPr>
                </a:tc>
                <a:tc>
                  <a:txBody>
                    <a:bodyPr wrap="square"/>
                    <a:lstStyle/>
                    <a:p>
                      <a:pPr algn="l"/>
                      <a:r>
                        <a:rPr sz="930" b="0">
                          <a:solidFill>
                            <a:srgbClr val="2A3441"/>
                          </a:solidFill>
                          <a:latin typeface="Consolas"/>
                        </a:rPr>
                        <a:t>Fwd Seg Size Min 40 · Flow IAT Min 3 · Bwd Packet Length Std …</a:t>
                      </a:r>
                    </a:p>
                  </a:txBody>
                  <a:tcPr marL="82296" marR="82296" marT="13716" marB="13716" anchor="ctr">
                    <a:solidFill>
                      <a:srgbClr val="FFFFFF"/>
                    </a:solidFill>
                  </a:tcPr>
                </a:tc>
                <a:tc>
                  <a:txBody>
                    <a:bodyPr wrap="square"/>
                    <a:lstStyle/>
                    <a:p>
                      <a:pPr algn="l"/>
                      <a:r>
                        <a:rPr sz="930" b="0">
                          <a:solidFill>
                            <a:srgbClr val="2A3441"/>
                          </a:solidFill>
                          <a:latin typeface="Segoe UI"/>
                        </a:rPr>
                        <a:t>The XGBoost classifier</a:t>
                      </a:r>
                    </a:p>
                  </a:txBody>
                  <a:tcPr marL="82296" marR="82296" marT="13716" marB="13716" anchor="ctr">
                    <a:solidFill>
                      <a:srgbClr val="FFFFFF"/>
                    </a:solidFill>
                  </a:tcPr>
                </a:tc>
              </a:tr>
              <a:tr h="530352">
                <a:tc>
                  <a:txBody>
                    <a:bodyPr wrap="square"/>
                    <a:lstStyle/>
                    <a:p>
                      <a:pPr algn="l"/>
                      <a:r>
                        <a:rPr sz="930" b="0">
                          <a:solidFill>
                            <a:srgbClr val="2A3441"/>
                          </a:solidFill>
                          <a:latin typeface="Segoe UI"/>
                        </a:rPr>
                        <a:t>Refused to both detectors</a:t>
                      </a:r>
                    </a:p>
                  </a:txBody>
                  <a:tcPr marL="82296" marR="82296" marT="13716" marB="13716" anchor="ctr">
                    <a:solidFill>
                      <a:srgbClr val="F4F7FB"/>
                    </a:solidFill>
                  </a:tcPr>
                </a:tc>
                <a:tc>
                  <a:txBody>
                    <a:bodyPr wrap="square"/>
                    <a:lstStyle/>
                    <a:p>
                      <a:pPr algn="r"/>
                      <a:r>
                        <a:rPr sz="930" b="0">
                          <a:solidFill>
                            <a:srgbClr val="2A3441"/>
                          </a:solidFill>
                          <a:latin typeface="Segoe UI"/>
                        </a:rPr>
                        <a:t>11</a:t>
                      </a:r>
                    </a:p>
                  </a:txBody>
                  <a:tcPr marL="82296" marR="82296" marT="13716" marB="13716" anchor="ctr">
                    <a:solidFill>
                      <a:srgbClr val="F4F7FB"/>
                    </a:solidFill>
                  </a:tcPr>
                </a:tc>
                <a:tc>
                  <a:txBody>
                    <a:bodyPr wrap="square"/>
                    <a:lstStyle/>
                    <a:p>
                      <a:pPr algn="l"/>
                      <a:r>
                        <a:rPr sz="930" b="0">
                          <a:solidFill>
                            <a:srgbClr val="2A3441"/>
                          </a:solidFill>
                          <a:latin typeface="Consolas"/>
                        </a:rPr>
                        <a:t>Label · attack_class · is_attempted · Attempted Category · src/dst IP · ports · Flow ID · Timestamp</a:t>
                      </a:r>
                    </a:p>
                  </a:txBody>
                  <a:tcPr marL="82296" marR="82296" marT="13716" marB="13716" anchor="ctr">
                    <a:solidFill>
                      <a:srgbClr val="F4F7FB"/>
                    </a:solidFill>
                  </a:tcPr>
                </a:tc>
                <a:tc>
                  <a:txBody>
                    <a:bodyPr wrap="square"/>
                    <a:lstStyle/>
                    <a:p>
                      <a:pPr algn="l"/>
                      <a:r>
                        <a:rPr sz="930" b="0">
                          <a:solidFill>
                            <a:srgbClr val="2A3441"/>
                          </a:solidFill>
                          <a:latin typeface="Segoe UI"/>
                        </a:rPr>
                        <a:t>Nobody — the leakage guard</a:t>
                      </a:r>
                    </a:p>
                  </a:txBody>
                  <a:tcPr marL="82296" marR="82296" marT="13716" marB="13716" anchor="ctr">
                    <a:solidFill>
                      <a:srgbClr val="F4F7FB"/>
                    </a:solidFill>
                  </a:tcPr>
                </a:tc>
              </a:tr>
            </a:tbl>
          </a:graphicData>
        </a:graphic>
      </p:graphicFrame>
      <p:sp>
        <p:nvSpPr>
          <p:cNvPr id="12" name="Rectangle 11"/>
          <p:cNvSpPr/>
          <p:nvPr/>
        </p:nvSpPr>
        <p:spPr>
          <a:xfrm>
            <a:off x="566928" y="5102352"/>
            <a:ext cx="5419191" cy="10607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5102352"/>
            <a:ext cx="50292"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5212080"/>
            <a:ext cx="5108295" cy="85953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Two views of one flow, on purpose</a:t>
            </a:r>
          </a:p>
          <a:p>
            <a:pPr algn="l">
              <a:lnSpc>
                <a:spcPct val="120000"/>
              </a:lnSpc>
              <a:spcBef>
                <a:spcPts val="0"/>
              </a:spcBef>
              <a:spcAft>
                <a:spcPts val="0"/>
              </a:spcAft>
            </a:pPr>
            <a:r>
              <a:rPr sz="930" b="0" i="0">
                <a:solidFill>
                  <a:srgbClr val="2A3441"/>
                </a:solidFill>
                <a:latin typeface="Segoe UI"/>
              </a:rPr>
              <a:t>The rules read a small, named, checkable view; the model reads the full vector. Neither sees the answer — the 11 refused fields include Attempted Category, which states whether an attack succeeded.</a:t>
            </a:r>
          </a:p>
        </p:txBody>
      </p:sp>
      <p:sp>
        <p:nvSpPr>
          <p:cNvPr id="15" name="Rectangle 14"/>
          <p:cNvSpPr/>
          <p:nvPr/>
        </p:nvSpPr>
        <p:spPr>
          <a:xfrm>
            <a:off x="6205575" y="5102352"/>
            <a:ext cx="5419191" cy="10607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05575" y="5102352"/>
            <a:ext cx="50292" cy="1060704"/>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8455" y="5212080"/>
            <a:ext cx="5108295" cy="85953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A 3-microsecond flow with one packet — what brute force is that?</a:t>
            </a:r>
          </a:p>
          <a:p>
            <a:pPr algn="l">
              <a:lnSpc>
                <a:spcPct val="120000"/>
              </a:lnSpc>
              <a:spcBef>
                <a:spcPts val="0"/>
              </a:spcBef>
              <a:spcAft>
                <a:spcPts val="0"/>
              </a:spcAft>
            </a:pPr>
            <a:r>
              <a:rPr sz="930" b="0" i="0">
                <a:solidFill>
                  <a:srgbClr val="2A3441"/>
                </a:solidFill>
                <a:latin typeface="Segoe UI"/>
              </a:rPr>
              <a:t>One probe of a campaign. A single flow is not the attack; the campaign is the family — see “how does one verdict move the alerts nobody judged?”. This is why feedback is applied to families rather than to alerts one at a time.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2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does each detector say about it?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same flow, read twice — once by a rule that can be checked, once by a model that cannot.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24</a:t>
            </a:r>
          </a:p>
        </p:txBody>
      </p:sp>
      <p:sp>
        <p:nvSpPr>
          <p:cNvPr id="9" name="Rectangle 8"/>
          <p:cNvSpPr/>
          <p:nvPr/>
        </p:nvSpPr>
        <p:spPr>
          <a:xfrm>
            <a:off x="566928" y="1755648"/>
            <a:ext cx="5382615" cy="3840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1792224"/>
            <a:ext cx="5071719" cy="310896"/>
          </a:xfrm>
          <a:prstGeom prst="rect">
            <a:avLst/>
          </a:prstGeom>
          <a:noFill/>
        </p:spPr>
        <p:txBody>
          <a:bodyPr wrap="square" anchor="ctr" lIns="0" rIns="0" tIns="0" bIns="0">
            <a:spAutoFit/>
          </a:bodyPr>
          <a:lstStyle/>
          <a:p>
            <a:pPr algn="l">
              <a:spcBef>
                <a:spcPts val="0"/>
              </a:spcBef>
              <a:spcAft>
                <a:spcPts val="0"/>
              </a:spcAft>
            </a:pPr>
            <a:r>
              <a:rPr sz="1000" b="1" i="0">
                <a:solidFill>
                  <a:srgbClr val="FFFFFF"/>
                </a:solidFill>
                <a:latin typeface="Segoe UI"/>
              </a:rPr>
              <a:t>SIGNATURE ENGINE  ·  every clause checkable</a:t>
            </a:r>
          </a:p>
        </p:txBody>
      </p:sp>
      <p:graphicFrame>
        <p:nvGraphicFramePr>
          <p:cNvPr id="11" name="Table 10"/>
          <p:cNvGraphicFramePr>
            <a:graphicFrameLocks noGrp="1"/>
          </p:cNvGraphicFramePr>
          <p:nvPr/>
        </p:nvGraphicFramePr>
        <p:xfrm>
          <a:off x="566928" y="2194560"/>
          <a:ext cx="5431536" cy="1444752"/>
        </p:xfrm>
        <a:graphic>
          <a:graphicData uri="http://schemas.openxmlformats.org/drawingml/2006/table">
            <a:tbl>
              <a:tblPr firstRow="0" bandRow="0"/>
              <a:tblGrid>
                <a:gridCol w="2788920"/>
                <a:gridCol w="1417320"/>
                <a:gridCol w="1225296"/>
              </a:tblGrid>
              <a:tr h="274320">
                <a:tc>
                  <a:txBody>
                    <a:bodyPr wrap="square"/>
                    <a:lstStyle/>
                    <a:p>
                      <a:pPr algn="l"/>
                      <a:r>
                        <a:rPr sz="860" b="1">
                          <a:solidFill>
                            <a:srgbClr val="FFFFFF"/>
                          </a:solidFill>
                          <a:latin typeface="Segoe UI"/>
                        </a:rPr>
                        <a:t>Clause</a:t>
                      </a:r>
                    </a:p>
                  </a:txBody>
                  <a:tcPr marL="82296" marR="82296" marT="13716" marB="13716" anchor="ctr">
                    <a:solidFill>
                      <a:srgbClr val="0F2A47"/>
                    </a:solidFill>
                  </a:tcPr>
                </a:tc>
                <a:tc>
                  <a:txBody>
                    <a:bodyPr wrap="square"/>
                    <a:lstStyle/>
                    <a:p>
                      <a:pPr algn="l"/>
                      <a:r>
                        <a:rPr sz="860" b="1">
                          <a:solidFill>
                            <a:srgbClr val="FFFFFF"/>
                          </a:solidFill>
                          <a:latin typeface="Segoe UI"/>
                        </a:rPr>
                        <a:t>Observed</a:t>
                      </a:r>
                    </a:p>
                  </a:txBody>
                  <a:tcPr marL="82296" marR="82296" marT="13716" marB="13716" anchor="ctr">
                    <a:solidFill>
                      <a:srgbClr val="0F2A47"/>
                    </a:solidFill>
                  </a:tcPr>
                </a:tc>
                <a:tc>
                  <a:txBody>
                    <a:bodyPr wrap="square"/>
                    <a:lstStyle/>
                    <a:p>
                      <a:pPr algn="l"/>
                      <a:r>
                        <a:rPr sz="860" b="1">
                          <a:solidFill>
                            <a:srgbClr val="FFFFFF"/>
                          </a:solidFill>
                          <a:latin typeface="Segoe UI"/>
                        </a:rPr>
                        <a:t>Pass</a:t>
                      </a:r>
                    </a:p>
                  </a:txBody>
                  <a:tcPr marL="82296" marR="82296" marT="13716" marB="13716" anchor="ctr">
                    <a:solidFill>
                      <a:srgbClr val="0F2A47"/>
                    </a:solidFill>
                  </a:tcPr>
                </a:tc>
              </a:tr>
              <a:tr h="292608">
                <a:tc>
                  <a:txBody>
                    <a:bodyPr wrap="square"/>
                    <a:lstStyle/>
                    <a:p>
                      <a:pPr algn="l"/>
                      <a:r>
                        <a:rPr sz="919" b="0">
                          <a:solidFill>
                            <a:srgbClr val="2A3441"/>
                          </a:solidFill>
                          <a:latin typeface="Consolas"/>
                        </a:rPr>
                        <a:t>protocol == TCP</a:t>
                      </a:r>
                    </a:p>
                  </a:txBody>
                  <a:tcPr marL="82296" marR="82296" marT="13716" marB="13716" anchor="ctr">
                    <a:solidFill>
                      <a:srgbClr val="FFFFFF"/>
                    </a:solidFill>
                  </a:tcPr>
                </a:tc>
                <a:tc>
                  <a:txBody>
                    <a:bodyPr wrap="square"/>
                    <a:lstStyle/>
                    <a:p>
                      <a:pPr algn="l"/>
                      <a:r>
                        <a:rPr sz="919" b="0">
                          <a:solidFill>
                            <a:srgbClr val="2A3441"/>
                          </a:solidFill>
                          <a:latin typeface="Consolas"/>
                        </a:rPr>
                        <a:t>TCP</a:t>
                      </a:r>
                    </a:p>
                  </a:txBody>
                  <a:tcPr marL="82296" marR="82296" marT="13716" marB="13716" anchor="ctr">
                    <a:solidFill>
                      <a:srgbClr val="FFFFFF"/>
                    </a:solidFill>
                  </a:tcPr>
                </a:tc>
                <a:tc>
                  <a:txBody>
                    <a:bodyPr wrap="square"/>
                    <a:lstStyle/>
                    <a:p>
                      <a:pPr algn="l"/>
                      <a:r>
                        <a:rPr sz="919" b="0">
                          <a:solidFill>
                            <a:srgbClr val="2A3441"/>
                          </a:solidFill>
                          <a:latin typeface="Segoe UI"/>
                        </a:rPr>
                        <a:t>yes</a:t>
                      </a:r>
                    </a:p>
                  </a:txBody>
                  <a:tcPr marL="82296" marR="82296" marT="13716" marB="13716" anchor="ctr">
                    <a:solidFill>
                      <a:srgbClr val="FFFFFF"/>
                    </a:solidFill>
                  </a:tcPr>
                </a:tc>
              </a:tr>
              <a:tr h="292608">
                <a:tc>
                  <a:txBody>
                    <a:bodyPr wrap="square"/>
                    <a:lstStyle/>
                    <a:p>
                      <a:pPr algn="l"/>
                      <a:r>
                        <a:rPr sz="919" b="0">
                          <a:solidFill>
                            <a:srgbClr val="2A3441"/>
                          </a:solidFill>
                          <a:latin typeface="Consolas"/>
                        </a:rPr>
                        <a:t>destinationPort == 21</a:t>
                      </a:r>
                    </a:p>
                  </a:txBody>
                  <a:tcPr marL="82296" marR="82296" marT="13716" marB="13716" anchor="ctr">
                    <a:solidFill>
                      <a:srgbClr val="F4F7FB"/>
                    </a:solidFill>
                  </a:tcPr>
                </a:tc>
                <a:tc>
                  <a:txBody>
                    <a:bodyPr wrap="square"/>
                    <a:lstStyle/>
                    <a:p>
                      <a:pPr algn="l"/>
                      <a:r>
                        <a:rPr sz="919" b="0">
                          <a:solidFill>
                            <a:srgbClr val="2A3441"/>
                          </a:solidFill>
                          <a:latin typeface="Consolas"/>
                        </a:rPr>
                        <a:t>21</a:t>
                      </a:r>
                    </a:p>
                  </a:txBody>
                  <a:tcPr marL="82296" marR="82296" marT="13716" marB="13716" anchor="ctr">
                    <a:solidFill>
                      <a:srgbClr val="F4F7FB"/>
                    </a:solidFill>
                  </a:tcPr>
                </a:tc>
                <a:tc>
                  <a:txBody>
                    <a:bodyPr wrap="square"/>
                    <a:lstStyle/>
                    <a:p>
                      <a:pPr algn="l"/>
                      <a:r>
                        <a:rPr sz="919" b="0">
                          <a:solidFill>
                            <a:srgbClr val="2A3441"/>
                          </a:solidFill>
                          <a:latin typeface="Segoe UI"/>
                        </a:rPr>
                        <a:t>yes</a:t>
                      </a:r>
                    </a:p>
                  </a:txBody>
                  <a:tcPr marL="82296" marR="82296" marT="13716" marB="13716" anchor="ctr">
                    <a:solidFill>
                      <a:srgbClr val="F4F7FB"/>
                    </a:solidFill>
                  </a:tcPr>
                </a:tc>
              </a:tr>
              <a:tr h="292608">
                <a:tc>
                  <a:txBody>
                    <a:bodyPr wrap="square"/>
                    <a:lstStyle/>
                    <a:p>
                      <a:pPr algn="l"/>
                      <a:r>
                        <a:rPr sz="919" b="0">
                          <a:solidFill>
                            <a:srgbClr val="2A3441"/>
                          </a:solidFill>
                          <a:latin typeface="Consolas"/>
                        </a:rPr>
                        <a:t>totalFwdPackets &gt;= 1</a:t>
                      </a:r>
                    </a:p>
                  </a:txBody>
                  <a:tcPr marL="82296" marR="82296" marT="13716" marB="13716" anchor="ctr">
                    <a:solidFill>
                      <a:srgbClr val="FFFFFF"/>
                    </a:solidFill>
                  </a:tcPr>
                </a:tc>
                <a:tc>
                  <a:txBody>
                    <a:bodyPr wrap="square"/>
                    <a:lstStyle/>
                    <a:p>
                      <a:pPr algn="l"/>
                      <a:r>
                        <a:rPr sz="919" b="0">
                          <a:solidFill>
                            <a:srgbClr val="2A3441"/>
                          </a:solidFill>
                          <a:latin typeface="Consolas"/>
                        </a:rPr>
                        <a:t>1</a:t>
                      </a:r>
                    </a:p>
                  </a:txBody>
                  <a:tcPr marL="82296" marR="82296" marT="13716" marB="13716" anchor="ctr">
                    <a:solidFill>
                      <a:srgbClr val="FFFFFF"/>
                    </a:solidFill>
                  </a:tcPr>
                </a:tc>
                <a:tc>
                  <a:txBody>
                    <a:bodyPr wrap="square"/>
                    <a:lstStyle/>
                    <a:p>
                      <a:pPr algn="l"/>
                      <a:r>
                        <a:rPr sz="919" b="0">
                          <a:solidFill>
                            <a:srgbClr val="2A3441"/>
                          </a:solidFill>
                          <a:latin typeface="Segoe UI"/>
                        </a:rPr>
                        <a:t>yes</a:t>
                      </a:r>
                    </a:p>
                  </a:txBody>
                  <a:tcPr marL="82296" marR="82296" marT="13716" marB="13716" anchor="ctr">
                    <a:solidFill>
                      <a:srgbClr val="FFFFFF"/>
                    </a:solidFill>
                  </a:tcPr>
                </a:tc>
              </a:tr>
              <a:tr h="292608">
                <a:tc>
                  <a:txBody>
                    <a:bodyPr wrap="square"/>
                    <a:lstStyle/>
                    <a:p>
                      <a:pPr algn="l"/>
                      <a:r>
                        <a:rPr sz="919" b="0">
                          <a:solidFill>
                            <a:srgbClr val="2A3441"/>
                          </a:solidFill>
                          <a:latin typeface="Consolas"/>
                        </a:rPr>
                        <a:t>+ the rule's other original clauses</a:t>
                      </a:r>
                    </a:p>
                  </a:txBody>
                  <a:tcPr marL="82296" marR="82296" marT="13716" marB="13716" anchor="ctr">
                    <a:solidFill>
                      <a:srgbClr val="F4F7FB"/>
                    </a:solidFill>
                  </a:tcPr>
                </a:tc>
                <a:tc>
                  <a:txBody>
                    <a:bodyPr wrap="square"/>
                    <a:lstStyle/>
                    <a:p>
                      <a:pPr algn="l"/>
                      <a:r>
                        <a:rPr sz="919" b="0">
                          <a:solidFill>
                            <a:srgbClr val="2A3441"/>
                          </a:solidFill>
                          <a:latin typeface="Consolas"/>
                        </a:rPr>
                        <a:t>—</a:t>
                      </a:r>
                    </a:p>
                  </a:txBody>
                  <a:tcPr marL="82296" marR="82296" marT="13716" marB="13716" anchor="ctr">
                    <a:solidFill>
                      <a:srgbClr val="F4F7FB"/>
                    </a:solidFill>
                  </a:tcPr>
                </a:tc>
                <a:tc>
                  <a:txBody>
                    <a:bodyPr wrap="square"/>
                    <a:lstStyle/>
                    <a:p>
                      <a:pPr algn="l"/>
                      <a:r>
                        <a:rPr sz="919" b="0">
                          <a:solidFill>
                            <a:srgbClr val="2A3441"/>
                          </a:solidFill>
                          <a:latin typeface="Segoe UI"/>
                        </a:rPr>
                        <a:t>yes</a:t>
                      </a:r>
                    </a:p>
                  </a:txBody>
                  <a:tcPr marL="82296" marR="82296" marT="13716" marB="13716" anchor="ctr">
                    <a:solidFill>
                      <a:srgbClr val="F4F7FB"/>
                    </a:solidFill>
                  </a:tcPr>
                </a:tc>
              </a:tr>
            </a:tbl>
          </a:graphicData>
        </a:graphic>
      </p:graphicFrame>
      <p:sp>
        <p:nvSpPr>
          <p:cNvPr id="12" name="Rectangle 11"/>
          <p:cNvSpPr/>
          <p:nvPr/>
        </p:nvSpPr>
        <p:spPr>
          <a:xfrm>
            <a:off x="566928" y="3584448"/>
            <a:ext cx="5382615" cy="5120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232" y="3675887"/>
            <a:ext cx="5071719" cy="384048"/>
          </a:xfrm>
          <a:prstGeom prst="rect">
            <a:avLst/>
          </a:prstGeom>
          <a:noFill/>
        </p:spPr>
        <p:txBody>
          <a:bodyPr wrap="square" anchor="t" lIns="0" rIns="0" tIns="0" bIns="0">
            <a:spAutoFit/>
          </a:bodyPr>
          <a:lstStyle/>
          <a:p>
            <a:pPr algn="l">
              <a:spcBef>
                <a:spcPts val="0"/>
              </a:spcBef>
              <a:spcAft>
                <a:spcPts val="0"/>
              </a:spcAft>
            </a:pPr>
            <a:r>
              <a:rPr sz="960" b="1">
                <a:solidFill>
                  <a:srgbClr val="0F2A47"/>
                </a:solidFill>
                <a:latin typeface="Consolas"/>
              </a:rPr>
              <a:t>SIG-FTP-BRUTE-FORCE</a:t>
            </a:r>
            <a:r>
              <a:rPr sz="960" b="0">
                <a:solidFill>
                  <a:srgbClr val="2A3441"/>
                </a:solidFill>
                <a:latin typeface="Segoe UI"/>
              </a:rPr>
              <a:t>  matched  ·  severity Medium  →  </a:t>
            </a:r>
            <a:r>
              <a:rPr sz="960" b="1">
                <a:solidFill>
                  <a:srgbClr val="1F6FEB"/>
                </a:solidFill>
                <a:latin typeface="Consolas"/>
              </a:rPr>
              <a:t>sig = 0.60</a:t>
            </a:r>
          </a:p>
        </p:txBody>
      </p:sp>
      <p:sp>
        <p:nvSpPr>
          <p:cNvPr id="14" name="Rectangle 13"/>
          <p:cNvSpPr/>
          <p:nvPr/>
        </p:nvSpPr>
        <p:spPr>
          <a:xfrm>
            <a:off x="6242151" y="1755648"/>
            <a:ext cx="5382615" cy="38404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1792224"/>
            <a:ext cx="5071719" cy="310896"/>
          </a:xfrm>
          <a:prstGeom prst="rect">
            <a:avLst/>
          </a:prstGeom>
          <a:noFill/>
        </p:spPr>
        <p:txBody>
          <a:bodyPr wrap="square" anchor="ctr" lIns="0" rIns="0" tIns="0" bIns="0">
            <a:spAutoFit/>
          </a:bodyPr>
          <a:lstStyle/>
          <a:p>
            <a:pPr algn="l">
              <a:spcBef>
                <a:spcPts val="0"/>
              </a:spcBef>
              <a:spcAft>
                <a:spcPts val="0"/>
              </a:spcAft>
            </a:pPr>
            <a:r>
              <a:rPr sz="1000" b="1" i="0">
                <a:solidFill>
                  <a:srgbClr val="FFFFFF"/>
                </a:solidFill>
                <a:latin typeface="Segoe UI"/>
              </a:rPr>
              <a:t>XGBOOST MODEL  ·  explanation, not proof</a:t>
            </a:r>
          </a:p>
        </p:txBody>
      </p:sp>
      <p:graphicFrame>
        <p:nvGraphicFramePr>
          <p:cNvPr id="16" name="Table 15"/>
          <p:cNvGraphicFramePr>
            <a:graphicFrameLocks noGrp="1"/>
          </p:cNvGraphicFramePr>
          <p:nvPr/>
        </p:nvGraphicFramePr>
        <p:xfrm>
          <a:off x="6242151" y="2194560"/>
          <a:ext cx="5431536" cy="1444752"/>
        </p:xfrm>
        <a:graphic>
          <a:graphicData uri="http://schemas.openxmlformats.org/drawingml/2006/table">
            <a:tbl>
              <a:tblPr firstRow="0" bandRow="0"/>
              <a:tblGrid>
                <a:gridCol w="2788920"/>
                <a:gridCol w="1234440"/>
                <a:gridCol w="1408176"/>
              </a:tblGrid>
              <a:tr h="274320">
                <a:tc>
                  <a:txBody>
                    <a:bodyPr wrap="square"/>
                    <a:lstStyle/>
                    <a:p>
                      <a:pPr algn="l"/>
                      <a:r>
                        <a:rPr sz="860" b="1">
                          <a:solidFill>
                            <a:srgbClr val="FFFFFF"/>
                          </a:solidFill>
                          <a:latin typeface="Segoe UI"/>
                        </a:rPr>
                        <a:t>What pushed the model’s answer</a:t>
                      </a:r>
                    </a:p>
                  </a:txBody>
                  <a:tcPr marL="82296" marR="82296" marT="13716" marB="13716" anchor="ctr">
                    <a:solidFill>
                      <a:srgbClr val="0F2A47"/>
                    </a:solidFill>
                  </a:tcPr>
                </a:tc>
                <a:tc>
                  <a:txBody>
                    <a:bodyPr wrap="square"/>
                    <a:lstStyle/>
                    <a:p>
                      <a:pPr algn="l"/>
                      <a:r>
                        <a:rPr sz="860" b="1">
                          <a:solidFill>
                            <a:srgbClr val="FFFFFF"/>
                          </a:solidFill>
                          <a:latin typeface="Segoe UI"/>
                        </a:rPr>
                        <a:t>Value</a:t>
                      </a:r>
                    </a:p>
                  </a:txBody>
                  <a:tcPr marL="82296" marR="82296" marT="13716" marB="13716" anchor="ctr">
                    <a:solidFill>
                      <a:srgbClr val="0F2A47"/>
                    </a:solidFill>
                  </a:tcPr>
                </a:tc>
                <a:tc>
                  <a:txBody>
                    <a:bodyPr wrap="square"/>
                    <a:lstStyle/>
                    <a:p>
                      <a:pPr algn="r"/>
                      <a:r>
                        <a:rPr sz="860" b="1">
                          <a:solidFill>
                            <a:srgbClr val="FFFFFF"/>
                          </a:solidFill>
                          <a:latin typeface="Segoe UI"/>
                        </a:rPr>
                        <a:t>Push</a:t>
                      </a:r>
                    </a:p>
                  </a:txBody>
                  <a:tcPr marL="82296" marR="82296" marT="13716" marB="13716" anchor="ctr">
                    <a:solidFill>
                      <a:srgbClr val="0F2A47"/>
                    </a:solidFill>
                  </a:tcPr>
                </a:tc>
              </a:tr>
              <a:tr h="292608">
                <a:tc>
                  <a:txBody>
                    <a:bodyPr wrap="square"/>
                    <a:lstStyle/>
                    <a:p>
                      <a:pPr algn="l"/>
                      <a:r>
                        <a:rPr sz="919" b="0">
                          <a:solidFill>
                            <a:srgbClr val="2A3441"/>
                          </a:solidFill>
                          <a:latin typeface="Consolas"/>
                        </a:rPr>
                        <a:t>Dst Port</a:t>
                      </a:r>
                    </a:p>
                  </a:txBody>
                  <a:tcPr marL="82296" marR="82296" marT="13716" marB="13716" anchor="ctr">
                    <a:solidFill>
                      <a:srgbClr val="FFFFFF"/>
                    </a:solidFill>
                  </a:tcPr>
                </a:tc>
                <a:tc>
                  <a:txBody>
                    <a:bodyPr wrap="square"/>
                    <a:lstStyle/>
                    <a:p>
                      <a:pPr algn="l"/>
                      <a:r>
                        <a:rPr sz="919" b="0">
                          <a:solidFill>
                            <a:srgbClr val="2A3441"/>
                          </a:solidFill>
                          <a:latin typeface="Consolas"/>
                        </a:rPr>
                        <a:t>21.0</a:t>
                      </a:r>
                    </a:p>
                  </a:txBody>
                  <a:tcPr marL="82296" marR="82296" marT="13716" marB="13716" anchor="ctr">
                    <a:solidFill>
                      <a:srgbClr val="FFFFFF"/>
                    </a:solidFill>
                  </a:tcPr>
                </a:tc>
                <a:tc>
                  <a:txBody>
                    <a:bodyPr wrap="square"/>
                    <a:lstStyle/>
                    <a:p>
                      <a:pPr algn="r"/>
                      <a:r>
                        <a:rPr sz="919" b="0">
                          <a:solidFill>
                            <a:srgbClr val="2A3441"/>
                          </a:solidFill>
                          <a:latin typeface="Consolas"/>
                        </a:rPr>
                        <a:t>+6.416</a:t>
                      </a:r>
                    </a:p>
                  </a:txBody>
                  <a:tcPr marL="82296" marR="82296" marT="13716" marB="13716" anchor="ctr">
                    <a:solidFill>
                      <a:srgbClr val="FFFFFF"/>
                    </a:solidFill>
                  </a:tcPr>
                </a:tc>
              </a:tr>
              <a:tr h="292608">
                <a:tc>
                  <a:txBody>
                    <a:bodyPr wrap="square"/>
                    <a:lstStyle/>
                    <a:p>
                      <a:pPr algn="l"/>
                      <a:r>
                        <a:rPr sz="919" b="0">
                          <a:solidFill>
                            <a:srgbClr val="2A3441"/>
                          </a:solidFill>
                          <a:latin typeface="Consolas"/>
                        </a:rPr>
                        <a:t>Fwd Seg Size Min</a:t>
                      </a:r>
                    </a:p>
                  </a:txBody>
                  <a:tcPr marL="82296" marR="82296" marT="13716" marB="13716" anchor="ctr">
                    <a:solidFill>
                      <a:srgbClr val="F4F7FB"/>
                    </a:solidFill>
                  </a:tcPr>
                </a:tc>
                <a:tc>
                  <a:txBody>
                    <a:bodyPr wrap="square"/>
                    <a:lstStyle/>
                    <a:p>
                      <a:pPr algn="l"/>
                      <a:r>
                        <a:rPr sz="919" b="0">
                          <a:solidFill>
                            <a:srgbClr val="2A3441"/>
                          </a:solidFill>
                          <a:latin typeface="Consolas"/>
                        </a:rPr>
                        <a:t>40.0</a:t>
                      </a:r>
                    </a:p>
                  </a:txBody>
                  <a:tcPr marL="82296" marR="82296" marT="13716" marB="13716" anchor="ctr">
                    <a:solidFill>
                      <a:srgbClr val="F4F7FB"/>
                    </a:solidFill>
                  </a:tcPr>
                </a:tc>
                <a:tc>
                  <a:txBody>
                    <a:bodyPr wrap="square"/>
                    <a:lstStyle/>
                    <a:p>
                      <a:pPr algn="r"/>
                      <a:r>
                        <a:rPr sz="919" b="0">
                          <a:solidFill>
                            <a:srgbClr val="2A3441"/>
                          </a:solidFill>
                          <a:latin typeface="Consolas"/>
                        </a:rPr>
                        <a:t>+0.967</a:t>
                      </a:r>
                    </a:p>
                  </a:txBody>
                  <a:tcPr marL="82296" marR="82296" marT="13716" marB="13716" anchor="ctr">
                    <a:solidFill>
                      <a:srgbClr val="F4F7FB"/>
                    </a:solidFill>
                  </a:tcPr>
                </a:tc>
              </a:tr>
              <a:tr h="292608">
                <a:tc>
                  <a:txBody>
                    <a:bodyPr wrap="square"/>
                    <a:lstStyle/>
                    <a:p>
                      <a:pPr algn="l"/>
                      <a:r>
                        <a:rPr sz="919" b="0">
                          <a:solidFill>
                            <a:srgbClr val="2A3441"/>
                          </a:solidFill>
                          <a:latin typeface="Consolas"/>
                        </a:rPr>
                        <a:t>Flow IAT Min</a:t>
                      </a:r>
                    </a:p>
                  </a:txBody>
                  <a:tcPr marL="82296" marR="82296" marT="13716" marB="13716" anchor="ctr">
                    <a:solidFill>
                      <a:srgbClr val="FFFFFF"/>
                    </a:solidFill>
                  </a:tcPr>
                </a:tc>
                <a:tc>
                  <a:txBody>
                    <a:bodyPr wrap="square"/>
                    <a:lstStyle/>
                    <a:p>
                      <a:pPr algn="l"/>
                      <a:r>
                        <a:rPr sz="919" b="0">
                          <a:solidFill>
                            <a:srgbClr val="2A3441"/>
                          </a:solidFill>
                          <a:latin typeface="Consolas"/>
                        </a:rPr>
                        <a:t>3.0</a:t>
                      </a:r>
                    </a:p>
                  </a:txBody>
                  <a:tcPr marL="82296" marR="82296" marT="13716" marB="13716" anchor="ctr">
                    <a:solidFill>
                      <a:srgbClr val="FFFFFF"/>
                    </a:solidFill>
                  </a:tcPr>
                </a:tc>
                <a:tc>
                  <a:txBody>
                    <a:bodyPr wrap="square"/>
                    <a:lstStyle/>
                    <a:p>
                      <a:pPr algn="r"/>
                      <a:r>
                        <a:rPr sz="919" b="0">
                          <a:solidFill>
                            <a:srgbClr val="2A3441"/>
                          </a:solidFill>
                          <a:latin typeface="Consolas"/>
                        </a:rPr>
                        <a:t>+0.670</a:t>
                      </a:r>
                    </a:p>
                  </a:txBody>
                  <a:tcPr marL="82296" marR="82296" marT="13716" marB="13716" anchor="ctr">
                    <a:solidFill>
                      <a:srgbClr val="FFFFFF"/>
                    </a:solidFill>
                  </a:tcPr>
                </a:tc>
              </a:tr>
              <a:tr h="292608">
                <a:tc>
                  <a:txBody>
                    <a:bodyPr wrap="square"/>
                    <a:lstStyle/>
                    <a:p>
                      <a:pPr algn="l"/>
                      <a:r>
                        <a:rPr sz="919" b="0">
                          <a:solidFill>
                            <a:srgbClr val="2A3441"/>
                          </a:solidFill>
                          <a:latin typeface="Consolas"/>
                        </a:rPr>
                        <a:t>the explanation adds up</a:t>
                      </a:r>
                    </a:p>
                  </a:txBody>
                  <a:tcPr marL="82296" marR="82296" marT="13716" marB="13716" anchor="ctr">
                    <a:solidFill>
                      <a:srgbClr val="F4F7FB"/>
                    </a:solidFill>
                  </a:tcPr>
                </a:tc>
                <a:tc>
                  <a:txBody>
                    <a:bodyPr wrap="square"/>
                    <a:lstStyle/>
                    <a:p>
                      <a:pPr algn="l"/>
                      <a:r>
                        <a:rPr sz="919" b="0">
                          <a:solidFill>
                            <a:srgbClr val="2A3441"/>
                          </a:solidFill>
                          <a:latin typeface="Consolas"/>
                        </a:rPr>
                        <a:t>checked</a:t>
                      </a:r>
                    </a:p>
                  </a:txBody>
                  <a:tcPr marL="82296" marR="82296" marT="13716" marB="13716" anchor="ctr">
                    <a:solidFill>
                      <a:srgbClr val="F4F7FB"/>
                    </a:solidFill>
                  </a:tcPr>
                </a:tc>
                <a:tc>
                  <a:txBody>
                    <a:bodyPr wrap="square"/>
                    <a:lstStyle/>
                    <a:p>
                      <a:pPr algn="r"/>
                      <a:r>
                        <a:rPr sz="919" b="0">
                          <a:solidFill>
                            <a:srgbClr val="2A3441"/>
                          </a:solidFill>
                          <a:latin typeface="Consolas"/>
                        </a:rPr>
                        <a:t>5,000/5,000</a:t>
                      </a:r>
                    </a:p>
                  </a:txBody>
                  <a:tcPr marL="82296" marR="82296" marT="13716" marB="13716" anchor="ctr">
                    <a:solidFill>
                      <a:srgbClr val="F4F7FB"/>
                    </a:solidFill>
                  </a:tcPr>
                </a:tc>
              </a:tr>
            </a:tbl>
          </a:graphicData>
        </a:graphic>
      </p:graphicFrame>
      <p:sp>
        <p:nvSpPr>
          <p:cNvPr id="17" name="Rectangle 16"/>
          <p:cNvSpPr/>
          <p:nvPr/>
        </p:nvSpPr>
        <p:spPr>
          <a:xfrm>
            <a:off x="6242151" y="3584448"/>
            <a:ext cx="5382615" cy="5120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8455" y="3675887"/>
            <a:ext cx="5071719" cy="384048"/>
          </a:xfrm>
          <a:prstGeom prst="rect">
            <a:avLst/>
          </a:prstGeom>
          <a:noFill/>
        </p:spPr>
        <p:txBody>
          <a:bodyPr wrap="square" anchor="t" lIns="0" rIns="0" tIns="0" bIns="0">
            <a:spAutoFit/>
          </a:bodyPr>
          <a:lstStyle/>
          <a:p>
            <a:pPr algn="l">
              <a:spcBef>
                <a:spcPts val="0"/>
              </a:spcBef>
              <a:spcAft>
                <a:spcPts val="0"/>
              </a:spcAft>
            </a:pPr>
            <a:r>
              <a:rPr sz="960" b="1">
                <a:solidFill>
                  <a:srgbClr val="0F2A47"/>
                </a:solidFill>
                <a:latin typeface="Segoe UI"/>
              </a:rPr>
              <a:t>Brute Force</a:t>
            </a:r>
            <a:r>
              <a:rPr sz="960" b="0">
                <a:solidFill>
                  <a:srgbClr val="2A3441"/>
                </a:solidFill>
                <a:latin typeface="Consolas"/>
              </a:rPr>
              <a:t>   99.999921% sure   →   </a:t>
            </a:r>
            <a:r>
              <a:rPr sz="960" b="1">
                <a:solidFill>
                  <a:srgbClr val="1F6FEB"/>
                </a:solidFill>
                <a:latin typeface="Consolas"/>
              </a:rPr>
              <a:t>not-normal score = 1.000</a:t>
            </a:r>
          </a:p>
        </p:txBody>
      </p:sp>
      <p:sp>
        <p:nvSpPr>
          <p:cNvPr id="19" name="Rectangle 18"/>
          <p:cNvSpPr/>
          <p:nvPr/>
        </p:nvSpPr>
        <p:spPr>
          <a:xfrm>
            <a:off x="566928" y="4261104"/>
            <a:ext cx="3539642"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8" y="4261104"/>
            <a:ext cx="50292" cy="120700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9808" y="4370832"/>
            <a:ext cx="3228746" cy="100584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The claim a human can audit</a:t>
            </a:r>
          </a:p>
          <a:p>
            <a:pPr algn="l">
              <a:lnSpc>
                <a:spcPct val="120000"/>
              </a:lnSpc>
              <a:spcBef>
                <a:spcPts val="0"/>
              </a:spcBef>
              <a:spcAft>
                <a:spcPts val="0"/>
              </a:spcAft>
            </a:pPr>
            <a:r>
              <a:rPr sz="919" b="0" i="0">
                <a:solidFill>
                  <a:srgbClr val="2A3441"/>
                </a:solidFill>
                <a:latin typeface="Segoe UI"/>
              </a:rPr>
              <a:t>“TCP, port 21, at least one forward packet” can be checked against the flow record in seconds. That is what the signature layer is for — not coverage.</a:t>
            </a:r>
          </a:p>
        </p:txBody>
      </p:sp>
      <p:sp>
        <p:nvSpPr>
          <p:cNvPr id="22" name="Rectangle 21"/>
          <p:cNvSpPr/>
          <p:nvPr/>
        </p:nvSpPr>
        <p:spPr>
          <a:xfrm>
            <a:off x="4326026" y="4261104"/>
            <a:ext cx="3539642"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26026" y="4261104"/>
            <a:ext cx="50292" cy="120700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08906" y="4370832"/>
            <a:ext cx="3228746" cy="100584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The claim a human cannot audit</a:t>
            </a:r>
          </a:p>
          <a:p>
            <a:pPr algn="l">
              <a:lnSpc>
                <a:spcPct val="120000"/>
              </a:lnSpc>
              <a:spcBef>
                <a:spcPts val="0"/>
              </a:spcBef>
              <a:spcAft>
                <a:spcPts val="0"/>
              </a:spcAft>
            </a:pPr>
            <a:r>
              <a:rPr sz="919" b="0" i="0">
                <a:solidFill>
                  <a:srgbClr val="2A3441"/>
                </a:solidFill>
                <a:latin typeface="Segoe UI"/>
              </a:rPr>
              <a:t>“Destination port contributed +6.416” explains the model, not the traffic. And note it reads the port — which is why the port-shortcut hypothesis had to be tested rather than dismissed; see “is the model’s accuracy real?”.</a:t>
            </a:r>
          </a:p>
        </p:txBody>
      </p:sp>
      <p:sp>
        <p:nvSpPr>
          <p:cNvPr id="25" name="Rectangle 24"/>
          <p:cNvSpPr/>
          <p:nvPr/>
        </p:nvSpPr>
        <p:spPr>
          <a:xfrm>
            <a:off x="8085124" y="4261104"/>
            <a:ext cx="3539642"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085124" y="4261104"/>
            <a:ext cx="50292" cy="12070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68004" y="4370832"/>
            <a:ext cx="3228746" cy="100584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Why we score “how sure it is this is not normal”</a:t>
            </a:r>
          </a:p>
          <a:p>
            <a:pPr algn="l">
              <a:lnSpc>
                <a:spcPct val="120000"/>
              </a:lnSpc>
              <a:spcBef>
                <a:spcPts val="0"/>
              </a:spcBef>
              <a:spcAft>
                <a:spcPts val="0"/>
              </a:spcAft>
            </a:pPr>
            <a:r>
              <a:rPr sz="919" b="0" i="0">
                <a:solidFill>
                  <a:srgbClr val="2A3441"/>
                </a:solidFill>
                <a:latin typeface="Segoe UI"/>
              </a:rPr>
              <a:t>Rather than how sure it is of one attack name. Split confidence is still an attack: 50% denial-of-service plus 45% distributed denial-of-service is 95% malicious, not 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3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are the two answers combined?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Every flow takes exactly one of four paths. No weighted sum: scores from different evidence are not commensurable.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25</a:t>
            </a:r>
          </a:p>
        </p:txBody>
      </p:sp>
      <p:sp>
        <p:nvSpPr>
          <p:cNvPr id="9" name="Rectangle 8"/>
          <p:cNvSpPr/>
          <p:nvPr/>
        </p:nvSpPr>
        <p:spPr>
          <a:xfrm>
            <a:off x="658368" y="3090672"/>
            <a:ext cx="2011680" cy="603504"/>
          </a:xfrm>
          <a:prstGeom prst="rect">
            <a:avLst/>
          </a:prstGeom>
          <a:solidFill>
            <a:srgbClr val="0F2A47"/>
          </a:solidFill>
          <a:ln w="9525">
            <a:solidFill>
              <a:srgbClr val="0F2A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3182112"/>
            <a:ext cx="1847088" cy="438912"/>
          </a:xfrm>
          <a:prstGeom prst="rect">
            <a:avLst/>
          </a:prstGeom>
          <a:noFill/>
        </p:spPr>
        <p:txBody>
          <a:bodyPr wrap="square" anchor="ctr" lIns="0" rIns="0" tIns="0" bIns="0">
            <a:spAutoFit/>
          </a:bodyPr>
          <a:lstStyle/>
          <a:p>
            <a:pPr algn="ctr">
              <a:lnSpc>
                <a:spcPct val="105000"/>
              </a:lnSpc>
              <a:spcBef>
                <a:spcPts val="0"/>
              </a:spcBef>
              <a:spcAft>
                <a:spcPts val="0"/>
              </a:spcAft>
            </a:pPr>
            <a:r>
              <a:rPr sz="1019" b="1" i="0">
                <a:solidFill>
                  <a:srgbClr val="FFFFFF"/>
                </a:solidFill>
                <a:latin typeface="Segoe UI"/>
              </a:rPr>
              <a:t>A rule matched?</a:t>
            </a:r>
          </a:p>
        </p:txBody>
      </p:sp>
      <p:sp>
        <p:nvSpPr>
          <p:cNvPr id="11" name="Rectangle 10"/>
          <p:cNvSpPr/>
          <p:nvPr/>
        </p:nvSpPr>
        <p:spPr>
          <a:xfrm>
            <a:off x="2962656" y="2157984"/>
            <a:ext cx="2331720" cy="56692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044952" y="2249424"/>
            <a:ext cx="2167127" cy="402336"/>
          </a:xfrm>
          <a:prstGeom prst="rect">
            <a:avLst/>
          </a:prstGeom>
          <a:noFill/>
        </p:spPr>
        <p:txBody>
          <a:bodyPr wrap="square" anchor="ctr" lIns="0" rIns="0" tIns="0" bIns="0">
            <a:spAutoFit/>
          </a:bodyPr>
          <a:lstStyle/>
          <a:p>
            <a:pPr algn="ctr">
              <a:lnSpc>
                <a:spcPct val="105000"/>
              </a:lnSpc>
              <a:spcBef>
                <a:spcPts val="0"/>
              </a:spcBef>
              <a:spcAft>
                <a:spcPts val="0"/>
              </a:spcAft>
            </a:pPr>
            <a:r>
              <a:rPr sz="960" b="1" i="0">
                <a:solidFill>
                  <a:srgbClr val="0F2A47"/>
                </a:solidFill>
                <a:latin typeface="Segoe UI"/>
              </a:rPr>
              <a:t>Model agrees on the class?</a:t>
            </a:r>
          </a:p>
        </p:txBody>
      </p:sp>
      <p:sp>
        <p:nvSpPr>
          <p:cNvPr id="13" name="Rectangle 12"/>
          <p:cNvSpPr/>
          <p:nvPr/>
        </p:nvSpPr>
        <p:spPr>
          <a:xfrm>
            <a:off x="2962656" y="4078224"/>
            <a:ext cx="2331720" cy="56692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44952" y="4169663"/>
            <a:ext cx="2167127" cy="402336"/>
          </a:xfrm>
          <a:prstGeom prst="rect">
            <a:avLst/>
          </a:prstGeom>
          <a:noFill/>
        </p:spPr>
        <p:txBody>
          <a:bodyPr wrap="square" anchor="ctr" lIns="0" rIns="0" tIns="0" bIns="0">
            <a:spAutoFit/>
          </a:bodyPr>
          <a:lstStyle/>
          <a:p>
            <a:pPr algn="ctr">
              <a:lnSpc>
                <a:spcPct val="105000"/>
              </a:lnSpc>
              <a:spcBef>
                <a:spcPts val="0"/>
              </a:spcBef>
              <a:spcAft>
                <a:spcPts val="0"/>
              </a:spcAft>
            </a:pPr>
            <a:r>
              <a:rPr sz="960" b="1" i="0">
                <a:solidFill>
                  <a:srgbClr val="0F2A47"/>
                </a:solidFill>
                <a:latin typeface="Segoe UI"/>
              </a:rPr>
              <a:t>Model flags an attack?</a:t>
            </a:r>
          </a:p>
        </p:txBody>
      </p:sp>
      <p:sp>
        <p:nvSpPr>
          <p:cNvPr id="15" name="Rectangle 14"/>
          <p:cNvSpPr/>
          <p:nvPr/>
        </p:nvSpPr>
        <p:spPr>
          <a:xfrm>
            <a:off x="2670048" y="3386023"/>
            <a:ext cx="146304"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809951" y="2441448"/>
            <a:ext cx="12801" cy="950976"/>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816352" y="2435047"/>
            <a:ext cx="146304"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505456" y="2816352"/>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yes</a:t>
            </a:r>
          </a:p>
        </p:txBody>
      </p:sp>
      <p:sp>
        <p:nvSpPr>
          <p:cNvPr id="19" name="Rectangle 18"/>
          <p:cNvSpPr/>
          <p:nvPr/>
        </p:nvSpPr>
        <p:spPr>
          <a:xfrm>
            <a:off x="2670048" y="3386023"/>
            <a:ext cx="146304"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809951" y="3392424"/>
            <a:ext cx="12801" cy="969263"/>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816352" y="4355287"/>
            <a:ext cx="146304"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505456" y="3776472"/>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no</a:t>
            </a:r>
          </a:p>
        </p:txBody>
      </p:sp>
      <p:sp>
        <p:nvSpPr>
          <p:cNvPr id="23" name="Rectangle 22"/>
          <p:cNvSpPr/>
          <p:nvPr/>
        </p:nvSpPr>
        <p:spPr>
          <a:xfrm>
            <a:off x="5779008" y="1627632"/>
            <a:ext cx="3749039" cy="7863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779008" y="1627632"/>
            <a:ext cx="3749039" cy="411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61304" y="1746504"/>
            <a:ext cx="3584447" cy="621792"/>
          </a:xfrm>
          <a:prstGeom prst="rect">
            <a:avLst/>
          </a:prstGeom>
          <a:noFill/>
        </p:spPr>
        <p:txBody>
          <a:bodyPr wrap="square" anchor="t" lIns="0" rIns="0" tIns="0" bIns="0">
            <a:spAutoFit/>
          </a:bodyPr>
          <a:lstStyle/>
          <a:p>
            <a:pPr algn="ctr">
              <a:lnSpc>
                <a:spcPct val="105000"/>
              </a:lnSpc>
              <a:spcBef>
                <a:spcPts val="0"/>
              </a:spcBef>
              <a:spcAft>
                <a:spcPts val="100"/>
              </a:spcAft>
            </a:pPr>
            <a:r>
              <a:rPr sz="1040" b="1" i="0">
                <a:solidFill>
                  <a:srgbClr val="0F2A47"/>
                </a:solidFill>
                <a:latin typeface="Segoe UI"/>
              </a:rPr>
              <a:t>Rule and model agree</a:t>
            </a:r>
          </a:p>
          <a:p>
            <a:pPr algn="ctr">
              <a:lnSpc>
                <a:spcPct val="110000"/>
              </a:lnSpc>
              <a:spcBef>
                <a:spcPts val="0"/>
              </a:spcBef>
              <a:spcAft>
                <a:spcPts val="0"/>
              </a:spcAft>
            </a:pPr>
            <a:r>
              <a:rPr sz="840" b="0" i="0">
                <a:solidFill>
                  <a:srgbClr val="6B7684"/>
                </a:solidFill>
                <a:latin typeface="Consolas"/>
              </a:rPr>
              <a:t>corroborated · 200 flows
min(100, max(sig, ml) × 100 + 5)</a:t>
            </a:r>
          </a:p>
        </p:txBody>
      </p:sp>
      <p:sp>
        <p:nvSpPr>
          <p:cNvPr id="26" name="Rectangle 25"/>
          <p:cNvSpPr/>
          <p:nvPr/>
        </p:nvSpPr>
        <p:spPr>
          <a:xfrm>
            <a:off x="5779008" y="2596896"/>
            <a:ext cx="3749039" cy="7863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779008" y="2596896"/>
            <a:ext cx="3749039" cy="4114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861304" y="2715768"/>
            <a:ext cx="3584447" cy="621792"/>
          </a:xfrm>
          <a:prstGeom prst="rect">
            <a:avLst/>
          </a:prstGeom>
          <a:noFill/>
        </p:spPr>
        <p:txBody>
          <a:bodyPr wrap="square" anchor="t" lIns="0" rIns="0" tIns="0" bIns="0">
            <a:spAutoFit/>
          </a:bodyPr>
          <a:lstStyle/>
          <a:p>
            <a:pPr algn="ctr">
              <a:lnSpc>
                <a:spcPct val="105000"/>
              </a:lnSpc>
              <a:spcBef>
                <a:spcPts val="0"/>
              </a:spcBef>
              <a:spcAft>
                <a:spcPts val="100"/>
              </a:spcAft>
            </a:pPr>
            <a:r>
              <a:rPr sz="1040" b="1" i="0">
                <a:solidFill>
                  <a:srgbClr val="0F2A47"/>
                </a:solidFill>
                <a:latin typeface="Segoe UI"/>
              </a:rPr>
              <a:t>Rule fired, model disagrees</a:t>
            </a:r>
          </a:p>
          <a:p>
            <a:pPr algn="ctr">
              <a:lnSpc>
                <a:spcPct val="110000"/>
              </a:lnSpc>
              <a:spcBef>
                <a:spcPts val="0"/>
              </a:spcBef>
              <a:spcAft>
                <a:spcPts val="0"/>
              </a:spcAft>
            </a:pPr>
            <a:r>
              <a:rPr sz="840" b="0" i="0">
                <a:solidFill>
                  <a:srgbClr val="6B7684"/>
                </a:solidFill>
                <a:latin typeface="Consolas"/>
              </a:rPr>
              <a:t>signature_override · 0 flows
sig × 100  ·  always reviewed</a:t>
            </a:r>
          </a:p>
        </p:txBody>
      </p:sp>
      <p:sp>
        <p:nvSpPr>
          <p:cNvPr id="29" name="Rectangle 28"/>
          <p:cNvSpPr/>
          <p:nvPr/>
        </p:nvSpPr>
        <p:spPr>
          <a:xfrm>
            <a:off x="5779008" y="3749039"/>
            <a:ext cx="3749039" cy="7863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779008" y="3749039"/>
            <a:ext cx="3749039"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61304" y="3867911"/>
            <a:ext cx="3584447" cy="621792"/>
          </a:xfrm>
          <a:prstGeom prst="rect">
            <a:avLst/>
          </a:prstGeom>
          <a:noFill/>
        </p:spPr>
        <p:txBody>
          <a:bodyPr wrap="square" anchor="t" lIns="0" rIns="0" tIns="0" bIns="0">
            <a:spAutoFit/>
          </a:bodyPr>
          <a:lstStyle/>
          <a:p>
            <a:pPr algn="ctr">
              <a:lnSpc>
                <a:spcPct val="105000"/>
              </a:lnSpc>
              <a:spcBef>
                <a:spcPts val="0"/>
              </a:spcBef>
              <a:spcAft>
                <a:spcPts val="100"/>
              </a:spcAft>
            </a:pPr>
            <a:r>
              <a:rPr sz="1040" b="1" i="0">
                <a:solidFill>
                  <a:srgbClr val="0F2A47"/>
                </a:solidFill>
                <a:latin typeface="Segoe UI"/>
              </a:rPr>
              <a:t>Model only, no rule</a:t>
            </a:r>
          </a:p>
          <a:p>
            <a:pPr algn="ctr">
              <a:lnSpc>
                <a:spcPct val="110000"/>
              </a:lnSpc>
              <a:spcBef>
                <a:spcPts val="0"/>
              </a:spcBef>
              <a:spcAft>
                <a:spcPts val="0"/>
              </a:spcAft>
            </a:pPr>
            <a:r>
              <a:rPr sz="840" b="0" i="0">
                <a:solidFill>
                  <a:srgbClr val="6B7684"/>
                </a:solidFill>
                <a:latin typeface="Consolas"/>
              </a:rPr>
              <a:t>ml_only · 796 flows
ml × 100</a:t>
            </a:r>
          </a:p>
        </p:txBody>
      </p:sp>
      <p:sp>
        <p:nvSpPr>
          <p:cNvPr id="32" name="Rectangle 31"/>
          <p:cNvSpPr/>
          <p:nvPr/>
        </p:nvSpPr>
        <p:spPr>
          <a:xfrm>
            <a:off x="5779008" y="4718304"/>
            <a:ext cx="3749039" cy="7863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779008" y="4718304"/>
            <a:ext cx="3749039" cy="41148"/>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861304" y="4837176"/>
            <a:ext cx="3584447" cy="621792"/>
          </a:xfrm>
          <a:prstGeom prst="rect">
            <a:avLst/>
          </a:prstGeom>
          <a:noFill/>
        </p:spPr>
        <p:txBody>
          <a:bodyPr wrap="square" anchor="t" lIns="0" rIns="0" tIns="0" bIns="0">
            <a:spAutoFit/>
          </a:bodyPr>
          <a:lstStyle/>
          <a:p>
            <a:pPr algn="ctr">
              <a:lnSpc>
                <a:spcPct val="105000"/>
              </a:lnSpc>
              <a:spcBef>
                <a:spcPts val="0"/>
              </a:spcBef>
              <a:spcAft>
                <a:spcPts val="100"/>
              </a:spcAft>
            </a:pPr>
            <a:r>
              <a:rPr sz="1040" b="1" i="0">
                <a:solidFill>
                  <a:srgbClr val="0F2A47"/>
                </a:solidFill>
                <a:latin typeface="Segoe UI"/>
              </a:rPr>
              <a:t>Nothing flagged it</a:t>
            </a:r>
          </a:p>
          <a:p>
            <a:pPr algn="ctr">
              <a:lnSpc>
                <a:spcPct val="110000"/>
              </a:lnSpc>
              <a:spcBef>
                <a:spcPts val="0"/>
              </a:spcBef>
              <a:spcAft>
                <a:spcPts val="0"/>
              </a:spcAft>
            </a:pPr>
            <a:r>
              <a:rPr sz="840" b="0" i="0">
                <a:solidFill>
                  <a:srgbClr val="6B7684"/>
                </a:solidFill>
                <a:latin typeface="Consolas"/>
              </a:rPr>
              <a:t>none · 4,004 flows
ml × 100  ·  bottom of the queue</a:t>
            </a:r>
          </a:p>
        </p:txBody>
      </p:sp>
      <p:sp>
        <p:nvSpPr>
          <p:cNvPr id="35" name="Rectangle 34"/>
          <p:cNvSpPr/>
          <p:nvPr/>
        </p:nvSpPr>
        <p:spPr>
          <a:xfrm>
            <a:off x="5294376" y="2435047"/>
            <a:ext cx="242315"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5530291" y="2020824"/>
            <a:ext cx="12801" cy="420623"/>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536692" y="2014423"/>
            <a:ext cx="242316"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5225796" y="2130552"/>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yes</a:t>
            </a:r>
          </a:p>
        </p:txBody>
      </p:sp>
      <p:sp>
        <p:nvSpPr>
          <p:cNvPr id="39" name="Rectangle 38"/>
          <p:cNvSpPr/>
          <p:nvPr/>
        </p:nvSpPr>
        <p:spPr>
          <a:xfrm>
            <a:off x="5294376" y="2435047"/>
            <a:ext cx="242315"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5530291" y="2441448"/>
            <a:ext cx="12801" cy="548640"/>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536692" y="2983687"/>
            <a:ext cx="242316"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225796" y="2615184"/>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no</a:t>
            </a:r>
          </a:p>
        </p:txBody>
      </p:sp>
      <p:sp>
        <p:nvSpPr>
          <p:cNvPr id="43" name="Rectangle 42"/>
          <p:cNvSpPr/>
          <p:nvPr/>
        </p:nvSpPr>
        <p:spPr>
          <a:xfrm>
            <a:off x="5294376" y="4355287"/>
            <a:ext cx="242315"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530291" y="4142232"/>
            <a:ext cx="12801" cy="219455"/>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5536692" y="4135831"/>
            <a:ext cx="242316"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225796" y="4151376"/>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yes</a:t>
            </a:r>
          </a:p>
        </p:txBody>
      </p:sp>
      <p:sp>
        <p:nvSpPr>
          <p:cNvPr id="47" name="Rectangle 46"/>
          <p:cNvSpPr/>
          <p:nvPr/>
        </p:nvSpPr>
        <p:spPr>
          <a:xfrm>
            <a:off x="5294376" y="4355287"/>
            <a:ext cx="242315"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530291" y="4361688"/>
            <a:ext cx="12801" cy="74980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536692" y="5105095"/>
            <a:ext cx="242316"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5225796" y="4636007"/>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no</a:t>
            </a:r>
          </a:p>
        </p:txBody>
      </p:sp>
      <p:sp>
        <p:nvSpPr>
          <p:cNvPr id="51" name="Rectangle 50"/>
          <p:cNvSpPr/>
          <p:nvPr/>
        </p:nvSpPr>
        <p:spPr>
          <a:xfrm>
            <a:off x="566928" y="5669280"/>
            <a:ext cx="11057839" cy="74980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68096" y="5760720"/>
            <a:ext cx="10655503" cy="585216"/>
          </a:xfrm>
          <a:prstGeom prst="rect">
            <a:avLst/>
          </a:prstGeom>
          <a:noFill/>
        </p:spPr>
        <p:txBody>
          <a:bodyPr wrap="square" anchor="t" lIns="0" rIns="0" tIns="0" bIns="0">
            <a:spAutoFit/>
          </a:bodyPr>
          <a:lstStyle/>
          <a:p>
            <a:pPr algn="l">
              <a:spcBef>
                <a:spcPts val="0"/>
              </a:spcBef>
              <a:spcAft>
                <a:spcPts val="200"/>
              </a:spcAft>
            </a:pPr>
            <a:r>
              <a:rPr sz="1019" b="0">
                <a:solidFill>
                  <a:srgbClr val="0F2A47"/>
                </a:solidFill>
                <a:latin typeface="Segoe UI"/>
              </a:rPr>
              <a:t>AL-01958 takes the top path:  </a:t>
            </a:r>
            <a:r>
              <a:rPr sz="1019" b="1">
                <a:solidFill>
                  <a:srgbClr val="0F2A47"/>
                </a:solidFill>
                <a:latin typeface="Consolas"/>
              </a:rPr>
              <a:t>min(100, max(0.60, 1.000) × 100 + 5) = 100.0</a:t>
            </a:r>
            <a:r>
              <a:rPr sz="1019" b="0">
                <a:solidFill>
                  <a:srgbClr val="0F2A47"/>
                </a:solidFill>
                <a:latin typeface="Segoe UI"/>
              </a:rPr>
              <a:t>  — clamped by the min, and corroborated because a precision-1.000 rule and the model name the same class.</a:t>
            </a:r>
          </a:p>
          <a:p>
            <a:pPr algn="l">
              <a:spcBef>
                <a:spcPts val="0"/>
              </a:spcBef>
              <a:spcAft>
                <a:spcPts val="0"/>
              </a:spcAft>
            </a:pPr>
            <a:r>
              <a:rPr sz="880" b="0" i="0">
                <a:solidFill>
                  <a:srgbClr val="6B7684"/>
                </a:solidFill>
                <a:latin typeface="Segoe UI"/>
              </a:rPr>
              <a:t>The second case never happens on this data — 0 flows — so the rule we never break for it (a disputed rule is frozen and sent to the administrator, not re-scored) is proven by unit tests.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4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does a score become a severity and a flag?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One threshold sets three things at once — then the attack class caps the label. This is where a 99.89 alert becomes “High”.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26</a:t>
            </a:r>
          </a:p>
        </p:txBody>
      </p:sp>
      <p:sp>
        <p:nvSpPr>
          <p:cNvPr id="9" name="Rectangle 8"/>
          <p:cNvSpPr/>
          <p:nvPr/>
        </p:nvSpPr>
        <p:spPr>
          <a:xfrm>
            <a:off x="658368" y="2194560"/>
            <a:ext cx="2148840" cy="566928"/>
          </a:xfrm>
          <a:prstGeom prst="rect">
            <a:avLst/>
          </a:prstGeom>
          <a:solidFill>
            <a:srgbClr val="0F2A47"/>
          </a:solidFill>
          <a:ln w="9525">
            <a:solidFill>
              <a:srgbClr val="0F2A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0664" y="2313432"/>
            <a:ext cx="1984248" cy="402336"/>
          </a:xfrm>
          <a:prstGeom prst="rect">
            <a:avLst/>
          </a:prstGeom>
          <a:noFill/>
        </p:spPr>
        <p:txBody>
          <a:bodyPr wrap="square" anchor="t" lIns="0" rIns="0" tIns="0" bIns="0">
            <a:spAutoFit/>
          </a:bodyPr>
          <a:lstStyle/>
          <a:p>
            <a:pPr algn="ctr">
              <a:lnSpc>
                <a:spcPct val="105000"/>
              </a:lnSpc>
              <a:spcBef>
                <a:spcPts val="0"/>
              </a:spcBef>
              <a:spcAft>
                <a:spcPts val="100"/>
              </a:spcAft>
            </a:pPr>
            <a:r>
              <a:rPr sz="1019" b="1" i="0">
                <a:solidFill>
                  <a:srgbClr val="FFFFFF"/>
                </a:solidFill>
                <a:latin typeface="Segoe UI"/>
              </a:rPr>
              <a:t>combined_score</a:t>
            </a:r>
          </a:p>
          <a:p>
            <a:pPr algn="ctr">
              <a:lnSpc>
                <a:spcPct val="110000"/>
              </a:lnSpc>
              <a:spcBef>
                <a:spcPts val="0"/>
              </a:spcBef>
              <a:spcAft>
                <a:spcPts val="0"/>
              </a:spcAft>
            </a:pPr>
            <a:r>
              <a:rPr sz="840" b="0" i="0">
                <a:solidFill>
                  <a:srgbClr val="9FC3F0"/>
                </a:solidFill>
                <a:latin typeface="Consolas"/>
              </a:rPr>
              <a:t>0 – 100</a:t>
            </a:r>
          </a:p>
        </p:txBody>
      </p:sp>
      <p:sp>
        <p:nvSpPr>
          <p:cNvPr id="11" name="Rectangle 10"/>
          <p:cNvSpPr/>
          <p:nvPr/>
        </p:nvSpPr>
        <p:spPr>
          <a:xfrm>
            <a:off x="3264408" y="2194560"/>
            <a:ext cx="2240280" cy="56692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46704" y="2286000"/>
            <a:ext cx="2075688" cy="402336"/>
          </a:xfrm>
          <a:prstGeom prst="rect">
            <a:avLst/>
          </a:prstGeom>
          <a:noFill/>
        </p:spPr>
        <p:txBody>
          <a:bodyPr wrap="square" anchor="ctr" lIns="0" rIns="0" tIns="0" bIns="0">
            <a:spAutoFit/>
          </a:bodyPr>
          <a:lstStyle/>
          <a:p>
            <a:pPr algn="ctr">
              <a:lnSpc>
                <a:spcPct val="105000"/>
              </a:lnSpc>
              <a:spcBef>
                <a:spcPts val="0"/>
              </a:spcBef>
              <a:spcAft>
                <a:spcPts val="0"/>
              </a:spcAft>
            </a:pPr>
            <a:r>
              <a:rPr sz="1019" b="1" i="0">
                <a:solidFill>
                  <a:srgbClr val="0F2A47"/>
                </a:solidFill>
                <a:latin typeface="Segoe UI"/>
              </a:rPr>
              <a:t>score ≥ 80 ?</a:t>
            </a:r>
          </a:p>
        </p:txBody>
      </p:sp>
      <p:sp>
        <p:nvSpPr>
          <p:cNvPr id="13" name="Rectangle 12"/>
          <p:cNvSpPr/>
          <p:nvPr/>
        </p:nvSpPr>
        <p:spPr>
          <a:xfrm>
            <a:off x="2807208" y="2471623"/>
            <a:ext cx="22860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029407" y="2478024"/>
            <a:ext cx="12801" cy="0"/>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035808" y="2471623"/>
            <a:ext cx="22860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961888" y="1719072"/>
            <a:ext cx="2697480" cy="5669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61888" y="1719072"/>
            <a:ext cx="2697480" cy="411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044184" y="1837943"/>
            <a:ext cx="2532888" cy="402336"/>
          </a:xfrm>
          <a:prstGeom prst="rect">
            <a:avLst/>
          </a:prstGeom>
          <a:noFill/>
        </p:spPr>
        <p:txBody>
          <a:bodyPr wrap="square" anchor="t" lIns="0" rIns="0" tIns="0" bIns="0">
            <a:spAutoFit/>
          </a:bodyPr>
          <a:lstStyle/>
          <a:p>
            <a:pPr algn="ctr">
              <a:lnSpc>
                <a:spcPct val="105000"/>
              </a:lnSpc>
              <a:spcBef>
                <a:spcPts val="0"/>
              </a:spcBef>
              <a:spcAft>
                <a:spcPts val="100"/>
              </a:spcAft>
            </a:pPr>
            <a:r>
              <a:rPr sz="1000" b="1" i="0">
                <a:solidFill>
                  <a:srgbClr val="0F2A47"/>
                </a:solidFill>
                <a:latin typeface="Segoe UI"/>
              </a:rPr>
              <a:t>Treated as critical</a:t>
            </a:r>
          </a:p>
          <a:p>
            <a:pPr algn="ctr">
              <a:lnSpc>
                <a:spcPct val="110000"/>
              </a:lnSpc>
              <a:spcBef>
                <a:spcPts val="0"/>
              </a:spcBef>
              <a:spcAft>
                <a:spcPts val="0"/>
              </a:spcAft>
            </a:pPr>
            <a:r>
              <a:rPr sz="819" b="0" i="0">
                <a:solidFill>
                  <a:srgbClr val="6B7684"/>
                </a:solidFill>
                <a:latin typeface="Segoe UI"/>
              </a:rPr>
              <a:t>must be reviewed · floor 70 applies</a:t>
            </a:r>
          </a:p>
        </p:txBody>
      </p:sp>
      <p:sp>
        <p:nvSpPr>
          <p:cNvPr id="19" name="Rectangle 18"/>
          <p:cNvSpPr/>
          <p:nvPr/>
        </p:nvSpPr>
        <p:spPr>
          <a:xfrm>
            <a:off x="5961888" y="2798064"/>
            <a:ext cx="2697480" cy="5669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961888" y="2798064"/>
            <a:ext cx="2697480" cy="41148"/>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044184" y="2916936"/>
            <a:ext cx="2532888" cy="402336"/>
          </a:xfrm>
          <a:prstGeom prst="rect">
            <a:avLst/>
          </a:prstGeom>
          <a:noFill/>
        </p:spPr>
        <p:txBody>
          <a:bodyPr wrap="square" anchor="t" lIns="0" rIns="0" tIns="0" bIns="0">
            <a:spAutoFit/>
          </a:bodyPr>
          <a:lstStyle/>
          <a:p>
            <a:pPr algn="ctr">
              <a:lnSpc>
                <a:spcPct val="105000"/>
              </a:lnSpc>
              <a:spcBef>
                <a:spcPts val="0"/>
              </a:spcBef>
              <a:spcAft>
                <a:spcPts val="100"/>
              </a:spcAft>
            </a:pPr>
            <a:r>
              <a:rPr sz="1000" b="1" i="0">
                <a:solidFill>
                  <a:srgbClr val="0F2A47"/>
                </a:solidFill>
                <a:latin typeface="Segoe UI"/>
              </a:rPr>
              <a:t>Not treated as critical</a:t>
            </a:r>
          </a:p>
          <a:p>
            <a:pPr algn="ctr">
              <a:lnSpc>
                <a:spcPct val="110000"/>
              </a:lnSpc>
              <a:spcBef>
                <a:spcPts val="0"/>
              </a:spcBef>
              <a:spcAft>
                <a:spcPts val="0"/>
              </a:spcAft>
            </a:pPr>
            <a:r>
              <a:rPr sz="819" b="0" i="0">
                <a:solidFill>
                  <a:srgbClr val="6B7684"/>
                </a:solidFill>
                <a:latin typeface="Segoe UI"/>
              </a:rPr>
              <a:t>reviewed only if a rule disputes it</a:t>
            </a:r>
          </a:p>
        </p:txBody>
      </p:sp>
      <p:sp>
        <p:nvSpPr>
          <p:cNvPr id="22" name="Rectangle 21"/>
          <p:cNvSpPr/>
          <p:nvPr/>
        </p:nvSpPr>
        <p:spPr>
          <a:xfrm>
            <a:off x="5504688" y="2471623"/>
            <a:ext cx="22860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726887" y="2002536"/>
            <a:ext cx="12801" cy="47548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733288" y="1996135"/>
            <a:ext cx="22860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422392" y="2139696"/>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yes</a:t>
            </a:r>
          </a:p>
        </p:txBody>
      </p:sp>
      <p:sp>
        <p:nvSpPr>
          <p:cNvPr id="26" name="Rectangle 25"/>
          <p:cNvSpPr/>
          <p:nvPr/>
        </p:nvSpPr>
        <p:spPr>
          <a:xfrm>
            <a:off x="5504688" y="2471623"/>
            <a:ext cx="22860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726887" y="2478024"/>
            <a:ext cx="12801" cy="603504"/>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733288" y="3075127"/>
            <a:ext cx="22860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422392" y="2679192"/>
            <a:ext cx="621792" cy="201168"/>
          </a:xfrm>
          <a:prstGeom prst="rect">
            <a:avLst/>
          </a:prstGeom>
          <a:noFill/>
        </p:spPr>
        <p:txBody>
          <a:bodyPr wrap="square" anchor="t" lIns="0" rIns="0" tIns="0" bIns="0">
            <a:spAutoFit/>
          </a:bodyPr>
          <a:lstStyle/>
          <a:p>
            <a:pPr algn="ctr">
              <a:spcBef>
                <a:spcPts val="0"/>
              </a:spcBef>
              <a:spcAft>
                <a:spcPts val="0"/>
              </a:spcAft>
            </a:pPr>
            <a:r>
              <a:rPr sz="760" b="1" i="0">
                <a:solidFill>
                  <a:srgbClr val="6B7684"/>
                </a:solidFill>
                <a:latin typeface="Segoe UI"/>
              </a:rPr>
              <a:t>no</a:t>
            </a:r>
          </a:p>
        </p:txBody>
      </p:sp>
      <p:sp>
        <p:nvSpPr>
          <p:cNvPr id="30" name="Rectangle 29"/>
          <p:cNvSpPr/>
          <p:nvPr/>
        </p:nvSpPr>
        <p:spPr>
          <a:xfrm>
            <a:off x="9070848" y="2194560"/>
            <a:ext cx="2423160" cy="5669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070848" y="2194560"/>
            <a:ext cx="2423160" cy="4114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153144" y="2313432"/>
            <a:ext cx="2258568" cy="402336"/>
          </a:xfrm>
          <a:prstGeom prst="rect">
            <a:avLst/>
          </a:prstGeom>
          <a:noFill/>
        </p:spPr>
        <p:txBody>
          <a:bodyPr wrap="square" anchor="t" lIns="0" rIns="0" tIns="0" bIns="0">
            <a:spAutoFit/>
          </a:bodyPr>
          <a:lstStyle/>
          <a:p>
            <a:pPr algn="ctr">
              <a:lnSpc>
                <a:spcPct val="105000"/>
              </a:lnSpc>
              <a:spcBef>
                <a:spcPts val="0"/>
              </a:spcBef>
              <a:spcAft>
                <a:spcPts val="100"/>
              </a:spcAft>
            </a:pPr>
            <a:r>
              <a:rPr sz="1000" b="1" i="0">
                <a:solidFill>
                  <a:srgbClr val="0F2A47"/>
                </a:solidFill>
                <a:latin typeface="Segoe UI"/>
              </a:rPr>
              <a:t>then the class ceiling</a:t>
            </a:r>
          </a:p>
          <a:p>
            <a:pPr algn="ctr">
              <a:lnSpc>
                <a:spcPct val="110000"/>
              </a:lnSpc>
              <a:spcBef>
                <a:spcPts val="0"/>
              </a:spcBef>
              <a:spcAft>
                <a:spcPts val="0"/>
              </a:spcAft>
            </a:pPr>
            <a:r>
              <a:rPr sz="819" b="0" i="0">
                <a:solidFill>
                  <a:srgbClr val="6B7684"/>
                </a:solidFill>
                <a:latin typeface="Segoe UI"/>
              </a:rPr>
              <a:t>caps the displayed label</a:t>
            </a:r>
          </a:p>
        </p:txBody>
      </p:sp>
      <p:sp>
        <p:nvSpPr>
          <p:cNvPr id="33" name="Rectangle 32"/>
          <p:cNvSpPr/>
          <p:nvPr/>
        </p:nvSpPr>
        <p:spPr>
          <a:xfrm>
            <a:off x="8659367" y="1996135"/>
            <a:ext cx="20574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858707" y="2002536"/>
            <a:ext cx="12801" cy="47548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8865108" y="2471623"/>
            <a:ext cx="205739"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8659367" y="3075127"/>
            <a:ext cx="205740"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858707" y="2478024"/>
            <a:ext cx="12801" cy="603504"/>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8865108" y="2471623"/>
            <a:ext cx="205739" cy="12801"/>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39" name="Table 38"/>
          <p:cNvGraphicFramePr>
            <a:graphicFrameLocks noGrp="1"/>
          </p:cNvGraphicFramePr>
          <p:nvPr/>
        </p:nvGraphicFramePr>
        <p:xfrm>
          <a:off x="566928" y="3529584"/>
          <a:ext cx="11055096" cy="1389888"/>
        </p:xfrm>
        <a:graphic>
          <a:graphicData uri="http://schemas.openxmlformats.org/drawingml/2006/table">
            <a:tbl>
              <a:tblPr firstRow="0" bandRow="0"/>
              <a:tblGrid>
                <a:gridCol w="2514600"/>
                <a:gridCol w="960120"/>
                <a:gridCol w="1051560"/>
                <a:gridCol w="1783080"/>
                <a:gridCol w="1234440"/>
                <a:gridCol w="3511296"/>
              </a:tblGrid>
              <a:tr h="292608">
                <a:tc>
                  <a:txBody>
                    <a:bodyPr wrap="square"/>
                    <a:lstStyle/>
                    <a:p>
                      <a:pPr algn="l"/>
                      <a:r>
                        <a:rPr sz="880" b="1">
                          <a:solidFill>
                            <a:srgbClr val="FFFFFF"/>
                          </a:solidFill>
                          <a:latin typeface="Segoe UI"/>
                        </a:rPr>
                        <a:t>Alert</a:t>
                      </a:r>
                    </a:p>
                  </a:txBody>
                  <a:tcPr marL="82296" marR="82296" marT="13716" marB="13716" anchor="ctr">
                    <a:solidFill>
                      <a:srgbClr val="0F2A47"/>
                    </a:solidFill>
                  </a:tcPr>
                </a:tc>
                <a:tc>
                  <a:txBody>
                    <a:bodyPr wrap="square"/>
                    <a:lstStyle/>
                    <a:p>
                      <a:pPr algn="r"/>
                      <a:r>
                        <a:rPr sz="880" b="1">
                          <a:solidFill>
                            <a:srgbClr val="FFFFFF"/>
                          </a:solidFill>
                          <a:latin typeface="Segoe UI"/>
                        </a:rPr>
                        <a:t>Score</a:t>
                      </a:r>
                    </a:p>
                  </a:txBody>
                  <a:tcPr marL="82296" marR="82296" marT="13716" marB="13716" anchor="ctr">
                    <a:solidFill>
                      <a:srgbClr val="0F2A47"/>
                    </a:solidFill>
                  </a:tcPr>
                </a:tc>
                <a:tc>
                  <a:txBody>
                    <a:bodyPr wrap="square"/>
                    <a:lstStyle/>
                    <a:p>
                      <a:pPr algn="l"/>
                      <a:r>
                        <a:rPr sz="880" b="1">
                          <a:solidFill>
                            <a:srgbClr val="FFFFFF"/>
                          </a:solidFill>
                          <a:latin typeface="Segoe UI"/>
                        </a:rPr>
                        <a:t>is_critical</a:t>
                      </a:r>
                    </a:p>
                  </a:txBody>
                  <a:tcPr marL="82296" marR="82296" marT="13716" marB="13716" anchor="ctr">
                    <a:solidFill>
                      <a:srgbClr val="0F2A47"/>
                    </a:solidFill>
                  </a:tcPr>
                </a:tc>
                <a:tc>
                  <a:txBody>
                    <a:bodyPr wrap="square"/>
                    <a:lstStyle/>
                    <a:p>
                      <a:pPr algn="l"/>
                      <a:r>
                        <a:rPr sz="880" b="1">
                          <a:solidFill>
                            <a:srgbClr val="FFFFFF"/>
                          </a:solidFill>
                          <a:latin typeface="Segoe UI"/>
                        </a:rPr>
                        <a:t>Class ceiling</a:t>
                      </a:r>
                    </a:p>
                  </a:txBody>
                  <a:tcPr marL="82296" marR="82296" marT="13716" marB="13716" anchor="ctr">
                    <a:solidFill>
                      <a:srgbClr val="0F2A47"/>
                    </a:solidFill>
                  </a:tcPr>
                </a:tc>
                <a:tc>
                  <a:txBody>
                    <a:bodyPr wrap="square"/>
                    <a:lstStyle/>
                    <a:p>
                      <a:pPr algn="l"/>
                      <a:r>
                        <a:rPr sz="880" b="1">
                          <a:solidFill>
                            <a:srgbClr val="FFFFFF"/>
                          </a:solidFill>
                          <a:latin typeface="Segoe UI"/>
                        </a:rPr>
                        <a:t>Label shown</a:t>
                      </a:r>
                    </a:p>
                  </a:txBody>
                  <a:tcPr marL="82296" marR="82296" marT="13716" marB="13716" anchor="ctr">
                    <a:solidFill>
                      <a:srgbClr val="0F2A47"/>
                    </a:solidFill>
                  </a:tcPr>
                </a:tc>
                <a:tc>
                  <a:txBody>
                    <a:bodyPr wrap="square"/>
                    <a:lstStyle/>
                    <a:p>
                      <a:pPr algn="l"/>
                      <a:r>
                        <a:rPr sz="880" b="1">
                          <a:solidFill>
                            <a:srgbClr val="FFFFFF"/>
                          </a:solidFill>
                          <a:latin typeface="Segoe UI"/>
                        </a:rPr>
                        <a:t>What binds a verdict</a:t>
                      </a:r>
                    </a:p>
                  </a:txBody>
                  <a:tcPr marL="82296" marR="82296" marT="13716" marB="13716" anchor="ctr">
                    <a:solidFill>
                      <a:srgbClr val="0F2A47"/>
                    </a:solidFill>
                  </a:tcPr>
                </a:tc>
              </a:tr>
              <a:tr h="365760">
                <a:tc>
                  <a:txBody>
                    <a:bodyPr wrap="square"/>
                    <a:lstStyle/>
                    <a:p>
                      <a:pPr algn="l"/>
                      <a:r>
                        <a:rPr sz="930" b="0">
                          <a:solidFill>
                            <a:srgbClr val="2A3441"/>
                          </a:solidFill>
                          <a:latin typeface="Segoe UI"/>
                        </a:rPr>
                        <a:t>AL-01958  Brute Force</a:t>
                      </a:r>
                    </a:p>
                  </a:txBody>
                  <a:tcPr marL="82296" marR="82296" marT="13716" marB="13716" anchor="ctr">
                    <a:solidFill>
                      <a:srgbClr val="FFFFFF"/>
                    </a:solidFill>
                  </a:tcPr>
                </a:tc>
                <a:tc>
                  <a:txBody>
                    <a:bodyPr wrap="square"/>
                    <a:lstStyle/>
                    <a:p>
                      <a:pPr algn="r"/>
                      <a:r>
                        <a:rPr sz="930" b="0">
                          <a:solidFill>
                            <a:srgbClr val="2A3441"/>
                          </a:solidFill>
                          <a:latin typeface="Consolas"/>
                        </a:rPr>
                        <a:t>100.00</a:t>
                      </a:r>
                    </a:p>
                  </a:txBody>
                  <a:tcPr marL="82296" marR="82296" marT="13716" marB="13716" anchor="ctr">
                    <a:solidFill>
                      <a:srgbClr val="FFFFFF"/>
                    </a:solidFill>
                  </a:tcPr>
                </a:tc>
                <a:tc>
                  <a:txBody>
                    <a:bodyPr wrap="square"/>
                    <a:lstStyle/>
                    <a:p>
                      <a:pPr algn="l"/>
                      <a:r>
                        <a:rPr sz="930" b="0">
                          <a:solidFill>
                            <a:srgbClr val="2A3441"/>
                          </a:solidFill>
                          <a:latin typeface="Consolas"/>
                        </a:rPr>
                        <a:t>true</a:t>
                      </a:r>
                    </a:p>
                  </a:txBody>
                  <a:tcPr marL="82296" marR="82296" marT="13716" marB="13716" anchor="ctr">
                    <a:solidFill>
                      <a:srgbClr val="FFFFFF"/>
                    </a:solidFill>
                  </a:tcPr>
                </a:tc>
                <a:tc>
                  <a:txBody>
                    <a:bodyPr wrap="square"/>
                    <a:lstStyle/>
                    <a:p>
                      <a:pPr algn="l"/>
                      <a:r>
                        <a:rPr sz="930" b="0">
                          <a:solidFill>
                            <a:srgbClr val="2A3441"/>
                          </a:solidFill>
                          <a:latin typeface="Segoe UI"/>
                        </a:rPr>
                        <a:t>Medium (sev 5.0)</a:t>
                      </a:r>
                    </a:p>
                  </a:txBody>
                  <a:tcPr marL="82296" marR="82296" marT="13716" marB="13716" anchor="ctr">
                    <a:solidFill>
                      <a:srgbClr val="FFFFFF"/>
                    </a:solidFill>
                  </a:tcPr>
                </a:tc>
                <a:tc>
                  <a:txBody>
                    <a:bodyPr wrap="square"/>
                    <a:lstStyle/>
                    <a:p>
                      <a:pPr algn="l"/>
                      <a:r>
                        <a:rPr sz="930" b="0">
                          <a:solidFill>
                            <a:srgbClr val="2A3441"/>
                          </a:solidFill>
                          <a:latin typeface="Segoe UI"/>
                        </a:rPr>
                        <a:t>Medium</a:t>
                      </a:r>
                    </a:p>
                  </a:txBody>
                  <a:tcPr marL="82296" marR="82296" marT="13716" marB="13716" anchor="ctr">
                    <a:solidFill>
                      <a:srgbClr val="FFFFFF"/>
                    </a:solidFill>
                  </a:tcPr>
                </a:tc>
                <a:tc>
                  <a:txBody>
                    <a:bodyPr wrap="square"/>
                    <a:lstStyle/>
                    <a:p>
                      <a:pPr algn="l"/>
                      <a:r>
                        <a:rPr sz="930" b="0">
                          <a:solidFill>
                            <a:srgbClr val="2A3441"/>
                          </a:solidFill>
                          <a:latin typeface="Segoe UI"/>
                        </a:rPr>
                        <a:t>Critical floor 70 — it keys off is_critical</a:t>
                      </a:r>
                    </a:p>
                  </a:txBody>
                  <a:tcPr marL="82296" marR="82296" marT="13716" marB="13716" anchor="ctr">
                    <a:solidFill>
                      <a:srgbClr val="FFFFFF"/>
                    </a:solidFill>
                  </a:tcPr>
                </a:tc>
              </a:tr>
              <a:tr h="365760">
                <a:tc>
                  <a:txBody>
                    <a:bodyPr wrap="square"/>
                    <a:lstStyle/>
                    <a:p>
                      <a:pPr algn="l"/>
                      <a:r>
                        <a:rPr sz="930" b="0">
                          <a:solidFill>
                            <a:srgbClr val="2A3441"/>
                          </a:solidFill>
                          <a:latin typeface="Segoe UI"/>
                        </a:rPr>
                        <a:t>AL-00478  Web Attack</a:t>
                      </a:r>
                    </a:p>
                  </a:txBody>
                  <a:tcPr marL="82296" marR="82296" marT="13716" marB="13716" anchor="ctr">
                    <a:solidFill>
                      <a:srgbClr val="F4F7FB"/>
                    </a:solidFill>
                  </a:tcPr>
                </a:tc>
                <a:tc>
                  <a:txBody>
                    <a:bodyPr wrap="square"/>
                    <a:lstStyle/>
                    <a:p>
                      <a:pPr algn="r"/>
                      <a:r>
                        <a:rPr sz="930" b="0">
                          <a:solidFill>
                            <a:srgbClr val="2A3441"/>
                          </a:solidFill>
                          <a:latin typeface="Consolas"/>
                        </a:rPr>
                        <a:t>99.89</a:t>
                      </a:r>
                    </a:p>
                  </a:txBody>
                  <a:tcPr marL="82296" marR="82296" marT="13716" marB="13716" anchor="ctr">
                    <a:solidFill>
                      <a:srgbClr val="F4F7FB"/>
                    </a:solidFill>
                  </a:tcPr>
                </a:tc>
                <a:tc>
                  <a:txBody>
                    <a:bodyPr wrap="square"/>
                    <a:lstStyle/>
                    <a:p>
                      <a:pPr algn="l"/>
                      <a:r>
                        <a:rPr sz="930" b="0">
                          <a:solidFill>
                            <a:srgbClr val="2A3441"/>
                          </a:solidFill>
                          <a:latin typeface="Consolas"/>
                        </a:rPr>
                        <a:t>true</a:t>
                      </a:r>
                    </a:p>
                  </a:txBody>
                  <a:tcPr marL="82296" marR="82296" marT="13716" marB="13716" anchor="ctr">
                    <a:solidFill>
                      <a:srgbClr val="F4F7FB"/>
                    </a:solidFill>
                  </a:tcPr>
                </a:tc>
                <a:tc>
                  <a:txBody>
                    <a:bodyPr wrap="square"/>
                    <a:lstStyle/>
                    <a:p>
                      <a:pPr algn="l"/>
                      <a:r>
                        <a:rPr sz="930" b="0">
                          <a:solidFill>
                            <a:srgbClr val="2A3441"/>
                          </a:solidFill>
                          <a:latin typeface="Segoe UI"/>
                        </a:rPr>
                        <a:t>High (sev 8.0)</a:t>
                      </a:r>
                    </a:p>
                  </a:txBody>
                  <a:tcPr marL="82296" marR="82296" marT="13716" marB="13716" anchor="ctr">
                    <a:solidFill>
                      <a:srgbClr val="F4F7FB"/>
                    </a:solidFill>
                  </a:tcPr>
                </a:tc>
                <a:tc>
                  <a:txBody>
                    <a:bodyPr wrap="square"/>
                    <a:lstStyle/>
                    <a:p>
                      <a:pPr algn="l"/>
                      <a:r>
                        <a:rPr sz="930" b="0">
                          <a:solidFill>
                            <a:srgbClr val="2A3441"/>
                          </a:solidFill>
                          <a:latin typeface="Segoe UI"/>
                        </a:rPr>
                        <a:t>High</a:t>
                      </a:r>
                    </a:p>
                  </a:txBody>
                  <a:tcPr marL="82296" marR="82296" marT="13716" marB="13716" anchor="ctr">
                    <a:solidFill>
                      <a:srgbClr val="F4F7FB"/>
                    </a:solidFill>
                  </a:tcPr>
                </a:tc>
                <a:tc>
                  <a:txBody>
                    <a:bodyPr wrap="square"/>
                    <a:lstStyle/>
                    <a:p>
                      <a:pPr algn="l"/>
                      <a:r>
                        <a:rPr sz="930" b="0">
                          <a:solidFill>
                            <a:srgbClr val="2A3441"/>
                          </a:solidFill>
                          <a:latin typeface="Segoe UI"/>
                        </a:rPr>
                        <a:t>Critical floor 70 — same, despite the label</a:t>
                      </a:r>
                    </a:p>
                  </a:txBody>
                  <a:tcPr marL="82296" marR="82296" marT="13716" marB="13716" anchor="ctr">
                    <a:solidFill>
                      <a:srgbClr val="F4F7FB"/>
                    </a:solidFill>
                  </a:tcPr>
                </a:tc>
              </a:tr>
              <a:tr h="365760">
                <a:tc>
                  <a:txBody>
                    <a:bodyPr wrap="square"/>
                    <a:lstStyle/>
                    <a:p>
                      <a:pPr algn="l"/>
                      <a:r>
                        <a:rPr sz="930" b="0">
                          <a:solidFill>
                            <a:srgbClr val="2A3441"/>
                          </a:solidFill>
                          <a:latin typeface="Segoe UI"/>
                        </a:rPr>
                        <a:t>AL-03086  not flagged</a:t>
                      </a:r>
                    </a:p>
                  </a:txBody>
                  <a:tcPr marL="82296" marR="82296" marT="13716" marB="13716" anchor="ctr">
                    <a:solidFill>
                      <a:srgbClr val="FFFFFF"/>
                    </a:solidFill>
                  </a:tcPr>
                </a:tc>
                <a:tc>
                  <a:txBody>
                    <a:bodyPr wrap="square"/>
                    <a:lstStyle/>
                    <a:p>
                      <a:pPr algn="r"/>
                      <a:r>
                        <a:rPr sz="930" b="0">
                          <a:solidFill>
                            <a:srgbClr val="2A3441"/>
                          </a:solidFill>
                          <a:latin typeface="Consolas"/>
                        </a:rPr>
                        <a:t>36.94</a:t>
                      </a:r>
                    </a:p>
                  </a:txBody>
                  <a:tcPr marL="82296" marR="82296" marT="13716" marB="13716" anchor="ctr">
                    <a:solidFill>
                      <a:srgbClr val="FFFFFF"/>
                    </a:solidFill>
                  </a:tcPr>
                </a:tc>
                <a:tc>
                  <a:txBody>
                    <a:bodyPr wrap="square"/>
                    <a:lstStyle/>
                    <a:p>
                      <a:pPr algn="l"/>
                      <a:r>
                        <a:rPr sz="930" b="0">
                          <a:solidFill>
                            <a:srgbClr val="2A3441"/>
                          </a:solidFill>
                          <a:latin typeface="Consolas"/>
                        </a:rPr>
                        <a:t>false</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Medium</a:t>
                      </a:r>
                    </a:p>
                  </a:txBody>
                  <a:tcPr marL="82296" marR="82296" marT="13716" marB="13716" anchor="ctr">
                    <a:solidFill>
                      <a:srgbClr val="FFFFFF"/>
                    </a:solidFill>
                  </a:tcPr>
                </a:tc>
                <a:tc>
                  <a:txBody>
                    <a:bodyPr wrap="square"/>
                    <a:lstStyle/>
                    <a:p>
                      <a:pPr algn="l"/>
                      <a:r>
                        <a:rPr sz="930" b="0">
                          <a:solidFill>
                            <a:srgbClr val="2A3441"/>
                          </a:solidFill>
                          <a:latin typeface="Segoe UI"/>
                        </a:rPr>
                        <a:t>nothing — no floor applies</a:t>
                      </a:r>
                    </a:p>
                  </a:txBody>
                  <a:tcPr marL="82296" marR="82296" marT="13716" marB="13716" anchor="ctr">
                    <a:solidFill>
                      <a:srgbClr val="FFFFFF"/>
                    </a:solidFill>
                  </a:tcPr>
                </a:tc>
              </a:tr>
            </a:tbl>
          </a:graphicData>
        </a:graphic>
      </p:graphicFrame>
      <p:sp>
        <p:nvSpPr>
          <p:cNvPr id="40" name="Rectangle 39"/>
          <p:cNvSpPr/>
          <p:nvPr/>
        </p:nvSpPr>
        <p:spPr>
          <a:xfrm>
            <a:off x="566928" y="5157216"/>
            <a:ext cx="11057839" cy="95097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66928" y="5157216"/>
            <a:ext cx="50292" cy="950976"/>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6384" y="5248656"/>
            <a:ext cx="10618927" cy="786384"/>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Expect this question: “why is a High alert protected by a Critical floor?”</a:t>
            </a:r>
          </a:p>
          <a:p>
            <a:pPr algn="l">
              <a:lnSpc>
                <a:spcPct val="120000"/>
              </a:lnSpc>
              <a:spcBef>
                <a:spcPts val="0"/>
              </a:spcBef>
              <a:spcAft>
                <a:spcPts val="0"/>
              </a:spcAft>
            </a:pPr>
            <a:r>
              <a:rPr sz="940" b="0" i="0">
                <a:solidFill>
                  <a:srgbClr val="2A3441"/>
                </a:solidFill>
                <a:latin typeface="Segoe UI"/>
              </a:rPr>
              <a:t>Because the floor triggers on is_critical — score ≥ 80 — while the displayed severity is capped by the attack class's ceiling from config/severity-chart.json. A Brute Force alert at 100.0 is protected and still reads “Medium”: the protection tracks the score, the label tracks the class. Both are deliberate, and the chart is configuration, not 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5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decides where it sits in the queue?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Severity first, then the operational score. The evidence band is a label on the row, not the sort key.</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27</a:t>
            </a:r>
          </a:p>
        </p:txBody>
      </p:sp>
      <p:sp>
        <p:nvSpPr>
          <p:cNvPr id="9" name="Rectangle 8"/>
          <p:cNvSpPr/>
          <p:nvPr/>
        </p:nvSpPr>
        <p:spPr>
          <a:xfrm>
            <a:off x="566928" y="1773936"/>
            <a:ext cx="11057839" cy="566928"/>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828800"/>
            <a:ext cx="10618927" cy="457200"/>
          </a:xfrm>
          <a:prstGeom prst="rect">
            <a:avLst/>
          </a:prstGeom>
          <a:noFill/>
        </p:spPr>
        <p:txBody>
          <a:bodyPr wrap="square" anchor="ctr" lIns="0" rIns="0" tIns="0" bIns="0">
            <a:spAutoFit/>
          </a:bodyPr>
          <a:lstStyle/>
          <a:p>
            <a:pPr algn="l">
              <a:spcBef>
                <a:spcPts val="0"/>
              </a:spcBef>
              <a:spcAft>
                <a:spcPts val="0"/>
              </a:spcAft>
            </a:pPr>
            <a:r>
              <a:rPr sz="1250" b="1" i="0">
                <a:solidFill>
                  <a:srgbClr val="FFFFFF"/>
                </a:solidFill>
                <a:latin typeface="Consolas"/>
              </a:rPr>
              <a:t>ORDER BY   severity DESC,   combined_score DESC,   id ASC</a:t>
            </a:r>
          </a:p>
        </p:txBody>
      </p:sp>
      <p:sp>
        <p:nvSpPr>
          <p:cNvPr id="11" name="Rectangle 10"/>
          <p:cNvSpPr/>
          <p:nvPr/>
        </p:nvSpPr>
        <p:spPr>
          <a:xfrm>
            <a:off x="566928" y="2523744"/>
            <a:ext cx="5419191"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66928" y="2523744"/>
            <a:ext cx="50292"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9808" y="2633472"/>
            <a:ext cx="5108295" cy="804672"/>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v1.31 — the band stopped ordering the queue</a:t>
            </a:r>
          </a:p>
          <a:p>
            <a:pPr algn="l">
              <a:lnSpc>
                <a:spcPct val="120000"/>
              </a:lnSpc>
              <a:spcBef>
                <a:spcPts val="0"/>
              </a:spcBef>
              <a:spcAft>
                <a:spcPts val="0"/>
              </a:spcAft>
            </a:pPr>
            <a:r>
              <a:rPr sz="940" b="0" i="0">
                <a:solidFill>
                  <a:srgbClr val="2A3441"/>
                </a:solidFill>
                <a:latin typeface="Segoe UI"/>
              </a:rPr>
              <a:t>It used to lead with the evidence band, then the score. Measured on the demo database, that put a Tier 2 group that is not severe above everything else — the whole top 50 was Medium. Severity worst-first is what a Tier 1 analyst should work down.</a:t>
            </a:r>
          </a:p>
        </p:txBody>
      </p:sp>
      <p:sp>
        <p:nvSpPr>
          <p:cNvPr id="14" name="Rectangle 13"/>
          <p:cNvSpPr/>
          <p:nvPr/>
        </p:nvSpPr>
        <p:spPr>
          <a:xfrm>
            <a:off x="6205575" y="2523744"/>
            <a:ext cx="5419191"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205575" y="2523744"/>
            <a:ext cx="50292" cy="100584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388455" y="2633472"/>
            <a:ext cx="5108295" cy="804672"/>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What the band is now</a:t>
            </a:r>
          </a:p>
          <a:p>
            <a:pPr algn="l">
              <a:lnSpc>
                <a:spcPct val="120000"/>
              </a:lnSpc>
              <a:spcBef>
                <a:spcPts val="0"/>
              </a:spcBef>
              <a:spcAft>
                <a:spcPts val="0"/>
              </a:spcAft>
            </a:pPr>
            <a:r>
              <a:rPr sz="940" b="0" i="0">
                <a:solidFill>
                  <a:srgbClr val="2A3441"/>
                </a:solidFill>
                <a:latin typeface="Segoe UI"/>
              </a:rPr>
              <a:t>A label, and the tab set. Tier 2 candidacy is still computed and shown; it no longer decides the order. The old rule that a disputed rule outranks a more severe finding was retired with it.</a:t>
            </a:r>
          </a:p>
        </p:txBody>
      </p:sp>
      <p:sp>
        <p:nvSpPr>
          <p:cNvPr id="17" name="Rectangle 16"/>
          <p:cNvSpPr/>
          <p:nvPr/>
        </p:nvSpPr>
        <p:spPr>
          <a:xfrm>
            <a:off x="566928" y="3749039"/>
            <a:ext cx="205063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66928" y="3749039"/>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4944" y="3895344"/>
            <a:ext cx="1794601" cy="731520"/>
          </a:xfrm>
          <a:prstGeom prst="rect">
            <a:avLst/>
          </a:prstGeom>
          <a:noFill/>
        </p:spPr>
        <p:txBody>
          <a:bodyPr wrap="square" anchor="t" lIns="0" rIns="0" tIns="0" bIns="0">
            <a:spAutoFit/>
          </a:bodyPr>
          <a:lstStyle/>
          <a:p>
            <a:pPr algn="ctr">
              <a:lnSpc>
                <a:spcPct val="100000"/>
              </a:lnSpc>
              <a:spcBef>
                <a:spcPts val="0"/>
              </a:spcBef>
              <a:spcAft>
                <a:spcPts val="100"/>
              </a:spcAft>
            </a:pPr>
            <a:r>
              <a:rPr sz="2100" b="1" i="0">
                <a:solidFill>
                  <a:srgbClr val="1F6FEB"/>
                </a:solidFill>
                <a:latin typeface="Segoe UI"/>
              </a:rPr>
              <a:t>996</a:t>
            </a:r>
          </a:p>
          <a:p>
            <a:pPr algn="ctr">
              <a:lnSpc>
                <a:spcPct val="112000"/>
              </a:lnSpc>
              <a:spcBef>
                <a:spcPts val="0"/>
              </a:spcBef>
              <a:spcAft>
                <a:spcPts val="0"/>
              </a:spcAft>
            </a:pPr>
            <a:r>
              <a:rPr sz="950" b="0" i="0">
                <a:solidFill>
                  <a:srgbClr val="6B7684"/>
                </a:solidFill>
                <a:latin typeface="Segoe UI"/>
              </a:rPr>
              <a:t>flagged alerts</a:t>
            </a:r>
          </a:p>
        </p:txBody>
      </p:sp>
      <p:sp>
        <p:nvSpPr>
          <p:cNvPr id="20" name="Rectangle 19"/>
          <p:cNvSpPr/>
          <p:nvPr/>
        </p:nvSpPr>
        <p:spPr>
          <a:xfrm>
            <a:off x="2818729" y="3749039"/>
            <a:ext cx="205063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818729" y="3749039"/>
            <a:ext cx="205063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946745" y="3895344"/>
            <a:ext cx="1794601" cy="731520"/>
          </a:xfrm>
          <a:prstGeom prst="rect">
            <a:avLst/>
          </a:prstGeom>
          <a:noFill/>
        </p:spPr>
        <p:txBody>
          <a:bodyPr wrap="square" anchor="t" lIns="0" rIns="0" tIns="0" bIns="0">
            <a:spAutoFit/>
          </a:bodyPr>
          <a:lstStyle/>
          <a:p>
            <a:pPr algn="ctr">
              <a:lnSpc>
                <a:spcPct val="100000"/>
              </a:lnSpc>
              <a:spcBef>
                <a:spcPts val="0"/>
              </a:spcBef>
              <a:spcAft>
                <a:spcPts val="100"/>
              </a:spcAft>
            </a:pPr>
            <a:r>
              <a:rPr sz="2100" b="1" i="0">
                <a:solidFill>
                  <a:srgbClr val="C0392B"/>
                </a:solidFill>
                <a:latin typeface="Segoe UI"/>
              </a:rPr>
              <a:t>975</a:t>
            </a:r>
          </a:p>
          <a:p>
            <a:pPr algn="ctr">
              <a:lnSpc>
                <a:spcPct val="112000"/>
              </a:lnSpc>
              <a:spcBef>
                <a:spcPts val="0"/>
              </a:spcBef>
              <a:spcAft>
                <a:spcPts val="0"/>
              </a:spcAft>
            </a:pPr>
            <a:r>
              <a:rPr sz="950" b="0" i="0">
                <a:solidFill>
                  <a:srgbClr val="6B7684"/>
                </a:solidFill>
                <a:latin typeface="Segoe UI"/>
              </a:rPr>
              <a:t>of them at exactly 100.0</a:t>
            </a:r>
          </a:p>
        </p:txBody>
      </p:sp>
      <p:sp>
        <p:nvSpPr>
          <p:cNvPr id="23" name="Rectangle 22"/>
          <p:cNvSpPr/>
          <p:nvPr/>
        </p:nvSpPr>
        <p:spPr>
          <a:xfrm>
            <a:off x="5070530" y="3749039"/>
            <a:ext cx="205063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070530" y="3749039"/>
            <a:ext cx="205063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198546" y="3895344"/>
            <a:ext cx="1794601" cy="731520"/>
          </a:xfrm>
          <a:prstGeom prst="rect">
            <a:avLst/>
          </a:prstGeom>
          <a:noFill/>
        </p:spPr>
        <p:txBody>
          <a:bodyPr wrap="square" anchor="t" lIns="0" rIns="0" tIns="0" bIns="0">
            <a:spAutoFit/>
          </a:bodyPr>
          <a:lstStyle/>
          <a:p>
            <a:pPr algn="ctr">
              <a:lnSpc>
                <a:spcPct val="100000"/>
              </a:lnSpc>
              <a:spcBef>
                <a:spcPts val="0"/>
              </a:spcBef>
              <a:spcAft>
                <a:spcPts val="100"/>
              </a:spcAft>
            </a:pPr>
            <a:r>
              <a:rPr sz="2100" b="1" i="0">
                <a:solidFill>
                  <a:srgbClr val="C0392B"/>
                </a:solidFill>
                <a:latin typeface="Segoe UI"/>
              </a:rPr>
              <a:t>13</a:t>
            </a:r>
          </a:p>
          <a:p>
            <a:pPr algn="ctr">
              <a:lnSpc>
                <a:spcPct val="112000"/>
              </a:lnSpc>
              <a:spcBef>
                <a:spcPts val="0"/>
              </a:spcBef>
              <a:spcAft>
                <a:spcPts val="0"/>
              </a:spcAft>
            </a:pPr>
            <a:r>
              <a:rPr sz="950" b="0" i="0">
                <a:solidFill>
                  <a:srgbClr val="6B7684"/>
                </a:solidFill>
                <a:latin typeface="Segoe UI"/>
              </a:rPr>
              <a:t>distinct scores among flagged</a:t>
            </a:r>
          </a:p>
        </p:txBody>
      </p:sp>
      <p:sp>
        <p:nvSpPr>
          <p:cNvPr id="26" name="Rectangle 25"/>
          <p:cNvSpPr/>
          <p:nvPr/>
        </p:nvSpPr>
        <p:spPr>
          <a:xfrm>
            <a:off x="7322332" y="3749039"/>
            <a:ext cx="205063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322332" y="3749039"/>
            <a:ext cx="2050633" cy="45720"/>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50348" y="3895344"/>
            <a:ext cx="1794601" cy="731520"/>
          </a:xfrm>
          <a:prstGeom prst="rect">
            <a:avLst/>
          </a:prstGeom>
          <a:noFill/>
        </p:spPr>
        <p:txBody>
          <a:bodyPr wrap="square" anchor="t" lIns="0" rIns="0" tIns="0" bIns="0">
            <a:spAutoFit/>
          </a:bodyPr>
          <a:lstStyle/>
          <a:p>
            <a:pPr algn="ctr">
              <a:lnSpc>
                <a:spcPct val="100000"/>
              </a:lnSpc>
              <a:spcBef>
                <a:spcPts val="0"/>
              </a:spcBef>
              <a:spcAft>
                <a:spcPts val="100"/>
              </a:spcAft>
            </a:pPr>
            <a:r>
              <a:rPr sz="2100" b="1" i="0">
                <a:solidFill>
                  <a:srgbClr val="B06A00"/>
                </a:solidFill>
                <a:latin typeface="Segoe UI"/>
              </a:rPr>
              <a:t>644</a:t>
            </a:r>
          </a:p>
          <a:p>
            <a:pPr algn="ctr">
              <a:lnSpc>
                <a:spcPct val="112000"/>
              </a:lnSpc>
              <a:spcBef>
                <a:spcPts val="0"/>
              </a:spcBef>
              <a:spcAft>
                <a:spcPts val="0"/>
              </a:spcAft>
            </a:pPr>
            <a:r>
              <a:rPr sz="950" b="0" i="0">
                <a:solidFill>
                  <a:srgbClr val="6B7684"/>
                </a:solidFill>
                <a:latin typeface="Segoe UI"/>
              </a:rPr>
              <a:t>Tier 2 candidates</a:t>
            </a:r>
          </a:p>
        </p:txBody>
      </p:sp>
      <p:sp>
        <p:nvSpPr>
          <p:cNvPr id="29" name="Rectangle 28"/>
          <p:cNvSpPr/>
          <p:nvPr/>
        </p:nvSpPr>
        <p:spPr>
          <a:xfrm>
            <a:off x="9574133" y="3749039"/>
            <a:ext cx="205063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574133" y="3749039"/>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702149" y="3895344"/>
            <a:ext cx="1794601" cy="731520"/>
          </a:xfrm>
          <a:prstGeom prst="rect">
            <a:avLst/>
          </a:prstGeom>
          <a:noFill/>
        </p:spPr>
        <p:txBody>
          <a:bodyPr wrap="square" anchor="t" lIns="0" rIns="0" tIns="0" bIns="0">
            <a:spAutoFit/>
          </a:bodyPr>
          <a:lstStyle/>
          <a:p>
            <a:pPr algn="ctr">
              <a:lnSpc>
                <a:spcPct val="100000"/>
              </a:lnSpc>
              <a:spcBef>
                <a:spcPts val="0"/>
              </a:spcBef>
              <a:spcAft>
                <a:spcPts val="100"/>
              </a:spcAft>
            </a:pPr>
            <a:r>
              <a:rPr sz="2100" b="1" i="0">
                <a:solidFill>
                  <a:srgbClr val="1E7A45"/>
                </a:solidFill>
                <a:latin typeface="Segoe UI"/>
              </a:rPr>
              <a:t>1,315</a:t>
            </a:r>
          </a:p>
          <a:p>
            <a:pPr algn="ctr">
              <a:lnSpc>
                <a:spcPct val="112000"/>
              </a:lnSpc>
              <a:spcBef>
                <a:spcPts val="0"/>
              </a:spcBef>
              <a:spcAft>
                <a:spcPts val="0"/>
              </a:spcAft>
            </a:pPr>
            <a:r>
              <a:rPr sz="950" b="0" i="0">
                <a:solidFill>
                  <a:srgbClr val="6B7684"/>
                </a:solidFill>
                <a:latin typeface="Segoe UI"/>
              </a:rPr>
              <a:t>similar-alert families</a:t>
            </a:r>
          </a:p>
        </p:txBody>
      </p:sp>
      <p:sp>
        <p:nvSpPr>
          <p:cNvPr id="32" name="Rectangle 31"/>
          <p:cNvSpPr/>
          <p:nvPr/>
        </p:nvSpPr>
        <p:spPr>
          <a:xfrm>
            <a:off x="566928" y="4956048"/>
            <a:ext cx="11057839" cy="115214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66928" y="4956048"/>
            <a:ext cx="50292" cy="115214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6384" y="5047488"/>
            <a:ext cx="10618927" cy="987552"/>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The honest consequence, stated before it is found: the score cannot rank the top band.</a:t>
            </a:r>
          </a:p>
          <a:p>
            <a:pPr algn="l">
              <a:lnSpc>
                <a:spcPct val="120000"/>
              </a:lnSpc>
              <a:spcBef>
                <a:spcPts val="0"/>
              </a:spcBef>
              <a:spcAft>
                <a:spcPts val="0"/>
              </a:spcAft>
            </a:pPr>
            <a:r>
              <a:rPr sz="930" b="0" i="0">
                <a:solidFill>
                  <a:srgbClr val="2A3441"/>
                </a:solidFill>
                <a:latin typeface="Segoe UI"/>
              </a:rPr>
              <a:t>“how sure it is this is not normal” comes out at 0.99999854 on this testbed, so × 100 rounds to 100.00 and the agreement bonus is clamped away. 975 of 996 flagged alerts therefore share one score. When scores tie, the order falls to the deciders behind them — what kind of evidence, whether review is needed, when the traffic was captured — so what feedback actually re-ranks is the severity and those deciders, not the number. Spreading the scores out again would change an agreed design decision, so it is written down as open rather than quietly changed.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6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happens when the analyst disagrees?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AL-00478 — a benign flow the model calls a Web Attack at 99.89. The analyst is right, and the guardrail still binds.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28</a:t>
            </a:r>
          </a:p>
        </p:txBody>
      </p:sp>
      <p:sp>
        <p:nvSpPr>
          <p:cNvPr id="9" name="Rectangle 8"/>
          <p:cNvSpPr/>
          <p:nvPr/>
        </p:nvSpPr>
        <p:spPr>
          <a:xfrm>
            <a:off x="566928" y="1792224"/>
            <a:ext cx="2079894"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92224"/>
            <a:ext cx="2079894" cy="45720"/>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1938528"/>
            <a:ext cx="1897014" cy="658368"/>
          </a:xfrm>
          <a:prstGeom prst="rect">
            <a:avLst/>
          </a:prstGeom>
          <a:noFill/>
        </p:spPr>
        <p:txBody>
          <a:bodyPr wrap="square" anchor="t" lIns="0" rIns="0" tIns="0" bIns="0">
            <a:spAutoFit/>
          </a:bodyPr>
          <a:lstStyle/>
          <a:p>
            <a:pPr algn="ctr">
              <a:lnSpc>
                <a:spcPct val="100000"/>
              </a:lnSpc>
              <a:spcBef>
                <a:spcPts val="0"/>
              </a:spcBef>
              <a:spcAft>
                <a:spcPts val="100"/>
              </a:spcAft>
            </a:pPr>
            <a:r>
              <a:rPr sz="1700" b="1" i="0">
                <a:solidFill>
                  <a:srgbClr val="6B7684"/>
                </a:solidFill>
                <a:latin typeface="Consolas"/>
              </a:rPr>
              <a:t>99.89</a:t>
            </a:r>
          </a:p>
          <a:p>
            <a:pPr algn="ctr">
              <a:spcBef>
                <a:spcPts val="0"/>
              </a:spcBef>
              <a:spcAft>
                <a:spcPts val="0"/>
              </a:spcAft>
            </a:pPr>
            <a:r>
              <a:rPr sz="880" b="0" i="0">
                <a:solidFill>
                  <a:srgbClr val="6B7684"/>
                </a:solidFill>
                <a:latin typeface="Segoe UI"/>
              </a:rPr>
              <a:t>detection score</a:t>
            </a:r>
          </a:p>
        </p:txBody>
      </p:sp>
      <p:sp>
        <p:nvSpPr>
          <p:cNvPr id="12" name="TextBox 11"/>
          <p:cNvSpPr txBox="1"/>
          <p:nvPr/>
        </p:nvSpPr>
        <p:spPr>
          <a:xfrm>
            <a:off x="2660538" y="2084831"/>
            <a:ext cx="137160" cy="274320"/>
          </a:xfrm>
          <a:prstGeom prst="rect">
            <a:avLst/>
          </a:prstGeom>
          <a:noFill/>
        </p:spPr>
        <p:txBody>
          <a:bodyPr wrap="square" anchor="t" lIns="0" rIns="0" tIns="0" bIns="0">
            <a:spAutoFit/>
          </a:bodyPr>
          <a:lstStyle/>
          <a:p>
            <a:pPr algn="ctr">
              <a:spcBef>
                <a:spcPts val="0"/>
              </a:spcBef>
              <a:spcAft>
                <a:spcPts val="0"/>
              </a:spcAft>
            </a:pPr>
            <a:r>
              <a:rPr sz="1500" b="1" i="0">
                <a:solidFill>
                  <a:srgbClr val="9AA4B0"/>
                </a:solidFill>
                <a:latin typeface="Segoe UI"/>
              </a:rPr>
              <a:t>›</a:t>
            </a:r>
          </a:p>
        </p:txBody>
      </p:sp>
      <p:sp>
        <p:nvSpPr>
          <p:cNvPr id="13" name="Rectangle 12"/>
          <p:cNvSpPr/>
          <p:nvPr/>
        </p:nvSpPr>
        <p:spPr>
          <a:xfrm>
            <a:off x="2811414" y="1792224"/>
            <a:ext cx="2079894"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811414" y="1792224"/>
            <a:ext cx="207989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02854" y="1938528"/>
            <a:ext cx="1897014" cy="658368"/>
          </a:xfrm>
          <a:prstGeom prst="rect">
            <a:avLst/>
          </a:prstGeom>
          <a:noFill/>
        </p:spPr>
        <p:txBody>
          <a:bodyPr wrap="square" anchor="t" lIns="0" rIns="0" tIns="0" bIns="0">
            <a:spAutoFit/>
          </a:bodyPr>
          <a:lstStyle/>
          <a:p>
            <a:pPr algn="ctr">
              <a:lnSpc>
                <a:spcPct val="100000"/>
              </a:lnSpc>
              <a:spcBef>
                <a:spcPts val="0"/>
              </a:spcBef>
              <a:spcAft>
                <a:spcPts val="100"/>
              </a:spcAft>
            </a:pPr>
            <a:r>
              <a:rPr sz="1700" b="1" i="0">
                <a:solidFill>
                  <a:srgbClr val="1F6FEB"/>
                </a:solidFill>
                <a:latin typeface="Consolas"/>
              </a:rPr>
              <a:t>−30.00</a:t>
            </a:r>
          </a:p>
          <a:p>
            <a:pPr algn="ctr">
              <a:spcBef>
                <a:spcPts val="0"/>
              </a:spcBef>
              <a:spcAft>
                <a:spcPts val="0"/>
              </a:spcAft>
            </a:pPr>
            <a:r>
              <a:rPr sz="880" b="0" i="0">
                <a:solidFill>
                  <a:srgbClr val="6B7684"/>
                </a:solidFill>
                <a:latin typeface="Segoe UI"/>
              </a:rPr>
              <a:t>requested</a:t>
            </a:r>
          </a:p>
        </p:txBody>
      </p:sp>
      <p:sp>
        <p:nvSpPr>
          <p:cNvPr id="16" name="TextBox 15"/>
          <p:cNvSpPr txBox="1"/>
          <p:nvPr/>
        </p:nvSpPr>
        <p:spPr>
          <a:xfrm>
            <a:off x="4905024" y="2084831"/>
            <a:ext cx="137160" cy="274320"/>
          </a:xfrm>
          <a:prstGeom prst="rect">
            <a:avLst/>
          </a:prstGeom>
          <a:noFill/>
        </p:spPr>
        <p:txBody>
          <a:bodyPr wrap="square" anchor="t" lIns="0" rIns="0" tIns="0" bIns="0">
            <a:spAutoFit/>
          </a:bodyPr>
          <a:lstStyle/>
          <a:p>
            <a:pPr algn="ctr">
              <a:spcBef>
                <a:spcPts val="0"/>
              </a:spcBef>
              <a:spcAft>
                <a:spcPts val="0"/>
              </a:spcAft>
            </a:pPr>
            <a:r>
              <a:rPr sz="1500" b="1" i="0">
                <a:solidFill>
                  <a:srgbClr val="9AA4B0"/>
                </a:solidFill>
                <a:latin typeface="Segoe UI"/>
              </a:rPr>
              <a:t>›</a:t>
            </a:r>
          </a:p>
        </p:txBody>
      </p:sp>
      <p:sp>
        <p:nvSpPr>
          <p:cNvPr id="17" name="Rectangle 16"/>
          <p:cNvSpPr/>
          <p:nvPr/>
        </p:nvSpPr>
        <p:spPr>
          <a:xfrm>
            <a:off x="5055900" y="1792224"/>
            <a:ext cx="2079894"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055900" y="1792224"/>
            <a:ext cx="2079894" cy="45720"/>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47340" y="1938528"/>
            <a:ext cx="1897014" cy="658368"/>
          </a:xfrm>
          <a:prstGeom prst="rect">
            <a:avLst/>
          </a:prstGeom>
          <a:noFill/>
        </p:spPr>
        <p:txBody>
          <a:bodyPr wrap="square" anchor="t" lIns="0" rIns="0" tIns="0" bIns="0">
            <a:spAutoFit/>
          </a:bodyPr>
          <a:lstStyle/>
          <a:p>
            <a:pPr algn="ctr">
              <a:lnSpc>
                <a:spcPct val="100000"/>
              </a:lnSpc>
              <a:spcBef>
                <a:spcPts val="0"/>
              </a:spcBef>
              <a:spcAft>
                <a:spcPts val="100"/>
              </a:spcAft>
            </a:pPr>
            <a:r>
              <a:rPr sz="1700" b="1" i="0">
                <a:solidFill>
                  <a:srgbClr val="B06A00"/>
                </a:solidFill>
                <a:latin typeface="Consolas"/>
              </a:rPr>
              <a:t>floor 70</a:t>
            </a:r>
          </a:p>
          <a:p>
            <a:pPr algn="ctr">
              <a:spcBef>
                <a:spcPts val="0"/>
              </a:spcBef>
              <a:spcAft>
                <a:spcPts val="0"/>
              </a:spcAft>
            </a:pPr>
            <a:r>
              <a:rPr sz="880" b="0" i="0">
                <a:solidFill>
                  <a:srgbClr val="6B7684"/>
                </a:solidFill>
                <a:latin typeface="Segoe UI"/>
              </a:rPr>
              <a:t>bound by</a:t>
            </a:r>
          </a:p>
        </p:txBody>
      </p:sp>
      <p:sp>
        <p:nvSpPr>
          <p:cNvPr id="20" name="TextBox 19"/>
          <p:cNvSpPr txBox="1"/>
          <p:nvPr/>
        </p:nvSpPr>
        <p:spPr>
          <a:xfrm>
            <a:off x="7149510" y="2084831"/>
            <a:ext cx="137160" cy="274320"/>
          </a:xfrm>
          <a:prstGeom prst="rect">
            <a:avLst/>
          </a:prstGeom>
          <a:noFill/>
        </p:spPr>
        <p:txBody>
          <a:bodyPr wrap="square" anchor="t" lIns="0" rIns="0" tIns="0" bIns="0">
            <a:spAutoFit/>
          </a:bodyPr>
          <a:lstStyle/>
          <a:p>
            <a:pPr algn="ctr">
              <a:spcBef>
                <a:spcPts val="0"/>
              </a:spcBef>
              <a:spcAft>
                <a:spcPts val="0"/>
              </a:spcAft>
            </a:pPr>
            <a:r>
              <a:rPr sz="1500" b="1" i="0">
                <a:solidFill>
                  <a:srgbClr val="9AA4B0"/>
                </a:solidFill>
                <a:latin typeface="Segoe UI"/>
              </a:rPr>
              <a:t>›</a:t>
            </a:r>
          </a:p>
        </p:txBody>
      </p:sp>
      <p:sp>
        <p:nvSpPr>
          <p:cNvPr id="21" name="Rectangle 20"/>
          <p:cNvSpPr/>
          <p:nvPr/>
        </p:nvSpPr>
        <p:spPr>
          <a:xfrm>
            <a:off x="7300386" y="1792224"/>
            <a:ext cx="2079894"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300386" y="1792224"/>
            <a:ext cx="207989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91826" y="1938528"/>
            <a:ext cx="1897014" cy="658368"/>
          </a:xfrm>
          <a:prstGeom prst="rect">
            <a:avLst/>
          </a:prstGeom>
          <a:noFill/>
        </p:spPr>
        <p:txBody>
          <a:bodyPr wrap="square" anchor="t" lIns="0" rIns="0" tIns="0" bIns="0">
            <a:spAutoFit/>
          </a:bodyPr>
          <a:lstStyle/>
          <a:p>
            <a:pPr algn="ctr">
              <a:lnSpc>
                <a:spcPct val="100000"/>
              </a:lnSpc>
              <a:spcBef>
                <a:spcPts val="0"/>
              </a:spcBef>
              <a:spcAft>
                <a:spcPts val="100"/>
              </a:spcAft>
            </a:pPr>
            <a:r>
              <a:rPr sz="1700" b="1" i="0">
                <a:solidFill>
                  <a:srgbClr val="1F6FEB"/>
                </a:solidFill>
                <a:latin typeface="Consolas"/>
              </a:rPr>
              <a:t>−29.89</a:t>
            </a:r>
          </a:p>
          <a:p>
            <a:pPr algn="ctr">
              <a:spcBef>
                <a:spcPts val="0"/>
              </a:spcBef>
              <a:spcAft>
                <a:spcPts val="0"/>
              </a:spcAft>
            </a:pPr>
            <a:r>
              <a:rPr sz="880" b="0" i="0">
                <a:solidFill>
                  <a:srgbClr val="6B7684"/>
                </a:solidFill>
                <a:latin typeface="Segoe UI"/>
              </a:rPr>
              <a:t>applied</a:t>
            </a:r>
          </a:p>
        </p:txBody>
      </p:sp>
      <p:sp>
        <p:nvSpPr>
          <p:cNvPr id="24" name="TextBox 23"/>
          <p:cNvSpPr txBox="1"/>
          <p:nvPr/>
        </p:nvSpPr>
        <p:spPr>
          <a:xfrm>
            <a:off x="9393996" y="2084831"/>
            <a:ext cx="137160" cy="274320"/>
          </a:xfrm>
          <a:prstGeom prst="rect">
            <a:avLst/>
          </a:prstGeom>
          <a:noFill/>
        </p:spPr>
        <p:txBody>
          <a:bodyPr wrap="square" anchor="t" lIns="0" rIns="0" tIns="0" bIns="0">
            <a:spAutoFit/>
          </a:bodyPr>
          <a:lstStyle/>
          <a:p>
            <a:pPr algn="ctr">
              <a:spcBef>
                <a:spcPts val="0"/>
              </a:spcBef>
              <a:spcAft>
                <a:spcPts val="0"/>
              </a:spcAft>
            </a:pPr>
            <a:r>
              <a:rPr sz="1500" b="1" i="0">
                <a:solidFill>
                  <a:srgbClr val="9AA4B0"/>
                </a:solidFill>
                <a:latin typeface="Segoe UI"/>
              </a:rPr>
              <a:t>›</a:t>
            </a:r>
          </a:p>
        </p:txBody>
      </p:sp>
      <p:sp>
        <p:nvSpPr>
          <p:cNvPr id="25" name="Rectangle 24"/>
          <p:cNvSpPr/>
          <p:nvPr/>
        </p:nvSpPr>
        <p:spPr>
          <a:xfrm>
            <a:off x="9544872" y="1792224"/>
            <a:ext cx="2079894"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544872" y="1792224"/>
            <a:ext cx="2079894"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36312" y="1938528"/>
            <a:ext cx="1897014" cy="658368"/>
          </a:xfrm>
          <a:prstGeom prst="rect">
            <a:avLst/>
          </a:prstGeom>
          <a:noFill/>
        </p:spPr>
        <p:txBody>
          <a:bodyPr wrap="square" anchor="t" lIns="0" rIns="0" tIns="0" bIns="0">
            <a:spAutoFit/>
          </a:bodyPr>
          <a:lstStyle/>
          <a:p>
            <a:pPr algn="ctr">
              <a:lnSpc>
                <a:spcPct val="100000"/>
              </a:lnSpc>
              <a:spcBef>
                <a:spcPts val="0"/>
              </a:spcBef>
              <a:spcAft>
                <a:spcPts val="100"/>
              </a:spcAft>
            </a:pPr>
            <a:r>
              <a:rPr sz="1700" b="1" i="0">
                <a:solidFill>
                  <a:srgbClr val="1E7A45"/>
                </a:solidFill>
                <a:latin typeface="Consolas"/>
              </a:rPr>
              <a:t>70.00</a:t>
            </a:r>
          </a:p>
          <a:p>
            <a:pPr algn="ctr">
              <a:spcBef>
                <a:spcPts val="0"/>
              </a:spcBef>
              <a:spcAft>
                <a:spcPts val="0"/>
              </a:spcAft>
            </a:pPr>
            <a:r>
              <a:rPr sz="880" b="0" i="0">
                <a:solidFill>
                  <a:srgbClr val="6B7684"/>
                </a:solidFill>
                <a:latin typeface="Segoe UI"/>
              </a:rPr>
              <a:t>final score</a:t>
            </a:r>
          </a:p>
        </p:txBody>
      </p:sp>
      <p:graphicFrame>
        <p:nvGraphicFramePr>
          <p:cNvPr id="28" name="Table 27"/>
          <p:cNvGraphicFramePr>
            <a:graphicFrameLocks noGrp="1"/>
          </p:cNvGraphicFramePr>
          <p:nvPr/>
        </p:nvGraphicFramePr>
        <p:xfrm>
          <a:off x="566928" y="2852928"/>
          <a:ext cx="11055096" cy="1938528"/>
        </p:xfrm>
        <a:graphic>
          <a:graphicData uri="http://schemas.openxmlformats.org/drawingml/2006/table">
            <a:tbl>
              <a:tblPr firstRow="0" bandRow="0"/>
              <a:tblGrid>
                <a:gridCol w="2788920"/>
                <a:gridCol w="2423160"/>
                <a:gridCol w="960120"/>
                <a:gridCol w="1234440"/>
                <a:gridCol w="3648456"/>
              </a:tblGrid>
              <a:tr h="292608">
                <a:tc>
                  <a:txBody>
                    <a:bodyPr wrap="square"/>
                    <a:lstStyle/>
                    <a:p>
                      <a:pPr algn="l"/>
                      <a:r>
                        <a:rPr sz="880" b="1">
                          <a:solidFill>
                            <a:srgbClr val="FFFFFF"/>
                          </a:solidFill>
                          <a:latin typeface="Segoe UI"/>
                        </a:rPr>
                        <a:t>Verdict (what the analyst clicks)</a:t>
                      </a:r>
                    </a:p>
                  </a:txBody>
                  <a:tcPr marL="82296" marR="82296" marT="13716" marB="13716" anchor="ctr">
                    <a:solidFill>
                      <a:srgbClr val="0F2A47"/>
                    </a:solidFill>
                  </a:tcPr>
                </a:tc>
                <a:tc>
                  <a:txBody>
                    <a:bodyPr wrap="square"/>
                    <a:lstStyle/>
                    <a:p>
                      <a:pPr algn="l"/>
                      <a:r>
                        <a:rPr sz="880" b="1">
                          <a:solidFill>
                            <a:srgbClr val="FFFFFF"/>
                          </a:solidFill>
                          <a:latin typeface="Segoe UI"/>
                        </a:rPr>
                        <a:t>API category</a:t>
                      </a:r>
                    </a:p>
                  </a:txBody>
                  <a:tcPr marL="82296" marR="82296" marT="13716" marB="13716" anchor="ctr">
                    <a:solidFill>
                      <a:srgbClr val="0F2A47"/>
                    </a:solidFill>
                  </a:tcPr>
                </a:tc>
                <a:tc>
                  <a:txBody>
                    <a:bodyPr wrap="square"/>
                    <a:lstStyle/>
                    <a:p>
                      <a:pPr algn="r"/>
                      <a:r>
                        <a:rPr sz="880" b="1">
                          <a:solidFill>
                            <a:srgbClr val="FFFFFF"/>
                          </a:solidFill>
                          <a:latin typeface="Segoe UI"/>
                        </a:rPr>
                        <a:t>Requests</a:t>
                      </a:r>
                    </a:p>
                  </a:txBody>
                  <a:tcPr marL="82296" marR="82296" marT="13716" marB="13716" anchor="ctr">
                    <a:solidFill>
                      <a:srgbClr val="0F2A47"/>
                    </a:solidFill>
                  </a:tcPr>
                </a:tc>
                <a:tc>
                  <a:txBody>
                    <a:bodyPr wrap="square"/>
                    <a:lstStyle/>
                    <a:p>
                      <a:pPr algn="l"/>
                      <a:r>
                        <a:rPr sz="880" b="1">
                          <a:solidFill>
                            <a:srgbClr val="FFFFFF"/>
                          </a:solidFill>
                          <a:latin typeface="Segoe UI"/>
                        </a:rPr>
                        <a:t>Forces review</a:t>
                      </a:r>
                    </a:p>
                  </a:txBody>
                  <a:tcPr marL="82296" marR="82296" marT="13716" marB="13716" anchor="ctr">
                    <a:solidFill>
                      <a:srgbClr val="0F2A47"/>
                    </a:solidFill>
                  </a:tcPr>
                </a:tc>
                <a:tc>
                  <a:txBody>
                    <a:bodyPr wrap="square"/>
                    <a:lstStyle/>
                    <a:p>
                      <a:pPr algn="l"/>
                      <a:r>
                        <a:rPr sz="880" b="1">
                          <a:solidFill>
                            <a:srgbClr val="FFFFFF"/>
                          </a:solidFill>
                          <a:latin typeface="Segoe UI"/>
                        </a:rPr>
                        <a:t>Teaches its family</a:t>
                      </a:r>
                    </a:p>
                  </a:txBody>
                  <a:tcPr marL="82296" marR="82296" marT="13716" marB="13716" anchor="ctr">
                    <a:solidFill>
                      <a:srgbClr val="0F2A47"/>
                    </a:solidFill>
                  </a:tcPr>
                </a:tc>
              </a:tr>
              <a:tr h="329184">
                <a:tc>
                  <a:txBody>
                    <a:bodyPr wrap="square"/>
                    <a:lstStyle/>
                    <a:p>
                      <a:pPr algn="l"/>
                      <a:r>
                        <a:rPr sz="930" b="0">
                          <a:solidFill>
                            <a:srgbClr val="2A3441"/>
                          </a:solidFill>
                          <a:latin typeface="Segoe UI"/>
                        </a:rPr>
                        <a:t>True Positive</a:t>
                      </a:r>
                    </a:p>
                  </a:txBody>
                  <a:tcPr marL="82296" marR="82296" marT="13716" marB="13716" anchor="ctr">
                    <a:solidFill>
                      <a:srgbClr val="FFFFFF"/>
                    </a:solidFill>
                  </a:tcPr>
                </a:tc>
                <a:tc>
                  <a:txBody>
                    <a:bodyPr wrap="square"/>
                    <a:lstStyle/>
                    <a:p>
                      <a:pPr algn="l"/>
                      <a:r>
                        <a:rPr sz="930" b="0">
                          <a:solidFill>
                            <a:srgbClr val="2A3441"/>
                          </a:solidFill>
                          <a:latin typeface="Consolas"/>
                        </a:rPr>
                        <a:t>confirm_true_positive</a:t>
                      </a:r>
                    </a:p>
                  </a:txBody>
                  <a:tcPr marL="82296" marR="82296" marT="13716" marB="13716" anchor="ctr">
                    <a:solidFill>
                      <a:srgbClr val="FFFFFF"/>
                    </a:solidFill>
                  </a:tcPr>
                </a:tc>
                <a:tc>
                  <a:txBody>
                    <a:bodyPr wrap="square"/>
                    <a:lstStyle/>
                    <a:p>
                      <a:pPr algn="r"/>
                      <a:r>
                        <a:rPr sz="930" b="0">
                          <a:solidFill>
                            <a:srgbClr val="2A3441"/>
                          </a:solidFill>
                          <a:latin typeface="Consolas"/>
                        </a:rPr>
                        <a:t>+10</a:t>
                      </a:r>
                    </a:p>
                  </a:txBody>
                  <a:tcPr marL="82296" marR="82296" marT="13716" marB="13716" anchor="ctr">
                    <a:solidFill>
                      <a:srgbClr val="FFFFFF"/>
                    </a:solidFill>
                  </a:tcPr>
                </a:tc>
                <a:tc>
                  <a:txBody>
                    <a:bodyPr wrap="square"/>
                    <a:lstStyle/>
                    <a:p>
                      <a:pPr algn="l"/>
                      <a:r>
                        <a:rPr sz="930" b="0">
                          <a:solidFill>
                            <a:srgbClr val="2A3441"/>
                          </a:solidFill>
                          <a:latin typeface="Segoe UI"/>
                        </a:rPr>
                        <a:t>yes</a:t>
                      </a:r>
                    </a:p>
                  </a:txBody>
                  <a:tcPr marL="82296" marR="82296" marT="13716" marB="13716" anchor="ctr">
                    <a:solidFill>
                      <a:srgbClr val="FFFFFF"/>
                    </a:solidFill>
                  </a:tcPr>
                </a:tc>
                <a:tc>
                  <a:txBody>
                    <a:bodyPr wrap="square"/>
                    <a:lstStyle/>
                    <a:p>
                      <a:pPr algn="l"/>
                      <a:r>
                        <a:rPr sz="930" b="0">
                          <a:solidFill>
                            <a:srgbClr val="2A3441"/>
                          </a:solidFill>
                          <a:latin typeface="Segoe UI"/>
                        </a:rPr>
                        <a:t>yes — as a confirmation</a:t>
                      </a:r>
                    </a:p>
                  </a:txBody>
                  <a:tcPr marL="82296" marR="82296" marT="13716" marB="13716" anchor="ctr">
                    <a:solidFill>
                      <a:srgbClr val="FFFFFF"/>
                    </a:solidFill>
                  </a:tcPr>
                </a:tc>
              </a:tr>
              <a:tr h="329184">
                <a:tc>
                  <a:txBody>
                    <a:bodyPr wrap="square"/>
                    <a:lstStyle/>
                    <a:p>
                      <a:pPr algn="l"/>
                      <a:r>
                        <a:rPr sz="930" b="0">
                          <a:solidFill>
                            <a:srgbClr val="2A3441"/>
                          </a:solidFill>
                          <a:latin typeface="Segoe UI"/>
                        </a:rPr>
                        <a:t>Escalate to Tier 2</a:t>
                      </a:r>
                    </a:p>
                  </a:txBody>
                  <a:tcPr marL="82296" marR="82296" marT="13716" marB="13716" anchor="ctr">
                    <a:solidFill>
                      <a:srgbClr val="F4F7FB"/>
                    </a:solidFill>
                  </a:tcPr>
                </a:tc>
                <a:tc>
                  <a:txBody>
                    <a:bodyPr wrap="square"/>
                    <a:lstStyle/>
                    <a:p>
                      <a:pPr algn="l"/>
                      <a:r>
                        <a:rPr sz="930" b="0">
                          <a:solidFill>
                            <a:srgbClr val="2A3441"/>
                          </a:solidFill>
                          <a:latin typeface="Consolas"/>
                        </a:rPr>
                        <a:t>escalate</a:t>
                      </a:r>
                    </a:p>
                  </a:txBody>
                  <a:tcPr marL="82296" marR="82296" marT="13716" marB="13716" anchor="ctr">
                    <a:solidFill>
                      <a:srgbClr val="F4F7FB"/>
                    </a:solidFill>
                  </a:tcPr>
                </a:tc>
                <a:tc>
                  <a:txBody>
                    <a:bodyPr wrap="square"/>
                    <a:lstStyle/>
                    <a:p>
                      <a:pPr algn="r"/>
                      <a:r>
                        <a:rPr sz="930" b="0">
                          <a:solidFill>
                            <a:srgbClr val="2A3441"/>
                          </a:solidFill>
                          <a:latin typeface="Consolas"/>
                        </a:rPr>
                        <a:t>+15</a:t>
                      </a:r>
                    </a:p>
                  </a:txBody>
                  <a:tcPr marL="82296" marR="82296" marT="13716" marB="13716" anchor="ctr">
                    <a:solidFill>
                      <a:srgbClr val="F4F7FB"/>
                    </a:solidFill>
                  </a:tcPr>
                </a:tc>
                <a:tc>
                  <a:txBody>
                    <a:bodyPr wrap="square"/>
                    <a:lstStyle/>
                    <a:p>
                      <a:pPr algn="l"/>
                      <a:r>
                        <a:rPr sz="930" b="0">
                          <a:solidFill>
                            <a:srgbClr val="2A3441"/>
                          </a:solidFill>
                          <a:latin typeface="Segoe UI"/>
                        </a:rPr>
                        <a:t>yes</a:t>
                      </a:r>
                    </a:p>
                  </a:txBody>
                  <a:tcPr marL="82296" marR="82296" marT="13716" marB="13716" anchor="ctr">
                    <a:solidFill>
                      <a:srgbClr val="F4F7FB"/>
                    </a:solidFill>
                  </a:tcPr>
                </a:tc>
                <a:tc>
                  <a:txBody>
                    <a:bodyPr wrap="square"/>
                    <a:lstStyle/>
                    <a:p>
                      <a:pPr algn="l"/>
                      <a:r>
                        <a:rPr sz="930" b="0">
                          <a:solidFill>
                            <a:srgbClr val="2A3441"/>
                          </a:solidFill>
                          <a:latin typeface="Segoe UI"/>
                        </a:rPr>
                        <a:t>yes — counts as a confirmation (v1.14)</a:t>
                      </a:r>
                    </a:p>
                  </a:txBody>
                  <a:tcPr marL="82296" marR="82296" marT="13716" marB="13716" anchor="ctr">
                    <a:solidFill>
                      <a:srgbClr val="F4F7FB"/>
                    </a:solidFill>
                  </a:tcPr>
                </a:tc>
              </a:tr>
              <a:tr h="329184">
                <a:tc>
                  <a:txBody>
                    <a:bodyPr wrap="square"/>
                    <a:lstStyle/>
                    <a:p>
                      <a:pPr algn="l"/>
                      <a:r>
                        <a:rPr sz="930" b="0">
                          <a:solidFill>
                            <a:srgbClr val="2A3441"/>
                          </a:solidFill>
                          <a:latin typeface="Segoe UI"/>
                        </a:rPr>
                        <a:t>Needs investigation</a:t>
                      </a:r>
                    </a:p>
                  </a:txBody>
                  <a:tcPr marL="82296" marR="82296" marT="13716" marB="13716" anchor="ctr">
                    <a:solidFill>
                      <a:srgbClr val="FFFFFF"/>
                    </a:solidFill>
                  </a:tcPr>
                </a:tc>
                <a:tc>
                  <a:txBody>
                    <a:bodyPr wrap="square"/>
                    <a:lstStyle/>
                    <a:p>
                      <a:pPr algn="l"/>
                      <a:r>
                        <a:rPr sz="930" b="0">
                          <a:solidFill>
                            <a:srgbClr val="2A3441"/>
                          </a:solidFill>
                          <a:latin typeface="Consolas"/>
                        </a:rPr>
                        <a:t>needs_investigation</a:t>
                      </a:r>
                    </a:p>
                  </a:txBody>
                  <a:tcPr marL="82296" marR="82296" marT="13716" marB="13716" anchor="ctr">
                    <a:solidFill>
                      <a:srgbClr val="FFFFFF"/>
                    </a:solidFill>
                  </a:tcPr>
                </a:tc>
                <a:tc>
                  <a:txBody>
                    <a:bodyPr wrap="square"/>
                    <a:lstStyle/>
                    <a:p>
                      <a:pPr algn="r"/>
                      <a:r>
                        <a:rPr sz="930" b="0">
                          <a:solidFill>
                            <a:srgbClr val="2A3441"/>
                          </a:solidFill>
                          <a:latin typeface="Consolas"/>
                        </a:rPr>
                        <a:t>0</a:t>
                      </a:r>
                    </a:p>
                  </a:txBody>
                  <a:tcPr marL="82296" marR="82296" marT="13716" marB="13716" anchor="ctr">
                    <a:solidFill>
                      <a:srgbClr val="FFFFFF"/>
                    </a:solidFill>
                  </a:tcPr>
                </a:tc>
                <a:tc>
                  <a:txBody>
                    <a:bodyPr wrap="square"/>
                    <a:lstStyle/>
                    <a:p>
                      <a:pPr algn="l"/>
                      <a:r>
                        <a:rPr sz="930" b="0">
                          <a:solidFill>
                            <a:srgbClr val="2A3441"/>
                          </a:solidFill>
                          <a:latin typeface="Segoe UI"/>
                        </a:rPr>
                        <a:t>yes</a:t>
                      </a:r>
                    </a:p>
                  </a:txBody>
                  <a:tcPr marL="82296" marR="82296" marT="13716" marB="13716" anchor="ctr">
                    <a:solidFill>
                      <a:srgbClr val="FFFFFF"/>
                    </a:solidFill>
                  </a:tcPr>
                </a:tc>
                <a:tc>
                  <a:txBody>
                    <a:bodyPr wrap="square"/>
                    <a:lstStyle/>
                    <a:p>
                      <a:pPr algn="l"/>
                      <a:r>
                        <a:rPr sz="930" b="0">
                          <a:solidFill>
                            <a:srgbClr val="2A3441"/>
                          </a:solidFill>
                          <a:latin typeface="Segoe UI"/>
                        </a:rPr>
                        <a:t>no — teaches nothing</a:t>
                      </a:r>
                    </a:p>
                  </a:txBody>
                  <a:tcPr marL="82296" marR="82296" marT="13716" marB="13716" anchor="ctr">
                    <a:solidFill>
                      <a:srgbClr val="FFFFFF"/>
                    </a:solidFill>
                  </a:tcPr>
                </a:tc>
              </a:tr>
              <a:tr h="329184">
                <a:tc>
                  <a:txBody>
                    <a:bodyPr wrap="square"/>
                    <a:lstStyle/>
                    <a:p>
                      <a:pPr algn="l"/>
                      <a:r>
                        <a:rPr sz="930" b="0">
                          <a:solidFill>
                            <a:srgbClr val="2A3441"/>
                          </a:solidFill>
                          <a:latin typeface="Segoe UI"/>
                        </a:rPr>
                        <a:t>Benign Positive</a:t>
                      </a:r>
                    </a:p>
                  </a:txBody>
                  <a:tcPr marL="82296" marR="82296" marT="13716" marB="13716" anchor="ctr">
                    <a:solidFill>
                      <a:srgbClr val="F4F7FB"/>
                    </a:solidFill>
                  </a:tcPr>
                </a:tc>
                <a:tc>
                  <a:txBody>
                    <a:bodyPr wrap="square"/>
                    <a:lstStyle/>
                    <a:p>
                      <a:pPr algn="l"/>
                      <a:r>
                        <a:rPr sz="930" b="0">
                          <a:solidFill>
                            <a:srgbClr val="2A3441"/>
                          </a:solidFill>
                          <a:latin typeface="Consolas"/>
                        </a:rPr>
                        <a:t>mark_expected_activity</a:t>
                      </a:r>
                    </a:p>
                  </a:txBody>
                  <a:tcPr marL="82296" marR="82296" marT="13716" marB="13716" anchor="ctr">
                    <a:solidFill>
                      <a:srgbClr val="F4F7FB"/>
                    </a:solidFill>
                  </a:tcPr>
                </a:tc>
                <a:tc>
                  <a:txBody>
                    <a:bodyPr wrap="square"/>
                    <a:lstStyle/>
                    <a:p>
                      <a:pPr algn="r"/>
                      <a:r>
                        <a:rPr sz="930" b="0">
                          <a:solidFill>
                            <a:srgbClr val="2A3441"/>
                          </a:solidFill>
                          <a:latin typeface="Consolas"/>
                        </a:rPr>
                        <a:t>−15</a:t>
                      </a:r>
                    </a:p>
                  </a:txBody>
                  <a:tcPr marL="82296" marR="82296" marT="13716" marB="13716" anchor="ctr">
                    <a:solidFill>
                      <a:srgbClr val="F4F7FB"/>
                    </a:solidFill>
                  </a:tcPr>
                </a:tc>
                <a:tc>
                  <a:txBody>
                    <a:bodyPr wrap="square"/>
                    <a:lstStyle/>
                    <a:p>
                      <a:pPr algn="l"/>
                      <a:r>
                        <a:rPr sz="930" b="0">
                          <a:solidFill>
                            <a:srgbClr val="2A3441"/>
                          </a:solidFill>
                          <a:latin typeface="Segoe UI"/>
                        </a:rPr>
                        <a:t>no</a:t>
                      </a:r>
                    </a:p>
                  </a:txBody>
                  <a:tcPr marL="82296" marR="82296" marT="13716" marB="13716" anchor="ctr">
                    <a:solidFill>
                      <a:srgbClr val="F4F7FB"/>
                    </a:solidFill>
                  </a:tcPr>
                </a:tc>
                <a:tc>
                  <a:txBody>
                    <a:bodyPr wrap="square"/>
                    <a:lstStyle/>
                    <a:p>
                      <a:pPr algn="l"/>
                      <a:r>
                        <a:rPr sz="930" b="0">
                          <a:solidFill>
                            <a:srgbClr val="2A3441"/>
                          </a:solidFill>
                          <a:latin typeface="Segoe UI"/>
                        </a:rPr>
                        <a:t>only past a stricter gate, off by default</a:t>
                      </a:r>
                    </a:p>
                  </a:txBody>
                  <a:tcPr marL="82296" marR="82296" marT="13716" marB="13716" anchor="ctr">
                    <a:solidFill>
                      <a:srgbClr val="F4F7FB"/>
                    </a:solidFill>
                  </a:tcPr>
                </a:tc>
              </a:tr>
              <a:tr h="329184">
                <a:tc>
                  <a:txBody>
                    <a:bodyPr wrap="square"/>
                    <a:lstStyle/>
                    <a:p>
                      <a:pPr algn="l"/>
                      <a:r>
                        <a:rPr sz="930" b="0">
                          <a:solidFill>
                            <a:srgbClr val="2A3441"/>
                          </a:solidFill>
                          <a:latin typeface="Segoe UI"/>
                        </a:rPr>
                        <a:t>False Positive</a:t>
                      </a:r>
                    </a:p>
                  </a:txBody>
                  <a:tcPr marL="82296" marR="82296" marT="13716" marB="13716" anchor="ctr">
                    <a:solidFill>
                      <a:srgbClr val="FFFFFF"/>
                    </a:solidFill>
                  </a:tcPr>
                </a:tc>
                <a:tc>
                  <a:txBody>
                    <a:bodyPr wrap="square"/>
                    <a:lstStyle/>
                    <a:p>
                      <a:pPr algn="l"/>
                      <a:r>
                        <a:rPr sz="930" b="0">
                          <a:solidFill>
                            <a:srgbClr val="2A3441"/>
                          </a:solidFill>
                          <a:latin typeface="Consolas"/>
                        </a:rPr>
                        <a:t>mark_false_positive</a:t>
                      </a:r>
                    </a:p>
                  </a:txBody>
                  <a:tcPr marL="82296" marR="82296" marT="13716" marB="13716" anchor="ctr">
                    <a:solidFill>
                      <a:srgbClr val="FFFFFF"/>
                    </a:solidFill>
                  </a:tcPr>
                </a:tc>
                <a:tc>
                  <a:txBody>
                    <a:bodyPr wrap="square"/>
                    <a:lstStyle/>
                    <a:p>
                      <a:pPr algn="r"/>
                      <a:r>
                        <a:rPr sz="930" b="0">
                          <a:solidFill>
                            <a:srgbClr val="2A3441"/>
                          </a:solidFill>
                          <a:latin typeface="Consolas"/>
                        </a:rPr>
                        <a:t>−30</a:t>
                      </a:r>
                    </a:p>
                  </a:txBody>
                  <a:tcPr marL="82296" marR="82296" marT="13716" marB="13716" anchor="ctr">
                    <a:solidFill>
                      <a:srgbClr val="FFFFFF"/>
                    </a:solidFill>
                  </a:tcPr>
                </a:tc>
                <a:tc>
                  <a:txBody>
                    <a:bodyPr wrap="square"/>
                    <a:lstStyle/>
                    <a:p>
                      <a:pPr algn="l"/>
                      <a:r>
                        <a:rPr sz="930" b="0">
                          <a:solidFill>
                            <a:srgbClr val="2A3441"/>
                          </a:solidFill>
                          <a:latin typeface="Segoe UI"/>
                        </a:rPr>
                        <a:t>no</a:t>
                      </a:r>
                    </a:p>
                  </a:txBody>
                  <a:tcPr marL="82296" marR="82296" marT="13716" marB="13716" anchor="ctr">
                    <a:solidFill>
                      <a:srgbClr val="FFFFFF"/>
                    </a:solidFill>
                  </a:tcPr>
                </a:tc>
                <a:tc>
                  <a:txBody>
                    <a:bodyPr wrap="square"/>
                    <a:lstStyle/>
                    <a:p>
                      <a:pPr algn="l"/>
                      <a:r>
                        <a:rPr sz="930" b="0">
                          <a:solidFill>
                            <a:srgbClr val="2A3441"/>
                          </a:solidFill>
                          <a:latin typeface="Segoe UI"/>
                        </a:rPr>
                        <a:t>yes — as a dismissal</a:t>
                      </a:r>
                    </a:p>
                  </a:txBody>
                  <a:tcPr marL="82296" marR="82296" marT="13716" marB="13716" anchor="ctr">
                    <a:solidFill>
                      <a:srgbClr val="FFFFFF"/>
                    </a:solidFill>
                  </a:tcPr>
                </a:tc>
              </a:tr>
            </a:tbl>
          </a:graphicData>
        </a:graphic>
      </p:graphicFrame>
      <p:sp>
        <p:nvSpPr>
          <p:cNvPr id="29" name="Rectangle 28"/>
          <p:cNvSpPr/>
          <p:nvPr/>
        </p:nvSpPr>
        <p:spPr>
          <a:xfrm>
            <a:off x="566928" y="4828032"/>
            <a:ext cx="5419191"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828032"/>
            <a:ext cx="50292" cy="12070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4937760"/>
            <a:ext cx="5108295" cy="100584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The guardrails, in order</a:t>
            </a:r>
          </a:p>
          <a:p>
            <a:pPr algn="l">
              <a:lnSpc>
                <a:spcPct val="120000"/>
              </a:lnSpc>
              <a:spcBef>
                <a:spcPts val="0"/>
              </a:spcBef>
              <a:spcAft>
                <a:spcPts val="0"/>
              </a:spcAft>
            </a:pPr>
            <a:r>
              <a:rPr sz="930" b="0" i="0">
                <a:solidFill>
                  <a:srgbClr val="2A3441"/>
                </a:solidFill>
                <a:latin typeface="Segoe UI"/>
              </a:rPr>
              <a:t>1 · a disputed rule keeps its score and routes to the administrator.  2 · one verdict may move a score by at most −30 or +20.  3 · floors: Critical not below 70, Infiltration not below 75, and a floor never raises a score.  4 · the outcome is recorded with its reason.</a:t>
            </a:r>
          </a:p>
        </p:txBody>
      </p:sp>
      <p:sp>
        <p:nvSpPr>
          <p:cNvPr id="32" name="Rectangle 31"/>
          <p:cNvSpPr/>
          <p:nvPr/>
        </p:nvSpPr>
        <p:spPr>
          <a:xfrm>
            <a:off x="6205575" y="4828032"/>
            <a:ext cx="5419191"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05575" y="4828032"/>
            <a:ext cx="50292" cy="120700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8455" y="4937760"/>
            <a:ext cx="5108295" cy="100584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What was limited — and what was not</a:t>
            </a:r>
          </a:p>
          <a:p>
            <a:pPr algn="l">
              <a:lnSpc>
                <a:spcPct val="120000"/>
              </a:lnSpc>
              <a:spcBef>
                <a:spcPts val="0"/>
              </a:spcBef>
              <a:spcAft>
                <a:spcPts val="0"/>
              </a:spcAft>
            </a:pPr>
            <a:r>
              <a:rPr sz="930" b="0" i="0">
                <a:solidFill>
                  <a:srgbClr val="2A3441"/>
                </a:solidFill>
                <a:latin typeface="Segoe UI"/>
              </a:rPr>
              <a:t>The verdict is recorded in full and the alert is marked a false positive. What the floor limited is how far one verdict may move a score the detectors called critical. Verdicts do not stack: a new verdict supersedes the last, so a score is never more than one capped step from what detection said.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7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does one verdict move the alerts nobody judged?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product's central claim, as a measurement rather than a description.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29</a:t>
            </a:r>
          </a:p>
        </p:txBody>
      </p:sp>
      <p:sp>
        <p:nvSpPr>
          <p:cNvPr id="9" name="Rectangle 8"/>
          <p:cNvSpPr/>
          <p:nvPr/>
        </p:nvSpPr>
        <p:spPr>
          <a:xfrm>
            <a:off x="566928" y="1737360"/>
            <a:ext cx="11057839" cy="4572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773936"/>
            <a:ext cx="10655503" cy="384048"/>
          </a:xfrm>
          <a:prstGeom prst="rect">
            <a:avLst/>
          </a:prstGeom>
          <a:noFill/>
        </p:spPr>
        <p:txBody>
          <a:bodyPr wrap="square" anchor="ctr" lIns="0" rIns="0" tIns="0" bIns="0">
            <a:spAutoFit/>
          </a:bodyPr>
          <a:lstStyle/>
          <a:p>
            <a:pPr algn="l">
              <a:spcBef>
                <a:spcPts val="0"/>
              </a:spcBef>
              <a:spcAft>
                <a:spcPts val="0"/>
              </a:spcAft>
            </a:pPr>
            <a:r>
              <a:rPr sz="1019" b="1">
                <a:solidFill>
                  <a:srgbClr val="9FC3F0"/>
                </a:solidFill>
                <a:latin typeface="Segoe UI"/>
              </a:rPr>
              <a:t>WHAT COUNTS AS “SIMILAR”    </a:t>
            </a:r>
            <a:r>
              <a:rPr sz="1019" b="1">
                <a:solidFill>
                  <a:srgbClr val="FFFFFF"/>
                </a:solidFill>
                <a:latin typeface="Consolas"/>
              </a:rPr>
              <a:t>["Brute Force", 21, "tcp", "SIG-FTP-BRUTE-FORCE"]</a:t>
            </a:r>
            <a:r>
              <a:rPr sz="1019" b="0">
                <a:solidFill>
                  <a:srgbClr val="9FC3F0"/>
                </a:solidFill>
                <a:latin typeface="Segoe UI"/>
              </a:rPr>
              <a:t>     exact match on every field — no similarity score, no threshold</a:t>
            </a:r>
          </a:p>
        </p:txBody>
      </p:sp>
      <p:graphicFrame>
        <p:nvGraphicFramePr>
          <p:cNvPr id="11" name="Table 10"/>
          <p:cNvGraphicFramePr>
            <a:graphicFrameLocks noGrp="1"/>
          </p:cNvGraphicFramePr>
          <p:nvPr/>
        </p:nvGraphicFramePr>
        <p:xfrm>
          <a:off x="566928" y="2304288"/>
          <a:ext cx="5751575" cy="2194560"/>
        </p:xfrm>
        <a:graphic>
          <a:graphicData uri="http://schemas.openxmlformats.org/drawingml/2006/table">
            <a:tbl>
              <a:tblPr firstRow="0" bandRow="0"/>
              <a:tblGrid>
                <a:gridCol w="1481328"/>
                <a:gridCol w="1874519"/>
                <a:gridCol w="2395728"/>
              </a:tblGrid>
              <a:tr h="274320">
                <a:tc>
                  <a:txBody>
                    <a:bodyPr wrap="square"/>
                    <a:lstStyle/>
                    <a:p>
                      <a:pPr algn="l"/>
                      <a:r>
                        <a:rPr sz="840" b="1">
                          <a:solidFill>
                            <a:srgbClr val="FFFFFF"/>
                          </a:solidFill>
                          <a:latin typeface="Segoe UI"/>
                        </a:rPr>
                        <a:t>Field</a:t>
                      </a:r>
                    </a:p>
                  </a:txBody>
                  <a:tcPr marL="82296" marR="82296" marT="13716" marB="13716" anchor="ctr">
                    <a:solidFill>
                      <a:srgbClr val="0F2A47"/>
                    </a:solidFill>
                  </a:tcPr>
                </a:tc>
                <a:tc>
                  <a:txBody>
                    <a:bodyPr wrap="square"/>
                    <a:lstStyle/>
                    <a:p>
                      <a:pPr algn="l"/>
                      <a:r>
                        <a:rPr sz="840" b="1">
                          <a:solidFill>
                            <a:srgbClr val="FFFFFF"/>
                          </a:solidFill>
                          <a:latin typeface="Segoe UI"/>
                        </a:rPr>
                        <a:t>Must match</a:t>
                      </a:r>
                    </a:p>
                  </a:txBody>
                  <a:tcPr marL="82296" marR="82296" marT="13716" marB="13716" anchor="ctr">
                    <a:solidFill>
                      <a:srgbClr val="0F2A47"/>
                    </a:solidFill>
                  </a:tcPr>
                </a:tc>
                <a:tc>
                  <a:txBody>
                    <a:bodyPr wrap="square"/>
                    <a:lstStyle/>
                    <a:p>
                      <a:pPr algn="l"/>
                      <a:r>
                        <a:rPr sz="840" b="1">
                          <a:solidFill>
                            <a:srgbClr val="FFFFFF"/>
                          </a:solidFill>
                          <a:latin typeface="Segoe UI"/>
                        </a:rPr>
                        <a:t>Why it is in the key</a:t>
                      </a:r>
                    </a:p>
                  </a:txBody>
                  <a:tcPr marL="82296" marR="82296" marT="13716" marB="13716" anchor="ctr">
                    <a:solidFill>
                      <a:srgbClr val="0F2A47"/>
                    </a:solidFill>
                  </a:tcPr>
                </a:tc>
              </a:tr>
              <a:tr h="384048">
                <a:tc>
                  <a:txBody>
                    <a:bodyPr wrap="square"/>
                    <a:lstStyle/>
                    <a:p>
                      <a:pPr algn="l"/>
                      <a:r>
                        <a:rPr sz="890" b="0">
                          <a:solidFill>
                            <a:srgbClr val="2A3441"/>
                          </a:solidFill>
                          <a:latin typeface="Segoe UI"/>
                        </a:rPr>
                        <a:t>attack class</a:t>
                      </a:r>
                    </a:p>
                  </a:txBody>
                  <a:tcPr marL="82296" marR="82296" marT="13716" marB="13716" anchor="ctr">
                    <a:solidFill>
                      <a:srgbClr val="FFFFFF"/>
                    </a:solidFill>
                  </a:tcPr>
                </a:tc>
                <a:tc>
                  <a:txBody>
                    <a:bodyPr wrap="square"/>
                    <a:lstStyle/>
                    <a:p>
                      <a:pPr algn="l"/>
                      <a:r>
                        <a:rPr sz="890" b="0">
                          <a:solidFill>
                            <a:srgbClr val="2A3441"/>
                          </a:solidFill>
                          <a:latin typeface="Segoe UI"/>
                        </a:rPr>
                        <a:t>exactly</a:t>
                      </a:r>
                    </a:p>
                  </a:txBody>
                  <a:tcPr marL="82296" marR="82296" marT="13716" marB="13716" anchor="ctr">
                    <a:solidFill>
                      <a:srgbClr val="FFFFFF"/>
                    </a:solidFill>
                  </a:tcPr>
                </a:tc>
                <a:tc>
                  <a:txBody>
                    <a:bodyPr wrap="square"/>
                    <a:lstStyle/>
                    <a:p>
                      <a:pPr algn="l"/>
                      <a:r>
                        <a:rPr sz="890" b="0">
                          <a:solidFill>
                            <a:srgbClr val="2A3441"/>
                          </a:solidFill>
                          <a:latin typeface="Segoe UI"/>
                        </a:rPr>
                        <a:t>Two different attacks are not each other's evidence.</a:t>
                      </a:r>
                    </a:p>
                  </a:txBody>
                  <a:tcPr marL="82296" marR="82296" marT="13716" marB="13716" anchor="ctr">
                    <a:solidFill>
                      <a:srgbClr val="FFFFFF"/>
                    </a:solidFill>
                  </a:tcPr>
                </a:tc>
              </a:tr>
              <a:tr h="384048">
                <a:tc>
                  <a:txBody>
                    <a:bodyPr wrap="square"/>
                    <a:lstStyle/>
                    <a:p>
                      <a:pPr algn="l"/>
                      <a:r>
                        <a:rPr sz="890" b="0">
                          <a:solidFill>
                            <a:srgbClr val="2A3441"/>
                          </a:solidFill>
                          <a:latin typeface="Segoe UI"/>
                        </a:rPr>
                        <a:t>destination port</a:t>
                      </a:r>
                    </a:p>
                  </a:txBody>
                  <a:tcPr marL="82296" marR="82296" marT="13716" marB="13716" anchor="ctr">
                    <a:solidFill>
                      <a:srgbClr val="F4F7FB"/>
                    </a:solidFill>
                  </a:tcPr>
                </a:tc>
                <a:tc>
                  <a:txBody>
                    <a:bodyPr wrap="square"/>
                    <a:lstStyle/>
                    <a:p>
                      <a:pPr algn="l"/>
                      <a:r>
                        <a:rPr sz="890" b="0">
                          <a:solidFill>
                            <a:srgbClr val="2A3441"/>
                          </a:solidFill>
                          <a:latin typeface="Segoe UI"/>
                        </a:rPr>
                        <a:t>exactly</a:t>
                      </a:r>
                    </a:p>
                  </a:txBody>
                  <a:tcPr marL="82296" marR="82296" marT="13716" marB="13716" anchor="ctr">
                    <a:solidFill>
                      <a:srgbClr val="F4F7FB"/>
                    </a:solidFill>
                  </a:tcPr>
                </a:tc>
                <a:tc>
                  <a:txBody>
                    <a:bodyPr wrap="square"/>
                    <a:lstStyle/>
                    <a:p>
                      <a:pPr algn="l"/>
                      <a:r>
                        <a:rPr sz="890" b="0">
                          <a:solidFill>
                            <a:srgbClr val="2A3441"/>
                          </a:solidFill>
                          <a:latin typeface="Segoe UI"/>
                        </a:rPr>
                        <a:t>The service under attack. Same class, different port, different campaign.</a:t>
                      </a:r>
                    </a:p>
                  </a:txBody>
                  <a:tcPr marL="82296" marR="82296" marT="13716" marB="13716" anchor="ctr">
                    <a:solidFill>
                      <a:srgbClr val="F4F7FB"/>
                    </a:solidFill>
                  </a:tcPr>
                </a:tc>
              </a:tr>
              <a:tr h="384048">
                <a:tc>
                  <a:txBody>
                    <a:bodyPr wrap="square"/>
                    <a:lstStyle/>
                    <a:p>
                      <a:pPr algn="l"/>
                      <a:r>
                        <a:rPr sz="890" b="0">
                          <a:solidFill>
                            <a:srgbClr val="2A3441"/>
                          </a:solidFill>
                          <a:latin typeface="Segoe UI"/>
                        </a:rPr>
                        <a:t>protocol</a:t>
                      </a:r>
                    </a:p>
                  </a:txBody>
                  <a:tcPr marL="82296" marR="82296" marT="13716" marB="13716" anchor="ctr">
                    <a:solidFill>
                      <a:srgbClr val="FFFFFF"/>
                    </a:solidFill>
                  </a:tcPr>
                </a:tc>
                <a:tc>
                  <a:txBody>
                    <a:bodyPr wrap="square"/>
                    <a:lstStyle/>
                    <a:p>
                      <a:pPr algn="l"/>
                      <a:r>
                        <a:rPr sz="890" b="0">
                          <a:solidFill>
                            <a:srgbClr val="2A3441"/>
                          </a:solidFill>
                          <a:latin typeface="Segoe UI"/>
                        </a:rPr>
                        <a:t>exactly</a:t>
                      </a:r>
                    </a:p>
                  </a:txBody>
                  <a:tcPr marL="82296" marR="82296" marT="13716" marB="13716" anchor="ctr">
                    <a:solidFill>
                      <a:srgbClr val="FFFFFF"/>
                    </a:solidFill>
                  </a:tcPr>
                </a:tc>
                <a:tc>
                  <a:txBody>
                    <a:bodyPr wrap="square"/>
                    <a:lstStyle/>
                    <a:p>
                      <a:pPr algn="l"/>
                      <a:r>
                        <a:rPr sz="890" b="0">
                          <a:solidFill>
                            <a:srgbClr val="2A3441"/>
                          </a:solidFill>
                          <a:latin typeface="Segoe UI"/>
                        </a:rPr>
                        <a:t>Canonicalised as the collaborator's engine does: 6 → tcp.</a:t>
                      </a:r>
                    </a:p>
                  </a:txBody>
                  <a:tcPr marL="82296" marR="82296" marT="13716" marB="13716" anchor="ctr">
                    <a:solidFill>
                      <a:srgbClr val="FFFFFF"/>
                    </a:solidFill>
                  </a:tcPr>
                </a:tc>
              </a:tr>
              <a:tr h="384048">
                <a:tc>
                  <a:txBody>
                    <a:bodyPr wrap="square"/>
                    <a:lstStyle/>
                    <a:p>
                      <a:pPr algn="l"/>
                      <a:r>
                        <a:rPr sz="890" b="0">
                          <a:solidFill>
                            <a:srgbClr val="2A3441"/>
                          </a:solidFill>
                          <a:latin typeface="Segoe UI"/>
                        </a:rPr>
                        <a:t>first matched rule</a:t>
                      </a:r>
                    </a:p>
                  </a:txBody>
                  <a:tcPr marL="82296" marR="82296" marT="13716" marB="13716" anchor="ctr">
                    <a:solidFill>
                      <a:srgbClr val="F4F7FB"/>
                    </a:solidFill>
                  </a:tcPr>
                </a:tc>
                <a:tc>
                  <a:txBody>
                    <a:bodyPr wrap="square"/>
                    <a:lstStyle/>
                    <a:p>
                      <a:pPr algn="l"/>
                      <a:r>
                        <a:rPr sz="890" b="0">
                          <a:solidFill>
                            <a:srgbClr val="2A3441"/>
                          </a:solidFill>
                          <a:latin typeface="Segoe UI"/>
                        </a:rPr>
                        <a:t>exactly, or both absent</a:t>
                      </a:r>
                    </a:p>
                  </a:txBody>
                  <a:tcPr marL="82296" marR="82296" marT="13716" marB="13716" anchor="ctr">
                    <a:solidFill>
                      <a:srgbClr val="F4F7FB"/>
                    </a:solidFill>
                  </a:tcPr>
                </a:tc>
                <a:tc>
                  <a:txBody>
                    <a:bodyPr wrap="square"/>
                    <a:lstStyle/>
                    <a:p>
                      <a:pPr algn="l"/>
                      <a:r>
                        <a:rPr sz="890" b="0">
                          <a:solidFill>
                            <a:srgbClr val="2A3441"/>
                          </a:solidFill>
                          <a:latin typeface="Segoe UI"/>
                        </a:rPr>
                        <a:t>A checkable reason and a model-only guess are not alike.</a:t>
                      </a:r>
                    </a:p>
                  </a:txBody>
                  <a:tcPr marL="82296" marR="82296" marT="13716" marB="13716" anchor="ctr">
                    <a:solidFill>
                      <a:srgbClr val="F4F7FB"/>
                    </a:solidFill>
                  </a:tcPr>
                </a:tc>
              </a:tr>
              <a:tr h="384048">
                <a:tc>
                  <a:txBody>
                    <a:bodyPr wrap="square"/>
                    <a:lstStyle/>
                    <a:p>
                      <a:pPr algn="l"/>
                      <a:r>
                        <a:rPr sz="890" b="0">
                          <a:solidFill>
                            <a:srgbClr val="2A3441"/>
                          </a:solidFill>
                          <a:latin typeface="Segoe UI"/>
                        </a:rPr>
                        <a:t>destination address</a:t>
                      </a:r>
                    </a:p>
                  </a:txBody>
                  <a:tcPr marL="82296" marR="82296" marT="13716" marB="13716" anchor="ctr">
                    <a:solidFill>
                      <a:srgbClr val="FFFFFF"/>
                    </a:solidFill>
                  </a:tcPr>
                </a:tc>
                <a:tc>
                  <a:txBody>
                    <a:bodyPr wrap="square"/>
                    <a:lstStyle/>
                    <a:p>
                      <a:pPr algn="l"/>
                      <a:r>
                        <a:rPr sz="890" b="0">
                          <a:solidFill>
                            <a:srgbClr val="2A3441"/>
                          </a:solidFill>
                          <a:latin typeface="Segoe UI"/>
                        </a:rPr>
                        <a:t>only when nothing flagged the flow</a:t>
                      </a:r>
                    </a:p>
                  </a:txBody>
                  <a:tcPr marL="82296" marR="82296" marT="13716" marB="13716" anchor="ctr">
                    <a:solidFill>
                      <a:srgbClr val="FFFFFF"/>
                    </a:solidFill>
                  </a:tcPr>
                </a:tc>
                <a:tc>
                  <a:txBody>
                    <a:bodyPr wrap="square"/>
                    <a:lstStyle/>
                    <a:p>
                      <a:pPr algn="l"/>
                      <a:r>
                        <a:rPr sz="890" b="0">
                          <a:solidFill>
                            <a:srgbClr val="2A3441"/>
                          </a:solidFill>
                          <a:latin typeface="Segoe UI"/>
                        </a:rPr>
                        <a:t>Without it one verdict would spread across every benign flow on that port.</a:t>
                      </a:r>
                    </a:p>
                  </a:txBody>
                  <a:tcPr marL="82296" marR="82296" marT="13716" marB="13716" anchor="ctr">
                    <a:solidFill>
                      <a:srgbClr val="FFFFFF"/>
                    </a:solidFill>
                  </a:tcPr>
                </a:tc>
              </a:tr>
            </a:tbl>
          </a:graphicData>
        </a:graphic>
      </p:graphicFrame>
      <p:sp>
        <p:nvSpPr>
          <p:cNvPr id="12" name="TextBox 11"/>
          <p:cNvSpPr txBox="1"/>
          <p:nvPr/>
        </p:nvSpPr>
        <p:spPr>
          <a:xfrm>
            <a:off x="6593450" y="2267712"/>
            <a:ext cx="5031316" cy="274320"/>
          </a:xfrm>
          <a:prstGeom prst="rect">
            <a:avLst/>
          </a:prstGeom>
          <a:noFill/>
        </p:spPr>
        <p:txBody>
          <a:bodyPr wrap="square" anchor="t" lIns="0" rIns="0" tIns="0" bIns="0">
            <a:spAutoFit/>
          </a:bodyPr>
          <a:lstStyle/>
          <a:p>
            <a:pPr algn="l">
              <a:spcBef>
                <a:spcPts val="0"/>
              </a:spcBef>
              <a:spcAft>
                <a:spcPts val="0"/>
              </a:spcAft>
            </a:pPr>
            <a:r>
              <a:rPr sz="960" b="1" i="0">
                <a:solidFill>
                  <a:srgbClr val="1F6FEB"/>
                </a:solidFill>
                <a:latin typeface="Segoe UI"/>
              </a:rPr>
              <a:t>THREE DISMISSALS IN ONE FAMILY — MEASURED</a:t>
            </a:r>
          </a:p>
        </p:txBody>
      </p:sp>
      <p:sp>
        <p:nvSpPr>
          <p:cNvPr id="13" name="TextBox 12"/>
          <p:cNvSpPr txBox="1"/>
          <p:nvPr/>
        </p:nvSpPr>
        <p:spPr>
          <a:xfrm>
            <a:off x="6593450" y="2560320"/>
            <a:ext cx="2057400" cy="310896"/>
          </a:xfrm>
          <a:prstGeom prst="rect">
            <a:avLst/>
          </a:prstGeom>
          <a:noFill/>
        </p:spPr>
        <p:txBody>
          <a:bodyPr wrap="square" anchor="ctr" lIns="0" rIns="0" tIns="0" bIns="0">
            <a:spAutoFit/>
          </a:bodyPr>
          <a:lstStyle/>
          <a:p>
            <a:pPr algn="l">
              <a:spcBef>
                <a:spcPts val="0"/>
              </a:spcBef>
              <a:spcAft>
                <a:spcPts val="0"/>
              </a:spcAft>
            </a:pPr>
            <a:r>
              <a:rPr sz="940" b="0" i="0">
                <a:solidFill>
                  <a:srgbClr val="2A3441"/>
                </a:solidFill>
                <a:latin typeface="Segoe UI"/>
              </a:rPr>
              <a:t>verdict 1  gate shut</a:t>
            </a:r>
          </a:p>
        </p:txBody>
      </p:sp>
      <p:sp>
        <p:nvSpPr>
          <p:cNvPr id="14" name="TextBox 13"/>
          <p:cNvSpPr txBox="1"/>
          <p:nvPr/>
        </p:nvSpPr>
        <p:spPr>
          <a:xfrm>
            <a:off x="8650850" y="2560320"/>
            <a:ext cx="2973916" cy="310896"/>
          </a:xfrm>
          <a:prstGeom prst="rect">
            <a:avLst/>
          </a:prstGeom>
          <a:noFill/>
        </p:spPr>
        <p:txBody>
          <a:bodyPr wrap="square" anchor="ctr" lIns="0" rIns="0" tIns="0" bIns="0">
            <a:spAutoFit/>
          </a:bodyPr>
          <a:lstStyle/>
          <a:p>
            <a:pPr algn="l">
              <a:spcBef>
                <a:spcPts val="0"/>
              </a:spcBef>
              <a:spcAft>
                <a:spcPts val="0"/>
              </a:spcAft>
            </a:pPr>
            <a:r>
              <a:rPr sz="940" b="0">
                <a:solidFill>
                  <a:srgbClr val="6B7684"/>
                </a:solidFill>
                <a:latin typeface="Consolas"/>
              </a:rPr>
              <a:t>0 moved</a:t>
            </a:r>
            <a:r>
              <a:rPr sz="940" b="0">
                <a:solidFill>
                  <a:srgbClr val="9AA4B0"/>
                </a:solidFill>
                <a:latin typeface="Consolas"/>
              </a:rPr>
              <a:t>   →   </a:t>
            </a:r>
            <a:r>
              <a:rPr sz="940" b="1">
                <a:solidFill>
                  <a:srgbClr val="C0392B"/>
                </a:solidFill>
                <a:latin typeface="Consolas"/>
              </a:rPr>
              <a:t>0 moved</a:t>
            </a:r>
            <a:r>
              <a:rPr sz="940" b="0">
                <a:solidFill>
                  <a:srgbClr val="6B7684"/>
                </a:solidFill>
                <a:latin typeface="Segoe UI"/>
              </a:rPr>
              <a:t>    1 of 3 required</a:t>
            </a:r>
          </a:p>
        </p:txBody>
      </p:sp>
      <p:sp>
        <p:nvSpPr>
          <p:cNvPr id="15" name="TextBox 14"/>
          <p:cNvSpPr txBox="1"/>
          <p:nvPr/>
        </p:nvSpPr>
        <p:spPr>
          <a:xfrm>
            <a:off x="6593450" y="2889504"/>
            <a:ext cx="2057400" cy="310896"/>
          </a:xfrm>
          <a:prstGeom prst="rect">
            <a:avLst/>
          </a:prstGeom>
          <a:noFill/>
        </p:spPr>
        <p:txBody>
          <a:bodyPr wrap="square" anchor="ctr" lIns="0" rIns="0" tIns="0" bIns="0">
            <a:spAutoFit/>
          </a:bodyPr>
          <a:lstStyle/>
          <a:p>
            <a:pPr algn="l">
              <a:spcBef>
                <a:spcPts val="0"/>
              </a:spcBef>
              <a:spcAft>
                <a:spcPts val="0"/>
              </a:spcAft>
            </a:pPr>
            <a:r>
              <a:rPr sz="940" b="0" i="0">
                <a:solidFill>
                  <a:srgbClr val="2A3441"/>
                </a:solidFill>
                <a:latin typeface="Segoe UI"/>
              </a:rPr>
              <a:t>verdict 2  gate shut</a:t>
            </a:r>
          </a:p>
        </p:txBody>
      </p:sp>
      <p:sp>
        <p:nvSpPr>
          <p:cNvPr id="16" name="TextBox 15"/>
          <p:cNvSpPr txBox="1"/>
          <p:nvPr/>
        </p:nvSpPr>
        <p:spPr>
          <a:xfrm>
            <a:off x="8650850" y="2889504"/>
            <a:ext cx="2973916" cy="310896"/>
          </a:xfrm>
          <a:prstGeom prst="rect">
            <a:avLst/>
          </a:prstGeom>
          <a:noFill/>
        </p:spPr>
        <p:txBody>
          <a:bodyPr wrap="square" anchor="ctr" lIns="0" rIns="0" tIns="0" bIns="0">
            <a:spAutoFit/>
          </a:bodyPr>
          <a:lstStyle/>
          <a:p>
            <a:pPr algn="l">
              <a:spcBef>
                <a:spcPts val="0"/>
              </a:spcBef>
              <a:spcAft>
                <a:spcPts val="0"/>
              </a:spcAft>
            </a:pPr>
            <a:r>
              <a:rPr sz="940" b="0">
                <a:solidFill>
                  <a:srgbClr val="6B7684"/>
                </a:solidFill>
                <a:latin typeface="Consolas"/>
              </a:rPr>
              <a:t>0 moved</a:t>
            </a:r>
            <a:r>
              <a:rPr sz="940" b="0">
                <a:solidFill>
                  <a:srgbClr val="9AA4B0"/>
                </a:solidFill>
                <a:latin typeface="Consolas"/>
              </a:rPr>
              <a:t>   →   </a:t>
            </a:r>
            <a:r>
              <a:rPr sz="940" b="1">
                <a:solidFill>
                  <a:srgbClr val="C0392B"/>
                </a:solidFill>
                <a:latin typeface="Consolas"/>
              </a:rPr>
              <a:t>0 moved</a:t>
            </a:r>
            <a:r>
              <a:rPr sz="940" b="0">
                <a:solidFill>
                  <a:srgbClr val="6B7684"/>
                </a:solidFill>
                <a:latin typeface="Segoe UI"/>
              </a:rPr>
              <a:t>    2 of 3 required</a:t>
            </a:r>
          </a:p>
        </p:txBody>
      </p:sp>
      <p:sp>
        <p:nvSpPr>
          <p:cNvPr id="17" name="TextBox 16"/>
          <p:cNvSpPr txBox="1"/>
          <p:nvPr/>
        </p:nvSpPr>
        <p:spPr>
          <a:xfrm>
            <a:off x="6593450" y="3218688"/>
            <a:ext cx="2057400" cy="310896"/>
          </a:xfrm>
          <a:prstGeom prst="rect">
            <a:avLst/>
          </a:prstGeom>
          <a:noFill/>
        </p:spPr>
        <p:txBody>
          <a:bodyPr wrap="square" anchor="ctr" lIns="0" rIns="0" tIns="0" bIns="0">
            <a:spAutoFit/>
          </a:bodyPr>
          <a:lstStyle/>
          <a:p>
            <a:pPr algn="l">
              <a:spcBef>
                <a:spcPts val="0"/>
              </a:spcBef>
              <a:spcAft>
                <a:spcPts val="0"/>
              </a:spcAft>
            </a:pPr>
            <a:r>
              <a:rPr sz="940" b="0" i="0">
                <a:solidFill>
                  <a:srgbClr val="2A3441"/>
                </a:solidFill>
                <a:latin typeface="Segoe UI"/>
              </a:rPr>
              <a:t>verdict 3  gate OPENS</a:t>
            </a:r>
          </a:p>
        </p:txBody>
      </p:sp>
      <p:sp>
        <p:nvSpPr>
          <p:cNvPr id="18" name="TextBox 17"/>
          <p:cNvSpPr txBox="1"/>
          <p:nvPr/>
        </p:nvSpPr>
        <p:spPr>
          <a:xfrm>
            <a:off x="8650850" y="3218688"/>
            <a:ext cx="2973916" cy="310896"/>
          </a:xfrm>
          <a:prstGeom prst="rect">
            <a:avLst/>
          </a:prstGeom>
          <a:noFill/>
        </p:spPr>
        <p:txBody>
          <a:bodyPr wrap="square" anchor="ctr" lIns="0" rIns="0" tIns="0" bIns="0">
            <a:spAutoFit/>
          </a:bodyPr>
          <a:lstStyle/>
          <a:p>
            <a:pPr algn="l">
              <a:spcBef>
                <a:spcPts val="0"/>
              </a:spcBef>
              <a:spcAft>
                <a:spcPts val="0"/>
              </a:spcAft>
            </a:pPr>
            <a:r>
              <a:rPr sz="940" b="0">
                <a:solidFill>
                  <a:srgbClr val="6B7684"/>
                </a:solidFill>
                <a:latin typeface="Consolas"/>
              </a:rPr>
              <a:t>0 moved</a:t>
            </a:r>
            <a:r>
              <a:rPr sz="940" b="0">
                <a:solidFill>
                  <a:srgbClr val="9AA4B0"/>
                </a:solidFill>
                <a:latin typeface="Consolas"/>
              </a:rPr>
              <a:t>   →   </a:t>
            </a:r>
            <a:r>
              <a:rPr sz="940" b="1">
                <a:solidFill>
                  <a:srgbClr val="1E7A45"/>
                </a:solidFill>
                <a:latin typeface="Consolas"/>
              </a:rPr>
              <a:t>147 moved</a:t>
            </a:r>
            <a:r>
              <a:rPr sz="940" b="0">
                <a:solidFill>
                  <a:srgbClr val="6B7684"/>
                </a:solidFill>
                <a:latin typeface="Segoe UI"/>
              </a:rPr>
              <a:t>    3 of 3 agree</a:t>
            </a:r>
          </a:p>
        </p:txBody>
      </p:sp>
      <p:sp>
        <p:nvSpPr>
          <p:cNvPr id="19" name="Rectangle 18"/>
          <p:cNvSpPr/>
          <p:nvPr/>
        </p:nvSpPr>
        <p:spPr>
          <a:xfrm>
            <a:off x="6593450" y="3602736"/>
            <a:ext cx="5031316" cy="91440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39754" y="3675887"/>
            <a:ext cx="4738708" cy="274320"/>
          </a:xfrm>
          <a:prstGeom prst="rect">
            <a:avLst/>
          </a:prstGeom>
          <a:noFill/>
        </p:spPr>
        <p:txBody>
          <a:bodyPr wrap="square" anchor="t" lIns="0" rIns="0" tIns="0" bIns="0">
            <a:spAutoFit/>
          </a:bodyPr>
          <a:lstStyle/>
          <a:p>
            <a:pPr algn="l">
              <a:spcBef>
                <a:spcPts val="0"/>
              </a:spcBef>
              <a:spcAft>
                <a:spcPts val="0"/>
              </a:spcAft>
            </a:pPr>
            <a:r>
              <a:rPr sz="940" b="1" i="0">
                <a:solidFill>
                  <a:srgbClr val="0F2A47"/>
                </a:solidFill>
                <a:latin typeface="Segoe UI"/>
              </a:rPr>
              <a:t>Each of those 147, before → after</a:t>
            </a:r>
          </a:p>
        </p:txBody>
      </p:sp>
      <p:sp>
        <p:nvSpPr>
          <p:cNvPr id="21" name="TextBox 20"/>
          <p:cNvSpPr txBox="1"/>
          <p:nvPr/>
        </p:nvSpPr>
        <p:spPr>
          <a:xfrm>
            <a:off x="6739754" y="3913632"/>
            <a:ext cx="1051560" cy="201168"/>
          </a:xfrm>
          <a:prstGeom prst="rect">
            <a:avLst/>
          </a:prstGeom>
          <a:noFill/>
        </p:spPr>
        <p:txBody>
          <a:bodyPr wrap="square" anchor="ctr" lIns="0" rIns="0" tIns="0" bIns="0">
            <a:spAutoFit/>
          </a:bodyPr>
          <a:lstStyle/>
          <a:p>
            <a:pPr algn="l">
              <a:spcBef>
                <a:spcPts val="0"/>
              </a:spcBef>
              <a:spcAft>
                <a:spcPts val="0"/>
              </a:spcAft>
            </a:pPr>
            <a:r>
              <a:rPr sz="930" b="0" i="0">
                <a:solidFill>
                  <a:srgbClr val="2A3441"/>
                </a:solidFill>
                <a:latin typeface="Segoe UI"/>
              </a:rPr>
              <a:t>score</a:t>
            </a:r>
          </a:p>
        </p:txBody>
      </p:sp>
      <p:sp>
        <p:nvSpPr>
          <p:cNvPr id="22" name="TextBox 21"/>
          <p:cNvSpPr txBox="1"/>
          <p:nvPr/>
        </p:nvSpPr>
        <p:spPr>
          <a:xfrm>
            <a:off x="7791314" y="3913632"/>
            <a:ext cx="3687148" cy="201168"/>
          </a:xfrm>
          <a:prstGeom prst="rect">
            <a:avLst/>
          </a:prstGeom>
          <a:noFill/>
        </p:spPr>
        <p:txBody>
          <a:bodyPr wrap="square" anchor="ctr" lIns="0" rIns="0" tIns="0" bIns="0">
            <a:spAutoFit/>
          </a:bodyPr>
          <a:lstStyle/>
          <a:p>
            <a:pPr algn="l">
              <a:spcBef>
                <a:spcPts val="0"/>
              </a:spcBef>
              <a:spcAft>
                <a:spcPts val="0"/>
              </a:spcAft>
            </a:pPr>
            <a:r>
              <a:rPr sz="930" b="0">
                <a:solidFill>
                  <a:srgbClr val="6B7684"/>
                </a:solidFill>
                <a:latin typeface="Consolas"/>
              </a:rPr>
              <a:t>100.0</a:t>
            </a:r>
            <a:r>
              <a:rPr sz="930" b="0">
                <a:solidFill>
                  <a:srgbClr val="9AA4B0"/>
                </a:solidFill>
                <a:latin typeface="Consolas"/>
              </a:rPr>
              <a:t>   →   </a:t>
            </a:r>
            <a:r>
              <a:rPr sz="930" b="1">
                <a:solidFill>
                  <a:srgbClr val="C0392B"/>
                </a:solidFill>
                <a:latin typeface="Consolas"/>
              </a:rPr>
              <a:t>91.0</a:t>
            </a:r>
          </a:p>
        </p:txBody>
      </p:sp>
      <p:sp>
        <p:nvSpPr>
          <p:cNvPr id="23" name="TextBox 22"/>
          <p:cNvSpPr txBox="1"/>
          <p:nvPr/>
        </p:nvSpPr>
        <p:spPr>
          <a:xfrm>
            <a:off x="6739754" y="4114800"/>
            <a:ext cx="1051560" cy="201168"/>
          </a:xfrm>
          <a:prstGeom prst="rect">
            <a:avLst/>
          </a:prstGeom>
          <a:noFill/>
        </p:spPr>
        <p:txBody>
          <a:bodyPr wrap="square" anchor="ctr" lIns="0" rIns="0" tIns="0" bIns="0">
            <a:spAutoFit/>
          </a:bodyPr>
          <a:lstStyle/>
          <a:p>
            <a:pPr algn="l">
              <a:spcBef>
                <a:spcPts val="0"/>
              </a:spcBef>
              <a:spcAft>
                <a:spcPts val="0"/>
              </a:spcAft>
            </a:pPr>
            <a:r>
              <a:rPr sz="930" b="0" i="0">
                <a:solidFill>
                  <a:srgbClr val="2A3441"/>
                </a:solidFill>
                <a:latin typeface="Segoe UI"/>
              </a:rPr>
              <a:t>band</a:t>
            </a:r>
          </a:p>
        </p:txBody>
      </p:sp>
      <p:sp>
        <p:nvSpPr>
          <p:cNvPr id="24" name="TextBox 23"/>
          <p:cNvSpPr txBox="1"/>
          <p:nvPr/>
        </p:nvSpPr>
        <p:spPr>
          <a:xfrm>
            <a:off x="7791314" y="4114800"/>
            <a:ext cx="3687148" cy="201168"/>
          </a:xfrm>
          <a:prstGeom prst="rect">
            <a:avLst/>
          </a:prstGeom>
          <a:noFill/>
        </p:spPr>
        <p:txBody>
          <a:bodyPr wrap="square" anchor="ctr" lIns="0" rIns="0" tIns="0" bIns="0">
            <a:spAutoFit/>
          </a:bodyPr>
          <a:lstStyle/>
          <a:p>
            <a:pPr algn="l">
              <a:spcBef>
                <a:spcPts val="0"/>
              </a:spcBef>
              <a:spcAft>
                <a:spcPts val="0"/>
              </a:spcAft>
            </a:pPr>
            <a:r>
              <a:rPr sz="930" b="0">
                <a:solidFill>
                  <a:srgbClr val="6B7684"/>
                </a:solidFill>
                <a:latin typeface="Consolas"/>
              </a:rPr>
              <a:t>tier2_candidate</a:t>
            </a:r>
            <a:r>
              <a:rPr sz="930" b="0">
                <a:solidFill>
                  <a:srgbClr val="9AA4B0"/>
                </a:solidFill>
                <a:latin typeface="Consolas"/>
              </a:rPr>
              <a:t>   →   </a:t>
            </a:r>
            <a:r>
              <a:rPr sz="930" b="1">
                <a:solidFill>
                  <a:srgbClr val="C0392B"/>
                </a:solidFill>
                <a:latin typeface="Consolas"/>
              </a:rPr>
              <a:t>corroborated</a:t>
            </a:r>
          </a:p>
        </p:txBody>
      </p:sp>
      <p:sp>
        <p:nvSpPr>
          <p:cNvPr id="25" name="TextBox 24"/>
          <p:cNvSpPr txBox="1"/>
          <p:nvPr/>
        </p:nvSpPr>
        <p:spPr>
          <a:xfrm>
            <a:off x="6739754" y="4315968"/>
            <a:ext cx="1051560" cy="201168"/>
          </a:xfrm>
          <a:prstGeom prst="rect">
            <a:avLst/>
          </a:prstGeom>
          <a:noFill/>
        </p:spPr>
        <p:txBody>
          <a:bodyPr wrap="square" anchor="ctr" lIns="0" rIns="0" tIns="0" bIns="0">
            <a:spAutoFit/>
          </a:bodyPr>
          <a:lstStyle/>
          <a:p>
            <a:pPr algn="l">
              <a:spcBef>
                <a:spcPts val="0"/>
              </a:spcBef>
              <a:spcAft>
                <a:spcPts val="0"/>
              </a:spcAft>
            </a:pPr>
            <a:r>
              <a:rPr sz="930" b="0" i="0">
                <a:solidFill>
                  <a:srgbClr val="2A3441"/>
                </a:solidFill>
                <a:latin typeface="Segoe UI"/>
              </a:rPr>
              <a:t>family rank</a:t>
            </a:r>
          </a:p>
        </p:txBody>
      </p:sp>
      <p:sp>
        <p:nvSpPr>
          <p:cNvPr id="26" name="TextBox 25"/>
          <p:cNvSpPr txBox="1"/>
          <p:nvPr/>
        </p:nvSpPr>
        <p:spPr>
          <a:xfrm>
            <a:off x="7791314" y="4315968"/>
            <a:ext cx="3687148" cy="201168"/>
          </a:xfrm>
          <a:prstGeom prst="rect">
            <a:avLst/>
          </a:prstGeom>
          <a:noFill/>
        </p:spPr>
        <p:txBody>
          <a:bodyPr wrap="square" anchor="ctr" lIns="0" rIns="0" tIns="0" bIns="0">
            <a:spAutoFit/>
          </a:bodyPr>
          <a:lstStyle/>
          <a:p>
            <a:pPr algn="l">
              <a:spcBef>
                <a:spcPts val="0"/>
              </a:spcBef>
              <a:spcAft>
                <a:spcPts val="0"/>
              </a:spcAft>
            </a:pPr>
            <a:r>
              <a:rPr sz="930" b="0">
                <a:solidFill>
                  <a:srgbClr val="6B7684"/>
                </a:solidFill>
                <a:latin typeface="Consolas"/>
              </a:rPr>
              <a:t>27</a:t>
            </a:r>
            <a:r>
              <a:rPr sz="930" b="0">
                <a:solidFill>
                  <a:srgbClr val="9AA4B0"/>
                </a:solidFill>
                <a:latin typeface="Consolas"/>
              </a:rPr>
              <a:t>   →   </a:t>
            </a:r>
            <a:r>
              <a:rPr sz="930" b="1">
                <a:solidFill>
                  <a:srgbClr val="C0392B"/>
                </a:solidFill>
                <a:latin typeface="Consolas"/>
              </a:rPr>
              <a:t>31</a:t>
            </a:r>
          </a:p>
        </p:txBody>
      </p:sp>
      <p:sp>
        <p:nvSpPr>
          <p:cNvPr id="27" name="Rectangle 26"/>
          <p:cNvSpPr/>
          <p:nvPr/>
        </p:nvSpPr>
        <p:spPr>
          <a:xfrm>
            <a:off x="566928" y="4626864"/>
            <a:ext cx="3539642"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66928" y="4626864"/>
            <a:ext cx="50292" cy="12984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9808" y="4736592"/>
            <a:ext cx="3228746" cy="109728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The gate is what makes it safe</a:t>
            </a:r>
          </a:p>
          <a:p>
            <a:pPr algn="l">
              <a:lnSpc>
                <a:spcPct val="120000"/>
              </a:lnSpc>
              <a:spcBef>
                <a:spcPts val="0"/>
              </a:spcBef>
              <a:spcAft>
                <a:spcPts val="0"/>
              </a:spcAft>
            </a:pPr>
            <a:r>
              <a:rPr sz="910" b="0" i="0">
                <a:solidFill>
                  <a:srgbClr val="2A3441"/>
                </a:solidFill>
                <a:latin typeface="Segoe UI"/>
              </a:rPr>
              <a:t>3 learning verdicts, no tie, ≥ 0.67 agreement on one category — counted by category, so 2 false positives plus 1 benign-positive is 0.6667 and stays shut. One analyst cannot move a family; three who agree can.</a:t>
            </a:r>
          </a:p>
        </p:txBody>
      </p:sp>
      <p:sp>
        <p:nvSpPr>
          <p:cNvPr id="30" name="Rectangle 29"/>
          <p:cNvSpPr/>
          <p:nvPr/>
        </p:nvSpPr>
        <p:spPr>
          <a:xfrm>
            <a:off x="4326026" y="4626864"/>
            <a:ext cx="3539642"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326026" y="4626864"/>
            <a:ext cx="50292" cy="12984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08906" y="4736592"/>
            <a:ext cx="3228746" cy="109728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Ungated, one verdict did real damage</a:t>
            </a:r>
          </a:p>
          <a:p>
            <a:pPr algn="l">
              <a:lnSpc>
                <a:spcPct val="120000"/>
              </a:lnSpc>
              <a:spcBef>
                <a:spcPts val="0"/>
              </a:spcBef>
              <a:spcAft>
                <a:spcPts val="0"/>
              </a:spcAft>
            </a:pPr>
            <a:r>
              <a:rPr sz="910" b="0" i="0">
                <a:solidFill>
                  <a:srgbClr val="2A3441"/>
                </a:solidFill>
                <a:latin typeface="Segoe UI"/>
              </a:rPr>
              <a:t>In the experiment a single wrong confirmation outweighed thirteen correct dismissals and lifted 779 benign flows into Tier 2. With the gate on that failure disappears for every formula tested — 59 demoted attacks and 780 misplaced alerts both fall to zero.</a:t>
            </a:r>
          </a:p>
        </p:txBody>
      </p:sp>
      <p:sp>
        <p:nvSpPr>
          <p:cNvPr id="33" name="Rectangle 32"/>
          <p:cNvSpPr/>
          <p:nvPr/>
        </p:nvSpPr>
        <p:spPr>
          <a:xfrm>
            <a:off x="8085124" y="4626864"/>
            <a:ext cx="3539642"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85124" y="4626864"/>
            <a:ext cx="50292"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68004" y="4736592"/>
            <a:ext cx="3228746" cy="109728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An alert's own verdict wins</a:t>
            </a:r>
          </a:p>
          <a:p>
            <a:pPr algn="l">
              <a:lnSpc>
                <a:spcPct val="120000"/>
              </a:lnSpc>
              <a:spcBef>
                <a:spcPts val="0"/>
              </a:spcBef>
              <a:spcAft>
                <a:spcPts val="0"/>
              </a:spcAft>
            </a:pPr>
            <a:r>
              <a:rPr sz="910" b="0" i="0">
                <a:solidFill>
                  <a:srgbClr val="2A3441"/>
                </a:solidFill>
                <a:latin typeface="Segoe UI"/>
              </a:rPr>
              <a:t>A member judged directly is placed by its own verdict, never by its family. A disputed-rule alert neither teaches nor learns, and never leaves its band (I3).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WORKED EXAMPLE · 8 OF 8</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would anyone check that claim?</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A count cannot be audited. Since v1.32 the verdict names the alerts it moved, and the queue groups by the families the learning acts on.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30</a:t>
            </a:r>
          </a:p>
        </p:txBody>
      </p:sp>
      <p:sp>
        <p:nvSpPr>
          <p:cNvPr id="9" name="Rectangle 8"/>
          <p:cNvSpPr/>
          <p:nvPr/>
        </p:nvSpPr>
        <p:spPr>
          <a:xfrm>
            <a:off x="566928" y="1920240"/>
            <a:ext cx="3539642" cy="133502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20240"/>
            <a:ext cx="50292" cy="13350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2029968"/>
            <a:ext cx="3228746" cy="113385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The verdict returns the members, not a number</a:t>
            </a:r>
          </a:p>
          <a:p>
            <a:pPr algn="l">
              <a:lnSpc>
                <a:spcPct val="120000"/>
              </a:lnSpc>
              <a:spcBef>
                <a:spcPts val="0"/>
              </a:spcBef>
              <a:spcAft>
                <a:spcPts val="0"/>
              </a:spcAft>
            </a:pPr>
            <a:r>
              <a:rPr sz="930" b="0" i="0">
                <a:solidFill>
                  <a:srgbClr val="2A3441"/>
                </a:solidFill>
                <a:latin typeface="Segoe UI"/>
              </a:rPr>
              <a:t>Each moved alert with its score, band and queue rank before and after. Rank is the one that carries the claim: a score change nobody can locate in a 5,000-row queue demonstrates nothing. It is measured either side of the same transaction.</a:t>
            </a:r>
          </a:p>
        </p:txBody>
      </p:sp>
      <p:sp>
        <p:nvSpPr>
          <p:cNvPr id="12" name="Rectangle 11"/>
          <p:cNvSpPr/>
          <p:nvPr/>
        </p:nvSpPr>
        <p:spPr>
          <a:xfrm>
            <a:off x="4326026" y="1920240"/>
            <a:ext cx="3539642" cy="133502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1920240"/>
            <a:ext cx="50292" cy="1335024"/>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2029968"/>
            <a:ext cx="3228746" cy="113385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The audit entry names them too</a:t>
            </a:r>
          </a:p>
          <a:p>
            <a:pPr algn="l">
              <a:lnSpc>
                <a:spcPct val="120000"/>
              </a:lnSpc>
              <a:spcBef>
                <a:spcPts val="0"/>
              </a:spcBef>
              <a:spcAft>
                <a:spcPts val="0"/>
              </a:spcAft>
            </a:pPr>
            <a:r>
              <a:rPr sz="930" b="0" i="0">
                <a:solidFill>
                  <a:srgbClr val="2A3441"/>
                </a:solidFill>
                <a:latin typeface="Segoe UI"/>
              </a:rPr>
              <a:t>SIMILAR_ALERT_LEARNING records the family's state before and after, the exact count, and the moved members themselves. A score no analyst ever touched is exactly the change that has to stay traceable.</a:t>
            </a:r>
          </a:p>
        </p:txBody>
      </p:sp>
      <p:sp>
        <p:nvSpPr>
          <p:cNvPr id="15" name="Rectangle 14"/>
          <p:cNvSpPr/>
          <p:nvPr/>
        </p:nvSpPr>
        <p:spPr>
          <a:xfrm>
            <a:off x="8085124" y="1920240"/>
            <a:ext cx="3539642" cy="133502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1920240"/>
            <a:ext cx="50292" cy="1335024"/>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2029968"/>
            <a:ext cx="3228746" cy="113385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Group by Family, in the queue</a:t>
            </a:r>
          </a:p>
          <a:p>
            <a:pPr algn="l">
              <a:lnSpc>
                <a:spcPct val="120000"/>
              </a:lnSpc>
              <a:spcBef>
                <a:spcPts val="0"/>
              </a:spcBef>
              <a:spcAft>
                <a:spcPts val="0"/>
              </a:spcAft>
            </a:pPr>
            <a:r>
              <a:rPr sz="930" b="0" i="0">
                <a:solidFill>
                  <a:srgbClr val="2A3441"/>
                </a:solidFill>
                <a:latin typeface="Segoe UI"/>
              </a:rPr>
              <a:t>5,000 alerts fold into 1,315 groups, ordered by each group's best-ranked member — grouping, not a second ranking. A learned family reads: gate open · 100% agree · 147 unjudged alerts carry this.</a:t>
            </a:r>
          </a:p>
        </p:txBody>
      </p:sp>
      <p:graphicFrame>
        <p:nvGraphicFramePr>
          <p:cNvPr id="18" name="Table 17"/>
          <p:cNvGraphicFramePr>
            <a:graphicFrameLocks noGrp="1"/>
          </p:cNvGraphicFramePr>
          <p:nvPr/>
        </p:nvGraphicFramePr>
        <p:xfrm>
          <a:off x="566928" y="3529584"/>
          <a:ext cx="11055095" cy="1682496"/>
        </p:xfrm>
        <a:graphic>
          <a:graphicData uri="http://schemas.openxmlformats.org/drawingml/2006/table">
            <a:tbl>
              <a:tblPr firstRow="0" bandRow="0"/>
              <a:tblGrid>
                <a:gridCol w="1600200"/>
                <a:gridCol w="1965960"/>
                <a:gridCol w="3977639"/>
                <a:gridCol w="2148840"/>
                <a:gridCol w="1362456"/>
              </a:tblGrid>
              <a:tr h="292608">
                <a:tc>
                  <a:txBody>
                    <a:bodyPr wrap="square"/>
                    <a:lstStyle/>
                    <a:p>
                      <a:pPr algn="l"/>
                      <a:r>
                        <a:rPr sz="880" b="1">
                          <a:solidFill>
                            <a:srgbClr val="FFFFFF"/>
                          </a:solidFill>
                          <a:latin typeface="Segoe UI"/>
                        </a:rPr>
                        <a:t>Alert</a:t>
                      </a:r>
                    </a:p>
                  </a:txBody>
                  <a:tcPr marL="82296" marR="82296" marT="13716" marB="13716" anchor="ctr">
                    <a:solidFill>
                      <a:srgbClr val="0F2A47"/>
                    </a:solidFill>
                  </a:tcPr>
                </a:tc>
                <a:tc>
                  <a:txBody>
                    <a:bodyPr wrap="square"/>
                    <a:lstStyle/>
                    <a:p>
                      <a:pPr algn="l"/>
                      <a:r>
                        <a:rPr sz="880" b="1">
                          <a:solidFill>
                            <a:srgbClr val="FFFFFF"/>
                          </a:solidFill>
                          <a:latin typeface="Segoe UI"/>
                        </a:rPr>
                        <a:t>Score</a:t>
                      </a:r>
                    </a:p>
                  </a:txBody>
                  <a:tcPr marL="82296" marR="82296" marT="13716" marB="13716" anchor="ctr">
                    <a:solidFill>
                      <a:srgbClr val="0F2A47"/>
                    </a:solidFill>
                  </a:tcPr>
                </a:tc>
                <a:tc>
                  <a:txBody>
                    <a:bodyPr wrap="square"/>
                    <a:lstStyle/>
                    <a:p>
                      <a:pPr algn="l"/>
                      <a:r>
                        <a:rPr sz="880" b="1">
                          <a:solidFill>
                            <a:srgbClr val="FFFFFF"/>
                          </a:solidFill>
                          <a:latin typeface="Segoe UI"/>
                        </a:rPr>
                        <a:t>Band</a:t>
                      </a:r>
                    </a:p>
                  </a:txBody>
                  <a:tcPr marL="82296" marR="82296" marT="13716" marB="13716" anchor="ctr">
                    <a:solidFill>
                      <a:srgbClr val="0F2A47"/>
                    </a:solidFill>
                  </a:tcPr>
                </a:tc>
                <a:tc>
                  <a:txBody>
                    <a:bodyPr wrap="square"/>
                    <a:lstStyle/>
                    <a:p>
                      <a:pPr algn="l"/>
                      <a:r>
                        <a:rPr sz="880" b="1">
                          <a:solidFill>
                            <a:srgbClr val="FFFFFF"/>
                          </a:solidFill>
                          <a:latin typeface="Segoe UI"/>
                        </a:rPr>
                        <a:t>Queue rank</a:t>
                      </a:r>
                    </a:p>
                  </a:txBody>
                  <a:tcPr marL="82296" marR="82296" marT="13716" marB="13716" anchor="ctr">
                    <a:solidFill>
                      <a:srgbClr val="0F2A47"/>
                    </a:solidFill>
                  </a:tcPr>
                </a:tc>
                <a:tc>
                  <a:txBody>
                    <a:bodyPr wrap="square"/>
                    <a:lstStyle/>
                    <a:p>
                      <a:pPr algn="l"/>
                      <a:r>
                        <a:rPr sz="880" b="1">
                          <a:solidFill>
                            <a:srgbClr val="FFFFFF"/>
                          </a:solidFill>
                          <a:latin typeface="Segoe UI"/>
                        </a:rPr>
                        <a:t>Judged by anyone?</a:t>
                      </a:r>
                    </a:p>
                  </a:txBody>
                  <a:tcPr marL="82296" marR="82296" marT="13716" marB="13716" anchor="ctr">
                    <a:solidFill>
                      <a:srgbClr val="0F2A47"/>
                    </a:solidFill>
                  </a:tcPr>
                </a:tc>
              </a:tr>
              <a:tr h="347472">
                <a:tc>
                  <a:txBody>
                    <a:bodyPr wrap="square"/>
                    <a:lstStyle/>
                    <a:p>
                      <a:pPr algn="l"/>
                      <a:r>
                        <a:rPr sz="940" b="0">
                          <a:solidFill>
                            <a:srgbClr val="2A3441"/>
                          </a:solidFill>
                          <a:latin typeface="Consolas"/>
                        </a:rPr>
                        <a:t>AL-00932</a:t>
                      </a:r>
                    </a:p>
                  </a:txBody>
                  <a:tcPr marL="82296" marR="82296" marT="13716" marB="13716" anchor="ctr">
                    <a:solidFill>
                      <a:srgbClr val="FFFFFF"/>
                    </a:solidFill>
                  </a:tcPr>
                </a:tc>
                <a:tc>
                  <a:txBody>
                    <a:bodyPr wrap="square"/>
                    <a:lstStyle/>
                    <a:p>
                      <a:pPr algn="l"/>
                      <a:r>
                        <a:rPr sz="940" b="0">
                          <a:solidFill>
                            <a:srgbClr val="2A3441"/>
                          </a:solidFill>
                          <a:latin typeface="Consolas"/>
                        </a:rPr>
                        <a:t>100.0 → 91.0</a:t>
                      </a:r>
                    </a:p>
                  </a:txBody>
                  <a:tcPr marL="82296" marR="82296" marT="13716" marB="13716" anchor="ctr">
                    <a:solidFill>
                      <a:srgbClr val="FFFFFF"/>
                    </a:solidFill>
                  </a:tcPr>
                </a:tc>
                <a:tc>
                  <a:txBody>
                    <a:bodyPr wrap="square"/>
                    <a:lstStyle/>
                    <a:p>
                      <a:pPr algn="l"/>
                      <a:r>
                        <a:rPr sz="940" b="0">
                          <a:solidFill>
                            <a:srgbClr val="2A3441"/>
                          </a:solidFill>
                          <a:latin typeface="Consolas"/>
                        </a:rPr>
                        <a:t>tier2_candidate → corroborated</a:t>
                      </a:r>
                    </a:p>
                  </a:txBody>
                  <a:tcPr marL="82296" marR="82296" marT="13716" marB="13716" anchor="ctr">
                    <a:solidFill>
                      <a:srgbClr val="FFFFFF"/>
                    </a:solidFill>
                  </a:tcPr>
                </a:tc>
                <a:tc>
                  <a:txBody>
                    <a:bodyPr wrap="square"/>
                    <a:lstStyle/>
                    <a:p>
                      <a:pPr algn="l"/>
                      <a:r>
                        <a:rPr sz="940" b="0">
                          <a:solidFill>
                            <a:srgbClr val="2A3441"/>
                          </a:solidFill>
                          <a:latin typeface="Consolas"/>
                        </a:rPr>
                        <a:t>32 → 35</a:t>
                      </a:r>
                    </a:p>
                  </a:txBody>
                  <a:tcPr marL="82296" marR="82296" marT="13716" marB="13716" anchor="ctr">
                    <a:solidFill>
                      <a:srgbClr val="FFFFFF"/>
                    </a:solidFill>
                  </a:tcPr>
                </a:tc>
                <a:tc>
                  <a:txBody>
                    <a:bodyPr wrap="square"/>
                    <a:lstStyle/>
                    <a:p>
                      <a:pPr algn="l"/>
                      <a:r>
                        <a:rPr sz="940" b="0">
                          <a:solidFill>
                            <a:srgbClr val="2A3441"/>
                          </a:solidFill>
                          <a:latin typeface="Segoe UI"/>
                        </a:rPr>
                        <a:t>no</a:t>
                      </a:r>
                    </a:p>
                  </a:txBody>
                  <a:tcPr marL="82296" marR="82296" marT="13716" marB="13716" anchor="ctr">
                    <a:solidFill>
                      <a:srgbClr val="FFFFFF"/>
                    </a:solidFill>
                  </a:tcPr>
                </a:tc>
              </a:tr>
              <a:tr h="347472">
                <a:tc>
                  <a:txBody>
                    <a:bodyPr wrap="square"/>
                    <a:lstStyle/>
                    <a:p>
                      <a:pPr algn="l"/>
                      <a:r>
                        <a:rPr sz="940" b="0">
                          <a:solidFill>
                            <a:srgbClr val="2A3441"/>
                          </a:solidFill>
                          <a:latin typeface="Consolas"/>
                        </a:rPr>
                        <a:t>AL-01914</a:t>
                      </a:r>
                    </a:p>
                  </a:txBody>
                  <a:tcPr marL="82296" marR="82296" marT="13716" marB="13716" anchor="ctr">
                    <a:solidFill>
                      <a:srgbClr val="F4F7FB"/>
                    </a:solidFill>
                  </a:tcPr>
                </a:tc>
                <a:tc>
                  <a:txBody>
                    <a:bodyPr wrap="square"/>
                    <a:lstStyle/>
                    <a:p>
                      <a:pPr algn="l"/>
                      <a:r>
                        <a:rPr sz="940" b="0">
                          <a:solidFill>
                            <a:srgbClr val="2A3441"/>
                          </a:solidFill>
                          <a:latin typeface="Consolas"/>
                        </a:rPr>
                        <a:t>100.0 → 91.0</a:t>
                      </a:r>
                    </a:p>
                  </a:txBody>
                  <a:tcPr marL="82296" marR="82296" marT="13716" marB="13716" anchor="ctr">
                    <a:solidFill>
                      <a:srgbClr val="F4F7FB"/>
                    </a:solidFill>
                  </a:tcPr>
                </a:tc>
                <a:tc>
                  <a:txBody>
                    <a:bodyPr wrap="square"/>
                    <a:lstStyle/>
                    <a:p>
                      <a:pPr algn="l"/>
                      <a:r>
                        <a:rPr sz="940" b="0">
                          <a:solidFill>
                            <a:srgbClr val="2A3441"/>
                          </a:solidFill>
                          <a:latin typeface="Consolas"/>
                        </a:rPr>
                        <a:t>tier2_candidate → corroborated</a:t>
                      </a:r>
                    </a:p>
                  </a:txBody>
                  <a:tcPr marL="82296" marR="82296" marT="13716" marB="13716" anchor="ctr">
                    <a:solidFill>
                      <a:srgbClr val="F4F7FB"/>
                    </a:solidFill>
                  </a:tcPr>
                </a:tc>
                <a:tc>
                  <a:txBody>
                    <a:bodyPr wrap="square"/>
                    <a:lstStyle/>
                    <a:p>
                      <a:pPr algn="l"/>
                      <a:r>
                        <a:rPr sz="940" b="0">
                          <a:solidFill>
                            <a:srgbClr val="2A3441"/>
                          </a:solidFill>
                          <a:latin typeface="Consolas"/>
                        </a:rPr>
                        <a:t>33 → 36</a:t>
                      </a:r>
                    </a:p>
                  </a:txBody>
                  <a:tcPr marL="82296" marR="82296" marT="13716" marB="13716" anchor="ctr">
                    <a:solidFill>
                      <a:srgbClr val="F4F7FB"/>
                    </a:solidFill>
                  </a:tcPr>
                </a:tc>
                <a:tc>
                  <a:txBody>
                    <a:bodyPr wrap="square"/>
                    <a:lstStyle/>
                    <a:p>
                      <a:pPr algn="l"/>
                      <a:r>
                        <a:rPr sz="940" b="0">
                          <a:solidFill>
                            <a:srgbClr val="2A3441"/>
                          </a:solidFill>
                          <a:latin typeface="Segoe UI"/>
                        </a:rPr>
                        <a:t>no</a:t>
                      </a:r>
                    </a:p>
                  </a:txBody>
                  <a:tcPr marL="82296" marR="82296" marT="13716" marB="13716" anchor="ctr">
                    <a:solidFill>
                      <a:srgbClr val="F4F7FB"/>
                    </a:solidFill>
                  </a:tcPr>
                </a:tc>
              </a:tr>
              <a:tr h="347472">
                <a:tc>
                  <a:txBody>
                    <a:bodyPr wrap="square"/>
                    <a:lstStyle/>
                    <a:p>
                      <a:pPr algn="l"/>
                      <a:r>
                        <a:rPr sz="940" b="0">
                          <a:solidFill>
                            <a:srgbClr val="2A3441"/>
                          </a:solidFill>
                          <a:latin typeface="Consolas"/>
                        </a:rPr>
                        <a:t>AL-01618</a:t>
                      </a:r>
                    </a:p>
                  </a:txBody>
                  <a:tcPr marL="82296" marR="82296" marT="13716" marB="13716" anchor="ctr">
                    <a:solidFill>
                      <a:srgbClr val="FFFFFF"/>
                    </a:solidFill>
                  </a:tcPr>
                </a:tc>
                <a:tc>
                  <a:txBody>
                    <a:bodyPr wrap="square"/>
                    <a:lstStyle/>
                    <a:p>
                      <a:pPr algn="l"/>
                      <a:r>
                        <a:rPr sz="940" b="0">
                          <a:solidFill>
                            <a:srgbClr val="2A3441"/>
                          </a:solidFill>
                          <a:latin typeface="Consolas"/>
                        </a:rPr>
                        <a:t>100.0 → 91.0</a:t>
                      </a:r>
                    </a:p>
                  </a:txBody>
                  <a:tcPr marL="82296" marR="82296" marT="13716" marB="13716" anchor="ctr">
                    <a:solidFill>
                      <a:srgbClr val="FFFFFF"/>
                    </a:solidFill>
                  </a:tcPr>
                </a:tc>
                <a:tc>
                  <a:txBody>
                    <a:bodyPr wrap="square"/>
                    <a:lstStyle/>
                    <a:p>
                      <a:pPr algn="l"/>
                      <a:r>
                        <a:rPr sz="940" b="0">
                          <a:solidFill>
                            <a:srgbClr val="2A3441"/>
                          </a:solidFill>
                          <a:latin typeface="Consolas"/>
                        </a:rPr>
                        <a:t>tier2_candidate → corroborated</a:t>
                      </a:r>
                    </a:p>
                  </a:txBody>
                  <a:tcPr marL="82296" marR="82296" marT="13716" marB="13716" anchor="ctr">
                    <a:solidFill>
                      <a:srgbClr val="FFFFFF"/>
                    </a:solidFill>
                  </a:tcPr>
                </a:tc>
                <a:tc>
                  <a:txBody>
                    <a:bodyPr wrap="square"/>
                    <a:lstStyle/>
                    <a:p>
                      <a:pPr algn="l"/>
                      <a:r>
                        <a:rPr sz="940" b="0">
                          <a:solidFill>
                            <a:srgbClr val="2A3441"/>
                          </a:solidFill>
                          <a:latin typeface="Consolas"/>
                        </a:rPr>
                        <a:t>34 → 37</a:t>
                      </a:r>
                    </a:p>
                  </a:txBody>
                  <a:tcPr marL="82296" marR="82296" marT="13716" marB="13716" anchor="ctr">
                    <a:solidFill>
                      <a:srgbClr val="FFFFFF"/>
                    </a:solidFill>
                  </a:tcPr>
                </a:tc>
                <a:tc>
                  <a:txBody>
                    <a:bodyPr wrap="square"/>
                    <a:lstStyle/>
                    <a:p>
                      <a:pPr algn="l"/>
                      <a:r>
                        <a:rPr sz="940" b="0">
                          <a:solidFill>
                            <a:srgbClr val="2A3441"/>
                          </a:solidFill>
                          <a:latin typeface="Segoe UI"/>
                        </a:rPr>
                        <a:t>no</a:t>
                      </a:r>
                    </a:p>
                  </a:txBody>
                  <a:tcPr marL="82296" marR="82296" marT="13716" marB="13716" anchor="ctr">
                    <a:solidFill>
                      <a:srgbClr val="FFFFFF"/>
                    </a:solidFill>
                  </a:tcPr>
                </a:tc>
              </a:tr>
              <a:tr h="347472">
                <a:tc>
                  <a:txBody>
                    <a:bodyPr wrap="square"/>
                    <a:lstStyle/>
                    <a:p>
                      <a:pPr algn="l"/>
                      <a:r>
                        <a:rPr sz="940" b="0">
                          <a:solidFill>
                            <a:srgbClr val="2A3441"/>
                          </a:solidFill>
                          <a:latin typeface="Consolas"/>
                        </a:rPr>
                        <a:t>… and 144 more</a:t>
                      </a:r>
                    </a:p>
                  </a:txBody>
                  <a:tcPr marL="82296" marR="82296" marT="13716" marB="13716" anchor="ctr">
                    <a:solidFill>
                      <a:srgbClr val="F4F7FB"/>
                    </a:solidFill>
                  </a:tcPr>
                </a:tc>
                <a:tc>
                  <a:txBody>
                    <a:bodyPr wrap="square"/>
                    <a:lstStyle/>
                    <a:p>
                      <a:pPr algn="l"/>
                      <a:r>
                        <a:rPr sz="940" b="0">
                          <a:solidFill>
                            <a:srgbClr val="2A3441"/>
                          </a:solidFill>
                          <a:latin typeface="Consolas"/>
                        </a:rPr>
                        <a:t>100.0 → 91.0</a:t>
                      </a:r>
                    </a:p>
                  </a:txBody>
                  <a:tcPr marL="82296" marR="82296" marT="13716" marB="13716" anchor="ctr">
                    <a:solidFill>
                      <a:srgbClr val="F4F7FB"/>
                    </a:solidFill>
                  </a:tcPr>
                </a:tc>
                <a:tc>
                  <a:txBody>
                    <a:bodyPr wrap="square"/>
                    <a:lstStyle/>
                    <a:p>
                      <a:pPr algn="l"/>
                      <a:r>
                        <a:rPr sz="940" b="0">
                          <a:solidFill>
                            <a:srgbClr val="2A3441"/>
                          </a:solidFill>
                          <a:latin typeface="Consolas"/>
                        </a:rPr>
                        <a:t>tier2_candidate → corroborated</a:t>
                      </a:r>
                    </a:p>
                  </a:txBody>
                  <a:tcPr marL="82296" marR="82296" marT="13716" marB="13716" anchor="ctr">
                    <a:solidFill>
                      <a:srgbClr val="F4F7FB"/>
                    </a:solidFill>
                  </a:tcPr>
                </a:tc>
                <a:tc>
                  <a:txBody>
                    <a:bodyPr wrap="square"/>
                    <a:lstStyle/>
                    <a:p>
                      <a:pPr algn="l"/>
                      <a:r>
                        <a:rPr sz="940" b="0">
                          <a:solidFill>
                            <a:srgbClr val="2A3441"/>
                          </a:solidFill>
                          <a:latin typeface="Consolas"/>
                        </a:rPr>
                        <a:t>family best 27 → 31</a:t>
                      </a:r>
                    </a:p>
                  </a:txBody>
                  <a:tcPr marL="82296" marR="82296" marT="13716" marB="13716" anchor="ctr">
                    <a:solidFill>
                      <a:srgbClr val="F4F7FB"/>
                    </a:solidFill>
                  </a:tcPr>
                </a:tc>
                <a:tc>
                  <a:txBody>
                    <a:bodyPr wrap="square"/>
                    <a:lstStyle/>
                    <a:p>
                      <a:pPr algn="l"/>
                      <a:r>
                        <a:rPr sz="940" b="0">
                          <a:solidFill>
                            <a:srgbClr val="2A3441"/>
                          </a:solidFill>
                          <a:latin typeface="Segoe UI"/>
                        </a:rPr>
                        <a:t>no</a:t>
                      </a:r>
                    </a:p>
                  </a:txBody>
                  <a:tcPr marL="82296" marR="82296" marT="13716" marB="13716" anchor="ctr">
                    <a:solidFill>
                      <a:srgbClr val="F4F7FB"/>
                    </a:solidFill>
                  </a:tcPr>
                </a:tc>
              </a:tr>
            </a:tbl>
          </a:graphicData>
        </a:graphic>
      </p:graphicFrame>
      <p:sp>
        <p:nvSpPr>
          <p:cNvPr id="19" name="Rectangle 18"/>
          <p:cNvSpPr/>
          <p:nvPr/>
        </p:nvSpPr>
        <p:spPr>
          <a:xfrm>
            <a:off x="566928" y="5212080"/>
            <a:ext cx="11057839" cy="950976"/>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8096" y="5303520"/>
            <a:ext cx="10655503" cy="786384"/>
          </a:xfrm>
          <a:prstGeom prst="rect">
            <a:avLst/>
          </a:prstGeom>
          <a:noFill/>
        </p:spPr>
        <p:txBody>
          <a:bodyPr wrap="square" anchor="t" lIns="0" rIns="0" tIns="0" bIns="0">
            <a:spAutoFit/>
          </a:bodyPr>
          <a:lstStyle/>
          <a:p>
            <a:pPr algn="l">
              <a:spcBef>
                <a:spcPts val="0"/>
              </a:spcBef>
              <a:spcAft>
                <a:spcPts val="200"/>
              </a:spcAft>
            </a:pPr>
            <a:r>
              <a:rPr sz="1080" b="1" i="0">
                <a:solidFill>
                  <a:srgbClr val="0F2A47"/>
                </a:solidFill>
                <a:latin typeface="Segoe UI"/>
              </a:rPr>
              <a:t>Why this example dismisses rather than confirms</a:t>
            </a:r>
          </a:p>
          <a:p>
            <a:pPr algn="l">
              <a:lnSpc>
                <a:spcPct val="120000"/>
              </a:lnSpc>
              <a:spcBef>
                <a:spcPts val="0"/>
              </a:spcBef>
              <a:spcAft>
                <a:spcPts val="0"/>
              </a:spcAft>
            </a:pPr>
            <a:r>
              <a:rPr sz="930" b="0" i="0">
                <a:solidFill>
                  <a:srgbClr val="2A3441"/>
                </a:solidFill>
                <a:latin typeface="Segoe UI"/>
              </a:rPr>
              <a:t>975 of the 996 flagged alerts sit at exactly 100.0, so a confirming verdict on a flagged family moves the band and leaves the score where it was. The movement above is visible because it is downward. Both directions are the same mechanism; only one of them is visible on this sample — the same crowding of scores at 100 shown earlier, turning up again where it matters.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A2</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evidence behind the numbers</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Where the data came from, what the analysis reversed, why the model is trusted, and what the evaluation measured. Each slide answers one question the worked example raises.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A2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use 250,000 rows out of 63 million?</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Because the 63 million is not 63 million of anything useful — and for the two rarest attacks we took every row that exists.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32</a:t>
            </a:r>
          </a:p>
        </p:txBody>
      </p:sp>
      <p:graphicFrame>
        <p:nvGraphicFramePr>
          <p:cNvPr id="9" name="Table 8"/>
          <p:cNvGraphicFramePr>
            <a:graphicFrameLocks noGrp="1"/>
          </p:cNvGraphicFramePr>
          <p:nvPr/>
        </p:nvGraphicFramePr>
        <p:xfrm>
          <a:off x="566928" y="1792224"/>
          <a:ext cx="11055096" cy="3236976"/>
        </p:xfrm>
        <a:graphic>
          <a:graphicData uri="http://schemas.openxmlformats.org/drawingml/2006/table">
            <a:tbl>
              <a:tblPr firstRow="0" bandRow="0"/>
              <a:tblGrid>
                <a:gridCol w="2240280"/>
                <a:gridCol w="1600200"/>
                <a:gridCol w="960120"/>
                <a:gridCol w="1051560"/>
                <a:gridCol w="5202936"/>
              </a:tblGrid>
              <a:tr h="310896">
                <a:tc>
                  <a:txBody>
                    <a:bodyPr wrap="square"/>
                    <a:lstStyle/>
                    <a:p>
                      <a:pPr algn="l"/>
                      <a:r>
                        <a:rPr sz="860" b="1">
                          <a:solidFill>
                            <a:srgbClr val="FFFFFF"/>
                          </a:solidFill>
                          <a:latin typeface="Segoe UI"/>
                        </a:rPr>
                        <a:t>Kind of traffic</a:t>
                      </a:r>
                    </a:p>
                  </a:txBody>
                  <a:tcPr marL="82296" marR="82296" marT="13716" marB="13716" anchor="ctr">
                    <a:solidFill>
                      <a:srgbClr val="0F2A47"/>
                    </a:solidFill>
                  </a:tcPr>
                </a:tc>
                <a:tc>
                  <a:txBody>
                    <a:bodyPr wrap="square"/>
                    <a:lstStyle/>
                    <a:p>
                      <a:pPr algn="r"/>
                      <a:r>
                        <a:rPr sz="860" b="1">
                          <a:solidFill>
                            <a:srgbClr val="FFFFFF"/>
                          </a:solidFill>
                          <a:latin typeface="Segoe UI"/>
                        </a:rPr>
                        <a:t>In the whole capture</a:t>
                      </a:r>
                    </a:p>
                  </a:txBody>
                  <a:tcPr marL="82296" marR="82296" marT="13716" marB="13716" anchor="ctr">
                    <a:solidFill>
                      <a:srgbClr val="0F2A47"/>
                    </a:solidFill>
                  </a:tcPr>
                </a:tc>
                <a:tc>
                  <a:txBody>
                    <a:bodyPr wrap="square"/>
                    <a:lstStyle/>
                    <a:p>
                      <a:pPr algn="r"/>
                      <a:r>
                        <a:rPr sz="860" b="1">
                          <a:solidFill>
                            <a:srgbClr val="FFFFFF"/>
                          </a:solidFill>
                          <a:latin typeface="Segoe UI"/>
                        </a:rPr>
                        <a:t>We used</a:t>
                      </a:r>
                    </a:p>
                  </a:txBody>
                  <a:tcPr marL="82296" marR="82296" marT="13716" marB="13716" anchor="ctr">
                    <a:solidFill>
                      <a:srgbClr val="0F2A47"/>
                    </a:solidFill>
                  </a:tcPr>
                </a:tc>
                <a:tc>
                  <a:txBody>
                    <a:bodyPr wrap="square"/>
                    <a:lstStyle/>
                    <a:p>
                      <a:pPr algn="r"/>
                      <a:r>
                        <a:rPr sz="860" b="1">
                          <a:solidFill>
                            <a:srgbClr val="FFFFFF"/>
                          </a:solidFill>
                          <a:latin typeface="Segoe UI"/>
                        </a:rPr>
                        <a:t>Share of it</a:t>
                      </a:r>
                    </a:p>
                  </a:txBody>
                  <a:tcPr marL="82296" marR="82296" marT="13716" marB="13716" anchor="ctr">
                    <a:solidFill>
                      <a:srgbClr val="0F2A47"/>
                    </a:solidFill>
                  </a:tcPr>
                </a:tc>
                <a:tc>
                  <a:txBody>
                    <a:bodyPr wrap="square"/>
                    <a:lstStyle/>
                    <a:p>
                      <a:pPr algn="l"/>
                      <a:r>
                        <a:rPr sz="860" b="1">
                          <a:solidFill>
                            <a:srgbClr val="FFFFFF"/>
                          </a:solidFill>
                          <a:latin typeface="Segoe UI"/>
                        </a:rPr>
                        <a:t>Why that many</a:t>
                      </a:r>
                    </a:p>
                  </a:txBody>
                  <a:tcPr marL="82296" marR="82296" marT="13716" marB="13716" anchor="ctr">
                    <a:solidFill>
                      <a:srgbClr val="0F2A47"/>
                    </a:solidFill>
                  </a:tcPr>
                </a:tc>
              </a:tr>
              <a:tr h="365760">
                <a:tc>
                  <a:txBody>
                    <a:bodyPr wrap="square"/>
                    <a:lstStyle/>
                    <a:p>
                      <a:pPr algn="l"/>
                      <a:r>
                        <a:rPr sz="919" b="0">
                          <a:solidFill>
                            <a:srgbClr val="2A3441"/>
                          </a:solidFill>
                          <a:latin typeface="Segoe UI"/>
                        </a:rPr>
                        <a:t>Ordinary traffic</a:t>
                      </a:r>
                    </a:p>
                  </a:txBody>
                  <a:tcPr marL="82296" marR="82296" marT="13716" marB="13716" anchor="ctr">
                    <a:solidFill>
                      <a:srgbClr val="FFFFFF"/>
                    </a:solidFill>
                  </a:tcPr>
                </a:tc>
                <a:tc>
                  <a:txBody>
                    <a:bodyPr wrap="square"/>
                    <a:lstStyle/>
                    <a:p>
                      <a:pPr algn="r"/>
                      <a:r>
                        <a:rPr sz="919" b="0">
                          <a:solidFill>
                            <a:srgbClr val="2A3441"/>
                          </a:solidFill>
                          <a:latin typeface="Consolas"/>
                        </a:rPr>
                        <a:t>59,353,486</a:t>
                      </a:r>
                    </a:p>
                  </a:txBody>
                  <a:tcPr marL="82296" marR="82296" marT="13716" marB="13716" anchor="ctr">
                    <a:solidFill>
                      <a:srgbClr val="FFFFFF"/>
                    </a:solidFill>
                  </a:tcPr>
                </a:tc>
                <a:tc>
                  <a:txBody>
                    <a:bodyPr wrap="square"/>
                    <a:lstStyle/>
                    <a:p>
                      <a:pPr algn="r"/>
                      <a:r>
                        <a:rPr sz="919" b="0">
                          <a:solidFill>
                            <a:srgbClr val="2A3441"/>
                          </a:solidFill>
                          <a:latin typeface="Consolas"/>
                        </a:rPr>
                        <a:t>104,000</a:t>
                      </a:r>
                    </a:p>
                  </a:txBody>
                  <a:tcPr marL="82296" marR="82296" marT="13716" marB="13716" anchor="ctr">
                    <a:solidFill>
                      <a:srgbClr val="FFFFFF"/>
                    </a:solidFill>
                  </a:tcPr>
                </a:tc>
                <a:tc>
                  <a:txBody>
                    <a:bodyPr wrap="square"/>
                    <a:lstStyle/>
                    <a:p>
                      <a:pPr algn="r"/>
                      <a:r>
                        <a:rPr sz="919" b="0">
                          <a:solidFill>
                            <a:srgbClr val="2A3441"/>
                          </a:solidFill>
                          <a:latin typeface="Consolas"/>
                        </a:rPr>
                        <a:t>0.18%</a:t>
                      </a:r>
                    </a:p>
                  </a:txBody>
                  <a:tcPr marL="82296" marR="82296" marT="13716" marB="13716" anchor="ctr">
                    <a:solidFill>
                      <a:srgbClr val="FFFFFF"/>
                    </a:solidFill>
                  </a:tcPr>
                </a:tc>
                <a:tc>
                  <a:txBody>
                    <a:bodyPr wrap="square"/>
                    <a:lstStyle/>
                    <a:p>
                      <a:pPr algn="l"/>
                      <a:r>
                        <a:rPr sz="919" b="0">
                          <a:solidFill>
                            <a:srgbClr val="2A3441"/>
                          </a:solidFill>
                          <a:latin typeface="Segoe UI"/>
                        </a:rPr>
                        <a:t>It is 94% of the capture. Use it all and the model learns to answer “normal” and score 94%.</a:t>
                      </a:r>
                    </a:p>
                  </a:txBody>
                  <a:tcPr marL="82296" marR="82296" marT="13716" marB="13716" anchor="ctr">
                    <a:solidFill>
                      <a:srgbClr val="FFFFFF"/>
                    </a:solidFill>
                  </a:tcPr>
                </a:tc>
              </a:tr>
              <a:tr h="365760">
                <a:tc>
                  <a:txBody>
                    <a:bodyPr wrap="square"/>
                    <a:lstStyle/>
                    <a:p>
                      <a:pPr algn="l"/>
                      <a:r>
                        <a:rPr sz="919" b="0">
                          <a:solidFill>
                            <a:srgbClr val="2A3441"/>
                          </a:solidFill>
                          <a:latin typeface="Segoe UI"/>
                        </a:rPr>
                        <a:t>Denial of service</a:t>
                      </a:r>
                    </a:p>
                  </a:txBody>
                  <a:tcPr marL="82296" marR="82296" marT="13716" marB="13716" anchor="ctr">
                    <a:solidFill>
                      <a:srgbClr val="F4F7FB"/>
                    </a:solidFill>
                  </a:tcPr>
                </a:tc>
                <a:tc>
                  <a:txBody>
                    <a:bodyPr wrap="square"/>
                    <a:lstStyle/>
                    <a:p>
                      <a:pPr algn="r"/>
                      <a:r>
                        <a:rPr sz="919" b="0">
                          <a:solidFill>
                            <a:srgbClr val="2A3441"/>
                          </a:solidFill>
                          <a:latin typeface="Consolas"/>
                        </a:rPr>
                        <a:t>1,840,877</a:t>
                      </a:r>
                    </a:p>
                  </a:txBody>
                  <a:tcPr marL="82296" marR="82296" marT="13716" marB="13716" anchor="ctr">
                    <a:solidFill>
                      <a:srgbClr val="F4F7FB"/>
                    </a:solidFill>
                  </a:tcPr>
                </a:tc>
                <a:tc>
                  <a:txBody>
                    <a:bodyPr wrap="square"/>
                    <a:lstStyle/>
                    <a:p>
                      <a:pPr algn="r"/>
                      <a:r>
                        <a:rPr sz="919" b="0">
                          <a:solidFill>
                            <a:srgbClr val="2A3441"/>
                          </a:solidFill>
                          <a:latin typeface="Consolas"/>
                        </a:rPr>
                        <a:t>30,200</a:t>
                      </a:r>
                    </a:p>
                  </a:txBody>
                  <a:tcPr marL="82296" marR="82296" marT="13716" marB="13716" anchor="ctr">
                    <a:solidFill>
                      <a:srgbClr val="F4F7FB"/>
                    </a:solidFill>
                  </a:tcPr>
                </a:tc>
                <a:tc>
                  <a:txBody>
                    <a:bodyPr wrap="square"/>
                    <a:lstStyle/>
                    <a:p>
                      <a:pPr algn="r"/>
                      <a:r>
                        <a:rPr sz="919" b="0">
                          <a:solidFill>
                            <a:srgbClr val="2A3441"/>
                          </a:solidFill>
                          <a:latin typeface="Consolas"/>
                        </a:rPr>
                        <a:t>1.64%</a:t>
                      </a:r>
                    </a:p>
                  </a:txBody>
                  <a:tcPr marL="82296" marR="82296" marT="13716" marB="13716" anchor="ctr">
                    <a:solidFill>
                      <a:srgbClr val="F4F7FB"/>
                    </a:solidFill>
                  </a:tcPr>
                </a:tc>
                <a:tc>
                  <a:txBody>
                    <a:bodyPr wrap="square"/>
                    <a:lstStyle/>
                    <a:p>
                      <a:pPr algn="l"/>
                      <a:r>
                        <a:rPr sz="919" b="0">
                          <a:solidFill>
                            <a:srgbClr val="2A3441"/>
                          </a:solidFill>
                          <a:latin typeface="Segoe UI"/>
                        </a:rPr>
                        <a:t>Capped. One tool made them all, so more rows repeat what the model already has.</a:t>
                      </a:r>
                    </a:p>
                  </a:txBody>
                  <a:tcPr marL="82296" marR="82296" marT="13716" marB="13716" anchor="ctr">
                    <a:solidFill>
                      <a:srgbClr val="F4F7FB"/>
                    </a:solidFill>
                  </a:tcPr>
                </a:tc>
              </a:tr>
              <a:tr h="365760">
                <a:tc>
                  <a:txBody>
                    <a:bodyPr wrap="square"/>
                    <a:lstStyle/>
                    <a:p>
                      <a:pPr algn="l"/>
                      <a:r>
                        <a:rPr sz="919" b="0">
                          <a:solidFill>
                            <a:srgbClr val="2A3441"/>
                          </a:solidFill>
                          <a:latin typeface="Segoe UI"/>
                        </a:rPr>
                        <a:t>Distributed denial of service</a:t>
                      </a:r>
                    </a:p>
                  </a:txBody>
                  <a:tcPr marL="82296" marR="82296" marT="13716" marB="13716" anchor="ctr">
                    <a:solidFill>
                      <a:srgbClr val="FFFFFF"/>
                    </a:solidFill>
                  </a:tcPr>
                </a:tc>
                <a:tc>
                  <a:txBody>
                    <a:bodyPr wrap="square"/>
                    <a:lstStyle/>
                    <a:p>
                      <a:pPr algn="r"/>
                      <a:r>
                        <a:rPr sz="919" b="0">
                          <a:solidFill>
                            <a:srgbClr val="2A3441"/>
                          </a:solidFill>
                          <a:latin typeface="Consolas"/>
                        </a:rPr>
                        <a:t>1,374,399</a:t>
                      </a:r>
                    </a:p>
                  </a:txBody>
                  <a:tcPr marL="82296" marR="82296" marT="13716" marB="13716" anchor="ctr">
                    <a:solidFill>
                      <a:srgbClr val="FFFFFF"/>
                    </a:solidFill>
                  </a:tcPr>
                </a:tc>
                <a:tc>
                  <a:txBody>
                    <a:bodyPr wrap="square"/>
                    <a:lstStyle/>
                    <a:p>
                      <a:pPr algn="r"/>
                      <a:r>
                        <a:rPr sz="919" b="0">
                          <a:solidFill>
                            <a:srgbClr val="2A3441"/>
                          </a:solidFill>
                          <a:latin typeface="Consolas"/>
                        </a:rPr>
                        <a:t>30,200</a:t>
                      </a:r>
                    </a:p>
                  </a:txBody>
                  <a:tcPr marL="82296" marR="82296" marT="13716" marB="13716" anchor="ctr">
                    <a:solidFill>
                      <a:srgbClr val="FFFFFF"/>
                    </a:solidFill>
                  </a:tcPr>
                </a:tc>
                <a:tc>
                  <a:txBody>
                    <a:bodyPr wrap="square"/>
                    <a:lstStyle/>
                    <a:p>
                      <a:pPr algn="r"/>
                      <a:r>
                        <a:rPr sz="919" b="0">
                          <a:solidFill>
                            <a:srgbClr val="2A3441"/>
                          </a:solidFill>
                          <a:latin typeface="Consolas"/>
                        </a:rPr>
                        <a:t>2.20%</a:t>
                      </a:r>
                    </a:p>
                  </a:txBody>
                  <a:tcPr marL="82296" marR="82296" marT="13716" marB="13716" anchor="ctr">
                    <a:solidFill>
                      <a:srgbClr val="FFFFFF"/>
                    </a:solidFill>
                  </a:tcPr>
                </a:tc>
                <a:tc>
                  <a:txBody>
                    <a:bodyPr wrap="square"/>
                    <a:lstStyle/>
                    <a:p>
                      <a:pPr algn="l"/>
                      <a:r>
                        <a:rPr sz="919" b="0">
                          <a:solidFill>
                            <a:srgbClr val="2A3441"/>
                          </a:solidFill>
                          <a:latin typeface="Segoe UI"/>
                        </a:rPr>
                        <a:t>Capped, same reason.</a:t>
                      </a:r>
                    </a:p>
                  </a:txBody>
                  <a:tcPr marL="82296" marR="82296" marT="13716" marB="13716" anchor="ctr">
                    <a:solidFill>
                      <a:srgbClr val="FFFFFF"/>
                    </a:solidFill>
                  </a:tcPr>
                </a:tc>
              </a:tr>
              <a:tr h="365760">
                <a:tc>
                  <a:txBody>
                    <a:bodyPr wrap="square"/>
                    <a:lstStyle/>
                    <a:p>
                      <a:pPr algn="l"/>
                      <a:r>
                        <a:rPr sz="919" b="0">
                          <a:solidFill>
                            <a:srgbClr val="2A3441"/>
                          </a:solidFill>
                          <a:latin typeface="Segoe UI"/>
                        </a:rPr>
                        <a:t>Password guessing</a:t>
                      </a:r>
                    </a:p>
                  </a:txBody>
                  <a:tcPr marL="82296" marR="82296" marT="13716" marB="13716" anchor="ctr">
                    <a:solidFill>
                      <a:srgbClr val="F4F7FB"/>
                    </a:solidFill>
                  </a:tcPr>
                </a:tc>
                <a:tc>
                  <a:txBody>
                    <a:bodyPr wrap="square"/>
                    <a:lstStyle/>
                    <a:p>
                      <a:pPr algn="r"/>
                      <a:r>
                        <a:rPr sz="919" b="0">
                          <a:solidFill>
                            <a:srgbClr val="2A3441"/>
                          </a:solidFill>
                          <a:latin typeface="Consolas"/>
                        </a:rPr>
                        <a:t>393,071</a:t>
                      </a:r>
                    </a:p>
                  </a:txBody>
                  <a:tcPr marL="82296" marR="82296" marT="13716" marB="13716" anchor="ctr">
                    <a:solidFill>
                      <a:srgbClr val="F4F7FB"/>
                    </a:solidFill>
                  </a:tcPr>
                </a:tc>
                <a:tc>
                  <a:txBody>
                    <a:bodyPr wrap="square"/>
                    <a:lstStyle/>
                    <a:p>
                      <a:pPr algn="r"/>
                      <a:r>
                        <a:rPr sz="919" b="0">
                          <a:solidFill>
                            <a:srgbClr val="2A3441"/>
                          </a:solidFill>
                          <a:latin typeface="Consolas"/>
                        </a:rPr>
                        <a:t>30,200</a:t>
                      </a:r>
                    </a:p>
                  </a:txBody>
                  <a:tcPr marL="82296" marR="82296" marT="13716" marB="13716" anchor="ctr">
                    <a:solidFill>
                      <a:srgbClr val="F4F7FB"/>
                    </a:solidFill>
                  </a:tcPr>
                </a:tc>
                <a:tc>
                  <a:txBody>
                    <a:bodyPr wrap="square"/>
                    <a:lstStyle/>
                    <a:p>
                      <a:pPr algn="r"/>
                      <a:r>
                        <a:rPr sz="919" b="0">
                          <a:solidFill>
                            <a:srgbClr val="2A3441"/>
                          </a:solidFill>
                          <a:latin typeface="Consolas"/>
                        </a:rPr>
                        <a:t>7.68%</a:t>
                      </a:r>
                    </a:p>
                  </a:txBody>
                  <a:tcPr marL="82296" marR="82296" marT="13716" marB="13716" anchor="ctr">
                    <a:solidFill>
                      <a:srgbClr val="F4F7FB"/>
                    </a:solidFill>
                  </a:tcPr>
                </a:tc>
                <a:tc>
                  <a:txBody>
                    <a:bodyPr wrap="square"/>
                    <a:lstStyle/>
                    <a:p>
                      <a:pPr algn="l"/>
                      <a:r>
                        <a:rPr sz="919" b="0">
                          <a:solidFill>
                            <a:srgbClr val="2A3441"/>
                          </a:solidFill>
                          <a:latin typeface="Segoe UI"/>
                        </a:rPr>
                        <a:t>Capped.</a:t>
                      </a:r>
                    </a:p>
                  </a:txBody>
                  <a:tcPr marL="82296" marR="82296" marT="13716" marB="13716" anchor="ctr">
                    <a:solidFill>
                      <a:srgbClr val="F4F7FB"/>
                    </a:solidFill>
                  </a:tcPr>
                </a:tc>
              </a:tr>
              <a:tr h="365760">
                <a:tc>
                  <a:txBody>
                    <a:bodyPr wrap="square"/>
                    <a:lstStyle/>
                    <a:p>
                      <a:pPr algn="l"/>
                      <a:r>
                        <a:rPr sz="919" b="0">
                          <a:solidFill>
                            <a:srgbClr val="2A3441"/>
                          </a:solidFill>
                          <a:latin typeface="Segoe UI"/>
                        </a:rPr>
                        <a:t>Botnet</a:t>
                      </a:r>
                    </a:p>
                  </a:txBody>
                  <a:tcPr marL="82296" marR="82296" marT="13716" marB="13716" anchor="ctr">
                    <a:solidFill>
                      <a:srgbClr val="FFFFFF"/>
                    </a:solidFill>
                  </a:tcPr>
                </a:tc>
                <a:tc>
                  <a:txBody>
                    <a:bodyPr wrap="square"/>
                    <a:lstStyle/>
                    <a:p>
                      <a:pPr algn="r"/>
                      <a:r>
                        <a:rPr sz="919" b="0">
                          <a:solidFill>
                            <a:srgbClr val="2A3441"/>
                          </a:solidFill>
                          <a:latin typeface="Consolas"/>
                        </a:rPr>
                        <a:t>143,183</a:t>
                      </a:r>
                    </a:p>
                  </a:txBody>
                  <a:tcPr marL="82296" marR="82296" marT="13716" marB="13716" anchor="ctr">
                    <a:solidFill>
                      <a:srgbClr val="FFFFFF"/>
                    </a:solidFill>
                  </a:tcPr>
                </a:tc>
                <a:tc>
                  <a:txBody>
                    <a:bodyPr wrap="square"/>
                    <a:lstStyle/>
                    <a:p>
                      <a:pPr algn="r"/>
                      <a:r>
                        <a:rPr sz="919" b="0">
                          <a:solidFill>
                            <a:srgbClr val="2A3441"/>
                          </a:solidFill>
                          <a:latin typeface="Consolas"/>
                        </a:rPr>
                        <a:t>30,150</a:t>
                      </a:r>
                    </a:p>
                  </a:txBody>
                  <a:tcPr marL="82296" marR="82296" marT="13716" marB="13716" anchor="ctr">
                    <a:solidFill>
                      <a:srgbClr val="FFFFFF"/>
                    </a:solidFill>
                  </a:tcPr>
                </a:tc>
                <a:tc>
                  <a:txBody>
                    <a:bodyPr wrap="square"/>
                    <a:lstStyle/>
                    <a:p>
                      <a:pPr algn="r"/>
                      <a:r>
                        <a:rPr sz="919" b="0">
                          <a:solidFill>
                            <a:srgbClr val="2A3441"/>
                          </a:solidFill>
                          <a:latin typeface="Consolas"/>
                        </a:rPr>
                        <a:t>21.06%</a:t>
                      </a:r>
                    </a:p>
                  </a:txBody>
                  <a:tcPr marL="82296" marR="82296" marT="13716" marB="13716" anchor="ctr">
                    <a:solidFill>
                      <a:srgbClr val="FFFFFF"/>
                    </a:solidFill>
                  </a:tcPr>
                </a:tc>
                <a:tc>
                  <a:txBody>
                    <a:bodyPr wrap="square"/>
                    <a:lstStyle/>
                    <a:p>
                      <a:pPr algn="l"/>
                      <a:r>
                        <a:rPr sz="919" b="0">
                          <a:solidFill>
                            <a:srgbClr val="2A3441"/>
                          </a:solidFill>
                          <a:latin typeface="Segoe UI"/>
                        </a:rPr>
                        <a:t>Capped.</a:t>
                      </a:r>
                    </a:p>
                  </a:txBody>
                  <a:tcPr marL="82296" marR="82296" marT="13716" marB="13716" anchor="ctr">
                    <a:solidFill>
                      <a:srgbClr val="FFFFFF"/>
                    </a:solidFill>
                  </a:tcPr>
                </a:tc>
              </a:tr>
              <a:tr h="365760">
                <a:tc>
                  <a:txBody>
                    <a:bodyPr wrap="square"/>
                    <a:lstStyle/>
                    <a:p>
                      <a:pPr algn="l"/>
                      <a:r>
                        <a:rPr sz="919" b="0">
                          <a:solidFill>
                            <a:srgbClr val="2A3441"/>
                          </a:solidFill>
                          <a:latin typeface="Segoe UI"/>
                        </a:rPr>
                        <a:t>Port scanning</a:t>
                      </a:r>
                    </a:p>
                  </a:txBody>
                  <a:tcPr marL="82296" marR="82296" marT="13716" marB="13716" anchor="ctr">
                    <a:solidFill>
                      <a:srgbClr val="F4F7FB"/>
                    </a:solidFill>
                  </a:tcPr>
                </a:tc>
                <a:tc>
                  <a:txBody>
                    <a:bodyPr wrap="square"/>
                    <a:lstStyle/>
                    <a:p>
                      <a:pPr algn="r"/>
                      <a:r>
                        <a:rPr sz="919" b="0">
                          <a:solidFill>
                            <a:srgbClr val="2A3441"/>
                          </a:solidFill>
                          <a:latin typeface="Consolas"/>
                        </a:rPr>
                        <a:t>89,374</a:t>
                      </a:r>
                    </a:p>
                  </a:txBody>
                  <a:tcPr marL="82296" marR="82296" marT="13716" marB="13716" anchor="ctr">
                    <a:solidFill>
                      <a:srgbClr val="F4F7FB"/>
                    </a:solidFill>
                  </a:tcPr>
                </a:tc>
                <a:tc>
                  <a:txBody>
                    <a:bodyPr wrap="square"/>
                    <a:lstStyle/>
                    <a:p>
                      <a:pPr algn="r"/>
                      <a:r>
                        <a:rPr sz="919" b="0">
                          <a:solidFill>
                            <a:srgbClr val="2A3441"/>
                          </a:solidFill>
                          <a:latin typeface="Consolas"/>
                        </a:rPr>
                        <a:t>30,150</a:t>
                      </a:r>
                    </a:p>
                  </a:txBody>
                  <a:tcPr marL="82296" marR="82296" marT="13716" marB="13716" anchor="ctr">
                    <a:solidFill>
                      <a:srgbClr val="F4F7FB"/>
                    </a:solidFill>
                  </a:tcPr>
                </a:tc>
                <a:tc>
                  <a:txBody>
                    <a:bodyPr wrap="square"/>
                    <a:lstStyle/>
                    <a:p>
                      <a:pPr algn="r"/>
                      <a:r>
                        <a:rPr sz="919" b="0">
                          <a:solidFill>
                            <a:srgbClr val="2A3441"/>
                          </a:solidFill>
                          <a:latin typeface="Consolas"/>
                        </a:rPr>
                        <a:t>33.73%</a:t>
                      </a:r>
                    </a:p>
                  </a:txBody>
                  <a:tcPr marL="82296" marR="82296" marT="13716" marB="13716" anchor="ctr">
                    <a:solidFill>
                      <a:srgbClr val="F4F7FB"/>
                    </a:solidFill>
                  </a:tcPr>
                </a:tc>
                <a:tc>
                  <a:txBody>
                    <a:bodyPr wrap="square"/>
                    <a:lstStyle/>
                    <a:p>
                      <a:pPr algn="l"/>
                      <a:r>
                        <a:rPr sz="919" b="0">
                          <a:solidFill>
                            <a:srgbClr val="2A3441"/>
                          </a:solidFill>
                          <a:latin typeface="Segoe UI"/>
                        </a:rPr>
                        <a:t>Capped.</a:t>
                      </a:r>
                    </a:p>
                  </a:txBody>
                  <a:tcPr marL="82296" marR="82296" marT="13716" marB="13716" anchor="ctr">
                    <a:solidFill>
                      <a:srgbClr val="F4F7FB"/>
                    </a:solidFill>
                  </a:tcPr>
                </a:tc>
              </a:tr>
              <a:tr h="365760">
                <a:tc>
                  <a:txBody>
                    <a:bodyPr wrap="square"/>
                    <a:lstStyle/>
                    <a:p>
                      <a:pPr algn="l"/>
                      <a:r>
                        <a:rPr sz="919" b="0">
                          <a:solidFill>
                            <a:srgbClr val="2A3441"/>
                          </a:solidFill>
                          <a:latin typeface="Segoe UI"/>
                        </a:rPr>
                        <a:t>Web attacks</a:t>
                      </a:r>
                    </a:p>
                  </a:txBody>
                  <a:tcPr marL="82296" marR="82296" marT="13716" marB="13716" anchor="ctr">
                    <a:solidFill>
                      <a:srgbClr val="FFFFFF"/>
                    </a:solidFill>
                  </a:tcPr>
                </a:tc>
                <a:tc>
                  <a:txBody>
                    <a:bodyPr wrap="square"/>
                    <a:lstStyle/>
                    <a:p>
                      <a:pPr algn="r"/>
                      <a:r>
                        <a:rPr sz="919" b="0">
                          <a:solidFill>
                            <a:srgbClr val="2A3441"/>
                          </a:solidFill>
                          <a:latin typeface="Consolas"/>
                        </a:rPr>
                        <a:t>438</a:t>
                      </a:r>
                    </a:p>
                  </a:txBody>
                  <a:tcPr marL="82296" marR="82296" marT="13716" marB="13716" anchor="ctr">
                    <a:solidFill>
                      <a:srgbClr val="FFFFFF"/>
                    </a:solidFill>
                  </a:tcPr>
                </a:tc>
                <a:tc>
                  <a:txBody>
                    <a:bodyPr wrap="square"/>
                    <a:lstStyle/>
                    <a:p>
                      <a:pPr algn="r"/>
                      <a:r>
                        <a:rPr sz="919" b="0">
                          <a:solidFill>
                            <a:srgbClr val="2A3441"/>
                          </a:solidFill>
                          <a:latin typeface="Consolas"/>
                        </a:rPr>
                        <a:t>438</a:t>
                      </a:r>
                    </a:p>
                  </a:txBody>
                  <a:tcPr marL="82296" marR="82296" marT="13716" marB="13716" anchor="ctr">
                    <a:solidFill>
                      <a:srgbClr val="FFFFFF"/>
                    </a:solidFill>
                  </a:tcPr>
                </a:tc>
                <a:tc>
                  <a:txBody>
                    <a:bodyPr wrap="square"/>
                    <a:lstStyle/>
                    <a:p>
                      <a:pPr algn="r"/>
                      <a:r>
                        <a:rPr sz="919" b="1">
                          <a:solidFill>
                            <a:srgbClr val="1E7A45"/>
                          </a:solidFill>
                          <a:latin typeface="Consolas"/>
                        </a:rPr>
                        <a:t>100%</a:t>
                      </a:r>
                    </a:p>
                  </a:txBody>
                  <a:tcPr marL="82296" marR="82296" marT="13716" marB="13716" anchor="ctr">
                    <a:solidFill>
                      <a:srgbClr val="FFFFFF"/>
                    </a:solidFill>
                  </a:tcPr>
                </a:tc>
                <a:tc>
                  <a:txBody>
                    <a:bodyPr wrap="square"/>
                    <a:lstStyle/>
                    <a:p>
                      <a:pPr algn="l"/>
                      <a:r>
                        <a:rPr sz="919" b="0">
                          <a:solidFill>
                            <a:srgbClr val="2A3441"/>
                          </a:solidFill>
                          <a:latin typeface="Segoe UI"/>
                        </a:rPr>
                        <a:t>Everything there is — 438 rows in 63 million.</a:t>
                      </a:r>
                    </a:p>
                  </a:txBody>
                  <a:tcPr marL="82296" marR="82296" marT="13716" marB="13716" anchor="ctr">
                    <a:solidFill>
                      <a:srgbClr val="FFFFFF"/>
                    </a:solidFill>
                  </a:tcPr>
                </a:tc>
              </a:tr>
              <a:tr h="365760">
                <a:tc>
                  <a:txBody>
                    <a:bodyPr wrap="square"/>
                    <a:lstStyle/>
                    <a:p>
                      <a:pPr algn="l"/>
                      <a:r>
                        <a:rPr sz="919" b="0">
                          <a:solidFill>
                            <a:srgbClr val="2A3441"/>
                          </a:solidFill>
                          <a:latin typeface="Segoe UI"/>
                        </a:rPr>
                        <a:t>Infiltration</a:t>
                      </a:r>
                    </a:p>
                  </a:txBody>
                  <a:tcPr marL="82296" marR="82296" marT="13716" marB="13716" anchor="ctr">
                    <a:solidFill>
                      <a:srgbClr val="F4F7FB"/>
                    </a:solidFill>
                  </a:tcPr>
                </a:tc>
                <a:tc>
                  <a:txBody>
                    <a:bodyPr wrap="square"/>
                    <a:lstStyle/>
                    <a:p>
                      <a:pPr algn="r"/>
                      <a:r>
                        <a:rPr sz="919" b="0">
                          <a:solidFill>
                            <a:srgbClr val="2A3441"/>
                          </a:solidFill>
                          <a:latin typeface="Consolas"/>
                        </a:rPr>
                        <a:t>317</a:t>
                      </a:r>
                    </a:p>
                  </a:txBody>
                  <a:tcPr marL="82296" marR="82296" marT="13716" marB="13716" anchor="ctr">
                    <a:solidFill>
                      <a:srgbClr val="F4F7FB"/>
                    </a:solidFill>
                  </a:tcPr>
                </a:tc>
                <a:tc>
                  <a:txBody>
                    <a:bodyPr wrap="square"/>
                    <a:lstStyle/>
                    <a:p>
                      <a:pPr algn="r"/>
                      <a:r>
                        <a:rPr sz="919" b="0">
                          <a:solidFill>
                            <a:srgbClr val="2A3441"/>
                          </a:solidFill>
                          <a:latin typeface="Consolas"/>
                        </a:rPr>
                        <a:t>317</a:t>
                      </a:r>
                    </a:p>
                  </a:txBody>
                  <a:tcPr marL="82296" marR="82296" marT="13716" marB="13716" anchor="ctr">
                    <a:solidFill>
                      <a:srgbClr val="F4F7FB"/>
                    </a:solidFill>
                  </a:tcPr>
                </a:tc>
                <a:tc>
                  <a:txBody>
                    <a:bodyPr wrap="square"/>
                    <a:lstStyle/>
                    <a:p>
                      <a:pPr algn="r"/>
                      <a:r>
                        <a:rPr sz="919" b="1">
                          <a:solidFill>
                            <a:srgbClr val="1E7A45"/>
                          </a:solidFill>
                          <a:latin typeface="Consolas"/>
                        </a:rPr>
                        <a:t>100%</a:t>
                      </a:r>
                    </a:p>
                  </a:txBody>
                  <a:tcPr marL="82296" marR="82296" marT="13716" marB="13716" anchor="ctr">
                    <a:solidFill>
                      <a:srgbClr val="F4F7FB"/>
                    </a:solidFill>
                  </a:tcPr>
                </a:tc>
                <a:tc>
                  <a:txBody>
                    <a:bodyPr wrap="square"/>
                    <a:lstStyle/>
                    <a:p>
                      <a:pPr algn="l"/>
                      <a:r>
                        <a:rPr sz="919" b="0">
                          <a:solidFill>
                            <a:srgbClr val="2A3441"/>
                          </a:solidFill>
                          <a:latin typeface="Segoe UI"/>
                        </a:rPr>
                        <a:t>Everything there is — 317 rows in 63 million.</a:t>
                      </a:r>
                    </a:p>
                  </a:txBody>
                  <a:tcPr marL="82296" marR="82296" marT="13716" marB="13716" anchor="ctr">
                    <a:solidFill>
                      <a:srgbClr val="F4F7FB"/>
                    </a:solidFill>
                  </a:tcPr>
                </a:tc>
              </a:tr>
            </a:tbl>
          </a:graphicData>
        </a:graphic>
      </p:graphicFrame>
      <p:sp>
        <p:nvSpPr>
          <p:cNvPr id="10" name="Rectangle 9"/>
          <p:cNvSpPr/>
          <p:nvPr/>
        </p:nvSpPr>
        <p:spPr>
          <a:xfrm>
            <a:off x="566928" y="4846320"/>
            <a:ext cx="3539642"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4846320"/>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4956048"/>
            <a:ext cx="3228746" cy="969264"/>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Balance matters more than volume</a:t>
            </a:r>
          </a:p>
          <a:p>
            <a:pPr algn="l">
              <a:lnSpc>
                <a:spcPct val="120000"/>
              </a:lnSpc>
              <a:spcBef>
                <a:spcPts val="0"/>
              </a:spcBef>
              <a:spcAft>
                <a:spcPts val="0"/>
              </a:spcAft>
            </a:pPr>
            <a:r>
              <a:rPr sz="919" b="0" i="0">
                <a:solidFill>
                  <a:srgbClr val="2A3441"/>
                </a:solidFill>
                <a:latin typeface="Segoe UI"/>
              </a:rPr>
              <a:t>Train on the real proportions and a model that answers “normal” to everything scores 94% and is useless. We measured exactly that: the simplest model reaches 78.7% “accuracy” and still fails on every rare attack.</a:t>
            </a:r>
          </a:p>
        </p:txBody>
      </p:sp>
      <p:sp>
        <p:nvSpPr>
          <p:cNvPr id="13" name="Rectangle 12"/>
          <p:cNvSpPr/>
          <p:nvPr/>
        </p:nvSpPr>
        <p:spPr>
          <a:xfrm>
            <a:off x="4326026" y="4846320"/>
            <a:ext cx="3539642"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26026" y="4846320"/>
            <a:ext cx="50292" cy="117043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08906" y="4956048"/>
            <a:ext cx="3228746" cy="969264"/>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The rare attacks set the ceiling, not us</a:t>
            </a:r>
          </a:p>
          <a:p>
            <a:pPr algn="l">
              <a:lnSpc>
                <a:spcPct val="120000"/>
              </a:lnSpc>
              <a:spcBef>
                <a:spcPts val="0"/>
              </a:spcBef>
              <a:spcAft>
                <a:spcPts val="0"/>
              </a:spcAft>
            </a:pPr>
            <a:r>
              <a:rPr sz="919" b="0" i="0">
                <a:solidFill>
                  <a:srgbClr val="2A3441"/>
                </a:solidFill>
                <a:latin typeface="Segoe UI"/>
              </a:rPr>
              <a:t>There are 438 web attacks and 317 infiltration flows in the whole ten-day capture. We used all of them. That is why those two are our weakest classes — the data runs out, not the method.</a:t>
            </a:r>
          </a:p>
        </p:txBody>
      </p:sp>
      <p:sp>
        <p:nvSpPr>
          <p:cNvPr id="16" name="Rectangle 15"/>
          <p:cNvSpPr/>
          <p:nvPr/>
        </p:nvSpPr>
        <p:spPr>
          <a:xfrm>
            <a:off x="8085124" y="4846320"/>
            <a:ext cx="3539642"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85124" y="4846320"/>
            <a:ext cx="50292" cy="117043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68004" y="4956048"/>
            <a:ext cx="3228746" cy="969264"/>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What we did not check, and say so</a:t>
            </a:r>
          </a:p>
          <a:p>
            <a:pPr algn="l">
              <a:lnSpc>
                <a:spcPct val="120000"/>
              </a:lnSpc>
              <a:spcBef>
                <a:spcPts val="0"/>
              </a:spcBef>
              <a:spcAft>
                <a:spcPts val="0"/>
              </a:spcAft>
            </a:pPr>
            <a:r>
              <a:rPr sz="919" b="0" i="0">
                <a:solidFill>
                  <a:srgbClr val="2A3441"/>
                </a:solidFill>
                <a:latin typeface="Segoe UI"/>
              </a:rPr>
              <a:t>We capped the common attacks at 30,000 each because they repeat, but we did not plot a curve to prove 30,000 is the point where more rows stop helping. A reasoned choice, not a measured one.</a:t>
            </a:r>
          </a:p>
        </p:txBody>
      </p:sp>
      <p:sp>
        <p:nvSpPr>
          <p:cNvPr id="19" name="Rectangle 18"/>
          <p:cNvSpPr/>
          <p:nvPr/>
        </p:nvSpPr>
        <p:spPr>
          <a:xfrm>
            <a:off x="566928" y="6071616"/>
            <a:ext cx="11057839" cy="3474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8096" y="6117336"/>
            <a:ext cx="10655503" cy="256032"/>
          </a:xfrm>
          <a:prstGeom prst="rect">
            <a:avLst/>
          </a:prstGeom>
          <a:noFill/>
        </p:spPr>
        <p:txBody>
          <a:bodyPr wrap="square" anchor="ctr" lIns="0" rIns="0" tIns="0" bIns="0">
            <a:spAutoFit/>
          </a:bodyPr>
          <a:lstStyle/>
          <a:p>
            <a:pPr algn="l">
              <a:spcBef>
                <a:spcPts val="0"/>
              </a:spcBef>
              <a:spcAft>
                <a:spcPts val="0"/>
              </a:spcAft>
            </a:pPr>
            <a:r>
              <a:rPr sz="919" b="0" i="0">
                <a:solidFill>
                  <a:srgbClr val="2A3441"/>
                </a:solidFill>
                <a:latin typeface="Segoe UI"/>
              </a:rPr>
              <a:t>Both samples are drawn with the same fixed seed (20260911) and checked to share no rows, so the demo can never be the model repeating something it memorised.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did the analysis force us to change?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findings from the corrected release changed the class list — and one notebook reversed the project's central claim.</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33</a:t>
            </a:r>
          </a:p>
        </p:txBody>
      </p:sp>
      <p:graphicFrame>
        <p:nvGraphicFramePr>
          <p:cNvPr id="9" name="Table 8"/>
          <p:cNvGraphicFramePr>
            <a:graphicFrameLocks noGrp="1"/>
          </p:cNvGraphicFramePr>
          <p:nvPr/>
        </p:nvGraphicFramePr>
        <p:xfrm>
          <a:off x="566928" y="1883664"/>
          <a:ext cx="11055096" cy="2999232"/>
        </p:xfrm>
        <a:graphic>
          <a:graphicData uri="http://schemas.openxmlformats.org/drawingml/2006/table">
            <a:tbl>
              <a:tblPr firstRow="0" bandRow="0"/>
              <a:tblGrid>
                <a:gridCol w="2331720"/>
                <a:gridCol w="4251960"/>
                <a:gridCol w="4471416"/>
              </a:tblGrid>
              <a:tr h="292608">
                <a:tc>
                  <a:txBody>
                    <a:bodyPr wrap="square"/>
                    <a:lstStyle/>
                    <a:p>
                      <a:pPr algn="l"/>
                      <a:r>
                        <a:rPr sz="880" b="1">
                          <a:solidFill>
                            <a:srgbClr val="FFFFFF"/>
                          </a:solidFill>
                          <a:latin typeface="Segoe UI"/>
                        </a:rPr>
                        <a:t>Finding</a:t>
                      </a:r>
                    </a:p>
                  </a:txBody>
                  <a:tcPr marL="82296" marR="82296" marT="13716" marB="13716" anchor="ctr">
                    <a:solidFill>
                      <a:srgbClr val="0F2A47"/>
                    </a:solidFill>
                  </a:tcPr>
                </a:tc>
                <a:tc>
                  <a:txBody>
                    <a:bodyPr wrap="square"/>
                    <a:lstStyle/>
                    <a:p>
                      <a:pPr algn="l"/>
                      <a:r>
                        <a:rPr sz="880" b="1">
                          <a:solidFill>
                            <a:srgbClr val="FFFFFF"/>
                          </a:solidFill>
                          <a:latin typeface="Segoe UI"/>
                        </a:rPr>
                        <a:t>The evidence</a:t>
                      </a:r>
                    </a:p>
                  </a:txBody>
                  <a:tcPr marL="82296" marR="82296" marT="13716" marB="13716" anchor="ctr">
                    <a:solidFill>
                      <a:srgbClr val="0F2A47"/>
                    </a:solidFill>
                  </a:tcPr>
                </a:tc>
                <a:tc>
                  <a:txBody>
                    <a:bodyPr wrap="square"/>
                    <a:lstStyle/>
                    <a:p>
                      <a:pPr algn="l"/>
                      <a:r>
                        <a:rPr sz="880" b="1">
                          <a:solidFill>
                            <a:srgbClr val="FFFFFF"/>
                          </a:solidFill>
                          <a:latin typeface="Segoe UI"/>
                        </a:rPr>
                        <a:t>What it forced</a:t>
                      </a:r>
                    </a:p>
                  </a:txBody>
                  <a:tcPr marL="82296" marR="82296" marT="13716" marB="13716" anchor="ctr">
                    <a:solidFill>
                      <a:srgbClr val="0F2A47"/>
                    </a:solidFill>
                  </a:tcPr>
                </a:tc>
              </a:tr>
              <a:tr h="676656">
                <a:tc>
                  <a:txBody>
                    <a:bodyPr wrap="square"/>
                    <a:lstStyle/>
                    <a:p>
                      <a:pPr algn="l"/>
                      <a:r>
                        <a:rPr sz="910" b="0">
                          <a:solidFill>
                            <a:srgbClr val="2A3441"/>
                          </a:solidFill>
                          <a:latin typeface="Segoe UI"/>
                        </a:rPr>
                        <a:t>Infiltration was never one class</a:t>
                      </a:r>
                    </a:p>
                  </a:txBody>
                  <a:tcPr marL="82296" marR="82296" marT="13716" marB="13716" anchor="ctr">
                    <a:solidFill>
                      <a:srgbClr val="FFFFFF"/>
                    </a:solidFill>
                  </a:tcPr>
                </a:tc>
                <a:tc>
                  <a:txBody>
                    <a:bodyPr wrap="square"/>
                    <a:lstStyle/>
                    <a:p>
                      <a:pPr algn="l"/>
                      <a:r>
                        <a:rPr sz="910" b="0">
                          <a:solidFill>
                            <a:srgbClr val="2A3441"/>
                          </a:solidFill>
                          <a:latin typeface="Segoe UI"/>
                        </a:rPr>
                        <a:t>89,374 of 89,691 “Infiltration” flows — 99.6% — are NMAP Portscan. True infiltration is 317 flows in 63.2 million.</a:t>
                      </a:r>
                    </a:p>
                  </a:txBody>
                  <a:tcPr marL="82296" marR="82296" marT="13716" marB="13716" anchor="ctr">
                    <a:solidFill>
                      <a:srgbClr val="FFFFFF"/>
                    </a:solidFill>
                  </a:tcPr>
                </a:tc>
                <a:tc>
                  <a:txBody>
                    <a:bodyPr wrap="square"/>
                    <a:lstStyle/>
                    <a:p>
                      <a:pPr algn="l"/>
                      <a:r>
                        <a:rPr sz="910" b="0">
                          <a:solidFill>
                            <a:srgbClr val="2A3441"/>
                          </a:solidFill>
                          <a:latin typeface="Segoe UI"/>
                        </a:rPr>
                        <a:t>Q19: Port Scan becomes an 8th class. This is why the literature calls the class unlearnable.</a:t>
                      </a:r>
                    </a:p>
                  </a:txBody>
                  <a:tcPr marL="82296" marR="82296" marT="13716" marB="13716" anchor="ctr">
                    <a:solidFill>
                      <a:srgbClr val="FFFFFF"/>
                    </a:solidFill>
                  </a:tcPr>
                </a:tc>
              </a:tr>
              <a:tr h="676656">
                <a:tc>
                  <a:txBody>
                    <a:bodyPr wrap="square"/>
                    <a:lstStyle/>
                    <a:p>
                      <a:pPr algn="l"/>
                      <a:r>
                        <a:rPr sz="910" b="0">
                          <a:solidFill>
                            <a:srgbClr val="2A3441"/>
                          </a:solidFill>
                          <a:latin typeface="Segoe UI"/>
                        </a:rPr>
                        <a:t>FTP brute force never succeeded</a:t>
                      </a:r>
                    </a:p>
                  </a:txBody>
                  <a:tcPr marL="82296" marR="82296" marT="13716" marB="13716" anchor="ctr">
                    <a:solidFill>
                      <a:srgbClr val="F4F7FB"/>
                    </a:solidFill>
                  </a:tcPr>
                </a:tc>
                <a:tc>
                  <a:txBody>
                    <a:bodyPr wrap="square"/>
                    <a:lstStyle/>
                    <a:p>
                      <a:pPr algn="l"/>
                      <a:r>
                        <a:rPr sz="910" b="0">
                          <a:solidFill>
                            <a:srgbClr val="2A3441"/>
                          </a:solidFill>
                          <a:latin typeface="Segoe UI"/>
                        </a:rPr>
                        <a:t>All 298,844 FTP-BruteForce flows are marked Attempted; 76% of the whole Brute Force class is attempts.</a:t>
                      </a:r>
                    </a:p>
                  </a:txBody>
                  <a:tcPr marL="82296" marR="82296" marT="13716" marB="13716" anchor="ctr">
                    <a:solidFill>
                      <a:srgbClr val="F4F7FB"/>
                    </a:solidFill>
                  </a:tcPr>
                </a:tc>
                <a:tc>
                  <a:txBody>
                    <a:bodyPr wrap="square"/>
                    <a:lstStyle/>
                    <a:p>
                      <a:pPr algn="l"/>
                      <a:r>
                        <a:rPr sz="910" b="0">
                          <a:solidFill>
                            <a:srgbClr val="2A3441"/>
                          </a:solidFill>
                          <a:latin typeface="Segoe UI"/>
                        </a:rPr>
                        <a:t>Q18: attempted attacks are malicious. Calling them benign would make the IDS “correct” to ignore an intrusion in progress.</a:t>
                      </a:r>
                    </a:p>
                  </a:txBody>
                  <a:tcPr marL="82296" marR="82296" marT="13716" marB="13716" anchor="ctr">
                    <a:solidFill>
                      <a:srgbClr val="F4F7FB"/>
                    </a:solidFill>
                  </a:tcPr>
                </a:tc>
              </a:tr>
              <a:tr h="676656">
                <a:tc>
                  <a:txBody>
                    <a:bodyPr wrap="square"/>
                    <a:lstStyle/>
                    <a:p>
                      <a:pPr algn="l"/>
                      <a:r>
                        <a:rPr sz="910" b="0">
                          <a:solidFill>
                            <a:srgbClr val="2A3441"/>
                          </a:solidFill>
                          <a:latin typeface="Segoe UI"/>
                        </a:rPr>
                        <a:t>Web Attack barely exists</a:t>
                      </a:r>
                    </a:p>
                  </a:txBody>
                  <a:tcPr marL="82296" marR="82296" marT="13716" marB="13716" anchor="ctr">
                    <a:solidFill>
                      <a:srgbClr val="FFFFFF"/>
                    </a:solidFill>
                  </a:tcPr>
                </a:tc>
                <a:tc>
                  <a:txBody>
                    <a:bodyPr wrap="square"/>
                    <a:lstStyle/>
                    <a:p>
                      <a:pPr algn="l"/>
                      <a:r>
                        <a:rPr sz="910" b="0">
                          <a:solidFill>
                            <a:srgbClr val="2A3441"/>
                          </a:solidFill>
                          <a:latin typeface="Segoe UI"/>
                        </a:rPr>
                        <a:t>283 successful flows in 63,195,145 — 0.0004%. The old 1,000-row sample held 83 of them: 29.3% of the entire class.</a:t>
                      </a:r>
                    </a:p>
                  </a:txBody>
                  <a:tcPr marL="82296" marR="82296" marT="13716" marB="13716" anchor="ctr">
                    <a:solidFill>
                      <a:srgbClr val="FFFFFF"/>
                    </a:solidFill>
                  </a:tcPr>
                </a:tc>
                <a:tc>
                  <a:txBody>
                    <a:bodyPr wrap="square"/>
                    <a:lstStyle/>
                    <a:p>
                      <a:pPr algn="l"/>
                      <a:r>
                        <a:rPr sz="910" b="0">
                          <a:solidFill>
                            <a:srgbClr val="2A3441"/>
                          </a:solidFill>
                          <a:latin typeface="Segoe UI"/>
                        </a:rPr>
                        <a:t>The old sample was discarded. Any Web Attack metric from it was computed on almost the whole population.</a:t>
                      </a:r>
                    </a:p>
                  </a:txBody>
                  <a:tcPr marL="82296" marR="82296" marT="13716" marB="13716" anchor="ctr">
                    <a:solidFill>
                      <a:srgbClr val="FFFFFF"/>
                    </a:solidFill>
                  </a:tcPr>
                </a:tc>
              </a:tr>
              <a:tr h="676656">
                <a:tc>
                  <a:txBody>
                    <a:bodyPr wrap="square"/>
                    <a:lstStyle/>
                    <a:p>
                      <a:pPr algn="l"/>
                      <a:r>
                        <a:rPr sz="910" b="0">
                          <a:solidFill>
                            <a:srgbClr val="2A3441"/>
                          </a:solidFill>
                          <a:latin typeface="Segoe UI"/>
                        </a:rPr>
                        <a:t>The detectors are not complementary</a:t>
                      </a:r>
                    </a:p>
                  </a:txBody>
                  <a:tcPr marL="82296" marR="82296" marT="13716" marB="13716" anchor="ctr">
                    <a:solidFill>
                      <a:srgbClr val="F4F7FB"/>
                    </a:solidFill>
                  </a:tcPr>
                </a:tc>
                <a:tc>
                  <a:txBody>
                    <a:bodyPr wrap="square"/>
                    <a:lstStyle/>
                    <a:p>
                      <a:pPr algn="l"/>
                      <a:r>
                        <a:rPr sz="910" b="0">
                          <a:solidFill>
                            <a:srgbClr val="2A3441"/>
                          </a:solidFill>
                          <a:latin typeface="Segoe UI"/>
                        </a:rPr>
                        <a:t>Re-measured on corrected data, signature-only coverage is exactly 0. Two claims withdrawn, including “zero co-occurrence” — agreement occurs 200 times.</a:t>
                      </a:r>
                    </a:p>
                  </a:txBody>
                  <a:tcPr marL="82296" marR="82296" marT="13716" marB="13716" anchor="ctr">
                    <a:solidFill>
                      <a:srgbClr val="F4F7FB"/>
                    </a:solidFill>
                  </a:tcPr>
                </a:tc>
                <a:tc>
                  <a:txBody>
                    <a:bodyPr wrap="square"/>
                    <a:lstStyle/>
                    <a:p>
                      <a:pPr algn="l"/>
                      <a:r>
                        <a:rPr sz="910" b="0">
                          <a:solidFill>
                            <a:srgbClr val="2A3441"/>
                          </a:solidFill>
                          <a:latin typeface="Segoe UI"/>
                        </a:rPr>
                        <a:t>Fusion re-specified around evidence classes, and the signature layer re-justified as trust, not coverage.</a:t>
                      </a:r>
                    </a:p>
                  </a:txBody>
                  <a:tcPr marL="82296" marR="82296" marT="13716" marB="13716" anchor="ctr">
                    <a:solidFill>
                      <a:srgbClr val="F4F7FB"/>
                    </a:solidFill>
                  </a:tcPr>
                </a:tc>
              </a:tr>
            </a:tbl>
          </a:graphicData>
        </a:graphic>
      </p:graphicFrame>
      <p:sp>
        <p:nvSpPr>
          <p:cNvPr id="10" name="Rectangle 9"/>
          <p:cNvSpPr/>
          <p:nvPr/>
        </p:nvSpPr>
        <p:spPr>
          <a:xfrm>
            <a:off x="566928" y="4882896"/>
            <a:ext cx="5419191" cy="115214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4882896"/>
            <a:ext cx="50292" cy="1152144"/>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4992624"/>
            <a:ext cx="5108295" cy="95097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Why this is the most valuable analysis in the project</a:t>
            </a:r>
          </a:p>
          <a:p>
            <a:pPr algn="l">
              <a:lnSpc>
                <a:spcPct val="120000"/>
              </a:lnSpc>
              <a:spcBef>
                <a:spcPts val="0"/>
              </a:spcBef>
              <a:spcAft>
                <a:spcPts val="0"/>
              </a:spcAft>
            </a:pPr>
            <a:r>
              <a:rPr sz="930" b="0" i="0">
                <a:solidFill>
                  <a:srgbClr val="2A3441"/>
                </a:solidFill>
                <a:latin typeface="Segoe UI"/>
              </a:rPr>
              <a:t>It was found before anything was built on top of it. Every claim reversed here would otherwise have been reversed later — after being depended on. Notebooks 01–03 still exist, carry supersession banners, and are kept as the research record.</a:t>
            </a:r>
          </a:p>
        </p:txBody>
      </p:sp>
      <p:sp>
        <p:nvSpPr>
          <p:cNvPr id="13" name="Rectangle 12"/>
          <p:cNvSpPr/>
          <p:nvPr/>
        </p:nvSpPr>
        <p:spPr>
          <a:xfrm>
            <a:off x="6205575" y="4882896"/>
            <a:ext cx="5419191" cy="115214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4882896"/>
            <a:ext cx="50292" cy="1152144"/>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4992624"/>
            <a:ext cx="5108295" cy="950976"/>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It also records our own process error</a:t>
            </a:r>
          </a:p>
          <a:p>
            <a:pPr algn="l">
              <a:lnSpc>
                <a:spcPct val="120000"/>
              </a:lnSpc>
              <a:spcBef>
                <a:spcPts val="0"/>
              </a:spcBef>
              <a:spcAft>
                <a:spcPts val="0"/>
              </a:spcAft>
            </a:pPr>
            <a:r>
              <a:rPr sz="930" b="0" i="0">
                <a:solidFill>
                  <a:srgbClr val="2A3441"/>
                </a:solidFill>
                <a:latin typeface="Segoe UI"/>
              </a:rPr>
              <a:t>The earlier redesign was built on the uncorrected sample while a corrected one was known to be pending. Empirical premises must be settled on final data before a design is committed to. That is written down rather than quietly fixed.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MODEL</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was the model trained and tested?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piles of flows, one exam, and the two numbers we lead with.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34</a:t>
            </a:r>
          </a:p>
        </p:txBody>
      </p:sp>
      <p:sp>
        <p:nvSpPr>
          <p:cNvPr id="9" name="Rectangle 8"/>
          <p:cNvSpPr/>
          <p:nvPr/>
        </p:nvSpPr>
        <p:spPr>
          <a:xfrm>
            <a:off x="566928" y="1773936"/>
            <a:ext cx="3551834"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3551834"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13232" y="1883664"/>
            <a:ext cx="3259226" cy="841248"/>
          </a:xfrm>
          <a:prstGeom prst="rect">
            <a:avLst/>
          </a:prstGeom>
          <a:noFill/>
        </p:spPr>
        <p:txBody>
          <a:bodyPr wrap="square" anchor="t" lIns="0" rIns="0" tIns="0" bIns="0">
            <a:spAutoFit/>
          </a:bodyPr>
          <a:lstStyle/>
          <a:p>
            <a:pPr algn="l">
              <a:spcBef>
                <a:spcPts val="0"/>
              </a:spcBef>
              <a:spcAft>
                <a:spcPts val="200"/>
              </a:spcAft>
            </a:pPr>
            <a:r>
              <a:rPr sz="1500" b="1">
                <a:solidFill>
                  <a:srgbClr val="1E7A45"/>
                </a:solidFill>
                <a:latin typeface="Consolas"/>
              </a:rPr>
              <a:t>200,524   </a:t>
            </a:r>
            <a:r>
              <a:rPr sz="1500" b="0">
                <a:solidFill>
                  <a:srgbClr val="6B7684"/>
                </a:solidFill>
                <a:latin typeface="Segoe UI"/>
              </a:rPr>
              <a:t>80%  of the training sample</a:t>
            </a:r>
          </a:p>
          <a:p>
            <a:pPr algn="l">
              <a:lnSpc>
                <a:spcPct val="115000"/>
              </a:lnSpc>
              <a:spcBef>
                <a:spcPts val="0"/>
              </a:spcBef>
              <a:spcAft>
                <a:spcPts val="0"/>
              </a:spcAft>
            </a:pPr>
            <a:r>
              <a:rPr sz="919" b="0" i="0">
                <a:solidFill>
                  <a:srgbClr val="2A3441"/>
                </a:solidFill>
                <a:latin typeface="Segoe UI"/>
              </a:rPr>
              <a:t>The model LEARNS from these — answers included</a:t>
            </a:r>
          </a:p>
        </p:txBody>
      </p:sp>
      <p:sp>
        <p:nvSpPr>
          <p:cNvPr id="12" name="Rectangle 11"/>
          <p:cNvSpPr/>
          <p:nvPr/>
        </p:nvSpPr>
        <p:spPr>
          <a:xfrm>
            <a:off x="4319930" y="1773936"/>
            <a:ext cx="3551834"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19930" y="1773936"/>
            <a:ext cx="3551834"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66234" y="1883664"/>
            <a:ext cx="3259226" cy="841248"/>
          </a:xfrm>
          <a:prstGeom prst="rect">
            <a:avLst/>
          </a:prstGeom>
          <a:noFill/>
        </p:spPr>
        <p:txBody>
          <a:bodyPr wrap="square" anchor="t" lIns="0" rIns="0" tIns="0" bIns="0">
            <a:spAutoFit/>
          </a:bodyPr>
          <a:lstStyle/>
          <a:p>
            <a:pPr algn="l">
              <a:spcBef>
                <a:spcPts val="0"/>
              </a:spcBef>
              <a:spcAft>
                <a:spcPts val="200"/>
              </a:spcAft>
            </a:pPr>
            <a:r>
              <a:rPr sz="1500" b="1">
                <a:solidFill>
                  <a:srgbClr val="1F6FEB"/>
                </a:solidFill>
                <a:latin typeface="Consolas"/>
              </a:rPr>
              <a:t>50,131   </a:t>
            </a:r>
            <a:r>
              <a:rPr sz="1500" b="0">
                <a:solidFill>
                  <a:srgbClr val="6B7684"/>
                </a:solidFill>
                <a:latin typeface="Segoe UI"/>
              </a:rPr>
              <a:t>20%  held out</a:t>
            </a:r>
          </a:p>
          <a:p>
            <a:pPr algn="l">
              <a:lnSpc>
                <a:spcPct val="115000"/>
              </a:lnSpc>
              <a:spcBef>
                <a:spcPts val="0"/>
              </a:spcBef>
              <a:spcAft>
                <a:spcPts val="0"/>
              </a:spcAft>
            </a:pPr>
            <a:r>
              <a:rPr sz="919" b="0" i="0">
                <a:solidFill>
                  <a:srgbClr val="2A3441"/>
                </a:solidFill>
                <a:latin typeface="Segoe UI"/>
              </a:rPr>
              <a:t>The EXAM — never seen during training. Every score we quote comes from here</a:t>
            </a:r>
          </a:p>
        </p:txBody>
      </p:sp>
      <p:sp>
        <p:nvSpPr>
          <p:cNvPr id="15" name="Rectangle 14"/>
          <p:cNvSpPr/>
          <p:nvPr/>
        </p:nvSpPr>
        <p:spPr>
          <a:xfrm>
            <a:off x="8072932" y="1773936"/>
            <a:ext cx="3551834"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72932" y="1773936"/>
            <a:ext cx="3551834" cy="45720"/>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19236" y="1883664"/>
            <a:ext cx="3259226" cy="841248"/>
          </a:xfrm>
          <a:prstGeom prst="rect">
            <a:avLst/>
          </a:prstGeom>
          <a:noFill/>
        </p:spPr>
        <p:txBody>
          <a:bodyPr wrap="square" anchor="t" lIns="0" rIns="0" tIns="0" bIns="0">
            <a:spAutoFit/>
          </a:bodyPr>
          <a:lstStyle/>
          <a:p>
            <a:pPr algn="l">
              <a:spcBef>
                <a:spcPts val="0"/>
              </a:spcBef>
              <a:spcAft>
                <a:spcPts val="200"/>
              </a:spcAft>
            </a:pPr>
            <a:r>
              <a:rPr sz="1500" b="1">
                <a:solidFill>
                  <a:srgbClr val="B06A00"/>
                </a:solidFill>
                <a:latin typeface="Consolas"/>
              </a:rPr>
              <a:t>5,000   </a:t>
            </a:r>
            <a:r>
              <a:rPr sz="1500" b="0">
                <a:solidFill>
                  <a:srgbClr val="6B7684"/>
                </a:solidFill>
                <a:latin typeface="Segoe UI"/>
              </a:rPr>
              <a:t>a separate pile</a:t>
            </a:r>
          </a:p>
          <a:p>
            <a:pPr algn="l">
              <a:lnSpc>
                <a:spcPct val="115000"/>
              </a:lnSpc>
              <a:spcBef>
                <a:spcPts val="0"/>
              </a:spcBef>
              <a:spcAft>
                <a:spcPts val="0"/>
              </a:spcAft>
            </a:pPr>
            <a:r>
              <a:rPr sz="919" b="0" i="0">
                <a:solidFill>
                  <a:srgbClr val="2A3441"/>
                </a:solidFill>
                <a:latin typeface="Segoe UI"/>
              </a:rPr>
              <a:t>The DEMO — in neither of the other two, so nothing on screen is memorised</a:t>
            </a:r>
          </a:p>
        </p:txBody>
      </p:sp>
      <p:sp>
        <p:nvSpPr>
          <p:cNvPr id="18" name="TextBox 17"/>
          <p:cNvSpPr txBox="1"/>
          <p:nvPr/>
        </p:nvSpPr>
        <p:spPr>
          <a:xfrm>
            <a:off x="566928" y="2816352"/>
            <a:ext cx="11057839" cy="274320"/>
          </a:xfrm>
          <a:prstGeom prst="rect">
            <a:avLst/>
          </a:prstGeom>
          <a:noFill/>
        </p:spPr>
        <p:txBody>
          <a:bodyPr wrap="square" anchor="t" lIns="0" rIns="0" tIns="0" bIns="0">
            <a:spAutoFit/>
          </a:bodyPr>
          <a:lstStyle/>
          <a:p>
            <a:pPr algn="l">
              <a:spcBef>
                <a:spcPts val="0"/>
              </a:spcBef>
              <a:spcAft>
                <a:spcPts val="0"/>
              </a:spcAft>
            </a:pPr>
            <a:r>
              <a:rPr sz="919" b="0" i="0">
                <a:solidFill>
                  <a:srgbClr val="6B7684"/>
                </a:solidFill>
                <a:latin typeface="Segoe UI"/>
              </a:rPr>
              <a:t>Both splits use seed 20260911. The 80/20 is stratified, so the rare attack types appear in the same proportion on both sides — and the two samples are asserted disjoint, not assumed to be.</a:t>
            </a:r>
          </a:p>
        </p:txBody>
      </p:sp>
      <p:sp>
        <p:nvSpPr>
          <p:cNvPr id="19" name="Rectangle 18"/>
          <p:cNvSpPr/>
          <p:nvPr/>
        </p:nvSpPr>
        <p:spPr>
          <a:xfrm>
            <a:off x="566928" y="3145536"/>
            <a:ext cx="3539642"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8" y="3145536"/>
            <a:ext cx="5029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9808" y="3255264"/>
            <a:ext cx="3228746" cy="658368"/>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Precision — “how often is the alarm right?”</a:t>
            </a:r>
          </a:p>
          <a:p>
            <a:pPr algn="l">
              <a:lnSpc>
                <a:spcPct val="120000"/>
              </a:lnSpc>
              <a:spcBef>
                <a:spcPts val="0"/>
              </a:spcBef>
              <a:spcAft>
                <a:spcPts val="0"/>
              </a:spcAft>
            </a:pPr>
            <a:r>
              <a:rPr sz="919" b="0" i="0">
                <a:solidFill>
                  <a:srgbClr val="2A3441"/>
                </a:solidFill>
                <a:latin typeface="Segoe UI"/>
              </a:rPr>
              <a:t>Of everything the model called an attack, how much really was one. Low precision means crying wolf.</a:t>
            </a:r>
          </a:p>
        </p:txBody>
      </p:sp>
      <p:sp>
        <p:nvSpPr>
          <p:cNvPr id="22" name="Rectangle 21"/>
          <p:cNvSpPr/>
          <p:nvPr/>
        </p:nvSpPr>
        <p:spPr>
          <a:xfrm>
            <a:off x="4326026" y="3145536"/>
            <a:ext cx="3539642"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326026" y="3145536"/>
            <a:ext cx="5029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508906" y="3255264"/>
            <a:ext cx="3228746" cy="658368"/>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Recall — “how much did we catch?”</a:t>
            </a:r>
          </a:p>
          <a:p>
            <a:pPr algn="l">
              <a:lnSpc>
                <a:spcPct val="120000"/>
              </a:lnSpc>
              <a:spcBef>
                <a:spcPts val="0"/>
              </a:spcBef>
              <a:spcAft>
                <a:spcPts val="0"/>
              </a:spcAft>
            </a:pPr>
            <a:r>
              <a:rPr sz="919" b="0" i="0">
                <a:solidFill>
                  <a:srgbClr val="2A3441"/>
                </a:solidFill>
                <a:latin typeface="Segoe UI"/>
              </a:rPr>
              <a:t>Of the attacks that were actually there, how many the model found. Low recall means things get through.</a:t>
            </a:r>
          </a:p>
        </p:txBody>
      </p:sp>
      <p:sp>
        <p:nvSpPr>
          <p:cNvPr id="25" name="Rectangle 24"/>
          <p:cNvSpPr/>
          <p:nvPr/>
        </p:nvSpPr>
        <p:spPr>
          <a:xfrm>
            <a:off x="8085124" y="3145536"/>
            <a:ext cx="3539642"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085124" y="3145536"/>
            <a:ext cx="50292" cy="85953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68004" y="3255264"/>
            <a:ext cx="3228746" cy="658368"/>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F1 — one number for both</a:t>
            </a:r>
          </a:p>
          <a:p>
            <a:pPr algn="l">
              <a:lnSpc>
                <a:spcPct val="120000"/>
              </a:lnSpc>
              <a:spcBef>
                <a:spcPts val="0"/>
              </a:spcBef>
              <a:spcAft>
                <a:spcPts val="0"/>
              </a:spcAft>
            </a:pPr>
            <a:r>
              <a:rPr sz="919" b="0" i="0">
                <a:solidFill>
                  <a:srgbClr val="2A3441"/>
                </a:solidFill>
                <a:latin typeface="Segoe UI"/>
              </a:rPr>
              <a:t>You can always trade one for the other: alarm at everything, or never alarm. F1 stops that trade being hidden.</a:t>
            </a:r>
          </a:p>
        </p:txBody>
      </p:sp>
      <p:graphicFrame>
        <p:nvGraphicFramePr>
          <p:cNvPr id="28" name="Table 27"/>
          <p:cNvGraphicFramePr>
            <a:graphicFrameLocks noGrp="1"/>
          </p:cNvGraphicFramePr>
          <p:nvPr/>
        </p:nvGraphicFramePr>
        <p:xfrm>
          <a:off x="566928" y="4206240"/>
          <a:ext cx="5522976" cy="1481328"/>
        </p:xfrm>
        <a:graphic>
          <a:graphicData uri="http://schemas.openxmlformats.org/drawingml/2006/table">
            <a:tbl>
              <a:tblPr firstRow="0" bandRow="0"/>
              <a:tblGrid>
                <a:gridCol w="1783080"/>
                <a:gridCol w="1051560"/>
                <a:gridCol w="868680"/>
                <a:gridCol w="868680"/>
                <a:gridCol w="950976"/>
              </a:tblGrid>
              <a:tr h="274320">
                <a:tc>
                  <a:txBody>
                    <a:bodyPr wrap="square"/>
                    <a:lstStyle/>
                    <a:p>
                      <a:pPr algn="l"/>
                      <a:r>
                        <a:rPr sz="860" b="1">
                          <a:solidFill>
                            <a:srgbClr val="FFFFFF"/>
                          </a:solidFill>
                          <a:latin typeface="Segoe UI"/>
                        </a:rPr>
                        <a:t>Attack type</a:t>
                      </a:r>
                    </a:p>
                  </a:txBody>
                  <a:tcPr marL="82296" marR="82296" marT="13716" marB="13716" anchor="ctr">
                    <a:solidFill>
                      <a:srgbClr val="0F2A47"/>
                    </a:solidFill>
                  </a:tcPr>
                </a:tc>
                <a:tc>
                  <a:txBody>
                    <a:bodyPr wrap="square"/>
                    <a:lstStyle/>
                    <a:p>
                      <a:pPr algn="r"/>
                      <a:r>
                        <a:rPr sz="860" b="1">
                          <a:solidFill>
                            <a:srgbClr val="FFFFFF"/>
                          </a:solidFill>
                          <a:latin typeface="Segoe UI"/>
                        </a:rPr>
                        <a:t>Really there</a:t>
                      </a:r>
                    </a:p>
                  </a:txBody>
                  <a:tcPr marL="82296" marR="82296" marT="13716" marB="13716" anchor="ctr">
                    <a:solidFill>
                      <a:srgbClr val="0F2A47"/>
                    </a:solidFill>
                  </a:tcPr>
                </a:tc>
                <a:tc>
                  <a:txBody>
                    <a:bodyPr wrap="square"/>
                    <a:lstStyle/>
                    <a:p>
                      <a:pPr algn="r"/>
                      <a:r>
                        <a:rPr sz="860" b="1">
                          <a:solidFill>
                            <a:srgbClr val="FFFFFF"/>
                          </a:solidFill>
                          <a:latin typeface="Segoe UI"/>
                        </a:rPr>
                        <a:t>Caught</a:t>
                      </a:r>
                    </a:p>
                  </a:txBody>
                  <a:tcPr marL="82296" marR="82296" marT="13716" marB="13716" anchor="ctr">
                    <a:solidFill>
                      <a:srgbClr val="0F2A47"/>
                    </a:solidFill>
                  </a:tcPr>
                </a:tc>
                <a:tc>
                  <a:txBody>
                    <a:bodyPr wrap="square"/>
                    <a:lstStyle/>
                    <a:p>
                      <a:pPr algn="r"/>
                      <a:r>
                        <a:rPr sz="860" b="1">
                          <a:solidFill>
                            <a:srgbClr val="FFFFFF"/>
                          </a:solidFill>
                          <a:latin typeface="Segoe UI"/>
                        </a:rPr>
                        <a:t>Missed</a:t>
                      </a:r>
                    </a:p>
                  </a:txBody>
                  <a:tcPr marL="82296" marR="82296" marT="13716" marB="13716" anchor="ctr">
                    <a:solidFill>
                      <a:srgbClr val="0F2A47"/>
                    </a:solidFill>
                  </a:tcPr>
                </a:tc>
                <a:tc>
                  <a:txBody>
                    <a:bodyPr wrap="square"/>
                    <a:lstStyle/>
                    <a:p>
                      <a:pPr algn="r"/>
                      <a:r>
                        <a:rPr sz="860" b="1">
                          <a:solidFill>
                            <a:srgbClr val="FFFFFF"/>
                          </a:solidFill>
                          <a:latin typeface="Segoe UI"/>
                        </a:rPr>
                        <a:t>False alarms</a:t>
                      </a:r>
                    </a:p>
                  </a:txBody>
                  <a:tcPr marL="82296" marR="82296" marT="13716" marB="13716" anchor="ctr">
                    <a:solidFill>
                      <a:srgbClr val="0F2A47"/>
                    </a:solidFill>
                  </a:tcPr>
                </a:tc>
              </a:tr>
              <a:tr h="301752">
                <a:tc>
                  <a:txBody>
                    <a:bodyPr wrap="square"/>
                    <a:lstStyle/>
                    <a:p>
                      <a:pPr algn="l"/>
                      <a:r>
                        <a:rPr sz="930" b="0">
                          <a:solidFill>
                            <a:srgbClr val="2A3441"/>
                          </a:solidFill>
                          <a:latin typeface="Segoe UI"/>
                        </a:rPr>
                        <a:t>Botnet</a:t>
                      </a:r>
                    </a:p>
                  </a:txBody>
                  <a:tcPr marL="82296" marR="82296" marT="13716" marB="13716" anchor="ctr">
                    <a:solidFill>
                      <a:srgbClr val="FFFFFF"/>
                    </a:solidFill>
                  </a:tcPr>
                </a:tc>
                <a:tc>
                  <a:txBody>
                    <a:bodyPr wrap="square"/>
                    <a:lstStyle/>
                    <a:p>
                      <a:pPr algn="r"/>
                      <a:r>
                        <a:rPr sz="930" b="0">
                          <a:solidFill>
                            <a:srgbClr val="2A3441"/>
                          </a:solidFill>
                          <a:latin typeface="Consolas"/>
                        </a:rPr>
                        <a:t>6,000</a:t>
                      </a:r>
                    </a:p>
                  </a:txBody>
                  <a:tcPr marL="82296" marR="82296" marT="13716" marB="13716" anchor="ctr">
                    <a:solidFill>
                      <a:srgbClr val="FFFFFF"/>
                    </a:solidFill>
                  </a:tcPr>
                </a:tc>
                <a:tc>
                  <a:txBody>
                    <a:bodyPr wrap="square"/>
                    <a:lstStyle/>
                    <a:p>
                      <a:pPr algn="r"/>
                      <a:r>
                        <a:rPr sz="930" b="0">
                          <a:solidFill>
                            <a:srgbClr val="2A3441"/>
                          </a:solidFill>
                          <a:latin typeface="Consolas"/>
                        </a:rPr>
                        <a:t>6,000</a:t>
                      </a:r>
                    </a:p>
                  </a:txBody>
                  <a:tcPr marL="82296" marR="82296" marT="13716" marB="13716" anchor="ctr">
                    <a:solidFill>
                      <a:srgbClr val="FFFFFF"/>
                    </a:solidFill>
                  </a:tcPr>
                </a:tc>
                <a:tc>
                  <a:txBody>
                    <a:bodyPr wrap="square"/>
                    <a:lstStyle/>
                    <a:p>
                      <a:pPr algn="r"/>
                      <a:r>
                        <a:rPr sz="930" b="0">
                          <a:solidFill>
                            <a:srgbClr val="2A3441"/>
                          </a:solidFill>
                          <a:latin typeface="Consolas"/>
                        </a:rPr>
                        <a:t>0</a:t>
                      </a:r>
                    </a:p>
                  </a:txBody>
                  <a:tcPr marL="82296" marR="82296" marT="13716" marB="13716" anchor="ctr">
                    <a:solidFill>
                      <a:srgbClr val="FFFFFF"/>
                    </a:solidFill>
                  </a:tcPr>
                </a:tc>
                <a:tc>
                  <a:txBody>
                    <a:bodyPr wrap="square"/>
                    <a:lstStyle/>
                    <a:p>
                      <a:pPr algn="r"/>
                      <a:r>
                        <a:rPr sz="930" b="0">
                          <a:solidFill>
                            <a:srgbClr val="2A3441"/>
                          </a:solidFill>
                          <a:latin typeface="Consolas"/>
                        </a:rPr>
                        <a:t>0</a:t>
                      </a:r>
                    </a:p>
                  </a:txBody>
                  <a:tcPr marL="82296" marR="82296" marT="13716" marB="13716" anchor="ctr">
                    <a:solidFill>
                      <a:srgbClr val="FFFFFF"/>
                    </a:solidFill>
                  </a:tcPr>
                </a:tc>
              </a:tr>
              <a:tr h="301752">
                <a:tc>
                  <a:txBody>
                    <a:bodyPr wrap="square"/>
                    <a:lstStyle/>
                    <a:p>
                      <a:pPr algn="l"/>
                      <a:r>
                        <a:rPr sz="930" b="0">
                          <a:solidFill>
                            <a:srgbClr val="2A3441"/>
                          </a:solidFill>
                          <a:latin typeface="Segoe UI"/>
                        </a:rPr>
                        <a:t>Brute Force</a:t>
                      </a:r>
                    </a:p>
                  </a:txBody>
                  <a:tcPr marL="82296" marR="82296" marT="13716" marB="13716" anchor="ctr">
                    <a:solidFill>
                      <a:srgbClr val="F4F7FB"/>
                    </a:solidFill>
                  </a:tcPr>
                </a:tc>
                <a:tc>
                  <a:txBody>
                    <a:bodyPr wrap="square"/>
                    <a:lstStyle/>
                    <a:p>
                      <a:pPr algn="r"/>
                      <a:r>
                        <a:rPr sz="930" b="0">
                          <a:solidFill>
                            <a:srgbClr val="2A3441"/>
                          </a:solidFill>
                          <a:latin typeface="Consolas"/>
                        </a:rPr>
                        <a:t>6,000</a:t>
                      </a:r>
                    </a:p>
                  </a:txBody>
                  <a:tcPr marL="82296" marR="82296" marT="13716" marB="13716" anchor="ctr">
                    <a:solidFill>
                      <a:srgbClr val="F4F7FB"/>
                    </a:solidFill>
                  </a:tcPr>
                </a:tc>
                <a:tc>
                  <a:txBody>
                    <a:bodyPr wrap="square"/>
                    <a:lstStyle/>
                    <a:p>
                      <a:pPr algn="r"/>
                      <a:r>
                        <a:rPr sz="930" b="0">
                          <a:solidFill>
                            <a:srgbClr val="2A3441"/>
                          </a:solidFill>
                          <a:latin typeface="Consolas"/>
                        </a:rPr>
                        <a:t>6,000</a:t>
                      </a:r>
                    </a:p>
                  </a:txBody>
                  <a:tcPr marL="82296" marR="82296" marT="13716" marB="13716" anchor="ctr">
                    <a:solidFill>
                      <a:srgbClr val="F4F7FB"/>
                    </a:solidFill>
                  </a:tcPr>
                </a:tc>
                <a:tc>
                  <a:txBody>
                    <a:bodyPr wrap="square"/>
                    <a:lstStyle/>
                    <a:p>
                      <a:pPr algn="r"/>
                      <a:r>
                        <a:rPr sz="930" b="0">
                          <a:solidFill>
                            <a:srgbClr val="2A3441"/>
                          </a:solidFill>
                          <a:latin typeface="Consolas"/>
                        </a:rPr>
                        <a:t>0</a:t>
                      </a:r>
                    </a:p>
                  </a:txBody>
                  <a:tcPr marL="82296" marR="82296" marT="13716" marB="13716" anchor="ctr">
                    <a:solidFill>
                      <a:srgbClr val="F4F7FB"/>
                    </a:solidFill>
                  </a:tcPr>
                </a:tc>
                <a:tc>
                  <a:txBody>
                    <a:bodyPr wrap="square"/>
                    <a:lstStyle/>
                    <a:p>
                      <a:pPr algn="r"/>
                      <a:r>
                        <a:rPr sz="930" b="0">
                          <a:solidFill>
                            <a:srgbClr val="2A3441"/>
                          </a:solidFill>
                          <a:latin typeface="Consolas"/>
                        </a:rPr>
                        <a:t>0</a:t>
                      </a:r>
                    </a:p>
                  </a:txBody>
                  <a:tcPr marL="82296" marR="82296" marT="13716" marB="13716" anchor="ctr">
                    <a:solidFill>
                      <a:srgbClr val="F4F7FB"/>
                    </a:solidFill>
                  </a:tcPr>
                </a:tc>
              </a:tr>
              <a:tr h="301752">
                <a:tc>
                  <a:txBody>
                    <a:bodyPr wrap="square"/>
                    <a:lstStyle/>
                    <a:p>
                      <a:pPr algn="l"/>
                      <a:r>
                        <a:rPr sz="930" b="0">
                          <a:solidFill>
                            <a:srgbClr val="2A3441"/>
                          </a:solidFill>
                          <a:latin typeface="Segoe UI"/>
                        </a:rPr>
                        <a:t>DDoS</a:t>
                      </a:r>
                    </a:p>
                  </a:txBody>
                  <a:tcPr marL="82296" marR="82296" marT="13716" marB="13716" anchor="ctr">
                    <a:solidFill>
                      <a:srgbClr val="FFFFFF"/>
                    </a:solidFill>
                  </a:tcPr>
                </a:tc>
                <a:tc>
                  <a:txBody>
                    <a:bodyPr wrap="square"/>
                    <a:lstStyle/>
                    <a:p>
                      <a:pPr algn="r"/>
                      <a:r>
                        <a:rPr sz="930" b="0">
                          <a:solidFill>
                            <a:srgbClr val="2A3441"/>
                          </a:solidFill>
                          <a:latin typeface="Consolas"/>
                        </a:rPr>
                        <a:t>6,000</a:t>
                      </a:r>
                    </a:p>
                  </a:txBody>
                  <a:tcPr marL="82296" marR="82296" marT="13716" marB="13716" anchor="ctr">
                    <a:solidFill>
                      <a:srgbClr val="FFFFFF"/>
                    </a:solidFill>
                  </a:tcPr>
                </a:tc>
                <a:tc>
                  <a:txBody>
                    <a:bodyPr wrap="square"/>
                    <a:lstStyle/>
                    <a:p>
                      <a:pPr algn="r"/>
                      <a:r>
                        <a:rPr sz="930" b="0">
                          <a:solidFill>
                            <a:srgbClr val="2A3441"/>
                          </a:solidFill>
                          <a:latin typeface="Consolas"/>
                        </a:rPr>
                        <a:t>6,000</a:t>
                      </a:r>
                    </a:p>
                  </a:txBody>
                  <a:tcPr marL="82296" marR="82296" marT="13716" marB="13716" anchor="ctr">
                    <a:solidFill>
                      <a:srgbClr val="FFFFFF"/>
                    </a:solidFill>
                  </a:tcPr>
                </a:tc>
                <a:tc>
                  <a:txBody>
                    <a:bodyPr wrap="square"/>
                    <a:lstStyle/>
                    <a:p>
                      <a:pPr algn="r"/>
                      <a:r>
                        <a:rPr sz="930" b="0">
                          <a:solidFill>
                            <a:srgbClr val="2A3441"/>
                          </a:solidFill>
                          <a:latin typeface="Consolas"/>
                        </a:rPr>
                        <a:t>0</a:t>
                      </a:r>
                    </a:p>
                  </a:txBody>
                  <a:tcPr marL="82296" marR="82296" marT="13716" marB="13716" anchor="ctr">
                    <a:solidFill>
                      <a:srgbClr val="FFFFFF"/>
                    </a:solidFill>
                  </a:tcPr>
                </a:tc>
                <a:tc>
                  <a:txBody>
                    <a:bodyPr wrap="square"/>
                    <a:lstStyle/>
                    <a:p>
                      <a:pPr algn="r"/>
                      <a:r>
                        <a:rPr sz="930" b="0">
                          <a:solidFill>
                            <a:srgbClr val="2A3441"/>
                          </a:solidFill>
                          <a:latin typeface="Consolas"/>
                        </a:rPr>
                        <a:t>0</a:t>
                      </a:r>
                    </a:p>
                  </a:txBody>
                  <a:tcPr marL="82296" marR="82296" marT="13716" marB="13716" anchor="ctr">
                    <a:solidFill>
                      <a:srgbClr val="FFFFFF"/>
                    </a:solidFill>
                  </a:tcPr>
                </a:tc>
              </a:tr>
              <a:tr h="301752">
                <a:tc>
                  <a:txBody>
                    <a:bodyPr wrap="square"/>
                    <a:lstStyle/>
                    <a:p>
                      <a:pPr algn="l"/>
                      <a:r>
                        <a:rPr sz="930" b="0">
                          <a:solidFill>
                            <a:srgbClr val="2A3441"/>
                          </a:solidFill>
                          <a:latin typeface="Segoe UI"/>
                        </a:rPr>
                        <a:t>DoS</a:t>
                      </a:r>
                    </a:p>
                  </a:txBody>
                  <a:tcPr marL="82296" marR="82296" marT="13716" marB="13716" anchor="ctr">
                    <a:solidFill>
                      <a:srgbClr val="F4F7FB"/>
                    </a:solidFill>
                  </a:tcPr>
                </a:tc>
                <a:tc>
                  <a:txBody>
                    <a:bodyPr wrap="square"/>
                    <a:lstStyle/>
                    <a:p>
                      <a:pPr algn="r"/>
                      <a:r>
                        <a:rPr sz="930" b="0">
                          <a:solidFill>
                            <a:srgbClr val="2A3441"/>
                          </a:solidFill>
                          <a:latin typeface="Consolas"/>
                        </a:rPr>
                        <a:t>6,000</a:t>
                      </a:r>
                    </a:p>
                  </a:txBody>
                  <a:tcPr marL="82296" marR="82296" marT="13716" marB="13716" anchor="ctr">
                    <a:solidFill>
                      <a:srgbClr val="F4F7FB"/>
                    </a:solidFill>
                  </a:tcPr>
                </a:tc>
                <a:tc>
                  <a:txBody>
                    <a:bodyPr wrap="square"/>
                    <a:lstStyle/>
                    <a:p>
                      <a:pPr algn="r"/>
                      <a:r>
                        <a:rPr sz="930" b="0">
                          <a:solidFill>
                            <a:srgbClr val="2A3441"/>
                          </a:solidFill>
                          <a:latin typeface="Consolas"/>
                        </a:rPr>
                        <a:t>5,999</a:t>
                      </a:r>
                    </a:p>
                  </a:txBody>
                  <a:tcPr marL="82296" marR="82296" marT="13716" marB="13716" anchor="ctr">
                    <a:solidFill>
                      <a:srgbClr val="F4F7FB"/>
                    </a:solidFill>
                  </a:tcPr>
                </a:tc>
                <a:tc>
                  <a:txBody>
                    <a:bodyPr wrap="square"/>
                    <a:lstStyle/>
                    <a:p>
                      <a:pPr algn="r"/>
                      <a:r>
                        <a:rPr sz="930" b="0">
                          <a:solidFill>
                            <a:srgbClr val="2A3441"/>
                          </a:solidFill>
                          <a:latin typeface="Consolas"/>
                        </a:rPr>
                        <a:t>1</a:t>
                      </a:r>
                    </a:p>
                  </a:txBody>
                  <a:tcPr marL="82296" marR="82296" marT="13716" marB="13716" anchor="ctr">
                    <a:solidFill>
                      <a:srgbClr val="F4F7FB"/>
                    </a:solidFill>
                  </a:tcPr>
                </a:tc>
                <a:tc>
                  <a:txBody>
                    <a:bodyPr wrap="square"/>
                    <a:lstStyle/>
                    <a:p>
                      <a:pPr algn="r"/>
                      <a:r>
                        <a:rPr sz="930" b="0">
                          <a:solidFill>
                            <a:srgbClr val="2A3441"/>
                          </a:solidFill>
                          <a:latin typeface="Consolas"/>
                        </a:rPr>
                        <a:t>0</a:t>
                      </a:r>
                    </a:p>
                  </a:txBody>
                  <a:tcPr marL="82296" marR="82296" marT="13716" marB="13716" anchor="ctr">
                    <a:solidFill>
                      <a:srgbClr val="F4F7FB"/>
                    </a:solidFill>
                  </a:tcPr>
                </a:tc>
              </a:tr>
            </a:tbl>
          </a:graphicData>
        </a:graphic>
      </p:graphicFrame>
      <p:graphicFrame>
        <p:nvGraphicFramePr>
          <p:cNvPr id="29" name="Table 28"/>
          <p:cNvGraphicFramePr>
            <a:graphicFrameLocks noGrp="1"/>
          </p:cNvGraphicFramePr>
          <p:nvPr/>
        </p:nvGraphicFramePr>
        <p:xfrm>
          <a:off x="6242151" y="4206240"/>
          <a:ext cx="5522976" cy="1481328"/>
        </p:xfrm>
        <a:graphic>
          <a:graphicData uri="http://schemas.openxmlformats.org/drawingml/2006/table">
            <a:tbl>
              <a:tblPr firstRow="0" bandRow="0"/>
              <a:tblGrid>
                <a:gridCol w="1783080"/>
                <a:gridCol w="1051560"/>
                <a:gridCol w="868680"/>
                <a:gridCol w="868680"/>
                <a:gridCol w="950976"/>
              </a:tblGrid>
              <a:tr h="274320">
                <a:tc>
                  <a:txBody>
                    <a:bodyPr wrap="square"/>
                    <a:lstStyle/>
                    <a:p>
                      <a:pPr algn="l"/>
                      <a:r>
                        <a:rPr sz="860" b="1">
                          <a:solidFill>
                            <a:srgbClr val="FFFFFF"/>
                          </a:solidFill>
                          <a:latin typeface="Segoe UI"/>
                        </a:rPr>
                        <a:t>Attack type</a:t>
                      </a:r>
                    </a:p>
                  </a:txBody>
                  <a:tcPr marL="82296" marR="82296" marT="13716" marB="13716" anchor="ctr">
                    <a:solidFill>
                      <a:srgbClr val="0F2A47"/>
                    </a:solidFill>
                  </a:tcPr>
                </a:tc>
                <a:tc>
                  <a:txBody>
                    <a:bodyPr wrap="square"/>
                    <a:lstStyle/>
                    <a:p>
                      <a:pPr algn="r"/>
                      <a:r>
                        <a:rPr sz="860" b="1">
                          <a:solidFill>
                            <a:srgbClr val="FFFFFF"/>
                          </a:solidFill>
                          <a:latin typeface="Segoe UI"/>
                        </a:rPr>
                        <a:t>Really there</a:t>
                      </a:r>
                    </a:p>
                  </a:txBody>
                  <a:tcPr marL="82296" marR="82296" marT="13716" marB="13716" anchor="ctr">
                    <a:solidFill>
                      <a:srgbClr val="0F2A47"/>
                    </a:solidFill>
                  </a:tcPr>
                </a:tc>
                <a:tc>
                  <a:txBody>
                    <a:bodyPr wrap="square"/>
                    <a:lstStyle/>
                    <a:p>
                      <a:pPr algn="r"/>
                      <a:r>
                        <a:rPr sz="860" b="1">
                          <a:solidFill>
                            <a:srgbClr val="FFFFFF"/>
                          </a:solidFill>
                          <a:latin typeface="Segoe UI"/>
                        </a:rPr>
                        <a:t>Caught</a:t>
                      </a:r>
                    </a:p>
                  </a:txBody>
                  <a:tcPr marL="82296" marR="82296" marT="13716" marB="13716" anchor="ctr">
                    <a:solidFill>
                      <a:srgbClr val="0F2A47"/>
                    </a:solidFill>
                  </a:tcPr>
                </a:tc>
                <a:tc>
                  <a:txBody>
                    <a:bodyPr wrap="square"/>
                    <a:lstStyle/>
                    <a:p>
                      <a:pPr algn="r"/>
                      <a:r>
                        <a:rPr sz="860" b="1">
                          <a:solidFill>
                            <a:srgbClr val="FFFFFF"/>
                          </a:solidFill>
                          <a:latin typeface="Segoe UI"/>
                        </a:rPr>
                        <a:t>Missed</a:t>
                      </a:r>
                    </a:p>
                  </a:txBody>
                  <a:tcPr marL="82296" marR="82296" marT="13716" marB="13716" anchor="ctr">
                    <a:solidFill>
                      <a:srgbClr val="0F2A47"/>
                    </a:solidFill>
                  </a:tcPr>
                </a:tc>
                <a:tc>
                  <a:txBody>
                    <a:bodyPr wrap="square"/>
                    <a:lstStyle/>
                    <a:p>
                      <a:pPr algn="r"/>
                      <a:r>
                        <a:rPr sz="860" b="1">
                          <a:solidFill>
                            <a:srgbClr val="FFFFFF"/>
                          </a:solidFill>
                          <a:latin typeface="Segoe UI"/>
                        </a:rPr>
                        <a:t>False alarms</a:t>
                      </a:r>
                    </a:p>
                  </a:txBody>
                  <a:tcPr marL="82296" marR="82296" marT="13716" marB="13716" anchor="ctr">
                    <a:solidFill>
                      <a:srgbClr val="0F2A47"/>
                    </a:solidFill>
                  </a:tcPr>
                </a:tc>
              </a:tr>
              <a:tr h="301752">
                <a:tc>
                  <a:txBody>
                    <a:bodyPr wrap="square"/>
                    <a:lstStyle/>
                    <a:p>
                      <a:pPr algn="l"/>
                      <a:r>
                        <a:rPr sz="930" b="0">
                          <a:solidFill>
                            <a:srgbClr val="2A3441"/>
                          </a:solidFill>
                          <a:latin typeface="Segoe UI"/>
                        </a:rPr>
                        <a:t>Port Scan</a:t>
                      </a:r>
                    </a:p>
                  </a:txBody>
                  <a:tcPr marL="82296" marR="82296" marT="13716" marB="13716" anchor="ctr">
                    <a:solidFill>
                      <a:srgbClr val="FFFFFF"/>
                    </a:solidFill>
                  </a:tcPr>
                </a:tc>
                <a:tc>
                  <a:txBody>
                    <a:bodyPr wrap="square"/>
                    <a:lstStyle/>
                    <a:p>
                      <a:pPr algn="r"/>
                      <a:r>
                        <a:rPr sz="930" b="0">
                          <a:solidFill>
                            <a:srgbClr val="2A3441"/>
                          </a:solidFill>
                          <a:latin typeface="Consolas"/>
                        </a:rPr>
                        <a:t>6,000</a:t>
                      </a:r>
                    </a:p>
                  </a:txBody>
                  <a:tcPr marL="82296" marR="82296" marT="13716" marB="13716" anchor="ctr">
                    <a:solidFill>
                      <a:srgbClr val="FFFFFF"/>
                    </a:solidFill>
                  </a:tcPr>
                </a:tc>
                <a:tc>
                  <a:txBody>
                    <a:bodyPr wrap="square"/>
                    <a:lstStyle/>
                    <a:p>
                      <a:pPr algn="r"/>
                      <a:r>
                        <a:rPr sz="930" b="0">
                          <a:solidFill>
                            <a:srgbClr val="2A3441"/>
                          </a:solidFill>
                          <a:latin typeface="Consolas"/>
                        </a:rPr>
                        <a:t>5,999</a:t>
                      </a:r>
                    </a:p>
                  </a:txBody>
                  <a:tcPr marL="82296" marR="82296" marT="13716" marB="13716" anchor="ctr">
                    <a:solidFill>
                      <a:srgbClr val="FFFFFF"/>
                    </a:solidFill>
                  </a:tcPr>
                </a:tc>
                <a:tc>
                  <a:txBody>
                    <a:bodyPr wrap="square"/>
                    <a:lstStyle/>
                    <a:p>
                      <a:pPr algn="r"/>
                      <a:r>
                        <a:rPr sz="930" b="0">
                          <a:solidFill>
                            <a:srgbClr val="2A3441"/>
                          </a:solidFill>
                          <a:latin typeface="Consolas"/>
                        </a:rPr>
                        <a:t>1</a:t>
                      </a:r>
                    </a:p>
                  </a:txBody>
                  <a:tcPr marL="82296" marR="82296" marT="13716" marB="13716" anchor="ctr">
                    <a:solidFill>
                      <a:srgbClr val="FFFFFF"/>
                    </a:solidFill>
                  </a:tcPr>
                </a:tc>
                <a:tc>
                  <a:txBody>
                    <a:bodyPr wrap="square"/>
                    <a:lstStyle/>
                    <a:p>
                      <a:pPr algn="r"/>
                      <a:r>
                        <a:rPr sz="930" b="0">
                          <a:solidFill>
                            <a:srgbClr val="2A3441"/>
                          </a:solidFill>
                          <a:latin typeface="Consolas"/>
                        </a:rPr>
                        <a:t>2</a:t>
                      </a:r>
                    </a:p>
                  </a:txBody>
                  <a:tcPr marL="82296" marR="82296" marT="13716" marB="13716" anchor="ctr">
                    <a:solidFill>
                      <a:srgbClr val="FFFFFF"/>
                    </a:solidFill>
                  </a:tcPr>
                </a:tc>
              </a:tr>
              <a:tr h="301752">
                <a:tc>
                  <a:txBody>
                    <a:bodyPr wrap="square"/>
                    <a:lstStyle/>
                    <a:p>
                      <a:pPr algn="l"/>
                      <a:r>
                        <a:rPr sz="930" b="0">
                          <a:solidFill>
                            <a:srgbClr val="2A3441"/>
                          </a:solidFill>
                          <a:latin typeface="Segoe UI"/>
                        </a:rPr>
                        <a:t>Web Attack</a:t>
                      </a:r>
                    </a:p>
                  </a:txBody>
                  <a:tcPr marL="82296" marR="82296" marT="13716" marB="13716" anchor="ctr">
                    <a:solidFill>
                      <a:srgbClr val="F4F7FB"/>
                    </a:solidFill>
                  </a:tcPr>
                </a:tc>
                <a:tc>
                  <a:txBody>
                    <a:bodyPr wrap="square"/>
                    <a:lstStyle/>
                    <a:p>
                      <a:pPr algn="r"/>
                      <a:r>
                        <a:rPr sz="930" b="0">
                          <a:solidFill>
                            <a:srgbClr val="2A3441"/>
                          </a:solidFill>
                          <a:latin typeface="Consolas"/>
                        </a:rPr>
                        <a:t>76</a:t>
                      </a:r>
                    </a:p>
                  </a:txBody>
                  <a:tcPr marL="82296" marR="82296" marT="13716" marB="13716" anchor="ctr">
                    <a:solidFill>
                      <a:srgbClr val="F4F7FB"/>
                    </a:solidFill>
                  </a:tcPr>
                </a:tc>
                <a:tc>
                  <a:txBody>
                    <a:bodyPr wrap="square"/>
                    <a:lstStyle/>
                    <a:p>
                      <a:pPr algn="r"/>
                      <a:r>
                        <a:rPr sz="930" b="0">
                          <a:solidFill>
                            <a:srgbClr val="2A3441"/>
                          </a:solidFill>
                          <a:latin typeface="Consolas"/>
                        </a:rPr>
                        <a:t>75</a:t>
                      </a:r>
                    </a:p>
                  </a:txBody>
                  <a:tcPr marL="82296" marR="82296" marT="13716" marB="13716" anchor="ctr">
                    <a:solidFill>
                      <a:srgbClr val="F4F7FB"/>
                    </a:solidFill>
                  </a:tcPr>
                </a:tc>
                <a:tc>
                  <a:txBody>
                    <a:bodyPr wrap="square"/>
                    <a:lstStyle/>
                    <a:p>
                      <a:pPr algn="r"/>
                      <a:r>
                        <a:rPr sz="930" b="1">
                          <a:solidFill>
                            <a:srgbClr val="B06A00"/>
                          </a:solidFill>
                          <a:latin typeface="Consolas"/>
                        </a:rPr>
                        <a:t>1</a:t>
                      </a:r>
                    </a:p>
                  </a:txBody>
                  <a:tcPr marL="82296" marR="82296" marT="13716" marB="13716" anchor="ctr">
                    <a:solidFill>
                      <a:srgbClr val="F4F7FB"/>
                    </a:solidFill>
                  </a:tcPr>
                </a:tc>
                <a:tc>
                  <a:txBody>
                    <a:bodyPr wrap="square"/>
                    <a:lstStyle/>
                    <a:p>
                      <a:pPr algn="r"/>
                      <a:r>
                        <a:rPr sz="930" b="0">
                          <a:solidFill>
                            <a:srgbClr val="2A3441"/>
                          </a:solidFill>
                          <a:latin typeface="Consolas"/>
                        </a:rPr>
                        <a:t>0</a:t>
                      </a:r>
                    </a:p>
                  </a:txBody>
                  <a:tcPr marL="82296" marR="82296" marT="13716" marB="13716" anchor="ctr">
                    <a:solidFill>
                      <a:srgbClr val="F4F7FB"/>
                    </a:solidFill>
                  </a:tcPr>
                </a:tc>
              </a:tr>
              <a:tr h="301752">
                <a:tc>
                  <a:txBody>
                    <a:bodyPr wrap="square"/>
                    <a:lstStyle/>
                    <a:p>
                      <a:pPr algn="l"/>
                      <a:r>
                        <a:rPr sz="930" b="0">
                          <a:solidFill>
                            <a:srgbClr val="2A3441"/>
                          </a:solidFill>
                          <a:latin typeface="Segoe UI"/>
                        </a:rPr>
                        <a:t>Infiltration</a:t>
                      </a:r>
                    </a:p>
                  </a:txBody>
                  <a:tcPr marL="82296" marR="82296" marT="13716" marB="13716" anchor="ctr">
                    <a:solidFill>
                      <a:srgbClr val="FFFFFF"/>
                    </a:solidFill>
                  </a:tcPr>
                </a:tc>
                <a:tc>
                  <a:txBody>
                    <a:bodyPr wrap="square"/>
                    <a:lstStyle/>
                    <a:p>
                      <a:pPr algn="r"/>
                      <a:r>
                        <a:rPr sz="930" b="0">
                          <a:solidFill>
                            <a:srgbClr val="2A3441"/>
                          </a:solidFill>
                          <a:latin typeface="Consolas"/>
                        </a:rPr>
                        <a:t>55</a:t>
                      </a:r>
                    </a:p>
                  </a:txBody>
                  <a:tcPr marL="82296" marR="82296" marT="13716" marB="13716" anchor="ctr">
                    <a:solidFill>
                      <a:srgbClr val="FFFFFF"/>
                    </a:solidFill>
                  </a:tcPr>
                </a:tc>
                <a:tc>
                  <a:txBody>
                    <a:bodyPr wrap="square"/>
                    <a:lstStyle/>
                    <a:p>
                      <a:pPr algn="r"/>
                      <a:r>
                        <a:rPr sz="930" b="0">
                          <a:solidFill>
                            <a:srgbClr val="2A3441"/>
                          </a:solidFill>
                          <a:latin typeface="Consolas"/>
                        </a:rPr>
                        <a:t>47</a:t>
                      </a:r>
                    </a:p>
                  </a:txBody>
                  <a:tcPr marL="82296" marR="82296" marT="13716" marB="13716" anchor="ctr">
                    <a:solidFill>
                      <a:srgbClr val="FFFFFF"/>
                    </a:solidFill>
                  </a:tcPr>
                </a:tc>
                <a:tc>
                  <a:txBody>
                    <a:bodyPr wrap="square"/>
                    <a:lstStyle/>
                    <a:p>
                      <a:pPr algn="r"/>
                      <a:r>
                        <a:rPr sz="930" b="1">
                          <a:solidFill>
                            <a:srgbClr val="C0392B"/>
                          </a:solidFill>
                          <a:latin typeface="Consolas"/>
                        </a:rPr>
                        <a:t>8</a:t>
                      </a:r>
                    </a:p>
                  </a:txBody>
                  <a:tcPr marL="82296" marR="82296" marT="13716" marB="13716" anchor="ctr">
                    <a:solidFill>
                      <a:srgbClr val="FFFFFF"/>
                    </a:solidFill>
                  </a:tcPr>
                </a:tc>
                <a:tc>
                  <a:txBody>
                    <a:bodyPr wrap="square"/>
                    <a:lstStyle/>
                    <a:p>
                      <a:pPr algn="r"/>
                      <a:r>
                        <a:rPr sz="930" b="0">
                          <a:solidFill>
                            <a:srgbClr val="2A3441"/>
                          </a:solidFill>
                          <a:latin typeface="Consolas"/>
                        </a:rPr>
                        <a:t>1</a:t>
                      </a:r>
                    </a:p>
                  </a:txBody>
                  <a:tcPr marL="82296" marR="82296" marT="13716" marB="13716" anchor="ctr">
                    <a:solidFill>
                      <a:srgbClr val="FFFFFF"/>
                    </a:solidFill>
                  </a:tcPr>
                </a:tc>
              </a:tr>
              <a:tr h="301752">
                <a:tc>
                  <a:txBody>
                    <a:bodyPr wrap="square"/>
                    <a:lstStyle/>
                    <a:p>
                      <a:pPr algn="l"/>
                      <a:r>
                        <a:rPr sz="930" b="0">
                          <a:solidFill>
                            <a:srgbClr val="2A3441"/>
                          </a:solidFill>
                          <a:latin typeface="Segoe UI"/>
                        </a:rPr>
                        <a:t>Benign traffic</a:t>
                      </a:r>
                    </a:p>
                  </a:txBody>
                  <a:tcPr marL="82296" marR="82296" marT="13716" marB="13716" anchor="ctr">
                    <a:solidFill>
                      <a:srgbClr val="F4F7FB"/>
                    </a:solidFill>
                  </a:tcPr>
                </a:tc>
                <a:tc>
                  <a:txBody>
                    <a:bodyPr wrap="square"/>
                    <a:lstStyle/>
                    <a:p>
                      <a:pPr algn="r"/>
                      <a:r>
                        <a:rPr sz="930" b="0">
                          <a:solidFill>
                            <a:srgbClr val="2A3441"/>
                          </a:solidFill>
                          <a:latin typeface="Consolas"/>
                        </a:rPr>
                        <a:t>20,000</a:t>
                      </a:r>
                    </a:p>
                  </a:txBody>
                  <a:tcPr marL="82296" marR="82296" marT="13716" marB="13716" anchor="ctr">
                    <a:solidFill>
                      <a:srgbClr val="F4F7FB"/>
                    </a:solidFill>
                  </a:tcPr>
                </a:tc>
                <a:tc>
                  <a:txBody>
                    <a:bodyPr wrap="square"/>
                    <a:lstStyle/>
                    <a:p>
                      <a:pPr algn="r"/>
                      <a:r>
                        <a:rPr sz="930" b="0">
                          <a:solidFill>
                            <a:srgbClr val="2A3441"/>
                          </a:solidFill>
                          <a:latin typeface="Consolas"/>
                        </a:rPr>
                        <a:t>19,997</a:t>
                      </a:r>
                    </a:p>
                  </a:txBody>
                  <a:tcPr marL="82296" marR="82296" marT="13716" marB="13716" anchor="ctr">
                    <a:solidFill>
                      <a:srgbClr val="F4F7FB"/>
                    </a:solidFill>
                  </a:tcPr>
                </a:tc>
                <a:tc>
                  <a:txBody>
                    <a:bodyPr wrap="square"/>
                    <a:lstStyle/>
                    <a:p>
                      <a:pPr algn="r"/>
                      <a:r>
                        <a:rPr sz="930" b="0">
                          <a:solidFill>
                            <a:srgbClr val="2A3441"/>
                          </a:solidFill>
                          <a:latin typeface="Consolas"/>
                        </a:rPr>
                        <a:t>3</a:t>
                      </a:r>
                    </a:p>
                  </a:txBody>
                  <a:tcPr marL="82296" marR="82296" marT="13716" marB="13716" anchor="ctr">
                    <a:solidFill>
                      <a:srgbClr val="F4F7FB"/>
                    </a:solidFill>
                  </a:tcPr>
                </a:tc>
                <a:tc>
                  <a:txBody>
                    <a:bodyPr wrap="square"/>
                    <a:lstStyle/>
                    <a:p>
                      <a:pPr algn="r"/>
                      <a:r>
                        <a:rPr sz="930" b="0">
                          <a:solidFill>
                            <a:srgbClr val="2A3441"/>
                          </a:solidFill>
                          <a:latin typeface="Consolas"/>
                        </a:rPr>
                        <a:t>11</a:t>
                      </a:r>
                    </a:p>
                  </a:txBody>
                  <a:tcPr marL="82296" marR="82296" marT="13716" marB="13716" anchor="ctr">
                    <a:solidFill>
                      <a:srgbClr val="F4F7FB"/>
                    </a:solidFill>
                  </a:tcPr>
                </a:tc>
              </a:tr>
            </a:tbl>
          </a:graphicData>
        </a:graphic>
      </p:graphicFrame>
      <p:sp>
        <p:nvSpPr>
          <p:cNvPr id="30" name="Rectangle 29"/>
          <p:cNvSpPr/>
          <p:nvPr/>
        </p:nvSpPr>
        <p:spPr>
          <a:xfrm>
            <a:off x="566928" y="5522976"/>
            <a:ext cx="11057839" cy="84124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8096" y="5614416"/>
            <a:ext cx="10655503" cy="676656"/>
          </a:xfrm>
          <a:prstGeom prst="rect">
            <a:avLst/>
          </a:prstGeom>
          <a:noFill/>
        </p:spPr>
        <p:txBody>
          <a:bodyPr wrap="square" anchor="t" lIns="0" rIns="0" tIns="0" bIns="0">
            <a:spAutoFit/>
          </a:bodyPr>
          <a:lstStyle/>
          <a:p>
            <a:pPr algn="l">
              <a:spcBef>
                <a:spcPts val="0"/>
              </a:spcBef>
              <a:spcAft>
                <a:spcPts val="200"/>
              </a:spcAft>
            </a:pPr>
            <a:r>
              <a:rPr sz="1150" b="0">
                <a:solidFill>
                  <a:srgbClr val="0F2A47"/>
                </a:solidFill>
                <a:latin typeface="Segoe UI"/>
              </a:rPr>
              <a:t>Out of 50,131 flows it had never seen, it got </a:t>
            </a:r>
            <a:r>
              <a:rPr sz="1150" b="1">
                <a:solidFill>
                  <a:srgbClr val="0F2A47"/>
                </a:solidFill>
                <a:latin typeface="Segoe UI"/>
              </a:rPr>
              <a:t>14 wrong</a:t>
            </a:r>
            <a:r>
              <a:rPr sz="1150" b="0">
                <a:solidFill>
                  <a:srgbClr val="0F2A47"/>
                </a:solidFill>
                <a:latin typeface="Segoe UI"/>
              </a:rPr>
              <a:t>.     macro F1 </a:t>
            </a:r>
            <a:r>
              <a:rPr sz="1150" b="1">
                <a:solidFill>
                  <a:srgbClr val="0F2A47"/>
                </a:solidFill>
                <a:latin typeface="Consolas"/>
              </a:rPr>
              <a:t>0.9882</a:t>
            </a:r>
            <a:r>
              <a:rPr sz="1150" b="0">
                <a:solidFill>
                  <a:srgbClr val="0F2A47"/>
                </a:solidFill>
                <a:latin typeface="Segoe UI"/>
              </a:rPr>
              <a:t>  ·  weighted F1 </a:t>
            </a:r>
            <a:r>
              <a:rPr sz="1150" b="1">
                <a:solidFill>
                  <a:srgbClr val="6B7684"/>
                </a:solidFill>
                <a:latin typeface="Consolas"/>
              </a:rPr>
              <a:t>0.9997</a:t>
            </a:r>
          </a:p>
          <a:p>
            <a:pPr algn="l">
              <a:lnSpc>
                <a:spcPct val="118000"/>
              </a:lnSpc>
              <a:spcBef>
                <a:spcPts val="0"/>
              </a:spcBef>
              <a:spcAft>
                <a:spcPts val="0"/>
              </a:spcAft>
            </a:pPr>
            <a:r>
              <a:rPr sz="919" b="0" i="0">
                <a:solidFill>
                  <a:srgbClr val="2A3441"/>
                </a:solidFill>
                <a:latin typeface="Segoe UI"/>
              </a:rPr>
              <a:t>We lead with macro F1 because it counts every attack type equally, so Infiltration’s 8 misses out of 55 pull it down. Weighted F1 is the same results weighted by how common each class is — dominated by the 20,000 benign flows, it looks better and hides the class we are weakest 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MODEL</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Is the model's accuracy real?</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Near-perfect scores were treated as an accusation, not a result.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35</a:t>
            </a:r>
          </a:p>
        </p:txBody>
      </p:sp>
      <p:graphicFrame>
        <p:nvGraphicFramePr>
          <p:cNvPr id="9" name="Table 8"/>
          <p:cNvGraphicFramePr>
            <a:graphicFrameLocks noGrp="1"/>
          </p:cNvGraphicFramePr>
          <p:nvPr/>
        </p:nvGraphicFramePr>
        <p:xfrm>
          <a:off x="566928" y="1883664"/>
          <a:ext cx="6190488" cy="1828800"/>
        </p:xfrm>
        <a:graphic>
          <a:graphicData uri="http://schemas.openxmlformats.org/drawingml/2006/table">
            <a:tbl>
              <a:tblPr firstRow="0" bandRow="0"/>
              <a:tblGrid>
                <a:gridCol w="2880360"/>
                <a:gridCol w="868680"/>
                <a:gridCol w="777240"/>
                <a:gridCol w="685800"/>
                <a:gridCol w="978408"/>
              </a:tblGrid>
              <a:tr h="292608">
                <a:tc>
                  <a:txBody>
                    <a:bodyPr wrap="square"/>
                    <a:lstStyle/>
                    <a:p>
                      <a:pPr algn="l"/>
                      <a:r>
                        <a:rPr sz="860" b="1">
                          <a:solidFill>
                            <a:srgbClr val="FFFFFF"/>
                          </a:solidFill>
                          <a:latin typeface="Segoe UI"/>
                        </a:rPr>
                        <a:t>Class</a:t>
                      </a:r>
                    </a:p>
                  </a:txBody>
                  <a:tcPr marL="82296" marR="82296" marT="13716" marB="13716" anchor="ctr">
                    <a:solidFill>
                      <a:srgbClr val="0F2A47"/>
                    </a:solidFill>
                  </a:tcPr>
                </a:tc>
                <a:tc>
                  <a:txBody>
                    <a:bodyPr wrap="square"/>
                    <a:lstStyle/>
                    <a:p>
                      <a:pPr algn="r"/>
                      <a:r>
                        <a:rPr sz="860" b="1">
                          <a:solidFill>
                            <a:srgbClr val="FFFFFF"/>
                          </a:solidFill>
                          <a:latin typeface="Segoe UI"/>
                        </a:rPr>
                        <a:t>Precision</a:t>
                      </a:r>
                    </a:p>
                  </a:txBody>
                  <a:tcPr marL="82296" marR="82296" marT="13716" marB="13716" anchor="ctr">
                    <a:solidFill>
                      <a:srgbClr val="0F2A47"/>
                    </a:solidFill>
                  </a:tcPr>
                </a:tc>
                <a:tc>
                  <a:txBody>
                    <a:bodyPr wrap="square"/>
                    <a:lstStyle/>
                    <a:p>
                      <a:pPr algn="r"/>
                      <a:r>
                        <a:rPr sz="860" b="1">
                          <a:solidFill>
                            <a:srgbClr val="FFFFFF"/>
                          </a:solidFill>
                          <a:latin typeface="Segoe UI"/>
                        </a:rPr>
                        <a:t>Recall</a:t>
                      </a:r>
                    </a:p>
                  </a:txBody>
                  <a:tcPr marL="82296" marR="82296" marT="13716" marB="13716" anchor="ctr">
                    <a:solidFill>
                      <a:srgbClr val="0F2A47"/>
                    </a:solidFill>
                  </a:tcPr>
                </a:tc>
                <a:tc>
                  <a:txBody>
                    <a:bodyPr wrap="square"/>
                    <a:lstStyle/>
                    <a:p>
                      <a:pPr algn="r"/>
                      <a:r>
                        <a:rPr sz="860" b="1">
                          <a:solidFill>
                            <a:srgbClr val="FFFFFF"/>
                          </a:solidFill>
                          <a:latin typeface="Segoe UI"/>
                        </a:rPr>
                        <a:t>F1</a:t>
                      </a:r>
                    </a:p>
                  </a:txBody>
                  <a:tcPr marL="82296" marR="82296" marT="13716" marB="13716" anchor="ctr">
                    <a:solidFill>
                      <a:srgbClr val="0F2A47"/>
                    </a:solidFill>
                  </a:tcPr>
                </a:tc>
                <a:tc>
                  <a:txBody>
                    <a:bodyPr wrap="square"/>
                    <a:lstStyle/>
                    <a:p>
                      <a:pPr algn="r"/>
                      <a:r>
                        <a:rPr sz="860" b="1">
                          <a:solidFill>
                            <a:srgbClr val="FFFFFF"/>
                          </a:solidFill>
                          <a:latin typeface="Segoe UI"/>
                        </a:rPr>
                        <a:t>Support</a:t>
                      </a:r>
                    </a:p>
                  </a:txBody>
                  <a:tcPr marL="82296" marR="82296" marT="13716" marB="13716" anchor="ctr">
                    <a:solidFill>
                      <a:srgbClr val="0F2A47"/>
                    </a:solidFill>
                  </a:tcPr>
                </a:tc>
              </a:tr>
              <a:tr h="384048">
                <a:tc>
                  <a:txBody>
                    <a:bodyPr wrap="square"/>
                    <a:lstStyle/>
                    <a:p>
                      <a:pPr algn="l"/>
                      <a:r>
                        <a:rPr sz="919" b="0">
                          <a:solidFill>
                            <a:srgbClr val="2A3441"/>
                          </a:solidFill>
                          <a:latin typeface="Segoe UI"/>
                        </a:rPr>
                        <a:t>Benign</a:t>
                      </a:r>
                    </a:p>
                  </a:txBody>
                  <a:tcPr marL="82296" marR="82296" marT="13716" marB="13716" anchor="ctr">
                    <a:solidFill>
                      <a:srgbClr val="FFFFFF"/>
                    </a:solidFill>
                  </a:tcPr>
                </a:tc>
                <a:tc>
                  <a:txBody>
                    <a:bodyPr wrap="square"/>
                    <a:lstStyle/>
                    <a:p>
                      <a:pPr algn="r"/>
                      <a:r>
                        <a:rPr sz="919" b="0">
                          <a:solidFill>
                            <a:srgbClr val="2A3441"/>
                          </a:solidFill>
                          <a:latin typeface="Consolas"/>
                        </a:rPr>
                        <a:t>0.999</a:t>
                      </a:r>
                    </a:p>
                  </a:txBody>
                  <a:tcPr marL="82296" marR="82296" marT="13716" marB="13716" anchor="ctr">
                    <a:solidFill>
                      <a:srgbClr val="FFFFFF"/>
                    </a:solidFill>
                  </a:tcPr>
                </a:tc>
                <a:tc>
                  <a:txBody>
                    <a:bodyPr wrap="square"/>
                    <a:lstStyle/>
                    <a:p>
                      <a:pPr algn="r"/>
                      <a:r>
                        <a:rPr sz="919" b="0">
                          <a:solidFill>
                            <a:srgbClr val="2A3441"/>
                          </a:solidFill>
                          <a:latin typeface="Consolas"/>
                        </a:rPr>
                        <a:t>1.000</a:t>
                      </a:r>
                    </a:p>
                  </a:txBody>
                  <a:tcPr marL="82296" marR="82296" marT="13716" marB="13716" anchor="ctr">
                    <a:solidFill>
                      <a:srgbClr val="FFFFFF"/>
                    </a:solidFill>
                  </a:tcPr>
                </a:tc>
                <a:tc>
                  <a:txBody>
                    <a:bodyPr wrap="square"/>
                    <a:lstStyle/>
                    <a:p>
                      <a:pPr algn="r"/>
                      <a:r>
                        <a:rPr sz="919" b="0">
                          <a:solidFill>
                            <a:srgbClr val="2A3441"/>
                          </a:solidFill>
                          <a:latin typeface="Consolas"/>
                        </a:rPr>
                        <a:t>1.000</a:t>
                      </a:r>
                    </a:p>
                  </a:txBody>
                  <a:tcPr marL="82296" marR="82296" marT="13716" marB="13716" anchor="ctr">
                    <a:solidFill>
                      <a:srgbClr val="FFFFFF"/>
                    </a:solidFill>
                  </a:tcPr>
                </a:tc>
                <a:tc>
                  <a:txBody>
                    <a:bodyPr wrap="square"/>
                    <a:lstStyle/>
                    <a:p>
                      <a:pPr algn="r"/>
                      <a:r>
                        <a:rPr sz="919" b="0">
                          <a:solidFill>
                            <a:srgbClr val="2A3441"/>
                          </a:solidFill>
                          <a:latin typeface="Consolas"/>
                        </a:rPr>
                        <a:t>20,000</a:t>
                      </a:r>
                    </a:p>
                  </a:txBody>
                  <a:tcPr marL="82296" marR="82296" marT="13716" marB="13716" anchor="ctr">
                    <a:solidFill>
                      <a:srgbClr val="FFFFFF"/>
                    </a:solidFill>
                  </a:tcPr>
                </a:tc>
              </a:tr>
              <a:tr h="384048">
                <a:tc>
                  <a:txBody>
                    <a:bodyPr wrap="square"/>
                    <a:lstStyle/>
                    <a:p>
                      <a:pPr algn="l"/>
                      <a:r>
                        <a:rPr sz="919" b="0">
                          <a:solidFill>
                            <a:srgbClr val="2A3441"/>
                          </a:solidFill>
                          <a:latin typeface="Segoe UI"/>
                        </a:rPr>
                        <a:t>Botnet · Brute Force · DDoS · DoS · Port Scan</a:t>
                      </a:r>
                    </a:p>
                  </a:txBody>
                  <a:tcPr marL="82296" marR="82296" marT="13716" marB="13716" anchor="ctr">
                    <a:solidFill>
                      <a:srgbClr val="F4F7FB"/>
                    </a:solidFill>
                  </a:tcPr>
                </a:tc>
                <a:tc>
                  <a:txBody>
                    <a:bodyPr wrap="square"/>
                    <a:lstStyle/>
                    <a:p>
                      <a:pPr algn="r"/>
                      <a:r>
                        <a:rPr sz="919" b="0">
                          <a:solidFill>
                            <a:srgbClr val="2A3441"/>
                          </a:solidFill>
                          <a:latin typeface="Consolas"/>
                        </a:rPr>
                        <a:t>1.000</a:t>
                      </a:r>
                    </a:p>
                  </a:txBody>
                  <a:tcPr marL="82296" marR="82296" marT="13716" marB="13716" anchor="ctr">
                    <a:solidFill>
                      <a:srgbClr val="F4F7FB"/>
                    </a:solidFill>
                  </a:tcPr>
                </a:tc>
                <a:tc>
                  <a:txBody>
                    <a:bodyPr wrap="square"/>
                    <a:lstStyle/>
                    <a:p>
                      <a:pPr algn="r"/>
                      <a:r>
                        <a:rPr sz="919" b="0">
                          <a:solidFill>
                            <a:srgbClr val="2A3441"/>
                          </a:solidFill>
                          <a:latin typeface="Consolas"/>
                        </a:rPr>
                        <a:t>1.000</a:t>
                      </a:r>
                    </a:p>
                  </a:txBody>
                  <a:tcPr marL="82296" marR="82296" marT="13716" marB="13716" anchor="ctr">
                    <a:solidFill>
                      <a:srgbClr val="F4F7FB"/>
                    </a:solidFill>
                  </a:tcPr>
                </a:tc>
                <a:tc>
                  <a:txBody>
                    <a:bodyPr wrap="square"/>
                    <a:lstStyle/>
                    <a:p>
                      <a:pPr algn="r"/>
                      <a:r>
                        <a:rPr sz="919" b="0">
                          <a:solidFill>
                            <a:srgbClr val="2A3441"/>
                          </a:solidFill>
                          <a:latin typeface="Consolas"/>
                        </a:rPr>
                        <a:t>1.000</a:t>
                      </a:r>
                    </a:p>
                  </a:txBody>
                  <a:tcPr marL="82296" marR="82296" marT="13716" marB="13716" anchor="ctr">
                    <a:solidFill>
                      <a:srgbClr val="F4F7FB"/>
                    </a:solidFill>
                  </a:tcPr>
                </a:tc>
                <a:tc>
                  <a:txBody>
                    <a:bodyPr wrap="square"/>
                    <a:lstStyle/>
                    <a:p>
                      <a:pPr algn="r"/>
                      <a:r>
                        <a:rPr sz="919" b="0">
                          <a:solidFill>
                            <a:srgbClr val="2A3441"/>
                          </a:solidFill>
                          <a:latin typeface="Consolas"/>
                        </a:rPr>
                        <a:t>6,000 ea</a:t>
                      </a:r>
                    </a:p>
                  </a:txBody>
                  <a:tcPr marL="82296" marR="82296" marT="13716" marB="13716" anchor="ctr">
                    <a:solidFill>
                      <a:srgbClr val="F4F7FB"/>
                    </a:solidFill>
                  </a:tcPr>
                </a:tc>
              </a:tr>
              <a:tr h="384048">
                <a:tc>
                  <a:txBody>
                    <a:bodyPr wrap="square"/>
                    <a:lstStyle/>
                    <a:p>
                      <a:pPr algn="l"/>
                      <a:r>
                        <a:rPr sz="919" b="0">
                          <a:solidFill>
                            <a:srgbClr val="2A3441"/>
                          </a:solidFill>
                          <a:latin typeface="Segoe UI"/>
                        </a:rPr>
                        <a:t>Web Attack</a:t>
                      </a:r>
                    </a:p>
                  </a:txBody>
                  <a:tcPr marL="82296" marR="82296" marT="13716" marB="13716" anchor="ctr">
                    <a:solidFill>
                      <a:srgbClr val="FFFFFF"/>
                    </a:solidFill>
                  </a:tcPr>
                </a:tc>
                <a:tc>
                  <a:txBody>
                    <a:bodyPr wrap="square"/>
                    <a:lstStyle/>
                    <a:p>
                      <a:pPr algn="r"/>
                      <a:r>
                        <a:rPr sz="919" b="0">
                          <a:solidFill>
                            <a:srgbClr val="2A3441"/>
                          </a:solidFill>
                          <a:latin typeface="Consolas"/>
                        </a:rPr>
                        <a:t>1.000</a:t>
                      </a:r>
                    </a:p>
                  </a:txBody>
                  <a:tcPr marL="82296" marR="82296" marT="13716" marB="13716" anchor="ctr">
                    <a:solidFill>
                      <a:srgbClr val="FFFFFF"/>
                    </a:solidFill>
                  </a:tcPr>
                </a:tc>
                <a:tc>
                  <a:txBody>
                    <a:bodyPr wrap="square"/>
                    <a:lstStyle/>
                    <a:p>
                      <a:pPr algn="r"/>
                      <a:r>
                        <a:rPr sz="919" b="0">
                          <a:solidFill>
                            <a:srgbClr val="2A3441"/>
                          </a:solidFill>
                          <a:latin typeface="Consolas"/>
                        </a:rPr>
                        <a:t>0.987</a:t>
                      </a:r>
                    </a:p>
                  </a:txBody>
                  <a:tcPr marL="82296" marR="82296" marT="13716" marB="13716" anchor="ctr">
                    <a:solidFill>
                      <a:srgbClr val="FFFFFF"/>
                    </a:solidFill>
                  </a:tcPr>
                </a:tc>
                <a:tc>
                  <a:txBody>
                    <a:bodyPr wrap="square"/>
                    <a:lstStyle/>
                    <a:p>
                      <a:pPr algn="r"/>
                      <a:r>
                        <a:rPr sz="919" b="0">
                          <a:solidFill>
                            <a:srgbClr val="2A3441"/>
                          </a:solidFill>
                          <a:latin typeface="Consolas"/>
                        </a:rPr>
                        <a:t>0.993</a:t>
                      </a:r>
                    </a:p>
                  </a:txBody>
                  <a:tcPr marL="82296" marR="82296" marT="13716" marB="13716" anchor="ctr">
                    <a:solidFill>
                      <a:srgbClr val="FFFFFF"/>
                    </a:solidFill>
                  </a:tcPr>
                </a:tc>
                <a:tc>
                  <a:txBody>
                    <a:bodyPr wrap="square"/>
                    <a:lstStyle/>
                    <a:p>
                      <a:pPr algn="r"/>
                      <a:r>
                        <a:rPr sz="919" b="0">
                          <a:solidFill>
                            <a:srgbClr val="2A3441"/>
                          </a:solidFill>
                          <a:latin typeface="Consolas"/>
                        </a:rPr>
                        <a:t>76</a:t>
                      </a:r>
                    </a:p>
                  </a:txBody>
                  <a:tcPr marL="82296" marR="82296" marT="13716" marB="13716" anchor="ctr">
                    <a:solidFill>
                      <a:srgbClr val="FFFFFF"/>
                    </a:solidFill>
                  </a:tcPr>
                </a:tc>
              </a:tr>
              <a:tr h="384048">
                <a:tc>
                  <a:txBody>
                    <a:bodyPr wrap="square"/>
                    <a:lstStyle/>
                    <a:p>
                      <a:pPr algn="l"/>
                      <a:r>
                        <a:rPr sz="919" b="0">
                          <a:solidFill>
                            <a:srgbClr val="2A3441"/>
                          </a:solidFill>
                          <a:latin typeface="Segoe UI"/>
                        </a:rPr>
                        <a:t>Infiltration</a:t>
                      </a:r>
                    </a:p>
                  </a:txBody>
                  <a:tcPr marL="82296" marR="82296" marT="13716" marB="13716" anchor="ctr">
                    <a:solidFill>
                      <a:srgbClr val="F4F7FB"/>
                    </a:solidFill>
                  </a:tcPr>
                </a:tc>
                <a:tc>
                  <a:txBody>
                    <a:bodyPr wrap="square"/>
                    <a:lstStyle/>
                    <a:p>
                      <a:pPr algn="r"/>
                      <a:r>
                        <a:rPr sz="919" b="0">
                          <a:solidFill>
                            <a:srgbClr val="2A3441"/>
                          </a:solidFill>
                          <a:latin typeface="Consolas"/>
                        </a:rPr>
                        <a:t>0.979</a:t>
                      </a:r>
                    </a:p>
                  </a:txBody>
                  <a:tcPr marL="82296" marR="82296" marT="13716" marB="13716" anchor="ctr">
                    <a:solidFill>
                      <a:srgbClr val="F4F7FB"/>
                    </a:solidFill>
                  </a:tcPr>
                </a:tc>
                <a:tc>
                  <a:txBody>
                    <a:bodyPr wrap="square"/>
                    <a:lstStyle/>
                    <a:p>
                      <a:pPr algn="r"/>
                      <a:r>
                        <a:rPr sz="919" b="0">
                          <a:solidFill>
                            <a:srgbClr val="2A3441"/>
                          </a:solidFill>
                          <a:latin typeface="Consolas"/>
                        </a:rPr>
                        <a:t>0.855</a:t>
                      </a:r>
                    </a:p>
                  </a:txBody>
                  <a:tcPr marL="82296" marR="82296" marT="13716" marB="13716" anchor="ctr">
                    <a:solidFill>
                      <a:srgbClr val="F4F7FB"/>
                    </a:solidFill>
                  </a:tcPr>
                </a:tc>
                <a:tc>
                  <a:txBody>
                    <a:bodyPr wrap="square"/>
                    <a:lstStyle/>
                    <a:p>
                      <a:pPr algn="r"/>
                      <a:r>
                        <a:rPr sz="919" b="0">
                          <a:solidFill>
                            <a:srgbClr val="2A3441"/>
                          </a:solidFill>
                          <a:latin typeface="Consolas"/>
                        </a:rPr>
                        <a:t>0.913</a:t>
                      </a:r>
                    </a:p>
                  </a:txBody>
                  <a:tcPr marL="82296" marR="82296" marT="13716" marB="13716" anchor="ctr">
                    <a:solidFill>
                      <a:srgbClr val="F4F7FB"/>
                    </a:solidFill>
                  </a:tcPr>
                </a:tc>
                <a:tc>
                  <a:txBody>
                    <a:bodyPr wrap="square"/>
                    <a:lstStyle/>
                    <a:p>
                      <a:pPr algn="r"/>
                      <a:r>
                        <a:rPr sz="919" b="0">
                          <a:solidFill>
                            <a:srgbClr val="2A3441"/>
                          </a:solidFill>
                          <a:latin typeface="Consolas"/>
                        </a:rPr>
                        <a:t>55</a:t>
                      </a:r>
                    </a:p>
                  </a:txBody>
                  <a:tcPr marL="82296" marR="82296" marT="13716" marB="13716" anchor="ctr">
                    <a:solidFill>
                      <a:srgbClr val="F4F7FB"/>
                    </a:solidFill>
                  </a:tcPr>
                </a:tc>
              </a:tr>
            </a:tbl>
          </a:graphicData>
        </a:graphic>
      </p:graphicFrame>
      <p:sp>
        <p:nvSpPr>
          <p:cNvPr id="10" name="TextBox 9"/>
          <p:cNvSpPr txBox="1"/>
          <p:nvPr/>
        </p:nvSpPr>
        <p:spPr>
          <a:xfrm>
            <a:off x="566928" y="3749039"/>
            <a:ext cx="6192389" cy="420624"/>
          </a:xfrm>
          <a:prstGeom prst="rect">
            <a:avLst/>
          </a:prstGeom>
          <a:noFill/>
        </p:spPr>
        <p:txBody>
          <a:bodyPr wrap="square" anchor="t" lIns="0" rIns="0" tIns="0" bIns="0">
            <a:spAutoFit/>
          </a:bodyPr>
          <a:lstStyle/>
          <a:p>
            <a:pPr algn="l">
              <a:spcBef>
                <a:spcPts val="0"/>
              </a:spcBef>
              <a:spcAft>
                <a:spcPts val="0"/>
              </a:spcAft>
            </a:pPr>
            <a:r>
              <a:rPr sz="880" b="1">
                <a:solidFill>
                  <a:srgbClr val="0F2A47"/>
                </a:solidFill>
                <a:latin typeface="Consolas"/>
              </a:rPr>
              <a:t>macro F1 0.9882</a:t>
            </a:r>
            <a:r>
              <a:rPr sz="880" b="0">
                <a:solidFill>
                  <a:srgbClr val="6B7684"/>
                </a:solidFill>
                <a:latin typeface="Segoe UI"/>
              </a:rPr>
              <a:t>  ·  weighted F1 0.9997  ·  82 features  ·  fitted on 200,524 rows  ·  tested on 50,131 never seen</a:t>
            </a:r>
          </a:p>
        </p:txBody>
      </p:sp>
      <p:sp>
        <p:nvSpPr>
          <p:cNvPr id="11" name="Rectangle 10"/>
          <p:cNvSpPr/>
          <p:nvPr/>
        </p:nvSpPr>
        <p:spPr>
          <a:xfrm>
            <a:off x="7035763" y="1883664"/>
            <a:ext cx="4589003"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035763" y="1883664"/>
            <a:ext cx="50292" cy="120700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18643" y="1993392"/>
            <a:ext cx="4278107" cy="100584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The obvious objection: is this port leakage?</a:t>
            </a:r>
          </a:p>
          <a:p>
            <a:pPr algn="l">
              <a:lnSpc>
                <a:spcPct val="120000"/>
              </a:lnSpc>
              <a:spcBef>
                <a:spcPts val="0"/>
              </a:spcBef>
              <a:spcAft>
                <a:spcPts val="0"/>
              </a:spcAft>
            </a:pPr>
            <a:r>
              <a:rPr sz="919" b="0" i="0">
                <a:solidFill>
                  <a:srgbClr val="2A3441"/>
                </a:solidFill>
                <a:latin typeface="Segoe UI"/>
              </a:rPr>
              <a:t>Every attack class in this testbed targets a fixed port — Botnet 100% on 8080, DoS, DDoS and Web Attack 100% on port 80. A majority-class-per-port lookup alone reaches about 83% accuracy.</a:t>
            </a:r>
          </a:p>
        </p:txBody>
      </p:sp>
      <p:sp>
        <p:nvSpPr>
          <p:cNvPr id="14" name="Rectangle 13"/>
          <p:cNvSpPr/>
          <p:nvPr/>
        </p:nvSpPr>
        <p:spPr>
          <a:xfrm>
            <a:off x="7035763" y="3273552"/>
            <a:ext cx="4589003"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035763" y="3273552"/>
            <a:ext cx="50292" cy="120700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18643" y="3383280"/>
            <a:ext cx="4278107" cy="100584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We deleted those columns and retrained</a:t>
            </a:r>
          </a:p>
          <a:p>
            <a:pPr algn="l">
              <a:lnSpc>
                <a:spcPct val="120000"/>
              </a:lnSpc>
              <a:spcBef>
                <a:spcPts val="0"/>
              </a:spcBef>
              <a:spcAft>
                <a:spcPts val="0"/>
              </a:spcAft>
            </a:pPr>
            <a:r>
              <a:rPr sz="919" b="0" i="0">
                <a:solidFill>
                  <a:srgbClr val="2A3441"/>
                </a:solidFill>
                <a:latin typeface="Segoe UI"/>
              </a:rPr>
              <a:t>With the port and protocol removed entirely the score barely moves: 0.9882 → 0.9870. So the model was not leaning on the port after all.</a:t>
            </a:r>
          </a:p>
        </p:txBody>
      </p:sp>
      <p:sp>
        <p:nvSpPr>
          <p:cNvPr id="17" name="Rectangle 16"/>
          <p:cNvSpPr/>
          <p:nvPr/>
        </p:nvSpPr>
        <p:spPr>
          <a:xfrm>
            <a:off x="7035763" y="4663440"/>
            <a:ext cx="4589003" cy="12070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035763" y="4663440"/>
            <a:ext cx="50292" cy="1207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18643" y="4773168"/>
            <a:ext cx="4278107" cy="1005840"/>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The real cause, which flatters the model less</a:t>
            </a:r>
          </a:p>
          <a:p>
            <a:pPr algn="l">
              <a:lnSpc>
                <a:spcPct val="120000"/>
              </a:lnSpc>
              <a:spcBef>
                <a:spcPts val="0"/>
              </a:spcBef>
              <a:spcAft>
                <a:spcPts val="0"/>
              </a:spcAft>
            </a:pPr>
            <a:r>
              <a:rPr sz="919" b="0" i="0">
                <a:solidFill>
                  <a:srgbClr val="2A3441"/>
                </a:solidFill>
                <a:latin typeface="Segoe UI"/>
              </a:rPr>
              <a:t>Each attack class was generated by a single tool with a fixed configuration, so every class carries a near-constant flow fingerprint. The 0.9882 is a property of this testbed: honest here, and it will not transfer. It must never be quoted as a real-world detection capability.</a:t>
            </a:r>
          </a:p>
        </p:txBody>
      </p:sp>
      <p:graphicFrame>
        <p:nvGraphicFramePr>
          <p:cNvPr id="20" name="Table 19"/>
          <p:cNvGraphicFramePr>
            <a:graphicFrameLocks noGrp="1"/>
          </p:cNvGraphicFramePr>
          <p:nvPr/>
        </p:nvGraphicFramePr>
        <p:xfrm>
          <a:off x="566928" y="4224528"/>
          <a:ext cx="5870448" cy="1609344"/>
        </p:xfrm>
        <a:graphic>
          <a:graphicData uri="http://schemas.openxmlformats.org/drawingml/2006/table">
            <a:tbl>
              <a:tblPr firstRow="0" bandRow="0"/>
              <a:tblGrid>
                <a:gridCol w="2240280"/>
                <a:gridCol w="960120"/>
                <a:gridCol w="777240"/>
                <a:gridCol w="960120"/>
                <a:gridCol w="932688"/>
              </a:tblGrid>
              <a:tr h="292608">
                <a:tc>
                  <a:txBody>
                    <a:bodyPr wrap="square"/>
                    <a:lstStyle/>
                    <a:p>
                      <a:pPr algn="l"/>
                      <a:r>
                        <a:rPr sz="860" b="1">
                          <a:solidFill>
                            <a:srgbClr val="FFFFFF"/>
                          </a:solidFill>
                          <a:latin typeface="Segoe UI"/>
                        </a:rPr>
                        <a:t>Model family</a:t>
                      </a:r>
                    </a:p>
                  </a:txBody>
                  <a:tcPr marL="82296" marR="82296" marT="13716" marB="13716" anchor="ctr">
                    <a:solidFill>
                      <a:srgbClr val="0F2A47"/>
                    </a:solidFill>
                  </a:tcPr>
                </a:tc>
                <a:tc>
                  <a:txBody>
                    <a:bodyPr wrap="square"/>
                    <a:lstStyle/>
                    <a:p>
                      <a:pPr algn="r"/>
                      <a:r>
                        <a:rPr sz="860" b="1">
                          <a:solidFill>
                            <a:srgbClr val="FFFFFF"/>
                          </a:solidFill>
                          <a:latin typeface="Segoe UI"/>
                        </a:rPr>
                        <a:t>macro F1</a:t>
                      </a:r>
                    </a:p>
                  </a:txBody>
                  <a:tcPr marL="82296" marR="82296" marT="13716" marB="13716" anchor="ctr">
                    <a:solidFill>
                      <a:srgbClr val="0F2A47"/>
                    </a:solidFill>
                  </a:tcPr>
                </a:tc>
                <a:tc>
                  <a:txBody>
                    <a:bodyPr wrap="square"/>
                    <a:lstStyle/>
                    <a:p>
                      <a:pPr algn="r"/>
                      <a:r>
                        <a:rPr sz="860" b="1">
                          <a:solidFill>
                            <a:srgbClr val="FFFFFF"/>
                          </a:solidFill>
                          <a:latin typeface="Segoe UI"/>
                        </a:rPr>
                        <a:t>std</a:t>
                      </a:r>
                    </a:p>
                  </a:txBody>
                  <a:tcPr marL="82296" marR="82296" marT="13716" marB="13716" anchor="ctr">
                    <a:solidFill>
                      <a:srgbClr val="0F2A47"/>
                    </a:solidFill>
                  </a:tcPr>
                </a:tc>
                <a:tc>
                  <a:txBody>
                    <a:bodyPr wrap="square"/>
                    <a:lstStyle/>
                    <a:p>
                      <a:pPr algn="r"/>
                      <a:r>
                        <a:rPr sz="860" b="1">
                          <a:solidFill>
                            <a:srgbClr val="FFFFFF"/>
                          </a:solidFill>
                          <a:latin typeface="Segoe UI"/>
                        </a:rPr>
                        <a:t>Accuracy</a:t>
                      </a:r>
                    </a:p>
                  </a:txBody>
                  <a:tcPr marL="82296" marR="82296" marT="13716" marB="13716" anchor="ctr">
                    <a:solidFill>
                      <a:srgbClr val="0F2A47"/>
                    </a:solidFill>
                  </a:tcPr>
                </a:tc>
                <a:tc>
                  <a:txBody>
                    <a:bodyPr wrap="square"/>
                    <a:lstStyle/>
                    <a:p>
                      <a:pPr algn="r"/>
                      <a:r>
                        <a:rPr sz="860" b="1">
                          <a:solidFill>
                            <a:srgbClr val="FFFFFF"/>
                          </a:solidFill>
                          <a:latin typeface="Segoe UI"/>
                        </a:rPr>
                        <a:t>Fit s</a:t>
                      </a:r>
                    </a:p>
                  </a:txBody>
                  <a:tcPr marL="82296" marR="82296" marT="13716" marB="13716" anchor="ctr">
                    <a:solidFill>
                      <a:srgbClr val="0F2A47"/>
                    </a:solidFill>
                  </a:tcPr>
                </a:tc>
              </a:tr>
              <a:tr h="329184">
                <a:tc>
                  <a:txBody>
                    <a:bodyPr wrap="square"/>
                    <a:lstStyle/>
                    <a:p>
                      <a:pPr algn="l"/>
                      <a:r>
                        <a:rPr sz="919" b="0">
                          <a:solidFill>
                            <a:srgbClr val="2A3441"/>
                          </a:solidFill>
                          <a:latin typeface="Segoe UI"/>
                        </a:rPr>
                        <a:t>Logistic Regression</a:t>
                      </a:r>
                    </a:p>
                  </a:txBody>
                  <a:tcPr marL="82296" marR="82296" marT="13716" marB="13716" anchor="ctr">
                    <a:solidFill>
                      <a:srgbClr val="FFFFFF"/>
                    </a:solidFill>
                  </a:tcPr>
                </a:tc>
                <a:tc>
                  <a:txBody>
                    <a:bodyPr wrap="square"/>
                    <a:lstStyle/>
                    <a:p>
                      <a:pPr algn="r"/>
                      <a:r>
                        <a:rPr sz="919" b="0">
                          <a:solidFill>
                            <a:srgbClr val="2A3441"/>
                          </a:solidFill>
                          <a:latin typeface="Consolas"/>
                        </a:rPr>
                        <a:t>0.5133</a:t>
                      </a:r>
                    </a:p>
                  </a:txBody>
                  <a:tcPr marL="82296" marR="82296" marT="13716" marB="13716" anchor="ctr">
                    <a:solidFill>
                      <a:srgbClr val="FFFFFF"/>
                    </a:solidFill>
                  </a:tcPr>
                </a:tc>
                <a:tc>
                  <a:txBody>
                    <a:bodyPr wrap="square"/>
                    <a:lstStyle/>
                    <a:p>
                      <a:pPr algn="r"/>
                      <a:r>
                        <a:rPr sz="919" b="0">
                          <a:solidFill>
                            <a:srgbClr val="2A3441"/>
                          </a:solidFill>
                          <a:latin typeface="Consolas"/>
                        </a:rPr>
                        <a:t>0.0462</a:t>
                      </a:r>
                    </a:p>
                  </a:txBody>
                  <a:tcPr marL="82296" marR="82296" marT="13716" marB="13716" anchor="ctr">
                    <a:solidFill>
                      <a:srgbClr val="FFFFFF"/>
                    </a:solidFill>
                  </a:tcPr>
                </a:tc>
                <a:tc>
                  <a:txBody>
                    <a:bodyPr wrap="square"/>
                    <a:lstStyle/>
                    <a:p>
                      <a:pPr algn="r"/>
                      <a:r>
                        <a:rPr sz="919" b="0">
                          <a:solidFill>
                            <a:srgbClr val="2A3441"/>
                          </a:solidFill>
                          <a:latin typeface="Consolas"/>
                        </a:rPr>
                        <a:t>0.7866</a:t>
                      </a:r>
                    </a:p>
                  </a:txBody>
                  <a:tcPr marL="82296" marR="82296" marT="13716" marB="13716" anchor="ctr">
                    <a:solidFill>
                      <a:srgbClr val="FFFFFF"/>
                    </a:solidFill>
                  </a:tcPr>
                </a:tc>
                <a:tc>
                  <a:txBody>
                    <a:bodyPr wrap="square"/>
                    <a:lstStyle/>
                    <a:p>
                      <a:pPr algn="r"/>
                      <a:r>
                        <a:rPr sz="919" b="0">
                          <a:solidFill>
                            <a:srgbClr val="2A3441"/>
                          </a:solidFill>
                          <a:latin typeface="Consolas"/>
                        </a:rPr>
                        <a:t>2.03</a:t>
                      </a:r>
                    </a:p>
                  </a:txBody>
                  <a:tcPr marL="82296" marR="82296" marT="13716" marB="13716" anchor="ctr">
                    <a:solidFill>
                      <a:srgbClr val="FFFFFF"/>
                    </a:solidFill>
                  </a:tcPr>
                </a:tc>
              </a:tr>
              <a:tr h="329184">
                <a:tc>
                  <a:txBody>
                    <a:bodyPr wrap="square"/>
                    <a:lstStyle/>
                    <a:p>
                      <a:pPr algn="l"/>
                      <a:r>
                        <a:rPr sz="919" b="0">
                          <a:solidFill>
                            <a:srgbClr val="2A3441"/>
                          </a:solidFill>
                          <a:latin typeface="Segoe UI"/>
                        </a:rPr>
                        <a:t>Random Forest</a:t>
                      </a:r>
                    </a:p>
                  </a:txBody>
                  <a:tcPr marL="82296" marR="82296" marT="13716" marB="13716" anchor="ctr">
                    <a:solidFill>
                      <a:srgbClr val="F4F7FB"/>
                    </a:solidFill>
                  </a:tcPr>
                </a:tc>
                <a:tc>
                  <a:txBody>
                    <a:bodyPr wrap="square"/>
                    <a:lstStyle/>
                    <a:p>
                      <a:pPr algn="r"/>
                      <a:r>
                        <a:rPr sz="919" b="0">
                          <a:solidFill>
                            <a:srgbClr val="2A3441"/>
                          </a:solidFill>
                          <a:latin typeface="Consolas"/>
                        </a:rPr>
                        <a:t>0.9618</a:t>
                      </a:r>
                    </a:p>
                  </a:txBody>
                  <a:tcPr marL="82296" marR="82296" marT="13716" marB="13716" anchor="ctr">
                    <a:solidFill>
                      <a:srgbClr val="F4F7FB"/>
                    </a:solidFill>
                  </a:tcPr>
                </a:tc>
                <a:tc>
                  <a:txBody>
                    <a:bodyPr wrap="square"/>
                    <a:lstStyle/>
                    <a:p>
                      <a:pPr algn="r"/>
                      <a:r>
                        <a:rPr sz="919" b="0">
                          <a:solidFill>
                            <a:srgbClr val="2A3441"/>
                          </a:solidFill>
                          <a:latin typeface="Consolas"/>
                        </a:rPr>
                        <a:t>0.0137</a:t>
                      </a:r>
                    </a:p>
                  </a:txBody>
                  <a:tcPr marL="82296" marR="82296" marT="13716" marB="13716" anchor="ctr">
                    <a:solidFill>
                      <a:srgbClr val="F4F7FB"/>
                    </a:solidFill>
                  </a:tcPr>
                </a:tc>
                <a:tc>
                  <a:txBody>
                    <a:bodyPr wrap="square"/>
                    <a:lstStyle/>
                    <a:p>
                      <a:pPr algn="r"/>
                      <a:r>
                        <a:rPr sz="919" b="0">
                          <a:solidFill>
                            <a:srgbClr val="2A3441"/>
                          </a:solidFill>
                          <a:latin typeface="Consolas"/>
                        </a:rPr>
                        <a:t>0.9928</a:t>
                      </a:r>
                    </a:p>
                  </a:txBody>
                  <a:tcPr marL="82296" marR="82296" marT="13716" marB="13716" anchor="ctr">
                    <a:solidFill>
                      <a:srgbClr val="F4F7FB"/>
                    </a:solidFill>
                  </a:tcPr>
                </a:tc>
                <a:tc>
                  <a:txBody>
                    <a:bodyPr wrap="square"/>
                    <a:lstStyle/>
                    <a:p>
                      <a:pPr algn="r"/>
                      <a:r>
                        <a:rPr sz="919" b="0">
                          <a:solidFill>
                            <a:srgbClr val="2A3441"/>
                          </a:solidFill>
                          <a:latin typeface="Consolas"/>
                        </a:rPr>
                        <a:t>0.62</a:t>
                      </a:r>
                    </a:p>
                  </a:txBody>
                  <a:tcPr marL="82296" marR="82296" marT="13716" marB="13716" anchor="ctr">
                    <a:solidFill>
                      <a:srgbClr val="F4F7FB"/>
                    </a:solidFill>
                  </a:tcPr>
                </a:tc>
              </a:tr>
              <a:tr h="329184">
                <a:tc>
                  <a:txBody>
                    <a:bodyPr wrap="square"/>
                    <a:lstStyle/>
                    <a:p>
                      <a:pPr algn="l"/>
                      <a:r>
                        <a:rPr sz="919" b="0">
                          <a:solidFill>
                            <a:srgbClr val="2A3441"/>
                          </a:solidFill>
                          <a:latin typeface="Segoe UI"/>
                        </a:rPr>
                        <a:t>HistGradientBoosting</a:t>
                      </a:r>
                    </a:p>
                  </a:txBody>
                  <a:tcPr marL="82296" marR="82296" marT="13716" marB="13716" anchor="ctr">
                    <a:solidFill>
                      <a:srgbClr val="FFFFFF"/>
                    </a:solidFill>
                  </a:tcPr>
                </a:tc>
                <a:tc>
                  <a:txBody>
                    <a:bodyPr wrap="square"/>
                    <a:lstStyle/>
                    <a:p>
                      <a:pPr algn="r"/>
                      <a:r>
                        <a:rPr sz="919" b="0">
                          <a:solidFill>
                            <a:srgbClr val="2A3441"/>
                          </a:solidFill>
                          <a:latin typeface="Consolas"/>
                        </a:rPr>
                        <a:t>0.9687</a:t>
                      </a:r>
                    </a:p>
                  </a:txBody>
                  <a:tcPr marL="82296" marR="82296" marT="13716" marB="13716" anchor="ctr">
                    <a:solidFill>
                      <a:srgbClr val="FFFFFF"/>
                    </a:solidFill>
                  </a:tcPr>
                </a:tc>
                <a:tc>
                  <a:txBody>
                    <a:bodyPr wrap="square"/>
                    <a:lstStyle/>
                    <a:p>
                      <a:pPr algn="r"/>
                      <a:r>
                        <a:rPr sz="919" b="0">
                          <a:solidFill>
                            <a:srgbClr val="2A3441"/>
                          </a:solidFill>
                          <a:latin typeface="Consolas"/>
                        </a:rPr>
                        <a:t>0.0106</a:t>
                      </a:r>
                    </a:p>
                  </a:txBody>
                  <a:tcPr marL="82296" marR="82296" marT="13716" marB="13716" anchor="ctr">
                    <a:solidFill>
                      <a:srgbClr val="FFFFFF"/>
                    </a:solidFill>
                  </a:tcPr>
                </a:tc>
                <a:tc>
                  <a:txBody>
                    <a:bodyPr wrap="square"/>
                    <a:lstStyle/>
                    <a:p>
                      <a:pPr algn="r"/>
                      <a:r>
                        <a:rPr sz="919" b="0">
                          <a:solidFill>
                            <a:srgbClr val="2A3441"/>
                          </a:solidFill>
                          <a:latin typeface="Consolas"/>
                        </a:rPr>
                        <a:t>0.9946</a:t>
                      </a:r>
                    </a:p>
                  </a:txBody>
                  <a:tcPr marL="82296" marR="82296" marT="13716" marB="13716" anchor="ctr">
                    <a:solidFill>
                      <a:srgbClr val="FFFFFF"/>
                    </a:solidFill>
                  </a:tcPr>
                </a:tc>
                <a:tc>
                  <a:txBody>
                    <a:bodyPr wrap="square"/>
                    <a:lstStyle/>
                    <a:p>
                      <a:pPr algn="r"/>
                      <a:r>
                        <a:rPr sz="919" b="0">
                          <a:solidFill>
                            <a:srgbClr val="2A3441"/>
                          </a:solidFill>
                          <a:latin typeface="Consolas"/>
                        </a:rPr>
                        <a:t>2.66</a:t>
                      </a:r>
                    </a:p>
                  </a:txBody>
                  <a:tcPr marL="82296" marR="82296" marT="13716" marB="13716" anchor="ctr">
                    <a:solidFill>
                      <a:srgbClr val="FFFFFF"/>
                    </a:solidFill>
                  </a:tcPr>
                </a:tc>
              </a:tr>
              <a:tr h="329184">
                <a:tc>
                  <a:txBody>
                    <a:bodyPr wrap="square"/>
                    <a:lstStyle/>
                    <a:p>
                      <a:pPr algn="l"/>
                      <a:r>
                        <a:rPr sz="919" b="0">
                          <a:solidFill>
                            <a:srgbClr val="2A3441"/>
                          </a:solidFill>
                          <a:latin typeface="Segoe UI"/>
                        </a:rPr>
                        <a:t>XGBoost  (incumbent)</a:t>
                      </a:r>
                    </a:p>
                  </a:txBody>
                  <a:tcPr marL="82296" marR="82296" marT="13716" marB="13716" anchor="ctr">
                    <a:solidFill>
                      <a:srgbClr val="F4F7FB"/>
                    </a:solidFill>
                  </a:tcPr>
                </a:tc>
                <a:tc>
                  <a:txBody>
                    <a:bodyPr wrap="square"/>
                    <a:lstStyle/>
                    <a:p>
                      <a:pPr algn="r"/>
                      <a:r>
                        <a:rPr sz="919" b="0">
                          <a:solidFill>
                            <a:srgbClr val="2A3441"/>
                          </a:solidFill>
                          <a:latin typeface="Consolas"/>
                        </a:rPr>
                        <a:t>0.9657</a:t>
                      </a:r>
                    </a:p>
                  </a:txBody>
                  <a:tcPr marL="82296" marR="82296" marT="13716" marB="13716" anchor="ctr">
                    <a:solidFill>
                      <a:srgbClr val="F4F7FB"/>
                    </a:solidFill>
                  </a:tcPr>
                </a:tc>
                <a:tc>
                  <a:txBody>
                    <a:bodyPr wrap="square"/>
                    <a:lstStyle/>
                    <a:p>
                      <a:pPr algn="r"/>
                      <a:r>
                        <a:rPr sz="919" b="0">
                          <a:solidFill>
                            <a:srgbClr val="2A3441"/>
                          </a:solidFill>
                          <a:latin typeface="Consolas"/>
                        </a:rPr>
                        <a:t>0.0146</a:t>
                      </a:r>
                    </a:p>
                  </a:txBody>
                  <a:tcPr marL="82296" marR="82296" marT="13716" marB="13716" anchor="ctr">
                    <a:solidFill>
                      <a:srgbClr val="F4F7FB"/>
                    </a:solidFill>
                  </a:tcPr>
                </a:tc>
                <a:tc>
                  <a:txBody>
                    <a:bodyPr wrap="square"/>
                    <a:lstStyle/>
                    <a:p>
                      <a:pPr algn="r"/>
                      <a:r>
                        <a:rPr sz="919" b="0">
                          <a:solidFill>
                            <a:srgbClr val="2A3441"/>
                          </a:solidFill>
                          <a:latin typeface="Consolas"/>
                        </a:rPr>
                        <a:t>0.9946</a:t>
                      </a:r>
                    </a:p>
                  </a:txBody>
                  <a:tcPr marL="82296" marR="82296" marT="13716" marB="13716" anchor="ctr">
                    <a:solidFill>
                      <a:srgbClr val="F4F7FB"/>
                    </a:solidFill>
                  </a:tcPr>
                </a:tc>
                <a:tc>
                  <a:txBody>
                    <a:bodyPr wrap="square"/>
                    <a:lstStyle/>
                    <a:p>
                      <a:pPr algn="r"/>
                      <a:r>
                        <a:rPr sz="919" b="0">
                          <a:solidFill>
                            <a:srgbClr val="2A3441"/>
                          </a:solidFill>
                          <a:latin typeface="Consolas"/>
                        </a:rPr>
                        <a:t>1.26</a:t>
                      </a:r>
                    </a:p>
                  </a:txBody>
                  <a:tcPr marL="82296" marR="82296" marT="13716" marB="13716" anchor="ctr">
                    <a:solidFill>
                      <a:srgbClr val="F4F7FB"/>
                    </a:solidFill>
                  </a:tcPr>
                </a:tc>
              </a:tr>
            </a:tbl>
          </a:graphicData>
        </a:graphic>
      </p:graphicFrame>
      <p:sp>
        <p:nvSpPr>
          <p:cNvPr id="21" name="TextBox 20"/>
          <p:cNvSpPr txBox="1"/>
          <p:nvPr/>
        </p:nvSpPr>
        <p:spPr>
          <a:xfrm>
            <a:off x="566928" y="5760720"/>
            <a:ext cx="6192389" cy="731520"/>
          </a:xfrm>
          <a:prstGeom prst="rect">
            <a:avLst/>
          </a:prstGeom>
          <a:noFill/>
        </p:spPr>
        <p:txBody>
          <a:bodyPr wrap="square" anchor="t" lIns="0" rIns="0" tIns="0" bIns="0">
            <a:spAutoFit/>
          </a:bodyPr>
          <a:lstStyle/>
          <a:p>
            <a:pPr algn="l">
              <a:lnSpc>
                <a:spcPct val="118000"/>
              </a:lnSpc>
              <a:spcBef>
                <a:spcPts val="0"/>
              </a:spcBef>
              <a:spcAft>
                <a:spcPts val="0"/>
              </a:spcAft>
            </a:pPr>
            <a:r>
              <a:rPr sz="860" b="0" i="0">
                <a:solidFill>
                  <a:srgbClr val="6B7684"/>
                </a:solidFill>
                <a:latin typeface="Segoe UI"/>
              </a:rPr>
              <a:t>Four families, identical features, folds and protocol (stratified 5-fold). A linear baseline collapses exactly where it matters: 78.7% accuracy hides the rare classes, 0.51 macro F1 exposes them — which is why macro F1 leads. XGBoost and HistGB are a statistical tie; the incumbent is kept on the explainability tiebreak: this family can explain its own answers without extra machinery.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SIGNATURE LAYER</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do only two rules survive — and what is the layer for?</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If the signature layer adds no unique detections, its justification has to be something other than recall.</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36</a:t>
            </a:r>
          </a:p>
        </p:txBody>
      </p:sp>
      <p:graphicFrame>
        <p:nvGraphicFramePr>
          <p:cNvPr id="9" name="Table 8"/>
          <p:cNvGraphicFramePr>
            <a:graphicFrameLocks noGrp="1"/>
          </p:cNvGraphicFramePr>
          <p:nvPr/>
        </p:nvGraphicFramePr>
        <p:xfrm>
          <a:off x="566928" y="2011680"/>
          <a:ext cx="7360920" cy="2377440"/>
        </p:xfrm>
        <a:graphic>
          <a:graphicData uri="http://schemas.openxmlformats.org/drawingml/2006/table">
            <a:tbl>
              <a:tblPr firstRow="0" bandRow="0"/>
              <a:tblGrid>
                <a:gridCol w="2880360"/>
                <a:gridCol w="1417320"/>
                <a:gridCol w="1143000"/>
                <a:gridCol w="1051560"/>
                <a:gridCol w="868680"/>
              </a:tblGrid>
              <a:tr h="292608">
                <a:tc>
                  <a:txBody>
                    <a:bodyPr wrap="square"/>
                    <a:lstStyle/>
                    <a:p>
                      <a:pPr algn="l"/>
                      <a:r>
                        <a:rPr sz="860" b="1">
                          <a:solidFill>
                            <a:srgbClr val="FFFFFF"/>
                          </a:solidFill>
                          <a:latin typeface="Segoe UI"/>
                        </a:rPr>
                        <a:t>Rule</a:t>
                      </a:r>
                    </a:p>
                  </a:txBody>
                  <a:tcPr marL="82296" marR="82296" marT="13716" marB="13716" anchor="ctr">
                    <a:solidFill>
                      <a:srgbClr val="0F2A47"/>
                    </a:solidFill>
                  </a:tcPr>
                </a:tc>
                <a:tc>
                  <a:txBody>
                    <a:bodyPr wrap="square"/>
                    <a:lstStyle/>
                    <a:p>
                      <a:pPr algn="l"/>
                      <a:r>
                        <a:rPr sz="860" b="1">
                          <a:solidFill>
                            <a:srgbClr val="FFFFFF"/>
                          </a:solidFill>
                          <a:latin typeface="Segoe UI"/>
                        </a:rPr>
                        <a:t>Target class</a:t>
                      </a:r>
                    </a:p>
                  </a:txBody>
                  <a:tcPr marL="82296" marR="82296" marT="13716" marB="13716" anchor="ctr">
                    <a:solidFill>
                      <a:srgbClr val="0F2A47"/>
                    </a:solidFill>
                  </a:tcPr>
                </a:tc>
                <a:tc>
                  <a:txBody>
                    <a:bodyPr wrap="square"/>
                    <a:lstStyle/>
                    <a:p>
                      <a:pPr algn="r"/>
                      <a:r>
                        <a:rPr sz="860" b="1">
                          <a:solidFill>
                            <a:srgbClr val="FFFFFF"/>
                          </a:solidFill>
                          <a:latin typeface="Segoe UI"/>
                        </a:rPr>
                        <a:t>Best precision</a:t>
                      </a:r>
                    </a:p>
                  </a:txBody>
                  <a:tcPr marL="82296" marR="82296" marT="13716" marB="13716" anchor="ctr">
                    <a:solidFill>
                      <a:srgbClr val="0F2A47"/>
                    </a:solidFill>
                  </a:tcPr>
                </a:tc>
                <a:tc>
                  <a:txBody>
                    <a:bodyPr wrap="square"/>
                    <a:lstStyle/>
                    <a:p>
                      <a:pPr algn="r"/>
                      <a:r>
                        <a:rPr sz="860" b="1">
                          <a:solidFill>
                            <a:srgbClr val="FFFFFF"/>
                          </a:solidFill>
                          <a:latin typeface="Segoe UI"/>
                        </a:rPr>
                        <a:t>Best recall</a:t>
                      </a:r>
                    </a:p>
                  </a:txBody>
                  <a:tcPr marL="82296" marR="82296" marT="13716" marB="13716" anchor="ctr">
                    <a:solidFill>
                      <a:srgbClr val="0F2A47"/>
                    </a:solidFill>
                  </a:tcPr>
                </a:tc>
                <a:tc>
                  <a:txBody>
                    <a:bodyPr wrap="square"/>
                    <a:lstStyle/>
                    <a:p>
                      <a:pPr algn="l"/>
                      <a:r>
                        <a:rPr sz="860" b="1">
                          <a:solidFill>
                            <a:srgbClr val="FFFFFF"/>
                          </a:solidFill>
                          <a:latin typeface="Segoe UI"/>
                        </a:rPr>
                        <a:t>Kept?</a:t>
                      </a:r>
                    </a:p>
                  </a:txBody>
                  <a:tcPr marL="82296" marR="82296" marT="13716" marB="13716" anchor="ctr">
                    <a:solidFill>
                      <a:srgbClr val="0F2A47"/>
                    </a:solidFill>
                  </a:tcPr>
                </a:tc>
              </a:tr>
              <a:tr h="347472">
                <a:tc>
                  <a:txBody>
                    <a:bodyPr wrap="square"/>
                    <a:lstStyle/>
                    <a:p>
                      <a:pPr algn="l"/>
                      <a:r>
                        <a:rPr sz="910" b="0">
                          <a:solidFill>
                            <a:srgbClr val="2A3441"/>
                          </a:solidFill>
                          <a:latin typeface="Segoe UI"/>
                        </a:rPr>
                        <a:t>SIG-FTP-BRUTE-FORCE</a:t>
                      </a:r>
                    </a:p>
                  </a:txBody>
                  <a:tcPr marL="82296" marR="82296" marT="13716" marB="13716" anchor="ctr">
                    <a:solidFill>
                      <a:srgbClr val="FFFFFF"/>
                    </a:solidFill>
                  </a:tcPr>
                </a:tc>
                <a:tc>
                  <a:txBody>
                    <a:bodyPr wrap="square"/>
                    <a:lstStyle/>
                    <a:p>
                      <a:pPr algn="l"/>
                      <a:r>
                        <a:rPr sz="910" b="0">
                          <a:solidFill>
                            <a:srgbClr val="2A3441"/>
                          </a:solidFill>
                          <a:latin typeface="Segoe UI"/>
                        </a:rPr>
                        <a:t>Brute Force</a:t>
                      </a:r>
                    </a:p>
                  </a:txBody>
                  <a:tcPr marL="82296" marR="82296" marT="13716" marB="13716" anchor="ctr">
                    <a:solidFill>
                      <a:srgbClr val="FFFFFF"/>
                    </a:solidFill>
                  </a:tcPr>
                </a:tc>
                <a:tc>
                  <a:txBody>
                    <a:bodyPr wrap="square"/>
                    <a:lstStyle/>
                    <a:p>
                      <a:pPr algn="r"/>
                      <a:r>
                        <a:rPr sz="910" b="0">
                          <a:solidFill>
                            <a:srgbClr val="2A3441"/>
                          </a:solidFill>
                          <a:latin typeface="Consolas"/>
                        </a:rPr>
                        <a:t>1.0000</a:t>
                      </a:r>
                    </a:p>
                  </a:txBody>
                  <a:tcPr marL="82296" marR="82296" marT="13716" marB="13716" anchor="ctr">
                    <a:solidFill>
                      <a:srgbClr val="FFFFFF"/>
                    </a:solidFill>
                  </a:tcPr>
                </a:tc>
                <a:tc>
                  <a:txBody>
                    <a:bodyPr wrap="square"/>
                    <a:lstStyle/>
                    <a:p>
                      <a:pPr algn="r"/>
                      <a:r>
                        <a:rPr sz="910" b="0">
                          <a:solidFill>
                            <a:srgbClr val="2A3441"/>
                          </a:solidFill>
                          <a:latin typeface="Consolas"/>
                        </a:rPr>
                        <a:t>0.7300</a:t>
                      </a:r>
                    </a:p>
                  </a:txBody>
                  <a:tcPr marL="82296" marR="82296" marT="13716" marB="13716" anchor="ctr">
                    <a:solidFill>
                      <a:srgbClr val="FFFFFF"/>
                    </a:solidFill>
                  </a:tcPr>
                </a:tc>
                <a:tc>
                  <a:txBody>
                    <a:bodyPr wrap="square"/>
                    <a:lstStyle/>
                    <a:p>
                      <a:pPr algn="l"/>
                      <a:r>
                        <a:rPr sz="910" b="0">
                          <a:solidFill>
                            <a:srgbClr val="2A3441"/>
                          </a:solidFill>
                          <a:latin typeface="Segoe UI"/>
                        </a:rPr>
                        <a:t>yes</a:t>
                      </a:r>
                    </a:p>
                  </a:txBody>
                  <a:tcPr marL="82296" marR="82296" marT="13716" marB="13716" anchor="ctr">
                    <a:solidFill>
                      <a:srgbClr val="FFFFFF"/>
                    </a:solidFill>
                  </a:tcPr>
                </a:tc>
              </a:tr>
              <a:tr h="347472">
                <a:tc>
                  <a:txBody>
                    <a:bodyPr wrap="square"/>
                    <a:lstStyle/>
                    <a:p>
                      <a:pPr algn="l"/>
                      <a:r>
                        <a:rPr sz="910" b="0">
                          <a:solidFill>
                            <a:srgbClr val="2A3441"/>
                          </a:solidFill>
                          <a:latin typeface="Segoe UI"/>
                        </a:rPr>
                        <a:t>SIG-SSH-BRUTE-FORCE</a:t>
                      </a:r>
                    </a:p>
                  </a:txBody>
                  <a:tcPr marL="82296" marR="82296" marT="13716" marB="13716" anchor="ctr">
                    <a:solidFill>
                      <a:srgbClr val="F4F7FB"/>
                    </a:solidFill>
                  </a:tcPr>
                </a:tc>
                <a:tc>
                  <a:txBody>
                    <a:bodyPr wrap="square"/>
                    <a:lstStyle/>
                    <a:p>
                      <a:pPr algn="l"/>
                      <a:r>
                        <a:rPr sz="910" b="0">
                          <a:solidFill>
                            <a:srgbClr val="2A3441"/>
                          </a:solidFill>
                          <a:latin typeface="Segoe UI"/>
                        </a:rPr>
                        <a:t>Brute Force</a:t>
                      </a:r>
                    </a:p>
                  </a:txBody>
                  <a:tcPr marL="82296" marR="82296" marT="13716" marB="13716" anchor="ctr">
                    <a:solidFill>
                      <a:srgbClr val="F4F7FB"/>
                    </a:solidFill>
                  </a:tcPr>
                </a:tc>
                <a:tc>
                  <a:txBody>
                    <a:bodyPr wrap="square"/>
                    <a:lstStyle/>
                    <a:p>
                      <a:pPr algn="r"/>
                      <a:r>
                        <a:rPr sz="910" b="0">
                          <a:solidFill>
                            <a:srgbClr val="2A3441"/>
                          </a:solidFill>
                          <a:latin typeface="Consolas"/>
                        </a:rPr>
                        <a:t>1.0000</a:t>
                      </a:r>
                    </a:p>
                  </a:txBody>
                  <a:tcPr marL="82296" marR="82296" marT="13716" marB="13716" anchor="ctr">
                    <a:solidFill>
                      <a:srgbClr val="F4F7FB"/>
                    </a:solidFill>
                  </a:tcPr>
                </a:tc>
                <a:tc>
                  <a:txBody>
                    <a:bodyPr wrap="square"/>
                    <a:lstStyle/>
                    <a:p>
                      <a:pPr algn="r"/>
                      <a:r>
                        <a:rPr sz="910" b="0">
                          <a:solidFill>
                            <a:srgbClr val="2A3441"/>
                          </a:solidFill>
                          <a:latin typeface="Consolas"/>
                        </a:rPr>
                        <a:t>0.2700</a:t>
                      </a:r>
                    </a:p>
                  </a:txBody>
                  <a:tcPr marL="82296" marR="82296" marT="13716" marB="13716" anchor="ctr">
                    <a:solidFill>
                      <a:srgbClr val="F4F7FB"/>
                    </a:solidFill>
                  </a:tcPr>
                </a:tc>
                <a:tc>
                  <a:txBody>
                    <a:bodyPr wrap="square"/>
                    <a:lstStyle/>
                    <a:p>
                      <a:pPr algn="l"/>
                      <a:r>
                        <a:rPr sz="910" b="0">
                          <a:solidFill>
                            <a:srgbClr val="2A3441"/>
                          </a:solidFill>
                          <a:latin typeface="Segoe UI"/>
                        </a:rPr>
                        <a:t>yes</a:t>
                      </a:r>
                    </a:p>
                  </a:txBody>
                  <a:tcPr marL="82296" marR="82296" marT="13716" marB="13716" anchor="ctr">
                    <a:solidFill>
                      <a:srgbClr val="F4F7FB"/>
                    </a:solidFill>
                  </a:tcPr>
                </a:tc>
              </a:tr>
              <a:tr h="347472">
                <a:tc>
                  <a:txBody>
                    <a:bodyPr wrap="square"/>
                    <a:lstStyle/>
                    <a:p>
                      <a:pPr algn="l"/>
                      <a:r>
                        <a:rPr sz="910" b="0">
                          <a:solidFill>
                            <a:srgbClr val="2A3441"/>
                          </a:solidFill>
                          <a:latin typeface="Segoe UI"/>
                        </a:rPr>
                        <a:t>SIG-WEB-ATTACK-FLOW</a:t>
                      </a:r>
                    </a:p>
                  </a:txBody>
                  <a:tcPr marL="82296" marR="82296" marT="13716" marB="13716" anchor="ctr">
                    <a:solidFill>
                      <a:srgbClr val="FFFFFF"/>
                    </a:solidFill>
                  </a:tcPr>
                </a:tc>
                <a:tc>
                  <a:txBody>
                    <a:bodyPr wrap="square"/>
                    <a:lstStyle/>
                    <a:p>
                      <a:pPr algn="l"/>
                      <a:r>
                        <a:rPr sz="910" b="0">
                          <a:solidFill>
                            <a:srgbClr val="2A3441"/>
                          </a:solidFill>
                          <a:latin typeface="Segoe UI"/>
                        </a:rPr>
                        <a:t>Web Attack</a:t>
                      </a:r>
                    </a:p>
                  </a:txBody>
                  <a:tcPr marL="82296" marR="82296" marT="13716" marB="13716" anchor="ctr">
                    <a:solidFill>
                      <a:srgbClr val="FFFFFF"/>
                    </a:solidFill>
                  </a:tcPr>
                </a:tc>
                <a:tc>
                  <a:txBody>
                    <a:bodyPr wrap="square"/>
                    <a:lstStyle/>
                    <a:p>
                      <a:pPr algn="r"/>
                      <a:r>
                        <a:rPr sz="910" b="0">
                          <a:solidFill>
                            <a:srgbClr val="2A3441"/>
                          </a:solidFill>
                          <a:latin typeface="Consolas"/>
                        </a:rPr>
                        <a:t>0.7838</a:t>
                      </a:r>
                    </a:p>
                  </a:txBody>
                  <a:tcPr marL="82296" marR="82296" marT="13716" marB="13716" anchor="ctr">
                    <a:solidFill>
                      <a:srgbClr val="FFFFFF"/>
                    </a:solidFill>
                  </a:tcPr>
                </a:tc>
                <a:tc>
                  <a:txBody>
                    <a:bodyPr wrap="square"/>
                    <a:lstStyle/>
                    <a:p>
                      <a:pPr algn="r"/>
                      <a:r>
                        <a:rPr sz="910" b="0">
                          <a:solidFill>
                            <a:srgbClr val="2A3441"/>
                          </a:solidFill>
                          <a:latin typeface="Consolas"/>
                        </a:rPr>
                        <a:t>0.4833</a:t>
                      </a:r>
                    </a:p>
                  </a:txBody>
                  <a:tcPr marL="82296" marR="82296" marT="13716" marB="13716" anchor="ctr">
                    <a:solidFill>
                      <a:srgbClr val="FFFFFF"/>
                    </a:solidFill>
                  </a:tcPr>
                </a:tc>
                <a:tc>
                  <a:txBody>
                    <a:bodyPr wrap="square"/>
                    <a:lstStyle/>
                    <a:p>
                      <a:pPr algn="l"/>
                      <a:r>
                        <a:rPr sz="910" b="0">
                          <a:solidFill>
                            <a:srgbClr val="2A3441"/>
                          </a:solidFill>
                          <a:latin typeface="Segoe UI"/>
                        </a:rPr>
                        <a:t>retired</a:t>
                      </a:r>
                    </a:p>
                  </a:txBody>
                  <a:tcPr marL="82296" marR="82296" marT="13716" marB="13716" anchor="ctr">
                    <a:solidFill>
                      <a:srgbClr val="FFFFFF"/>
                    </a:solidFill>
                  </a:tcPr>
                </a:tc>
              </a:tr>
              <a:tr h="347472">
                <a:tc>
                  <a:txBody>
                    <a:bodyPr wrap="square"/>
                    <a:lstStyle/>
                    <a:p>
                      <a:pPr algn="l"/>
                      <a:r>
                        <a:rPr sz="910" b="0">
                          <a:solidFill>
                            <a:srgbClr val="2A3441"/>
                          </a:solidFill>
                          <a:latin typeface="Segoe UI"/>
                        </a:rPr>
                        <a:t>SIG-DDOS-HIGH-RATE-FLOW</a:t>
                      </a:r>
                    </a:p>
                  </a:txBody>
                  <a:tcPr marL="82296" marR="82296" marT="13716" marB="13716" anchor="ctr">
                    <a:solidFill>
                      <a:srgbClr val="F4F7FB"/>
                    </a:solidFill>
                  </a:tcPr>
                </a:tc>
                <a:tc>
                  <a:txBody>
                    <a:bodyPr wrap="square"/>
                    <a:lstStyle/>
                    <a:p>
                      <a:pPr algn="l"/>
                      <a:r>
                        <a:rPr sz="910" b="0">
                          <a:solidFill>
                            <a:srgbClr val="2A3441"/>
                          </a:solidFill>
                          <a:latin typeface="Segoe UI"/>
                        </a:rPr>
                        <a:t>DDoS</a:t>
                      </a:r>
                    </a:p>
                  </a:txBody>
                  <a:tcPr marL="82296" marR="82296" marT="13716" marB="13716" anchor="ctr">
                    <a:solidFill>
                      <a:srgbClr val="F4F7FB"/>
                    </a:solidFill>
                  </a:tcPr>
                </a:tc>
                <a:tc>
                  <a:txBody>
                    <a:bodyPr wrap="square"/>
                    <a:lstStyle/>
                    <a:p>
                      <a:pPr algn="r"/>
                      <a:r>
                        <a:rPr sz="910" b="0">
                          <a:solidFill>
                            <a:srgbClr val="2A3441"/>
                          </a:solidFill>
                          <a:latin typeface="Consolas"/>
                        </a:rPr>
                        <a:t>0.3423</a:t>
                      </a:r>
                    </a:p>
                  </a:txBody>
                  <a:tcPr marL="82296" marR="82296" marT="13716" marB="13716" anchor="ctr">
                    <a:solidFill>
                      <a:srgbClr val="F4F7FB"/>
                    </a:solidFill>
                  </a:tcPr>
                </a:tc>
                <a:tc>
                  <a:txBody>
                    <a:bodyPr wrap="square"/>
                    <a:lstStyle/>
                    <a:p>
                      <a:pPr algn="r"/>
                      <a:r>
                        <a:rPr sz="910" b="0">
                          <a:solidFill>
                            <a:srgbClr val="2A3441"/>
                          </a:solidFill>
                          <a:latin typeface="Consolas"/>
                        </a:rPr>
                        <a:t>0.3800</a:t>
                      </a:r>
                    </a:p>
                  </a:txBody>
                  <a:tcPr marL="82296" marR="82296" marT="13716" marB="13716" anchor="ctr">
                    <a:solidFill>
                      <a:srgbClr val="F4F7FB"/>
                    </a:solidFill>
                  </a:tcPr>
                </a:tc>
                <a:tc>
                  <a:txBody>
                    <a:bodyPr wrap="square"/>
                    <a:lstStyle/>
                    <a:p>
                      <a:pPr algn="l"/>
                      <a:r>
                        <a:rPr sz="910" b="0">
                          <a:solidFill>
                            <a:srgbClr val="2A3441"/>
                          </a:solidFill>
                          <a:latin typeface="Segoe UI"/>
                        </a:rPr>
                        <a:t>retired</a:t>
                      </a:r>
                    </a:p>
                  </a:txBody>
                  <a:tcPr marL="82296" marR="82296" marT="13716" marB="13716" anchor="ctr">
                    <a:solidFill>
                      <a:srgbClr val="F4F7FB"/>
                    </a:solidFill>
                  </a:tcPr>
                </a:tc>
              </a:tr>
              <a:tr h="347472">
                <a:tc>
                  <a:txBody>
                    <a:bodyPr wrap="square"/>
                    <a:lstStyle/>
                    <a:p>
                      <a:pPr algn="l"/>
                      <a:r>
                        <a:rPr sz="910" b="0">
                          <a:solidFill>
                            <a:srgbClr val="2A3441"/>
                          </a:solidFill>
                          <a:latin typeface="Segoe UI"/>
                        </a:rPr>
                        <a:t>SIG-INFILTRATION-LONG-FLOW</a:t>
                      </a:r>
                    </a:p>
                  </a:txBody>
                  <a:tcPr marL="82296" marR="82296" marT="13716" marB="13716" anchor="ctr">
                    <a:solidFill>
                      <a:srgbClr val="FFFFFF"/>
                    </a:solidFill>
                  </a:tcPr>
                </a:tc>
                <a:tc>
                  <a:txBody>
                    <a:bodyPr wrap="square"/>
                    <a:lstStyle/>
                    <a:p>
                      <a:pPr algn="l"/>
                      <a:r>
                        <a:rPr sz="910" b="0">
                          <a:solidFill>
                            <a:srgbClr val="2A3441"/>
                          </a:solidFill>
                          <a:latin typeface="Segoe UI"/>
                        </a:rPr>
                        <a:t>Infiltration</a:t>
                      </a:r>
                    </a:p>
                  </a:txBody>
                  <a:tcPr marL="82296" marR="82296" marT="13716" marB="13716" anchor="ctr">
                    <a:solidFill>
                      <a:srgbClr val="FFFFFF"/>
                    </a:solidFill>
                  </a:tcPr>
                </a:tc>
                <a:tc>
                  <a:txBody>
                    <a:bodyPr wrap="square"/>
                    <a:lstStyle/>
                    <a:p>
                      <a:pPr algn="r"/>
                      <a:r>
                        <a:rPr sz="910" b="0">
                          <a:solidFill>
                            <a:srgbClr val="2A3441"/>
                          </a:solidFill>
                          <a:latin typeface="Consolas"/>
                        </a:rPr>
                        <a:t>0.2500</a:t>
                      </a:r>
                    </a:p>
                  </a:txBody>
                  <a:tcPr marL="82296" marR="82296" marT="13716" marB="13716" anchor="ctr">
                    <a:solidFill>
                      <a:srgbClr val="FFFFFF"/>
                    </a:solidFill>
                  </a:tcPr>
                </a:tc>
                <a:tc>
                  <a:txBody>
                    <a:bodyPr wrap="square"/>
                    <a:lstStyle/>
                    <a:p>
                      <a:pPr algn="r"/>
                      <a:r>
                        <a:rPr sz="910" b="0">
                          <a:solidFill>
                            <a:srgbClr val="2A3441"/>
                          </a:solidFill>
                          <a:latin typeface="Consolas"/>
                        </a:rPr>
                        <a:t>0.0250</a:t>
                      </a:r>
                    </a:p>
                  </a:txBody>
                  <a:tcPr marL="82296" marR="82296" marT="13716" marB="13716" anchor="ctr">
                    <a:solidFill>
                      <a:srgbClr val="FFFFFF"/>
                    </a:solidFill>
                  </a:tcPr>
                </a:tc>
                <a:tc>
                  <a:txBody>
                    <a:bodyPr wrap="square"/>
                    <a:lstStyle/>
                    <a:p>
                      <a:pPr algn="l"/>
                      <a:r>
                        <a:rPr sz="910" b="0">
                          <a:solidFill>
                            <a:srgbClr val="2A3441"/>
                          </a:solidFill>
                          <a:latin typeface="Segoe UI"/>
                        </a:rPr>
                        <a:t>retired</a:t>
                      </a:r>
                    </a:p>
                  </a:txBody>
                  <a:tcPr marL="82296" marR="82296" marT="13716" marB="13716" anchor="ctr">
                    <a:solidFill>
                      <a:srgbClr val="FFFFFF"/>
                    </a:solidFill>
                  </a:tcPr>
                </a:tc>
              </a:tr>
              <a:tr h="347472">
                <a:tc>
                  <a:txBody>
                    <a:bodyPr wrap="square"/>
                    <a:lstStyle/>
                    <a:p>
                      <a:pPr algn="l"/>
                      <a:r>
                        <a:rPr sz="910" b="0">
                          <a:solidFill>
                            <a:srgbClr val="2A3441"/>
                          </a:solidFill>
                          <a:latin typeface="Segoe UI"/>
                        </a:rPr>
                        <a:t>SIG-DOS-HIGH-RATE · SIG-BOTNET-BEACON</a:t>
                      </a:r>
                    </a:p>
                  </a:txBody>
                  <a:tcPr marL="82296" marR="82296" marT="13716" marB="13716" anchor="ctr">
                    <a:solidFill>
                      <a:srgbClr val="F4F7FB"/>
                    </a:solidFill>
                  </a:tcPr>
                </a:tc>
                <a:tc>
                  <a:txBody>
                    <a:bodyPr wrap="square"/>
                    <a:lstStyle/>
                    <a:p>
                      <a:pPr algn="l"/>
                      <a:r>
                        <a:rPr sz="910" b="0">
                          <a:solidFill>
                            <a:srgbClr val="2A3441"/>
                          </a:solidFill>
                          <a:latin typeface="Segoe UI"/>
                        </a:rPr>
                        <a:t>DoS · Botnet</a:t>
                      </a:r>
                    </a:p>
                  </a:txBody>
                  <a:tcPr marL="82296" marR="82296" marT="13716" marB="13716" anchor="ctr">
                    <a:solidFill>
                      <a:srgbClr val="F4F7FB"/>
                    </a:solidFill>
                  </a:tcPr>
                </a:tc>
                <a:tc>
                  <a:txBody>
                    <a:bodyPr wrap="square"/>
                    <a:lstStyle/>
                    <a:p>
                      <a:pPr algn="r"/>
                      <a:r>
                        <a:rPr sz="910" b="0">
                          <a:solidFill>
                            <a:srgbClr val="2A3441"/>
                          </a:solidFill>
                          <a:latin typeface="Consolas"/>
                        </a:rPr>
                        <a:t>0.0000</a:t>
                      </a:r>
                    </a:p>
                  </a:txBody>
                  <a:tcPr marL="82296" marR="82296" marT="13716" marB="13716" anchor="ctr">
                    <a:solidFill>
                      <a:srgbClr val="F4F7FB"/>
                    </a:solidFill>
                  </a:tcPr>
                </a:tc>
                <a:tc>
                  <a:txBody>
                    <a:bodyPr wrap="square"/>
                    <a:lstStyle/>
                    <a:p>
                      <a:pPr algn="r"/>
                      <a:r>
                        <a:rPr sz="910" b="0">
                          <a:solidFill>
                            <a:srgbClr val="2A3441"/>
                          </a:solidFill>
                          <a:latin typeface="Consolas"/>
                        </a:rPr>
                        <a:t>0.0000</a:t>
                      </a:r>
                    </a:p>
                  </a:txBody>
                  <a:tcPr marL="82296" marR="82296" marT="13716" marB="13716" anchor="ctr">
                    <a:solidFill>
                      <a:srgbClr val="F4F7FB"/>
                    </a:solidFill>
                  </a:tcPr>
                </a:tc>
                <a:tc>
                  <a:txBody>
                    <a:bodyPr wrap="square"/>
                    <a:lstStyle/>
                    <a:p>
                      <a:pPr algn="l"/>
                      <a:r>
                        <a:rPr sz="910" b="0">
                          <a:solidFill>
                            <a:srgbClr val="2A3441"/>
                          </a:solidFill>
                          <a:latin typeface="Segoe UI"/>
                        </a:rPr>
                        <a:t>retired</a:t>
                      </a:r>
                    </a:p>
                  </a:txBody>
                  <a:tcPr marL="82296" marR="82296" marT="13716" marB="13716" anchor="ctr">
                    <a:solidFill>
                      <a:srgbClr val="F4F7FB"/>
                    </a:solidFill>
                  </a:tcPr>
                </a:tc>
              </a:tr>
            </a:tbl>
          </a:graphicData>
        </a:graphic>
      </p:graphicFrame>
      <p:sp>
        <p:nvSpPr>
          <p:cNvPr id="10" name="Rectangle 9"/>
          <p:cNvSpPr/>
          <p:nvPr/>
        </p:nvSpPr>
        <p:spPr>
          <a:xfrm>
            <a:off x="7478077" y="2011680"/>
            <a:ext cx="4146689"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78077" y="2011680"/>
            <a:ext cx="50292" cy="969264"/>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60957" y="2121408"/>
            <a:ext cx="3835793" cy="768096"/>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Retired, not deleted</a:t>
            </a:r>
          </a:p>
          <a:p>
            <a:pPr algn="l">
              <a:lnSpc>
                <a:spcPct val="120000"/>
              </a:lnSpc>
              <a:spcBef>
                <a:spcPts val="0"/>
              </a:spcBef>
              <a:spcAft>
                <a:spcPts val="0"/>
              </a:spcAft>
            </a:pPr>
            <a:r>
              <a:rPr sz="910" b="0" i="0">
                <a:solidFill>
                  <a:srgbClr val="2A3441"/>
                </a:solidFill>
                <a:latin typeface="Segoe UI"/>
              </a:rPr>
              <a:t>They stay in rules/rule-set-s4b-1.json with enabled: false. A low-precision “high-confidence oracle” destroys the reason the layer exists.</a:t>
            </a:r>
          </a:p>
        </p:txBody>
      </p:sp>
      <p:sp>
        <p:nvSpPr>
          <p:cNvPr id="13" name="Rectangle 12"/>
          <p:cNvSpPr/>
          <p:nvPr/>
        </p:nvSpPr>
        <p:spPr>
          <a:xfrm>
            <a:off x="7478077" y="3163824"/>
            <a:ext cx="4146689"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478077" y="3163824"/>
            <a:ext cx="50292" cy="969264"/>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60957" y="3273552"/>
            <a:ext cx="3835793" cy="768096"/>
          </a:xfrm>
          <a:prstGeom prst="rect">
            <a:avLst/>
          </a:prstGeom>
          <a:noFill/>
        </p:spPr>
        <p:txBody>
          <a:bodyPr wrap="square" anchor="t" lIns="0" rIns="0" tIns="0" bIns="0">
            <a:spAutoFit/>
          </a:bodyPr>
          <a:lstStyle/>
          <a:p>
            <a:pPr algn="l">
              <a:lnSpc>
                <a:spcPct val="105000"/>
              </a:lnSpc>
              <a:spcBef>
                <a:spcPts val="0"/>
              </a:spcBef>
              <a:spcAft>
                <a:spcPts val="200"/>
              </a:spcAft>
            </a:pPr>
            <a:r>
              <a:rPr sz="1040" b="1" i="0">
                <a:solidFill>
                  <a:srgbClr val="0F2A47"/>
                </a:solidFill>
                <a:latin typeface="Segoe UI"/>
              </a:rPr>
              <a:t>Held-out: the overfitting risk, closed</a:t>
            </a:r>
          </a:p>
          <a:p>
            <a:pPr algn="l">
              <a:lnSpc>
                <a:spcPct val="120000"/>
              </a:lnSpc>
              <a:spcBef>
                <a:spcPts val="0"/>
              </a:spcBef>
              <a:spcAft>
                <a:spcPts val="0"/>
              </a:spcAft>
            </a:pPr>
            <a:r>
              <a:rPr sz="910" b="0" i="0">
                <a:solidFill>
                  <a:srgbClr val="2A3441"/>
                </a:solidFill>
                <a:latin typeface="Segoe UI"/>
              </a:rPr>
              <a:t>Re-tested on 250,655 rows the rules never saw — 50× the tuning set. 30,025 hits, precision 0.9999. Say which scoring: class-correct is 0.9992.</a:t>
            </a:r>
          </a:p>
        </p:txBody>
      </p:sp>
      <p:sp>
        <p:nvSpPr>
          <p:cNvPr id="16" name="TextBox 15"/>
          <p:cNvSpPr txBox="1"/>
          <p:nvPr/>
        </p:nvSpPr>
        <p:spPr>
          <a:xfrm>
            <a:off x="566928" y="4169663"/>
            <a:ext cx="11057839" cy="274320"/>
          </a:xfrm>
          <a:prstGeom prst="rect">
            <a:avLst/>
          </a:prstGeom>
          <a:noFill/>
        </p:spPr>
        <p:txBody>
          <a:bodyPr wrap="square" anchor="t" lIns="0" rIns="0" tIns="0" bIns="0">
            <a:spAutoFit/>
          </a:bodyPr>
          <a:lstStyle/>
          <a:p>
            <a:pPr algn="l">
              <a:spcBef>
                <a:spcPts val="0"/>
              </a:spcBef>
              <a:spcAft>
                <a:spcPts val="0"/>
              </a:spcAft>
            </a:pPr>
            <a:r>
              <a:rPr sz="880" b="1" i="0">
                <a:solidFill>
                  <a:srgbClr val="6B7684"/>
                </a:solidFill>
                <a:latin typeface="Segoe UI"/>
              </a:rPr>
              <a:t>COVERAGE AFTER RETUNING — 1,000 MALICIOUS FLOWS   (pre-retune the split was ML-only 940 · both 54 · signature-only 0)</a:t>
            </a:r>
          </a:p>
        </p:txBody>
      </p:sp>
      <p:graphicFrame>
        <p:nvGraphicFramePr>
          <p:cNvPr id="17" name="Table 16"/>
          <p:cNvGraphicFramePr>
            <a:graphicFrameLocks noGrp="1"/>
          </p:cNvGraphicFramePr>
          <p:nvPr/>
        </p:nvGraphicFramePr>
        <p:xfrm>
          <a:off x="566928" y="4462272"/>
          <a:ext cx="10506456" cy="1609344"/>
        </p:xfrm>
        <a:graphic>
          <a:graphicData uri="http://schemas.openxmlformats.org/drawingml/2006/table">
            <a:tbl>
              <a:tblPr firstRow="0" bandRow="0"/>
              <a:tblGrid>
                <a:gridCol w="1783080"/>
                <a:gridCol w="777240"/>
                <a:gridCol w="3886200"/>
                <a:gridCol w="4059936"/>
              </a:tblGrid>
              <a:tr h="292608">
                <a:tc>
                  <a:txBody>
                    <a:bodyPr wrap="square"/>
                    <a:lstStyle/>
                    <a:p>
                      <a:pPr algn="l"/>
                      <a:r>
                        <a:rPr sz="880" b="1">
                          <a:solidFill>
                            <a:srgbClr val="FFFFFF"/>
                          </a:solidFill>
                          <a:latin typeface="Segoe UI"/>
                        </a:rPr>
                        <a:t>Evidence class</a:t>
                      </a:r>
                    </a:p>
                  </a:txBody>
                  <a:tcPr marL="82296" marR="82296" marT="13716" marB="13716" anchor="ctr">
                    <a:solidFill>
                      <a:srgbClr val="0F2A47"/>
                    </a:solidFill>
                  </a:tcPr>
                </a:tc>
                <a:tc>
                  <a:txBody>
                    <a:bodyPr wrap="square"/>
                    <a:lstStyle/>
                    <a:p>
                      <a:pPr algn="r"/>
                      <a:r>
                        <a:rPr sz="880" b="1">
                          <a:solidFill>
                            <a:srgbClr val="FFFFFF"/>
                          </a:solidFill>
                          <a:latin typeface="Segoe UI"/>
                        </a:rPr>
                        <a:t>Flows</a:t>
                      </a:r>
                    </a:p>
                  </a:txBody>
                  <a:tcPr marL="82296" marR="82296" marT="13716" marB="13716" anchor="ctr">
                    <a:solidFill>
                      <a:srgbClr val="0F2A47"/>
                    </a:solidFill>
                  </a:tcPr>
                </a:tc>
                <a:tc>
                  <a:txBody>
                    <a:bodyPr wrap="square"/>
                    <a:lstStyle/>
                    <a:p>
                      <a:pPr algn="l"/>
                      <a:r>
                        <a:rPr sz="880" b="1">
                          <a:solidFill>
                            <a:srgbClr val="FFFFFF"/>
                          </a:solidFill>
                          <a:latin typeface="Segoe UI"/>
                        </a:rPr>
                        <a:t>What it means</a:t>
                      </a:r>
                    </a:p>
                  </a:txBody>
                  <a:tcPr marL="82296" marR="82296" marT="13716" marB="13716" anchor="ctr">
                    <a:solidFill>
                      <a:srgbClr val="0F2A47"/>
                    </a:solidFill>
                  </a:tcPr>
                </a:tc>
                <a:tc>
                  <a:txBody>
                    <a:bodyPr wrap="square"/>
                    <a:lstStyle/>
                    <a:p>
                      <a:pPr algn="l"/>
                      <a:r>
                        <a:rPr sz="880" b="1">
                          <a:solidFill>
                            <a:srgbClr val="FFFFFF"/>
                          </a:solidFill>
                          <a:latin typeface="Segoe UI"/>
                        </a:rPr>
                        <a:t>Where the analyst's effort goes</a:t>
                      </a:r>
                    </a:p>
                  </a:txBody>
                  <a:tcPr marL="82296" marR="82296" marT="13716" marB="13716" anchor="ctr">
                    <a:solidFill>
                      <a:srgbClr val="0F2A47"/>
                    </a:solidFill>
                  </a:tcPr>
                </a:tc>
              </a:tr>
              <a:tr h="329184">
                <a:tc>
                  <a:txBody>
                    <a:bodyPr wrap="square"/>
                    <a:lstStyle/>
                    <a:p>
                      <a:pPr algn="l"/>
                      <a:r>
                        <a:rPr sz="919" b="0">
                          <a:solidFill>
                            <a:srgbClr val="2A3441"/>
                          </a:solidFill>
                          <a:latin typeface="Segoe UI"/>
                        </a:rPr>
                        <a:t>corroborated</a:t>
                      </a:r>
                    </a:p>
                  </a:txBody>
                  <a:tcPr marL="82296" marR="82296" marT="13716" marB="13716" anchor="ctr">
                    <a:solidFill>
                      <a:srgbClr val="FFFFFF"/>
                    </a:solidFill>
                  </a:tcPr>
                </a:tc>
                <a:tc>
                  <a:txBody>
                    <a:bodyPr wrap="square"/>
                    <a:lstStyle/>
                    <a:p>
                      <a:pPr algn="r"/>
                      <a:r>
                        <a:rPr sz="919" b="0">
                          <a:solidFill>
                            <a:srgbClr val="2A3441"/>
                          </a:solidFill>
                          <a:latin typeface="Segoe UI"/>
                        </a:rPr>
                        <a:t>200</a:t>
                      </a:r>
                    </a:p>
                  </a:txBody>
                  <a:tcPr marL="82296" marR="82296" marT="13716" marB="13716" anchor="ctr">
                    <a:solidFill>
                      <a:srgbClr val="FFFFFF"/>
                    </a:solidFill>
                  </a:tcPr>
                </a:tc>
                <a:tc>
                  <a:txBody>
                    <a:bodyPr wrap="square"/>
                    <a:lstStyle/>
                    <a:p>
                      <a:pPr algn="l"/>
                      <a:r>
                        <a:rPr sz="919" b="0">
                          <a:solidFill>
                            <a:srgbClr val="2A3441"/>
                          </a:solidFill>
                          <a:latin typeface="Segoe UI"/>
                        </a:rPr>
                        <a:t>A verifiable rule and the model agree</a:t>
                      </a:r>
                    </a:p>
                  </a:txBody>
                  <a:tcPr marL="82296" marR="82296" marT="13716" marB="13716" anchor="ctr">
                    <a:solidFill>
                      <a:srgbClr val="FFFFFF"/>
                    </a:solidFill>
                  </a:tcPr>
                </a:tc>
                <a:tc>
                  <a:txBody>
                    <a:bodyPr wrap="square"/>
                    <a:lstStyle/>
                    <a:p>
                      <a:pPr algn="l"/>
                      <a:r>
                        <a:rPr sz="919" b="0">
                          <a:solidFill>
                            <a:srgbClr val="2A3441"/>
                          </a:solidFill>
                          <a:latin typeface="Segoe UI"/>
                        </a:rPr>
                        <a:t>Lowest — fast-track these</a:t>
                      </a:r>
                    </a:p>
                  </a:txBody>
                  <a:tcPr marL="82296" marR="82296" marT="13716" marB="13716" anchor="ctr">
                    <a:solidFill>
                      <a:srgbClr val="FFFFFF"/>
                    </a:solidFill>
                  </a:tcPr>
                </a:tc>
              </a:tr>
              <a:tr h="329184">
                <a:tc>
                  <a:txBody>
                    <a:bodyPr wrap="square"/>
                    <a:lstStyle/>
                    <a:p>
                      <a:pPr algn="l"/>
                      <a:r>
                        <a:rPr sz="919" b="0">
                          <a:solidFill>
                            <a:srgbClr val="2A3441"/>
                          </a:solidFill>
                          <a:latin typeface="Segoe UI"/>
                        </a:rPr>
                        <a:t>ml_only</a:t>
                      </a:r>
                    </a:p>
                  </a:txBody>
                  <a:tcPr marL="82296" marR="82296" marT="13716" marB="13716" anchor="ctr">
                    <a:solidFill>
                      <a:srgbClr val="F4F7FB"/>
                    </a:solidFill>
                  </a:tcPr>
                </a:tc>
                <a:tc>
                  <a:txBody>
                    <a:bodyPr wrap="square"/>
                    <a:lstStyle/>
                    <a:p>
                      <a:pPr algn="r"/>
                      <a:r>
                        <a:rPr sz="919" b="0">
                          <a:solidFill>
                            <a:srgbClr val="2A3441"/>
                          </a:solidFill>
                          <a:latin typeface="Segoe UI"/>
                        </a:rPr>
                        <a:t>794</a:t>
                      </a:r>
                    </a:p>
                  </a:txBody>
                  <a:tcPr marL="82296" marR="82296" marT="13716" marB="13716" anchor="ctr">
                    <a:solidFill>
                      <a:srgbClr val="F4F7FB"/>
                    </a:solidFill>
                  </a:tcPr>
                </a:tc>
                <a:tc>
                  <a:txBody>
                    <a:bodyPr wrap="square"/>
                    <a:lstStyle/>
                    <a:p>
                      <a:pPr algn="l"/>
                      <a:r>
                        <a:rPr sz="919" b="0">
                          <a:solidFill>
                            <a:srgbClr val="2A3441"/>
                          </a:solidFill>
                          <a:latin typeface="Segoe UI"/>
                        </a:rPr>
                        <a:t>The model alone; no human-checkable reason</a:t>
                      </a:r>
                    </a:p>
                  </a:txBody>
                  <a:tcPr marL="82296" marR="82296" marT="13716" marB="13716" anchor="ctr">
                    <a:solidFill>
                      <a:srgbClr val="F4F7FB"/>
                    </a:solidFill>
                  </a:tcPr>
                </a:tc>
                <a:tc>
                  <a:txBody>
                    <a:bodyPr wrap="square"/>
                    <a:lstStyle/>
                    <a:p>
                      <a:pPr algn="l"/>
                      <a:r>
                        <a:rPr sz="919" b="0">
                          <a:solidFill>
                            <a:srgbClr val="2A3441"/>
                          </a:solidFill>
                          <a:latin typeface="Segoe UI"/>
                        </a:rPr>
                        <a:t>Highest — this is where the human belongs</a:t>
                      </a:r>
                    </a:p>
                  </a:txBody>
                  <a:tcPr marL="82296" marR="82296" marT="13716" marB="13716" anchor="ctr">
                    <a:solidFill>
                      <a:srgbClr val="F4F7FB"/>
                    </a:solidFill>
                  </a:tcPr>
                </a:tc>
              </a:tr>
              <a:tr h="329184">
                <a:tc>
                  <a:txBody>
                    <a:bodyPr wrap="square"/>
                    <a:lstStyle/>
                    <a:p>
                      <a:pPr algn="l"/>
                      <a:r>
                        <a:rPr sz="919" b="0">
                          <a:solidFill>
                            <a:srgbClr val="2A3441"/>
                          </a:solidFill>
                          <a:latin typeface="Segoe UI"/>
                        </a:rPr>
                        <a:t>signature_only</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l"/>
                      <a:r>
                        <a:rPr sz="919" b="0">
                          <a:solidFill>
                            <a:srgbClr val="2A3441"/>
                          </a:solidFill>
                          <a:latin typeface="Segoe UI"/>
                        </a:rPr>
                        <a:t>A rule fires and the model disagrees</a:t>
                      </a:r>
                    </a:p>
                  </a:txBody>
                  <a:tcPr marL="82296" marR="82296" marT="13716" marB="13716" anchor="ctr">
                    <a:solidFill>
                      <a:srgbClr val="FFFFFF"/>
                    </a:solidFill>
                  </a:tcPr>
                </a:tc>
                <a:tc>
                  <a:txBody>
                    <a:bodyPr wrap="square"/>
                    <a:lstStyle/>
                    <a:p>
                      <a:pPr algn="l"/>
                      <a:r>
                        <a:rPr sz="919" b="0">
                          <a:solidFill>
                            <a:srgbClr val="2A3441"/>
                          </a:solidFill>
                          <a:latin typeface="Segoe UI"/>
                        </a:rPr>
                        <a:t>Does not occur on this data</a:t>
                      </a:r>
                    </a:p>
                  </a:txBody>
                  <a:tcPr marL="82296" marR="82296" marT="13716" marB="13716" anchor="ctr">
                    <a:solidFill>
                      <a:srgbClr val="FFFFFF"/>
                    </a:solidFill>
                  </a:tcPr>
                </a:tc>
              </a:tr>
              <a:tr h="329184">
                <a:tc>
                  <a:txBody>
                    <a:bodyPr wrap="square"/>
                    <a:lstStyle/>
                    <a:p>
                      <a:pPr algn="l"/>
                      <a:r>
                        <a:rPr sz="919" b="0">
                          <a:solidFill>
                            <a:srgbClr val="2A3441"/>
                          </a:solidFill>
                          <a:latin typeface="Segoe UI"/>
                        </a:rPr>
                        <a:t>missed by both</a:t>
                      </a:r>
                    </a:p>
                  </a:txBody>
                  <a:tcPr marL="82296" marR="82296" marT="13716" marB="13716" anchor="ctr">
                    <a:solidFill>
                      <a:srgbClr val="F4F7FB"/>
                    </a:solidFill>
                  </a:tcPr>
                </a:tc>
                <a:tc>
                  <a:txBody>
                    <a:bodyPr wrap="square"/>
                    <a:lstStyle/>
                    <a:p>
                      <a:pPr algn="r"/>
                      <a:r>
                        <a:rPr sz="919" b="0">
                          <a:solidFill>
                            <a:srgbClr val="2A3441"/>
                          </a:solidFill>
                          <a:latin typeface="Segoe UI"/>
                        </a:rPr>
                        <a:t>6</a:t>
                      </a:r>
                    </a:p>
                  </a:txBody>
                  <a:tcPr marL="82296" marR="82296" marT="13716" marB="13716" anchor="ctr">
                    <a:solidFill>
                      <a:srgbClr val="F4F7FB"/>
                    </a:solidFill>
                  </a:tcPr>
                </a:tc>
                <a:tc>
                  <a:txBody>
                    <a:bodyPr wrap="square"/>
                    <a:lstStyle/>
                    <a:p>
                      <a:pPr algn="l"/>
                      <a:r>
                        <a:rPr sz="919" b="0">
                          <a:solidFill>
                            <a:srgbClr val="2A3441"/>
                          </a:solidFill>
                          <a:latin typeface="Segoe UI"/>
                        </a:rPr>
                        <a:t>The residual blind spot</a:t>
                      </a:r>
                    </a:p>
                  </a:txBody>
                  <a:tcPr marL="82296" marR="82296" marT="13716" marB="13716" anchor="ctr">
                    <a:solidFill>
                      <a:srgbClr val="F4F7FB"/>
                    </a:solidFill>
                  </a:tcPr>
                </a:tc>
                <a:tc>
                  <a:txBody>
                    <a:bodyPr wrap="square"/>
                    <a:lstStyle/>
                    <a:p>
                      <a:pPr algn="l"/>
                      <a:r>
                        <a:rPr sz="919" b="0">
                          <a:solidFill>
                            <a:srgbClr val="2A3441"/>
                          </a:solidFill>
                          <a:latin typeface="Segoe UI"/>
                        </a:rPr>
                        <a:t>Feeds rule development</a:t>
                      </a:r>
                    </a:p>
                  </a:txBody>
                  <a:tcPr marL="82296" marR="82296" marT="13716" marB="13716" anchor="ctr">
                    <a:solidFill>
                      <a:srgbClr val="F4F7FB"/>
                    </a:solidFill>
                  </a:tcPr>
                </a:tc>
              </a:tr>
            </a:tbl>
          </a:graphicData>
        </a:graphic>
      </p:graphicFrame>
      <p:sp>
        <p:nvSpPr>
          <p:cNvPr id="18" name="Rectangle 17"/>
          <p:cNvSpPr/>
          <p:nvPr/>
        </p:nvSpPr>
        <p:spPr>
          <a:xfrm>
            <a:off x="566928" y="5907024"/>
            <a:ext cx="11057839" cy="56692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 y="5980176"/>
            <a:ext cx="10655503" cy="420624"/>
          </a:xfrm>
          <a:prstGeom prst="rect">
            <a:avLst/>
          </a:prstGeom>
          <a:noFill/>
        </p:spPr>
        <p:txBody>
          <a:bodyPr wrap="square" anchor="ctr" lIns="0" rIns="0" tIns="0" bIns="0">
            <a:spAutoFit/>
          </a:bodyPr>
          <a:lstStyle/>
          <a:p>
            <a:pPr algn="l">
              <a:spcBef>
                <a:spcPts val="0"/>
              </a:spcBef>
              <a:spcAft>
                <a:spcPts val="0"/>
              </a:spcAft>
            </a:pPr>
            <a:r>
              <a:rPr sz="980" b="1">
                <a:solidFill>
                  <a:srgbClr val="0F2A47"/>
                </a:solidFill>
                <a:latin typeface="Segoe UI"/>
              </a:rPr>
              <a:t>The claim the project defends: </a:t>
            </a:r>
            <a:r>
              <a:rPr sz="980" b="0">
                <a:solidFill>
                  <a:srgbClr val="0F2A47"/>
                </a:solidFill>
                <a:latin typeface="Segoe UI"/>
              </a:rPr>
              <a:t>the hybrid does not detect more — it tells the analyst where their attention is worth spending. 20% of malicious flows carry verifiable corroboration; 79% rest on model evidence alone, which is precisely where human review has the most value.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far should one verdict move an alert?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Four candidate formulas, chosen by a rule fixed before the results were seen.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37</a:t>
            </a:r>
          </a:p>
        </p:txBody>
      </p:sp>
      <p:sp>
        <p:nvSpPr>
          <p:cNvPr id="9" name="Rectangle 8"/>
          <p:cNvSpPr/>
          <p:nvPr/>
        </p:nvSpPr>
        <p:spPr>
          <a:xfrm>
            <a:off x="566928" y="1810512"/>
            <a:ext cx="2599867" cy="11338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10512"/>
            <a:ext cx="50292" cy="1133856"/>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920240"/>
            <a:ext cx="2288971" cy="932688"/>
          </a:xfrm>
          <a:prstGeom prst="rect">
            <a:avLst/>
          </a:prstGeom>
          <a:noFill/>
        </p:spPr>
        <p:txBody>
          <a:bodyPr wrap="square" anchor="t" lIns="0" rIns="0" tIns="0" bIns="0">
            <a:spAutoFit/>
          </a:bodyPr>
          <a:lstStyle/>
          <a:p>
            <a:pPr algn="l">
              <a:lnSpc>
                <a:spcPct val="105000"/>
              </a:lnSpc>
              <a:spcBef>
                <a:spcPts val="0"/>
              </a:spcBef>
              <a:spcAft>
                <a:spcPts val="200"/>
              </a:spcAft>
            </a:pPr>
            <a:r>
              <a:rPr sz="1019" b="1" i="0">
                <a:solidFill>
                  <a:srgbClr val="0F2A47"/>
                </a:solidFill>
                <a:latin typeface="Segoe UI"/>
              </a:rPr>
              <a:t>C0 · fixed step</a:t>
            </a:r>
          </a:p>
          <a:p>
            <a:pPr algn="l">
              <a:lnSpc>
                <a:spcPct val="120000"/>
              </a:lnSpc>
              <a:spcBef>
                <a:spcPts val="0"/>
              </a:spcBef>
              <a:spcAft>
                <a:spcPts val="0"/>
              </a:spcAft>
            </a:pPr>
            <a:r>
              <a:rPr sz="900" b="0" i="0">
                <a:solidFill>
                  <a:srgbClr val="2A3441"/>
                </a:solidFill>
                <a:latin typeface="Segoe UI"/>
              </a:rPr>
              <a:t>+10 confirm, −30 false positive, −15 expected, +15 escalate. Today's engine; ignores the attack type.</a:t>
            </a:r>
          </a:p>
        </p:txBody>
      </p:sp>
      <p:sp>
        <p:nvSpPr>
          <p:cNvPr id="12" name="Rectangle 11"/>
          <p:cNvSpPr/>
          <p:nvPr/>
        </p:nvSpPr>
        <p:spPr>
          <a:xfrm>
            <a:off x="3386251" y="1810512"/>
            <a:ext cx="2599867" cy="11338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6251" y="1810512"/>
            <a:ext cx="50292" cy="113385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69131" y="1920240"/>
            <a:ext cx="2288971" cy="932688"/>
          </a:xfrm>
          <a:prstGeom prst="rect">
            <a:avLst/>
          </a:prstGeom>
          <a:noFill/>
        </p:spPr>
        <p:txBody>
          <a:bodyPr wrap="square" anchor="t" lIns="0" rIns="0" tIns="0" bIns="0">
            <a:spAutoFit/>
          </a:bodyPr>
          <a:lstStyle/>
          <a:p>
            <a:pPr algn="l">
              <a:lnSpc>
                <a:spcPct val="105000"/>
              </a:lnSpc>
              <a:spcBef>
                <a:spcPts val="0"/>
              </a:spcBef>
              <a:spcAft>
                <a:spcPts val="200"/>
              </a:spcAft>
            </a:pPr>
            <a:r>
              <a:rPr sz="1019" b="1" i="0">
                <a:solidFill>
                  <a:srgbClr val="0F2A47"/>
                </a:solidFill>
                <a:latin typeface="Segoe UI"/>
              </a:rPr>
              <a:t>C1 · severity-weighted — CHOSEN</a:t>
            </a:r>
          </a:p>
          <a:p>
            <a:pPr algn="l">
              <a:lnSpc>
                <a:spcPct val="120000"/>
              </a:lnSpc>
              <a:spcBef>
                <a:spcPts val="0"/>
              </a:spcBef>
              <a:spcAft>
                <a:spcPts val="0"/>
              </a:spcAft>
            </a:pPr>
            <a:r>
              <a:rPr sz="900" b="0" i="0">
                <a:solidFill>
                  <a:srgbClr val="2A3441"/>
                </a:solidFill>
                <a:latin typeface="Segoe UI"/>
              </a:rPr>
              <a:t>Up by +K·w, down by −K·(1−w), K = 30 and w = severity ÷ 10. Severe types rise fast and fall slowly.</a:t>
            </a:r>
          </a:p>
        </p:txBody>
      </p:sp>
      <p:sp>
        <p:nvSpPr>
          <p:cNvPr id="15" name="Rectangle 14"/>
          <p:cNvSpPr/>
          <p:nvPr/>
        </p:nvSpPr>
        <p:spPr>
          <a:xfrm>
            <a:off x="6205575" y="1810512"/>
            <a:ext cx="2599867" cy="11338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05575" y="1810512"/>
            <a:ext cx="50292" cy="1133856"/>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8455" y="1920240"/>
            <a:ext cx="2288971" cy="932688"/>
          </a:xfrm>
          <a:prstGeom prst="rect">
            <a:avLst/>
          </a:prstGeom>
          <a:noFill/>
        </p:spPr>
        <p:txBody>
          <a:bodyPr wrap="square" anchor="t" lIns="0" rIns="0" tIns="0" bIns="0">
            <a:spAutoFit/>
          </a:bodyPr>
          <a:lstStyle/>
          <a:p>
            <a:pPr algn="l">
              <a:lnSpc>
                <a:spcPct val="105000"/>
              </a:lnSpc>
              <a:spcBef>
                <a:spcPts val="0"/>
              </a:spcBef>
              <a:spcAft>
                <a:spcPts val="200"/>
              </a:spcAft>
            </a:pPr>
            <a:r>
              <a:rPr sz="1019" b="1" i="0">
                <a:solidFill>
                  <a:srgbClr val="0F2A47"/>
                </a:solidFill>
                <a:latin typeface="Segoe UI"/>
              </a:rPr>
              <a:t>C2 · Elo-style</a:t>
            </a:r>
          </a:p>
          <a:p>
            <a:pPr algn="l">
              <a:lnSpc>
                <a:spcPct val="120000"/>
              </a:lnSpc>
              <a:spcBef>
                <a:spcPts val="0"/>
              </a:spcBef>
              <a:spcAft>
                <a:spcPts val="0"/>
              </a:spcAft>
            </a:pPr>
            <a:r>
              <a:rPr sz="900" b="0" i="0">
                <a:solidFill>
                  <a:srgbClr val="2A3441"/>
                </a:solidFill>
                <a:latin typeface="Segoe UI"/>
              </a:rPr>
              <a:t>Δ = K_dir·(S − E). Moves by surprise and is self-limiting: confirming a 100-point alert moves it 0.</a:t>
            </a:r>
          </a:p>
        </p:txBody>
      </p:sp>
      <p:sp>
        <p:nvSpPr>
          <p:cNvPr id="18" name="Rectangle 17"/>
          <p:cNvSpPr/>
          <p:nvPr/>
        </p:nvSpPr>
        <p:spPr>
          <a:xfrm>
            <a:off x="9024899" y="1810512"/>
            <a:ext cx="2599867" cy="11338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24899" y="1810512"/>
            <a:ext cx="50292" cy="1133856"/>
          </a:xfrm>
          <a:prstGeom prst="rect">
            <a:avLst/>
          </a:prstGeom>
          <a:solidFill>
            <a:srgbClr val="6B76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207779" y="1920240"/>
            <a:ext cx="2288971" cy="932688"/>
          </a:xfrm>
          <a:prstGeom prst="rect">
            <a:avLst/>
          </a:prstGeom>
          <a:noFill/>
        </p:spPr>
        <p:txBody>
          <a:bodyPr wrap="square" anchor="t" lIns="0" rIns="0" tIns="0" bIns="0">
            <a:spAutoFit/>
          </a:bodyPr>
          <a:lstStyle/>
          <a:p>
            <a:pPr algn="l">
              <a:lnSpc>
                <a:spcPct val="105000"/>
              </a:lnSpc>
              <a:spcBef>
                <a:spcPts val="0"/>
              </a:spcBef>
              <a:spcAft>
                <a:spcPts val="200"/>
              </a:spcAft>
            </a:pPr>
            <a:r>
              <a:rPr sz="1019" b="1" i="0">
                <a:solidFill>
                  <a:srgbClr val="0F2A47"/>
                </a:solidFill>
                <a:latin typeface="Segoe UI"/>
              </a:rPr>
              <a:t>C3 · Elo + uncertainty</a:t>
            </a:r>
          </a:p>
          <a:p>
            <a:pPr algn="l">
              <a:lnSpc>
                <a:spcPct val="120000"/>
              </a:lnSpc>
              <a:spcBef>
                <a:spcPts val="0"/>
              </a:spcBef>
              <a:spcAft>
                <a:spcPts val="0"/>
              </a:spcAft>
            </a:pPr>
            <a:r>
              <a:rPr sz="900" b="0" i="0">
                <a:solidFill>
                  <a:srgbClr val="2A3441"/>
                </a:solidFill>
                <a:latin typeface="Segoe UI"/>
              </a:rPr>
              <a:t>C2 shrunk by family uncertainty, after Glicko-2. New families respond strongly, settled ones barely move.</a:t>
            </a:r>
          </a:p>
        </p:txBody>
      </p:sp>
      <p:sp>
        <p:nvSpPr>
          <p:cNvPr id="21" name="Rectangle 20"/>
          <p:cNvSpPr/>
          <p:nvPr/>
        </p:nvSpPr>
        <p:spPr>
          <a:xfrm>
            <a:off x="566928" y="3145536"/>
            <a:ext cx="3539642" cy="14630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66928" y="3145536"/>
            <a:ext cx="50292" cy="14630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9808" y="3255264"/>
            <a:ext cx="3228746" cy="1261872"/>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Why C1</a:t>
            </a:r>
          </a:p>
          <a:p>
            <a:pPr algn="l">
              <a:lnSpc>
                <a:spcPct val="120000"/>
              </a:lnSpc>
              <a:spcBef>
                <a:spcPts val="0"/>
              </a:spcBef>
              <a:spcAft>
                <a:spcPts val="0"/>
              </a:spcAft>
            </a:pPr>
            <a:r>
              <a:rPr sz="919" b="0" i="0">
                <a:solidFill>
                  <a:srgbClr val="2A3441"/>
                </a:solidFill>
                <a:latin typeface="Segoe UI"/>
              </a:rPr>
              <a:t>It is the simplest candidate that satisfies the severity requirement (Q27), and it leads on mean attack position — 0.0828 against 0.0829 for the Elo forms.</a:t>
            </a:r>
          </a:p>
        </p:txBody>
      </p:sp>
      <p:sp>
        <p:nvSpPr>
          <p:cNvPr id="24" name="Rectangle 23"/>
          <p:cNvSpPr/>
          <p:nvPr/>
        </p:nvSpPr>
        <p:spPr>
          <a:xfrm>
            <a:off x="4326026" y="3145536"/>
            <a:ext cx="3539642" cy="14630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326026" y="3145536"/>
            <a:ext cx="50292" cy="14630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08906" y="3255264"/>
            <a:ext cx="3228746" cy="1261872"/>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The honest limit on that win</a:t>
            </a:r>
          </a:p>
          <a:p>
            <a:pPr algn="l">
              <a:lnSpc>
                <a:spcPct val="120000"/>
              </a:lnSpc>
              <a:spcBef>
                <a:spcPts val="0"/>
              </a:spcBef>
              <a:spcAft>
                <a:spcPts val="0"/>
              </a:spcAft>
            </a:pPr>
            <a:r>
              <a:rPr sz="919" b="0" i="0">
                <a:solidFill>
                  <a:srgbClr val="2A3441"/>
                </a:solidFill>
                <a:latin typeface="Segoe UI"/>
              </a:rPr>
              <a:t>0.0001 is about a quarter of one queue position, and the no-feedback control is 0.0829. C0 would rank first on raw performance and is ruled out only by the requirement we set in advance. The honest claim is “chosen by a rule we wrote down beforehand”, never “measured best”.</a:t>
            </a:r>
          </a:p>
        </p:txBody>
      </p:sp>
      <p:sp>
        <p:nvSpPr>
          <p:cNvPr id="27" name="Rectangle 26"/>
          <p:cNvSpPr/>
          <p:nvPr/>
        </p:nvSpPr>
        <p:spPr>
          <a:xfrm>
            <a:off x="8085124" y="3145536"/>
            <a:ext cx="3539642" cy="14630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085124" y="3145536"/>
            <a:ext cx="50292" cy="1463040"/>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68004" y="3255264"/>
            <a:ext cx="3228746" cy="1261872"/>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Why M1 — and why the gate matters more</a:t>
            </a:r>
          </a:p>
          <a:p>
            <a:pPr algn="l">
              <a:lnSpc>
                <a:spcPct val="120000"/>
              </a:lnSpc>
              <a:spcBef>
                <a:spcPts val="0"/>
              </a:spcBef>
              <a:spcAft>
                <a:spcPts val="0"/>
              </a:spcAft>
            </a:pPr>
            <a:r>
              <a:rPr sz="919" b="0" i="0">
                <a:solidFill>
                  <a:srgbClr val="2A3441"/>
                </a:solidFill>
                <a:latin typeface="Segoe UI"/>
              </a:rPr>
              <a:t>M2 sends a confirmed alert straight to Tier 2, so one confirmation can override any history: Tier 2 precision 0.74 under M2 against 1.00 under M1. The real finding is that the risk was single-verdict learning, not the formula.</a:t>
            </a:r>
          </a:p>
        </p:txBody>
      </p:sp>
      <p:graphicFrame>
        <p:nvGraphicFramePr>
          <p:cNvPr id="30" name="Table 29"/>
          <p:cNvGraphicFramePr>
            <a:graphicFrameLocks noGrp="1"/>
          </p:cNvGraphicFramePr>
          <p:nvPr/>
        </p:nvGraphicFramePr>
        <p:xfrm>
          <a:off x="566928" y="4736592"/>
          <a:ext cx="11055096" cy="1536192"/>
        </p:xfrm>
        <a:graphic>
          <a:graphicData uri="http://schemas.openxmlformats.org/drawingml/2006/table">
            <a:tbl>
              <a:tblPr firstRow="0" bandRow="0"/>
              <a:tblGrid>
                <a:gridCol w="2788920"/>
                <a:gridCol w="960120"/>
                <a:gridCol w="777240"/>
                <a:gridCol w="2788920"/>
                <a:gridCol w="960120"/>
                <a:gridCol w="2779776"/>
              </a:tblGrid>
              <a:tr h="292608">
                <a:tc>
                  <a:txBody>
                    <a:bodyPr wrap="square"/>
                    <a:lstStyle/>
                    <a:p>
                      <a:pPr algn="l"/>
                      <a:r>
                        <a:rPr sz="860" b="1">
                          <a:solidFill>
                            <a:srgbClr val="FFFFFF"/>
                          </a:solidFill>
                          <a:latin typeface="Segoe UI"/>
                        </a:rPr>
                        <a:t>Attack type</a:t>
                      </a:r>
                    </a:p>
                  </a:txBody>
                  <a:tcPr marL="82296" marR="82296" marT="13716" marB="13716" anchor="ctr">
                    <a:solidFill>
                      <a:srgbClr val="0F2A47"/>
                    </a:solidFill>
                  </a:tcPr>
                </a:tc>
                <a:tc>
                  <a:txBody>
                    <a:bodyPr wrap="square"/>
                    <a:lstStyle/>
                    <a:p>
                      <a:pPr algn="r"/>
                      <a:r>
                        <a:rPr sz="860" b="1">
                          <a:solidFill>
                            <a:srgbClr val="FFFFFF"/>
                          </a:solidFill>
                          <a:latin typeface="Segoe UI"/>
                        </a:rPr>
                        <a:t>Severity</a:t>
                      </a:r>
                    </a:p>
                  </a:txBody>
                  <a:tcPr marL="82296" marR="82296" marT="13716" marB="13716" anchor="ctr">
                    <a:solidFill>
                      <a:srgbClr val="0F2A47"/>
                    </a:solidFill>
                  </a:tcPr>
                </a:tc>
                <a:tc>
                  <a:txBody>
                    <a:bodyPr wrap="square"/>
                    <a:lstStyle/>
                    <a:p>
                      <a:pPr algn="r"/>
                      <a:r>
                        <a:rPr sz="860" b="1">
                          <a:solidFill>
                            <a:srgbClr val="FFFFFF"/>
                          </a:solidFill>
                          <a:latin typeface="Segoe UI"/>
                        </a:rPr>
                        <a:t>w</a:t>
                      </a:r>
                    </a:p>
                  </a:txBody>
                  <a:tcPr marL="82296" marR="82296" marT="13716" marB="13716" anchor="ctr">
                    <a:solidFill>
                      <a:srgbClr val="0F2A47"/>
                    </a:solidFill>
                  </a:tcPr>
                </a:tc>
                <a:tc>
                  <a:txBody>
                    <a:bodyPr wrap="square"/>
                    <a:lstStyle/>
                    <a:p>
                      <a:pPr algn="l"/>
                      <a:r>
                        <a:rPr sz="860" b="1">
                          <a:solidFill>
                            <a:srgbClr val="FFFFFF"/>
                          </a:solidFill>
                          <a:latin typeface="Segoe UI"/>
                        </a:rPr>
                        <a:t>Attack type</a:t>
                      </a:r>
                    </a:p>
                  </a:txBody>
                  <a:tcPr marL="82296" marR="82296" marT="13716" marB="13716" anchor="ctr">
                    <a:solidFill>
                      <a:srgbClr val="0F2A47"/>
                    </a:solidFill>
                  </a:tcPr>
                </a:tc>
                <a:tc>
                  <a:txBody>
                    <a:bodyPr wrap="square"/>
                    <a:lstStyle/>
                    <a:p>
                      <a:pPr algn="r"/>
                      <a:r>
                        <a:rPr sz="860" b="1">
                          <a:solidFill>
                            <a:srgbClr val="FFFFFF"/>
                          </a:solidFill>
                          <a:latin typeface="Segoe UI"/>
                        </a:rPr>
                        <a:t>Severity</a:t>
                      </a:r>
                    </a:p>
                  </a:txBody>
                  <a:tcPr marL="82296" marR="82296" marT="13716" marB="13716" anchor="ctr">
                    <a:solidFill>
                      <a:srgbClr val="0F2A47"/>
                    </a:solidFill>
                  </a:tcPr>
                </a:tc>
                <a:tc>
                  <a:txBody>
                    <a:bodyPr wrap="square"/>
                    <a:lstStyle/>
                    <a:p>
                      <a:pPr algn="r"/>
                      <a:r>
                        <a:rPr sz="860" b="1">
                          <a:solidFill>
                            <a:srgbClr val="FFFFFF"/>
                          </a:solidFill>
                          <a:latin typeface="Segoe UI"/>
                        </a:rPr>
                        <a:t>w</a:t>
                      </a:r>
                    </a:p>
                  </a:txBody>
                  <a:tcPr marL="82296" marR="82296" marT="13716" marB="13716" anchor="ctr">
                    <a:solidFill>
                      <a:srgbClr val="0F2A47"/>
                    </a:solidFill>
                  </a:tcPr>
                </a:tc>
              </a:tr>
              <a:tr h="310896">
                <a:tc>
                  <a:txBody>
                    <a:bodyPr wrap="square"/>
                    <a:lstStyle/>
                    <a:p>
                      <a:pPr algn="l"/>
                      <a:r>
                        <a:rPr sz="919" b="0">
                          <a:solidFill>
                            <a:srgbClr val="2A3441"/>
                          </a:solidFill>
                          <a:latin typeface="Segoe UI"/>
                        </a:rPr>
                        <a:t>Port Scan</a:t>
                      </a:r>
                    </a:p>
                  </a:txBody>
                  <a:tcPr marL="82296" marR="82296" marT="13716" marB="13716" anchor="ctr">
                    <a:solidFill>
                      <a:srgbClr val="FFFFFF"/>
                    </a:solidFill>
                  </a:tcPr>
                </a:tc>
                <a:tc>
                  <a:txBody>
                    <a:bodyPr wrap="square"/>
                    <a:lstStyle/>
                    <a:p>
                      <a:pPr algn="r"/>
                      <a:r>
                        <a:rPr sz="919" b="0">
                          <a:solidFill>
                            <a:srgbClr val="2A3441"/>
                          </a:solidFill>
                          <a:latin typeface="Consolas"/>
                        </a:rPr>
                        <a:t>3.0</a:t>
                      </a:r>
                    </a:p>
                  </a:txBody>
                  <a:tcPr marL="82296" marR="82296" marT="13716" marB="13716" anchor="ctr">
                    <a:solidFill>
                      <a:srgbClr val="FFFFFF"/>
                    </a:solidFill>
                  </a:tcPr>
                </a:tc>
                <a:tc>
                  <a:txBody>
                    <a:bodyPr wrap="square"/>
                    <a:lstStyle/>
                    <a:p>
                      <a:pPr algn="r"/>
                      <a:r>
                        <a:rPr sz="919" b="0">
                          <a:solidFill>
                            <a:srgbClr val="2A3441"/>
                          </a:solidFill>
                          <a:latin typeface="Consolas"/>
                        </a:rPr>
                        <a:t>0.30</a:t>
                      </a:r>
                    </a:p>
                  </a:txBody>
                  <a:tcPr marL="82296" marR="82296" marT="13716" marB="13716" anchor="ctr">
                    <a:solidFill>
                      <a:srgbClr val="FFFFFF"/>
                    </a:solidFill>
                  </a:tcPr>
                </a:tc>
                <a:tc>
                  <a:txBody>
                    <a:bodyPr wrap="square"/>
                    <a:lstStyle/>
                    <a:p>
                      <a:pPr algn="l"/>
                      <a:r>
                        <a:rPr sz="919" b="0">
                          <a:solidFill>
                            <a:srgbClr val="2A3441"/>
                          </a:solidFill>
                          <a:latin typeface="Segoe UI"/>
                        </a:rPr>
                        <a:t>Web application attack</a:t>
                      </a:r>
                    </a:p>
                  </a:txBody>
                  <a:tcPr marL="82296" marR="82296" marT="13716" marB="13716" anchor="ctr">
                    <a:solidFill>
                      <a:srgbClr val="FFFFFF"/>
                    </a:solidFill>
                  </a:tcPr>
                </a:tc>
                <a:tc>
                  <a:txBody>
                    <a:bodyPr wrap="square"/>
                    <a:lstStyle/>
                    <a:p>
                      <a:pPr algn="r"/>
                      <a:r>
                        <a:rPr sz="919" b="0">
                          <a:solidFill>
                            <a:srgbClr val="2A3441"/>
                          </a:solidFill>
                          <a:latin typeface="Consolas"/>
                        </a:rPr>
                        <a:t>8.0</a:t>
                      </a:r>
                    </a:p>
                  </a:txBody>
                  <a:tcPr marL="82296" marR="82296" marT="13716" marB="13716" anchor="ctr">
                    <a:solidFill>
                      <a:srgbClr val="FFFFFF"/>
                    </a:solidFill>
                  </a:tcPr>
                </a:tc>
                <a:tc>
                  <a:txBody>
                    <a:bodyPr wrap="square"/>
                    <a:lstStyle/>
                    <a:p>
                      <a:pPr algn="r"/>
                      <a:r>
                        <a:rPr sz="919" b="0">
                          <a:solidFill>
                            <a:srgbClr val="2A3441"/>
                          </a:solidFill>
                          <a:latin typeface="Consolas"/>
                        </a:rPr>
                        <a:t>0.80</a:t>
                      </a:r>
                    </a:p>
                  </a:txBody>
                  <a:tcPr marL="82296" marR="82296" marT="13716" marB="13716" anchor="ctr">
                    <a:solidFill>
                      <a:srgbClr val="FFFFFF"/>
                    </a:solidFill>
                  </a:tcPr>
                </a:tc>
              </a:tr>
              <a:tr h="310896">
                <a:tc>
                  <a:txBody>
                    <a:bodyPr wrap="square"/>
                    <a:lstStyle/>
                    <a:p>
                      <a:pPr algn="l"/>
                      <a:r>
                        <a:rPr sz="919" b="0">
                          <a:solidFill>
                            <a:srgbClr val="2A3441"/>
                          </a:solidFill>
                          <a:latin typeface="Segoe UI"/>
                        </a:rPr>
                        <a:t>Brute Force (attempted)</a:t>
                      </a:r>
                    </a:p>
                  </a:txBody>
                  <a:tcPr marL="82296" marR="82296" marT="13716" marB="13716" anchor="ctr">
                    <a:solidFill>
                      <a:srgbClr val="F4F7FB"/>
                    </a:solidFill>
                  </a:tcPr>
                </a:tc>
                <a:tc>
                  <a:txBody>
                    <a:bodyPr wrap="square"/>
                    <a:lstStyle/>
                    <a:p>
                      <a:pPr algn="r"/>
                      <a:r>
                        <a:rPr sz="919" b="0">
                          <a:solidFill>
                            <a:srgbClr val="2A3441"/>
                          </a:solidFill>
                          <a:latin typeface="Consolas"/>
                        </a:rPr>
                        <a:t>5.0</a:t>
                      </a:r>
                    </a:p>
                  </a:txBody>
                  <a:tcPr marL="82296" marR="82296" marT="13716" marB="13716" anchor="ctr">
                    <a:solidFill>
                      <a:srgbClr val="F4F7FB"/>
                    </a:solidFill>
                  </a:tcPr>
                </a:tc>
                <a:tc>
                  <a:txBody>
                    <a:bodyPr wrap="square"/>
                    <a:lstStyle/>
                    <a:p>
                      <a:pPr algn="r"/>
                      <a:r>
                        <a:rPr sz="919" b="0">
                          <a:solidFill>
                            <a:srgbClr val="2A3441"/>
                          </a:solidFill>
                          <a:latin typeface="Consolas"/>
                        </a:rPr>
                        <a:t>0.50</a:t>
                      </a:r>
                    </a:p>
                  </a:txBody>
                  <a:tcPr marL="82296" marR="82296" marT="13716" marB="13716" anchor="ctr">
                    <a:solidFill>
                      <a:srgbClr val="F4F7FB"/>
                    </a:solidFill>
                  </a:tcPr>
                </a:tc>
                <a:tc>
                  <a:txBody>
                    <a:bodyPr wrap="square"/>
                    <a:lstStyle/>
                    <a:p>
                      <a:pPr algn="l"/>
                      <a:r>
                        <a:rPr sz="919" b="0">
                          <a:solidFill>
                            <a:srgbClr val="2A3441"/>
                          </a:solidFill>
                          <a:latin typeface="Segoe UI"/>
                        </a:rPr>
                        <a:t>Botnet / C2</a:t>
                      </a:r>
                    </a:p>
                  </a:txBody>
                  <a:tcPr marL="82296" marR="82296" marT="13716" marB="13716" anchor="ctr">
                    <a:solidFill>
                      <a:srgbClr val="F4F7FB"/>
                    </a:solidFill>
                  </a:tcPr>
                </a:tc>
                <a:tc>
                  <a:txBody>
                    <a:bodyPr wrap="square"/>
                    <a:lstStyle/>
                    <a:p>
                      <a:pPr algn="r"/>
                      <a:r>
                        <a:rPr sz="919" b="0">
                          <a:solidFill>
                            <a:srgbClr val="2A3441"/>
                          </a:solidFill>
                          <a:latin typeface="Consolas"/>
                        </a:rPr>
                        <a:t>9.0</a:t>
                      </a:r>
                    </a:p>
                  </a:txBody>
                  <a:tcPr marL="82296" marR="82296" marT="13716" marB="13716" anchor="ctr">
                    <a:solidFill>
                      <a:srgbClr val="F4F7FB"/>
                    </a:solidFill>
                  </a:tcPr>
                </a:tc>
                <a:tc>
                  <a:txBody>
                    <a:bodyPr wrap="square"/>
                    <a:lstStyle/>
                    <a:p>
                      <a:pPr algn="r"/>
                      <a:r>
                        <a:rPr sz="919" b="0">
                          <a:solidFill>
                            <a:srgbClr val="2A3441"/>
                          </a:solidFill>
                          <a:latin typeface="Consolas"/>
                        </a:rPr>
                        <a:t>0.90</a:t>
                      </a:r>
                    </a:p>
                  </a:txBody>
                  <a:tcPr marL="82296" marR="82296" marT="13716" marB="13716" anchor="ctr">
                    <a:solidFill>
                      <a:srgbClr val="F4F7FB"/>
                    </a:solidFill>
                  </a:tcPr>
                </a:tc>
              </a:tr>
              <a:tr h="310896">
                <a:tc>
                  <a:txBody>
                    <a:bodyPr wrap="square"/>
                    <a:lstStyle/>
                    <a:p>
                      <a:pPr algn="l"/>
                      <a:r>
                        <a:rPr sz="919" b="0">
                          <a:solidFill>
                            <a:srgbClr val="2A3441"/>
                          </a:solidFill>
                          <a:latin typeface="Segoe UI"/>
                        </a:rPr>
                        <a:t>Denial of service</a:t>
                      </a:r>
                    </a:p>
                  </a:txBody>
                  <a:tcPr marL="82296" marR="82296" marT="13716" marB="13716" anchor="ctr">
                    <a:solidFill>
                      <a:srgbClr val="FFFFFF"/>
                    </a:solidFill>
                  </a:tcPr>
                </a:tc>
                <a:tc>
                  <a:txBody>
                    <a:bodyPr wrap="square"/>
                    <a:lstStyle/>
                    <a:p>
                      <a:pPr algn="r"/>
                      <a:r>
                        <a:rPr sz="919" b="0">
                          <a:solidFill>
                            <a:srgbClr val="2A3441"/>
                          </a:solidFill>
                          <a:latin typeface="Consolas"/>
                        </a:rPr>
                        <a:t>6.5</a:t>
                      </a:r>
                    </a:p>
                  </a:txBody>
                  <a:tcPr marL="82296" marR="82296" marT="13716" marB="13716" anchor="ctr">
                    <a:solidFill>
                      <a:srgbClr val="FFFFFF"/>
                    </a:solidFill>
                  </a:tcPr>
                </a:tc>
                <a:tc>
                  <a:txBody>
                    <a:bodyPr wrap="square"/>
                    <a:lstStyle/>
                    <a:p>
                      <a:pPr algn="r"/>
                      <a:r>
                        <a:rPr sz="919" b="0">
                          <a:solidFill>
                            <a:srgbClr val="2A3441"/>
                          </a:solidFill>
                          <a:latin typeface="Consolas"/>
                        </a:rPr>
                        <a:t>0.65</a:t>
                      </a:r>
                    </a:p>
                  </a:txBody>
                  <a:tcPr marL="82296" marR="82296" marT="13716" marB="13716" anchor="ctr">
                    <a:solidFill>
                      <a:srgbClr val="FFFFFF"/>
                    </a:solidFill>
                  </a:tcPr>
                </a:tc>
                <a:tc>
                  <a:txBody>
                    <a:bodyPr wrap="square"/>
                    <a:lstStyle/>
                    <a:p>
                      <a:pPr algn="l"/>
                      <a:r>
                        <a:rPr sz="919" b="0">
                          <a:solidFill>
                            <a:srgbClr val="2A3441"/>
                          </a:solidFill>
                          <a:latin typeface="Segoe UI"/>
                        </a:rPr>
                        <a:t>Infiltration / lateral</a:t>
                      </a:r>
                    </a:p>
                  </a:txBody>
                  <a:tcPr marL="82296" marR="82296" marT="13716" marB="13716" anchor="ctr">
                    <a:solidFill>
                      <a:srgbClr val="FFFFFF"/>
                    </a:solidFill>
                  </a:tcPr>
                </a:tc>
                <a:tc>
                  <a:txBody>
                    <a:bodyPr wrap="square"/>
                    <a:lstStyle/>
                    <a:p>
                      <a:pPr algn="r"/>
                      <a:r>
                        <a:rPr sz="919" b="0">
                          <a:solidFill>
                            <a:srgbClr val="2A3441"/>
                          </a:solidFill>
                          <a:latin typeface="Consolas"/>
                        </a:rPr>
                        <a:t>9.5</a:t>
                      </a:r>
                    </a:p>
                  </a:txBody>
                  <a:tcPr marL="82296" marR="82296" marT="13716" marB="13716" anchor="ctr">
                    <a:solidFill>
                      <a:srgbClr val="FFFFFF"/>
                    </a:solidFill>
                  </a:tcPr>
                </a:tc>
                <a:tc>
                  <a:txBody>
                    <a:bodyPr wrap="square"/>
                    <a:lstStyle/>
                    <a:p>
                      <a:pPr algn="r"/>
                      <a:r>
                        <a:rPr sz="919" b="0">
                          <a:solidFill>
                            <a:srgbClr val="2A3441"/>
                          </a:solidFill>
                          <a:latin typeface="Consolas"/>
                        </a:rPr>
                        <a:t>0.95</a:t>
                      </a:r>
                    </a:p>
                  </a:txBody>
                  <a:tcPr marL="82296" marR="82296" marT="13716" marB="13716" anchor="ctr">
                    <a:solidFill>
                      <a:srgbClr val="FFFFFF"/>
                    </a:solidFill>
                  </a:tcPr>
                </a:tc>
              </a:tr>
              <a:tr h="310896">
                <a:tc>
                  <a:txBody>
                    <a:bodyPr wrap="square"/>
                    <a:lstStyle/>
                    <a:p>
                      <a:pPr algn="l"/>
                      <a:r>
                        <a:rPr sz="919" b="0">
                          <a:solidFill>
                            <a:srgbClr val="2A3441"/>
                          </a:solidFill>
                          <a:latin typeface="Segoe UI"/>
                        </a:rPr>
                        <a:t>Distributed denial of service</a:t>
                      </a:r>
                    </a:p>
                  </a:txBody>
                  <a:tcPr marL="82296" marR="82296" marT="13716" marB="13716" anchor="ctr">
                    <a:solidFill>
                      <a:srgbClr val="F4F7FB"/>
                    </a:solidFill>
                  </a:tcPr>
                </a:tc>
                <a:tc>
                  <a:txBody>
                    <a:bodyPr wrap="square"/>
                    <a:lstStyle/>
                    <a:p>
                      <a:pPr algn="r"/>
                      <a:r>
                        <a:rPr sz="919" b="0">
                          <a:solidFill>
                            <a:srgbClr val="2A3441"/>
                          </a:solidFill>
                          <a:latin typeface="Consolas"/>
                        </a:rPr>
                        <a:t>7.5</a:t>
                      </a:r>
                    </a:p>
                  </a:txBody>
                  <a:tcPr marL="82296" marR="82296" marT="13716" marB="13716" anchor="ctr">
                    <a:solidFill>
                      <a:srgbClr val="F4F7FB"/>
                    </a:solidFill>
                  </a:tcPr>
                </a:tc>
                <a:tc>
                  <a:txBody>
                    <a:bodyPr wrap="square"/>
                    <a:lstStyle/>
                    <a:p>
                      <a:pPr algn="r"/>
                      <a:r>
                        <a:rPr sz="919" b="0">
                          <a:solidFill>
                            <a:srgbClr val="2A3441"/>
                          </a:solidFill>
                          <a:latin typeface="Consolas"/>
                        </a:rPr>
                        <a:t>0.75</a:t>
                      </a:r>
                    </a:p>
                  </a:txBody>
                  <a:tcPr marL="82296" marR="82296" marT="13716" marB="13716" anchor="ctr">
                    <a:solidFill>
                      <a:srgbClr val="F4F7FB"/>
                    </a:solidFill>
                  </a:tcPr>
                </a:tc>
                <a:tc>
                  <a:txBody>
                    <a:bodyPr wrap="square"/>
                    <a:lstStyle/>
                    <a:p>
                      <a:pPr algn="l"/>
                      <a:r>
                        <a:rPr sz="919" b="0">
                          <a:solidFill>
                            <a:srgbClr val="2A3441"/>
                          </a:solidFill>
                          <a:latin typeface="Segoe UI"/>
                        </a:rPr>
                        <a:t/>
                      </a:r>
                    </a:p>
                  </a:txBody>
                  <a:tcPr marL="82296" marR="82296" marT="13716" marB="13716" anchor="ctr">
                    <a:solidFill>
                      <a:srgbClr val="F4F7FB"/>
                    </a:solidFill>
                  </a:tcPr>
                </a:tc>
                <a:tc>
                  <a:txBody>
                    <a:bodyPr wrap="square"/>
                    <a:lstStyle/>
                    <a:p>
                      <a:pPr algn="r"/>
                      <a:r>
                        <a:rPr sz="919" b="0">
                          <a:solidFill>
                            <a:srgbClr val="2A3441"/>
                          </a:solidFill>
                          <a:latin typeface="Consolas"/>
                        </a:rPr>
                        <a:t/>
                      </a:r>
                    </a:p>
                  </a:txBody>
                  <a:tcPr marL="82296" marR="82296" marT="13716" marB="13716" anchor="ctr">
                    <a:solidFill>
                      <a:srgbClr val="F4F7FB"/>
                    </a:solidFill>
                  </a:tcPr>
                </a:tc>
                <a:tc>
                  <a:txBody>
                    <a:bodyPr wrap="square"/>
                    <a:lstStyle/>
                    <a:p>
                      <a:pPr algn="r"/>
                      <a:r>
                        <a:rPr sz="919" b="0">
                          <a:solidFill>
                            <a:srgbClr val="2A3441"/>
                          </a:solidFill>
                          <a:latin typeface="Consolas"/>
                        </a:rPr>
                        <a:t/>
                      </a:r>
                    </a:p>
                  </a:txBody>
                  <a:tcPr marL="82296" marR="82296" marT="13716" marB="13716" anchor="ctr">
                    <a:solidFill>
                      <a:srgbClr val="F4F7FB"/>
                    </a:solidFill>
                  </a:tcPr>
                </a:tc>
              </a:tr>
            </a:tbl>
          </a:graphicData>
        </a:graphic>
      </p:graphicFrame>
      <p:sp>
        <p:nvSpPr>
          <p:cNvPr id="31" name="TextBox 30"/>
          <p:cNvSpPr txBox="1"/>
          <p:nvPr/>
        </p:nvSpPr>
        <p:spPr>
          <a:xfrm>
            <a:off x="566928" y="6108192"/>
            <a:ext cx="11057839" cy="457200"/>
          </a:xfrm>
          <a:prstGeom prst="rect">
            <a:avLst/>
          </a:prstGeom>
          <a:noFill/>
        </p:spPr>
        <p:txBody>
          <a:bodyPr wrap="square" anchor="t" lIns="0" rIns="0" tIns="0" bIns="0">
            <a:spAutoFit/>
          </a:bodyPr>
          <a:lstStyle/>
          <a:p>
            <a:pPr algn="l">
              <a:lnSpc>
                <a:spcPct val="118000"/>
              </a:lnSpc>
              <a:spcBef>
                <a:spcPts val="0"/>
              </a:spcBef>
              <a:spcAft>
                <a:spcPts val="0"/>
              </a:spcAft>
            </a:pPr>
            <a:r>
              <a:rPr sz="869" b="0" i="0">
                <a:solidFill>
                  <a:srgbClr val="6B7684"/>
                </a:solidFill>
                <a:latin typeface="Segoe UI"/>
              </a:rPr>
              <a:t>The chart is configuration, not code: config/severity-chart.json, versioned sev-1, validated on load, and every run records the version it used. Each value is anchored on three published scales — Suricata classtype priority, the MITRE ATT&amp;CK tactic stage, and the CVSS v3.1 bands — so any number can be defended rather than asserted.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EVALUATION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did the evaluation actually measure?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runs of the same database — one left alone, two given the same 40 analyst verdicts, chosen by a rule written down before we ran anything.</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38</a:t>
            </a:r>
          </a:p>
        </p:txBody>
      </p:sp>
      <p:graphicFrame>
        <p:nvGraphicFramePr>
          <p:cNvPr id="9" name="Table 8"/>
          <p:cNvGraphicFramePr>
            <a:graphicFrameLocks noGrp="1"/>
          </p:cNvGraphicFramePr>
          <p:nvPr/>
        </p:nvGraphicFramePr>
        <p:xfrm>
          <a:off x="566928" y="1883664"/>
          <a:ext cx="11055096" cy="2267712"/>
        </p:xfrm>
        <a:graphic>
          <a:graphicData uri="http://schemas.openxmlformats.org/drawingml/2006/table">
            <a:tbl>
              <a:tblPr firstRow="0" bandRow="0"/>
              <a:tblGrid>
                <a:gridCol w="3246120"/>
                <a:gridCol w="2606040"/>
                <a:gridCol w="2606040"/>
                <a:gridCol w="2596896"/>
              </a:tblGrid>
              <a:tr h="292608">
                <a:tc>
                  <a:txBody>
                    <a:bodyPr wrap="square"/>
                    <a:lstStyle/>
                    <a:p>
                      <a:pPr algn="l"/>
                      <a:r>
                        <a:rPr sz="880" b="1">
                          <a:solidFill>
                            <a:srgbClr val="FFFFFF"/>
                          </a:solidFill>
                          <a:latin typeface="Segoe UI"/>
                        </a:rPr>
                        <a:t/>
                      </a:r>
                    </a:p>
                  </a:txBody>
                  <a:tcPr marL="82296" marR="82296" marT="13716" marB="13716" anchor="ctr">
                    <a:solidFill>
                      <a:srgbClr val="0F2A47"/>
                    </a:solidFill>
                  </a:tcPr>
                </a:tc>
                <a:tc>
                  <a:txBody>
                    <a:bodyPr wrap="square"/>
                    <a:lstStyle/>
                    <a:p>
                      <a:pPr algn="l"/>
                      <a:r>
                        <a:rPr sz="880" b="1">
                          <a:solidFill>
                            <a:srgbClr val="FFFFFF"/>
                          </a:solidFill>
                          <a:latin typeface="Segoe UI"/>
                        </a:rPr>
                        <a:t>A — control</a:t>
                      </a:r>
                    </a:p>
                  </a:txBody>
                  <a:tcPr marL="82296" marR="82296" marT="13716" marB="13716" anchor="ctr">
                    <a:solidFill>
                      <a:srgbClr val="0F2A47"/>
                    </a:solidFill>
                  </a:tcPr>
                </a:tc>
                <a:tc>
                  <a:txBody>
                    <a:bodyPr wrap="square"/>
                    <a:lstStyle/>
                    <a:p>
                      <a:pPr algn="l"/>
                      <a:r>
                        <a:rPr sz="880" b="1">
                          <a:solidFill>
                            <a:srgbClr val="FFFFFF"/>
                          </a:solidFill>
                          <a:latin typeface="Segoe UI"/>
                        </a:rPr>
                        <a:t>B — treatment</a:t>
                      </a:r>
                    </a:p>
                  </a:txBody>
                  <a:tcPr marL="82296" marR="82296" marT="13716" marB="13716" anchor="ctr">
                    <a:solidFill>
                      <a:srgbClr val="0F2A47"/>
                    </a:solidFill>
                  </a:tcPr>
                </a:tc>
                <a:tc>
                  <a:txBody>
                    <a:bodyPr wrap="square"/>
                    <a:lstStyle/>
                    <a:p>
                      <a:pPr algn="l"/>
                      <a:r>
                        <a:rPr sz="880" b="1">
                          <a:solidFill>
                            <a:srgbClr val="FFFFFF"/>
                          </a:solidFill>
                          <a:latin typeface="Segoe UI"/>
                        </a:rPr>
                        <a:t>C — guardrails off</a:t>
                      </a:r>
                    </a:p>
                  </a:txBody>
                  <a:tcPr marL="82296" marR="82296" marT="13716" marB="13716" anchor="ctr">
                    <a:solidFill>
                      <a:srgbClr val="0F2A47"/>
                    </a:solidFill>
                  </a:tcPr>
                </a:tc>
              </a:tr>
              <a:tr h="329184">
                <a:tc>
                  <a:txBody>
                    <a:bodyPr wrap="square"/>
                    <a:lstStyle/>
                    <a:p>
                      <a:pPr algn="l"/>
                      <a:r>
                        <a:rPr sz="940" b="0">
                          <a:solidFill>
                            <a:srgbClr val="2A3441"/>
                          </a:solidFill>
                          <a:latin typeface="Segoe UI"/>
                        </a:rPr>
                        <a:t>Verdicts applied</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c>
                  <a:txBody>
                    <a:bodyPr wrap="square"/>
                    <a:lstStyle/>
                    <a:p>
                      <a:pPr algn="l"/>
                      <a:r>
                        <a:rPr sz="940" b="0">
                          <a:solidFill>
                            <a:srgbClr val="2A3441"/>
                          </a:solidFill>
                          <a:latin typeface="Consolas"/>
                        </a:rPr>
                        <a:t>40</a:t>
                      </a:r>
                    </a:p>
                  </a:txBody>
                  <a:tcPr marL="82296" marR="82296" marT="13716" marB="13716" anchor="ctr">
                    <a:solidFill>
                      <a:srgbClr val="FFFFFF"/>
                    </a:solidFill>
                  </a:tcPr>
                </a:tc>
                <a:tc>
                  <a:txBody>
                    <a:bodyPr wrap="square"/>
                    <a:lstStyle/>
                    <a:p>
                      <a:pPr algn="l"/>
                      <a:r>
                        <a:rPr sz="940" b="0">
                          <a:solidFill>
                            <a:srgbClr val="2A3441"/>
                          </a:solidFill>
                          <a:latin typeface="Consolas"/>
                        </a:rPr>
                        <a:t>40</a:t>
                      </a:r>
                    </a:p>
                  </a:txBody>
                  <a:tcPr marL="82296" marR="82296" marT="13716" marB="13716" anchor="ctr">
                    <a:solidFill>
                      <a:srgbClr val="FFFFFF"/>
                    </a:solidFill>
                  </a:tcPr>
                </a:tc>
              </a:tr>
              <a:tr h="329184">
                <a:tc>
                  <a:txBody>
                    <a:bodyPr wrap="square"/>
                    <a:lstStyle/>
                    <a:p>
                      <a:pPr algn="l"/>
                      <a:r>
                        <a:rPr sz="940" b="0">
                          <a:solidFill>
                            <a:srgbClr val="2A3441"/>
                          </a:solidFill>
                          <a:latin typeface="Segoe UI"/>
                        </a:rPr>
                        <a:t>Precision @10 / @50 / @200</a:t>
                      </a:r>
                    </a:p>
                  </a:txBody>
                  <a:tcPr marL="82296" marR="82296" marT="13716" marB="13716" anchor="ctr">
                    <a:solidFill>
                      <a:srgbClr val="F4F7FB"/>
                    </a:solidFill>
                  </a:tcPr>
                </a:tc>
                <a:tc>
                  <a:txBody>
                    <a:bodyPr wrap="square"/>
                    <a:lstStyle/>
                    <a:p>
                      <a:pPr algn="l"/>
                      <a:r>
                        <a:rPr sz="940" b="0">
                          <a:solidFill>
                            <a:srgbClr val="2A3441"/>
                          </a:solidFill>
                          <a:latin typeface="Consolas"/>
                        </a:rPr>
                        <a:t>1.000 / 1.000 / 1.000</a:t>
                      </a:r>
                    </a:p>
                  </a:txBody>
                  <a:tcPr marL="82296" marR="82296" marT="13716" marB="13716" anchor="ctr">
                    <a:solidFill>
                      <a:srgbClr val="F4F7FB"/>
                    </a:solidFill>
                  </a:tcPr>
                </a:tc>
                <a:tc>
                  <a:txBody>
                    <a:bodyPr wrap="square"/>
                    <a:lstStyle/>
                    <a:p>
                      <a:pPr algn="l"/>
                      <a:r>
                        <a:rPr sz="940" b="0">
                          <a:solidFill>
                            <a:srgbClr val="2A3441"/>
                          </a:solidFill>
                          <a:latin typeface="Consolas"/>
                        </a:rPr>
                        <a:t>1.000 / 1.000 / 0.990</a:t>
                      </a:r>
                    </a:p>
                  </a:txBody>
                  <a:tcPr marL="82296" marR="82296" marT="13716" marB="13716" anchor="ctr">
                    <a:solidFill>
                      <a:srgbClr val="F4F7FB"/>
                    </a:solidFill>
                  </a:tcPr>
                </a:tc>
                <a:tc>
                  <a:txBody>
                    <a:bodyPr wrap="square"/>
                    <a:lstStyle/>
                    <a:p>
                      <a:pPr algn="l"/>
                      <a:r>
                        <a:rPr sz="940" b="0">
                          <a:solidFill>
                            <a:srgbClr val="2A3441"/>
                          </a:solidFill>
                          <a:latin typeface="Consolas"/>
                        </a:rPr>
                        <a:t>1.000 / 1.000 / 0.990</a:t>
                      </a:r>
                    </a:p>
                  </a:txBody>
                  <a:tcPr marL="82296" marR="82296" marT="13716" marB="13716" anchor="ctr">
                    <a:solidFill>
                      <a:srgbClr val="F4F7FB"/>
                    </a:solidFill>
                  </a:tcPr>
                </a:tc>
              </a:tr>
              <a:tr h="329184">
                <a:tc>
                  <a:txBody>
                    <a:bodyPr wrap="square"/>
                    <a:lstStyle/>
                    <a:p>
                      <a:pPr algn="l"/>
                      <a:r>
                        <a:rPr sz="940" b="0">
                          <a:solidFill>
                            <a:srgbClr val="2A3441"/>
                          </a:solidFill>
                          <a:latin typeface="Segoe UI"/>
                        </a:rPr>
                        <a:t>False positives in the top 50</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r>
              <a:tr h="329184">
                <a:tc>
                  <a:txBody>
                    <a:bodyPr wrap="square"/>
                    <a:lstStyle/>
                    <a:p>
                      <a:pPr algn="l"/>
                      <a:r>
                        <a:rPr sz="940" b="0">
                          <a:solidFill>
                            <a:srgbClr val="2A3441"/>
                          </a:solidFill>
                          <a:latin typeface="Segoe UI"/>
                        </a:rPr>
                        <a:t>Critical floor breaches</a:t>
                      </a:r>
                    </a:p>
                  </a:txBody>
                  <a:tcPr marL="82296" marR="82296" marT="13716" marB="13716" anchor="ctr">
                    <a:solidFill>
                      <a:srgbClr val="F4F7FB"/>
                    </a:solidFill>
                  </a:tcPr>
                </a:tc>
                <a:tc>
                  <a:txBody>
                    <a:bodyPr wrap="square"/>
                    <a:lstStyle/>
                    <a:p>
                      <a:pPr algn="l"/>
                      <a:r>
                        <a:rPr sz="940" b="0">
                          <a:solidFill>
                            <a:srgbClr val="2A3441"/>
                          </a:solidFill>
                          <a:latin typeface="Consolas"/>
                        </a:rPr>
                        <a:t>0</a:t>
                      </a:r>
                    </a:p>
                  </a:txBody>
                  <a:tcPr marL="82296" marR="82296" marT="13716" marB="13716" anchor="ctr">
                    <a:solidFill>
                      <a:srgbClr val="F4F7FB"/>
                    </a:solidFill>
                  </a:tcPr>
                </a:tc>
                <a:tc>
                  <a:txBody>
                    <a:bodyPr wrap="square"/>
                    <a:lstStyle/>
                    <a:p>
                      <a:pPr algn="l"/>
                      <a:r>
                        <a:rPr sz="940" b="0">
                          <a:solidFill>
                            <a:srgbClr val="2A3441"/>
                          </a:solidFill>
                          <a:latin typeface="Consolas"/>
                        </a:rPr>
                        <a:t>0</a:t>
                      </a:r>
                    </a:p>
                  </a:txBody>
                  <a:tcPr marL="82296" marR="82296" marT="13716" marB="13716" anchor="ctr">
                    <a:solidFill>
                      <a:srgbClr val="F4F7FB"/>
                    </a:solidFill>
                  </a:tcPr>
                </a:tc>
                <a:tc>
                  <a:txBody>
                    <a:bodyPr wrap="square"/>
                    <a:lstStyle/>
                    <a:p>
                      <a:pPr algn="l"/>
                      <a:r>
                        <a:rPr sz="940" b="0">
                          <a:solidFill>
                            <a:srgbClr val="2A3441"/>
                          </a:solidFill>
                          <a:latin typeface="Consolas"/>
                        </a:rPr>
                        <a:t>0</a:t>
                      </a:r>
                    </a:p>
                  </a:txBody>
                  <a:tcPr marL="82296" marR="82296" marT="13716" marB="13716" anchor="ctr">
                    <a:solidFill>
                      <a:srgbClr val="F4F7FB"/>
                    </a:solidFill>
                  </a:tcPr>
                </a:tc>
              </a:tr>
              <a:tr h="329184">
                <a:tc>
                  <a:txBody>
                    <a:bodyPr wrap="square"/>
                    <a:lstStyle/>
                    <a:p>
                      <a:pPr algn="l"/>
                      <a:r>
                        <a:rPr sz="940" b="0">
                          <a:solidFill>
                            <a:srgbClr val="2A3441"/>
                          </a:solidFill>
                          <a:latin typeface="Segoe UI"/>
                        </a:rPr>
                        <a:t>True positives suppressed</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c>
                  <a:txBody>
                    <a:bodyPr wrap="square"/>
                    <a:lstStyle/>
                    <a:p>
                      <a:pPr algn="l"/>
                      <a:r>
                        <a:rPr sz="940" b="0">
                          <a:solidFill>
                            <a:srgbClr val="2A3441"/>
                          </a:solidFill>
                          <a:latin typeface="Consolas"/>
                        </a:rPr>
                        <a:t>0</a:t>
                      </a:r>
                    </a:p>
                  </a:txBody>
                  <a:tcPr marL="82296" marR="82296" marT="13716" marB="13716" anchor="ctr">
                    <a:solidFill>
                      <a:srgbClr val="FFFFFF"/>
                    </a:solidFill>
                  </a:tcPr>
                </a:tc>
              </a:tr>
              <a:tr h="329184">
                <a:tc>
                  <a:txBody>
                    <a:bodyPr wrap="square"/>
                    <a:lstStyle/>
                    <a:p>
                      <a:pPr algn="l"/>
                      <a:r>
                        <a:rPr sz="940" b="0">
                          <a:solidFill>
                            <a:srgbClr val="2A3441"/>
                          </a:solidFill>
                          <a:latin typeface="Segoe UI"/>
                        </a:rPr>
                        <a:t>Detection metrics</a:t>
                      </a:r>
                    </a:p>
                  </a:txBody>
                  <a:tcPr marL="82296" marR="82296" marT="13716" marB="13716" anchor="ctr">
                    <a:solidFill>
                      <a:srgbClr val="F4F7FB"/>
                    </a:solidFill>
                  </a:tcPr>
                </a:tc>
                <a:tc>
                  <a:txBody>
                    <a:bodyPr wrap="square"/>
                    <a:lstStyle/>
                    <a:p>
                      <a:pPr algn="l"/>
                      <a:r>
                        <a:rPr sz="940" b="0">
                          <a:solidFill>
                            <a:srgbClr val="2A3441"/>
                          </a:solidFill>
                          <a:latin typeface="Consolas"/>
                        </a:rPr>
                        <a:t>identical</a:t>
                      </a:r>
                    </a:p>
                  </a:txBody>
                  <a:tcPr marL="82296" marR="82296" marT="13716" marB="13716" anchor="ctr">
                    <a:solidFill>
                      <a:srgbClr val="F4F7FB"/>
                    </a:solidFill>
                  </a:tcPr>
                </a:tc>
                <a:tc>
                  <a:txBody>
                    <a:bodyPr wrap="square"/>
                    <a:lstStyle/>
                    <a:p>
                      <a:pPr algn="l"/>
                      <a:r>
                        <a:rPr sz="940" b="0">
                          <a:solidFill>
                            <a:srgbClr val="2A3441"/>
                          </a:solidFill>
                          <a:latin typeface="Consolas"/>
                        </a:rPr>
                        <a:t>identical</a:t>
                      </a:r>
                    </a:p>
                  </a:txBody>
                  <a:tcPr marL="82296" marR="82296" marT="13716" marB="13716" anchor="ctr">
                    <a:solidFill>
                      <a:srgbClr val="F4F7FB"/>
                    </a:solidFill>
                  </a:tcPr>
                </a:tc>
                <a:tc>
                  <a:txBody>
                    <a:bodyPr wrap="square"/>
                    <a:lstStyle/>
                    <a:p>
                      <a:pPr algn="l"/>
                      <a:r>
                        <a:rPr sz="940" b="0">
                          <a:solidFill>
                            <a:srgbClr val="2A3441"/>
                          </a:solidFill>
                          <a:latin typeface="Consolas"/>
                        </a:rPr>
                        <a:t>identical</a:t>
                      </a:r>
                    </a:p>
                  </a:txBody>
                  <a:tcPr marL="82296" marR="82296" marT="13716" marB="13716" anchor="ctr">
                    <a:solidFill>
                      <a:srgbClr val="F4F7FB"/>
                    </a:solidFill>
                  </a:tcPr>
                </a:tc>
              </a:tr>
            </a:tbl>
          </a:graphicData>
        </a:graphic>
      </p:graphicFrame>
      <p:sp>
        <p:nvSpPr>
          <p:cNvPr id="10" name="Rectangle 9"/>
          <p:cNvSpPr/>
          <p:nvPr/>
        </p:nvSpPr>
        <p:spPr>
          <a:xfrm>
            <a:off x="566928" y="4133087"/>
            <a:ext cx="3539642" cy="140817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4133087"/>
            <a:ext cx="50292" cy="140817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4242816"/>
            <a:ext cx="3228746" cy="1207008"/>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What makes it trustworthy</a:t>
            </a:r>
          </a:p>
          <a:p>
            <a:pPr algn="l">
              <a:lnSpc>
                <a:spcPct val="120000"/>
              </a:lnSpc>
              <a:spcBef>
                <a:spcPts val="0"/>
              </a:spcBef>
              <a:spcAft>
                <a:spcPts val="0"/>
              </a:spcAft>
            </a:pPr>
            <a:r>
              <a:rPr sz="919" b="0" i="0">
                <a:solidFill>
                  <a:srgbClr val="2A3441"/>
                </a:solidFill>
                <a:latin typeface="Segoe UI"/>
              </a:rPr>
              <a:t>The arms are byte copies of one database, so dataset, model, rules and seed are identical by construction. The sequence comes from a rule written down before any run — an earlier plan version said to strengthen it until it gave the wanted answer, and that was struck out.</a:t>
            </a:r>
          </a:p>
        </p:txBody>
      </p:sp>
      <p:sp>
        <p:nvSpPr>
          <p:cNvPr id="13" name="Rectangle 12"/>
          <p:cNvSpPr/>
          <p:nvPr/>
        </p:nvSpPr>
        <p:spPr>
          <a:xfrm>
            <a:off x="4326026" y="4133087"/>
            <a:ext cx="3539642" cy="140817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26026" y="4133087"/>
            <a:ext cx="50292" cy="1408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08906" y="4242816"/>
            <a:ext cx="3228746" cy="1207008"/>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Learning works and does not leak</a:t>
            </a:r>
          </a:p>
          <a:p>
            <a:pPr algn="l">
              <a:lnSpc>
                <a:spcPct val="120000"/>
              </a:lnSpc>
              <a:spcBef>
                <a:spcPts val="0"/>
              </a:spcBef>
              <a:spcAft>
                <a:spcPts val="0"/>
              </a:spcAft>
            </a:pPr>
            <a:r>
              <a:rPr sz="919" b="0" i="0">
                <a:solidFill>
                  <a:srgbClr val="2A3441"/>
                </a:solidFill>
                <a:latin typeface="Segoe UI"/>
              </a:rPr>
              <a:t>All 8 judged families opened at agreement 1.000. Of 805 untouched members, 205 were adjusted and 198 true positives promoted. Of the 4,155 alerts outside any judged family, 0 were adjusted.</a:t>
            </a:r>
          </a:p>
        </p:txBody>
      </p:sp>
      <p:sp>
        <p:nvSpPr>
          <p:cNvPr id="16" name="Rectangle 15"/>
          <p:cNvSpPr/>
          <p:nvPr/>
        </p:nvSpPr>
        <p:spPr>
          <a:xfrm>
            <a:off x="8085124" y="4133087"/>
            <a:ext cx="3539642" cy="140817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85124" y="4133087"/>
            <a:ext cx="50292" cy="14081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68004" y="4242816"/>
            <a:ext cx="3228746" cy="1207008"/>
          </a:xfrm>
          <a:prstGeom prst="rect">
            <a:avLst/>
          </a:prstGeom>
          <a:noFill/>
        </p:spPr>
        <p:txBody>
          <a:bodyPr wrap="square" anchor="t" lIns="0" rIns="0" tIns="0" bIns="0">
            <a:spAutoFit/>
          </a:bodyPr>
          <a:lstStyle/>
          <a:p>
            <a:pPr algn="l">
              <a:lnSpc>
                <a:spcPct val="105000"/>
              </a:lnSpc>
              <a:spcBef>
                <a:spcPts val="0"/>
              </a:spcBef>
              <a:spcAft>
                <a:spcPts val="200"/>
              </a:spcAft>
            </a:pPr>
            <a:r>
              <a:rPr sz="1050" b="1" i="0">
                <a:solidFill>
                  <a:srgbClr val="0F2A47"/>
                </a:solidFill>
                <a:latin typeface="Segoe UI"/>
              </a:rPr>
              <a:t>And it promoted a false positive to rank 1</a:t>
            </a:r>
          </a:p>
          <a:p>
            <a:pPr algn="l">
              <a:lnSpc>
                <a:spcPct val="120000"/>
              </a:lnSpc>
              <a:spcBef>
                <a:spcPts val="0"/>
              </a:spcBef>
              <a:spcAft>
                <a:spcPts val="0"/>
              </a:spcAft>
            </a:pPr>
            <a:r>
              <a:rPr sz="919" b="0" i="0">
                <a:solidFill>
                  <a:srgbClr val="2A3441"/>
                </a:solidFill>
                <a:latin typeface="Segoe UI"/>
              </a:rPr>
              <a:t>A benign flow classified as a Web Attack rose from rank 639 to rank 1, on verdicts given to other members of its family. That is the measured cost of the coarse family key — reported, not argued away. The fine key is proposed as defence in depth.</a:t>
            </a:r>
          </a:p>
        </p:txBody>
      </p:sp>
      <p:sp>
        <p:nvSpPr>
          <p:cNvPr id="19" name="Rectangle 18"/>
          <p:cNvSpPr/>
          <p:nvPr/>
        </p:nvSpPr>
        <p:spPr>
          <a:xfrm>
            <a:off x="566928" y="5705856"/>
            <a:ext cx="11057839"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8" y="5705856"/>
            <a:ext cx="50292" cy="731520"/>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5779008"/>
            <a:ext cx="10618927" cy="585216"/>
          </a:xfrm>
          <a:prstGeom prst="rect">
            <a:avLst/>
          </a:prstGeom>
          <a:noFill/>
        </p:spPr>
        <p:txBody>
          <a:bodyPr wrap="square" anchor="t" lIns="0" rIns="0" tIns="0" bIns="0">
            <a:spAutoFit/>
          </a:bodyPr>
          <a:lstStyle/>
          <a:p>
            <a:pPr algn="l">
              <a:spcBef>
                <a:spcPts val="0"/>
              </a:spcBef>
              <a:spcAft>
                <a:spcPts val="200"/>
              </a:spcAft>
            </a:pPr>
            <a:r>
              <a:rPr sz="1040" b="1" i="0">
                <a:solidFill>
                  <a:srgbClr val="0F2A47"/>
                </a:solidFill>
                <a:latin typeface="Segoe UI"/>
              </a:rPr>
              <a:t>Why precision fell — and why arm C proved nothing</a:t>
            </a:r>
          </a:p>
          <a:p>
            <a:pPr algn="l">
              <a:lnSpc>
                <a:spcPct val="118000"/>
              </a:lnSpc>
              <a:spcBef>
                <a:spcPts val="0"/>
              </a:spcBef>
              <a:spcAft>
                <a:spcPts val="0"/>
              </a:spcAft>
            </a:pPr>
            <a:r>
              <a:rPr sz="910" b="0" i="0">
                <a:solidFill>
                  <a:srgbClr val="2A3441"/>
                </a:solidFill>
                <a:latin typeface="Segoe UI"/>
              </a:rPr>
              <a:t>The control queue was already perfect — precision 1.000 to k = 200, 2 false positives in 996 flagged alerts — so feedback could only disturb it. And the oracle analyst produced no dismissals, while every guardrail that can bind protects against downward pressure, so arm C changed nothing. Both are limits of the sample, reported as measured.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LIMITATIONS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is out of scope, and what do we not claim?</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Stated before they are asked. Each is recorded in the repository's deviations register.</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39</a:t>
            </a:r>
          </a:p>
        </p:txBody>
      </p:sp>
      <p:graphicFrame>
        <p:nvGraphicFramePr>
          <p:cNvPr id="9" name="Table 8"/>
          <p:cNvGraphicFramePr>
            <a:graphicFrameLocks noGrp="1"/>
          </p:cNvGraphicFramePr>
          <p:nvPr/>
        </p:nvGraphicFramePr>
        <p:xfrm>
          <a:off x="566928" y="1883664"/>
          <a:ext cx="11055095" cy="4736592"/>
        </p:xfrm>
        <a:graphic>
          <a:graphicData uri="http://schemas.openxmlformats.org/drawingml/2006/table">
            <a:tbl>
              <a:tblPr firstRow="0" bandRow="0"/>
              <a:tblGrid>
                <a:gridCol w="3703320"/>
                <a:gridCol w="7351775"/>
              </a:tblGrid>
              <a:tr h="292608">
                <a:tc>
                  <a:txBody>
                    <a:bodyPr wrap="square"/>
                    <a:lstStyle/>
                    <a:p>
                      <a:pPr algn="l"/>
                      <a:r>
                        <a:rPr sz="880" b="1">
                          <a:solidFill>
                            <a:srgbClr val="FFFFFF"/>
                          </a:solidFill>
                          <a:latin typeface="Segoe UI"/>
                        </a:rPr>
                        <a:t>Limitation</a:t>
                      </a:r>
                    </a:p>
                  </a:txBody>
                  <a:tcPr marL="82296" marR="82296" marT="13716" marB="13716" anchor="ctr">
                    <a:solidFill>
                      <a:srgbClr val="0F2A47"/>
                    </a:solidFill>
                  </a:tcPr>
                </a:tc>
                <a:tc>
                  <a:txBody>
                    <a:bodyPr wrap="square"/>
                    <a:lstStyle/>
                    <a:p>
                      <a:pPr algn="l"/>
                      <a:r>
                        <a:rPr sz="880" b="1">
                          <a:solidFill>
                            <a:srgbClr val="FFFFFF"/>
                          </a:solidFill>
                          <a:latin typeface="Segoe UI"/>
                        </a:rPr>
                        <a:t>Why it is so</a:t>
                      </a:r>
                    </a:p>
                  </a:txBody>
                  <a:tcPr marL="82296" marR="82296" marT="13716" marB="13716" anchor="ctr">
                    <a:solidFill>
                      <a:srgbClr val="0F2A47"/>
                    </a:solidFill>
                  </a:tcPr>
                </a:tc>
              </a:tr>
              <a:tr h="493776">
                <a:tc>
                  <a:txBody>
                    <a:bodyPr wrap="square"/>
                    <a:lstStyle/>
                    <a:p>
                      <a:pPr algn="l"/>
                      <a:r>
                        <a:rPr sz="919" b="0">
                          <a:solidFill>
                            <a:srgbClr val="2A3441"/>
                          </a:solidFill>
                          <a:latin typeface="Segoe UI"/>
                        </a:rPr>
                        <a:t>The 0.9882 macro F1 is a testbed artefact</a:t>
                      </a:r>
                    </a:p>
                  </a:txBody>
                  <a:tcPr marL="82296" marR="82296" marT="13716" marB="13716" anchor="ctr">
                    <a:solidFill>
                      <a:srgbClr val="FFFFFF"/>
                    </a:solidFill>
                  </a:tcPr>
                </a:tc>
                <a:tc>
                  <a:txBody>
                    <a:bodyPr wrap="square"/>
                    <a:lstStyle/>
                    <a:p>
                      <a:pPr algn="l"/>
                      <a:r>
                        <a:rPr sz="919" b="0">
                          <a:solidFill>
                            <a:srgbClr val="2A3441"/>
                          </a:solidFill>
                          <a:latin typeface="Segoe UI"/>
                        </a:rPr>
                        <a:t>Each attack class was generated by a single tool with fixed configuration, so every class carries a near-constant flow fingerprint. Honest on this data; it will not transfer.</a:t>
                      </a:r>
                    </a:p>
                  </a:txBody>
                  <a:tcPr marL="82296" marR="82296" marT="13716" marB="13716" anchor="ctr">
                    <a:solidFill>
                      <a:srgbClr val="FFFFFF"/>
                    </a:solidFill>
                  </a:tcPr>
                </a:tc>
              </a:tr>
              <a:tr h="493776">
                <a:tc>
                  <a:txBody>
                    <a:bodyPr wrap="square"/>
                    <a:lstStyle/>
                    <a:p>
                      <a:pPr algn="l"/>
                      <a:r>
                        <a:rPr sz="919" b="0">
                          <a:solidFill>
                            <a:srgbClr val="2A3441"/>
                          </a:solidFill>
                          <a:latin typeface="Segoe UI"/>
                        </a:rPr>
                        <a:t>Feedback could not improve precision on this sample</a:t>
                      </a:r>
                    </a:p>
                  </a:txBody>
                  <a:tcPr marL="82296" marR="82296" marT="13716" marB="13716" anchor="ctr">
                    <a:solidFill>
                      <a:srgbClr val="F4F7FB"/>
                    </a:solidFill>
                  </a:tcPr>
                </a:tc>
                <a:tc>
                  <a:txBody>
                    <a:bodyPr wrap="square"/>
                    <a:lstStyle/>
                    <a:p>
                      <a:pPr algn="l"/>
                      <a:r>
                        <a:rPr sz="919" b="0">
                          <a:solidFill>
                            <a:srgbClr val="2A3441"/>
                          </a:solidFill>
                          <a:latin typeface="Segoe UI"/>
                        </a:rPr>
                        <a:t>The control queue was already at precision 1.000 to k = 200. Feedback had nothing to correct, so it could only disturb a perfect ordering.</a:t>
                      </a:r>
                    </a:p>
                  </a:txBody>
                  <a:tcPr marL="82296" marR="82296" marT="13716" marB="13716" anchor="ctr">
                    <a:solidFill>
                      <a:srgbClr val="F4F7FB"/>
                    </a:solidFill>
                  </a:tcPr>
                </a:tc>
              </a:tr>
              <a:tr h="493776">
                <a:tc>
                  <a:txBody>
                    <a:bodyPr wrap="square"/>
                    <a:lstStyle/>
                    <a:p>
                      <a:pPr algn="l"/>
                      <a:r>
                        <a:rPr sz="919" b="0">
                          <a:solidFill>
                            <a:srgbClr val="2A3441"/>
                          </a:solidFill>
                          <a:latin typeface="Segoe UI"/>
                        </a:rPr>
                        <a:t>The coarse family key promoted a benign alert to rank 1</a:t>
                      </a:r>
                    </a:p>
                  </a:txBody>
                  <a:tcPr marL="82296" marR="82296" marT="13716" marB="13716" anchor="ctr">
                    <a:solidFill>
                      <a:srgbClr val="FFFFFF"/>
                    </a:solidFill>
                  </a:tcPr>
                </a:tc>
                <a:tc>
                  <a:txBody>
                    <a:bodyPr wrap="square"/>
                    <a:lstStyle/>
                    <a:p>
                      <a:pPr algn="l"/>
                      <a:r>
                        <a:rPr sz="919" b="0">
                          <a:solidFill>
                            <a:srgbClr val="2A3441"/>
                          </a:solidFill>
                          <a:latin typeface="Segoe UI"/>
                        </a:rPr>
                        <a:t>A family is keyed by class, port, protocol and rule, so a false positive resembling confirmed attacks inherits their promotion.</a:t>
                      </a:r>
                    </a:p>
                  </a:txBody>
                  <a:tcPr marL="82296" marR="82296" marT="13716" marB="13716" anchor="ctr">
                    <a:solidFill>
                      <a:srgbClr val="FFFFFF"/>
                    </a:solidFill>
                  </a:tcPr>
                </a:tc>
              </a:tr>
              <a:tr h="493776">
                <a:tc>
                  <a:txBody>
                    <a:bodyPr wrap="square"/>
                    <a:lstStyle/>
                    <a:p>
                      <a:pPr algn="l"/>
                      <a:r>
                        <a:rPr sz="919" b="0">
                          <a:solidFill>
                            <a:srgbClr val="2A3441"/>
                          </a:solidFill>
                          <a:latin typeface="Segoe UI"/>
                        </a:rPr>
                        <a:t>The guardrails' protective value is untested by the evaluation</a:t>
                      </a:r>
                    </a:p>
                  </a:txBody>
                  <a:tcPr marL="82296" marR="82296" marT="13716" marB="13716" anchor="ctr">
                    <a:solidFill>
                      <a:srgbClr val="F4F7FB"/>
                    </a:solidFill>
                  </a:tcPr>
                </a:tc>
                <a:tc>
                  <a:txBody>
                    <a:bodyPr wrap="square"/>
                    <a:lstStyle/>
                    <a:p>
                      <a:pPr algn="l"/>
                      <a:r>
                        <a:rPr sz="919" b="0">
                          <a:solidFill>
                            <a:srgbClr val="2A3441"/>
                          </a:solidFill>
                          <a:latin typeface="Segoe UI"/>
                        </a:rPr>
                        <a:t>The third run had nothing to prove: the fixed sequence of verdicts contained no dismissals, and every guardrail that can bind protects against downward pressure.</a:t>
                      </a:r>
                    </a:p>
                  </a:txBody>
                  <a:tcPr marL="82296" marR="82296" marT="13716" marB="13716" anchor="ctr">
                    <a:solidFill>
                      <a:srgbClr val="F4F7FB"/>
                    </a:solidFill>
                  </a:tcPr>
                </a:tc>
              </a:tr>
              <a:tr h="493776">
                <a:tc>
                  <a:txBody>
                    <a:bodyPr wrap="square"/>
                    <a:lstStyle/>
                    <a:p>
                      <a:pPr algn="l"/>
                      <a:r>
                        <a:rPr sz="919" b="0">
                          <a:solidFill>
                            <a:srgbClr val="2A3441"/>
                          </a:solidFill>
                          <a:latin typeface="Segoe UI"/>
                        </a:rPr>
                        <a:t>The frozen-rule protection is proven by unit tests, not by the evaluation</a:t>
                      </a:r>
                    </a:p>
                  </a:txBody>
                  <a:tcPr marL="82296" marR="82296" marT="13716" marB="13716" anchor="ctr">
                    <a:solidFill>
                      <a:srgbClr val="FFFFFF"/>
                    </a:solidFill>
                  </a:tcPr>
                </a:tc>
                <a:tc>
                  <a:txBody>
                    <a:bodyPr wrap="square"/>
                    <a:lstStyle/>
                    <a:p>
                      <a:pPr algn="l"/>
                      <a:r>
                        <a:rPr sz="919" b="0">
                          <a:solidFill>
                            <a:srgbClr val="2A3441"/>
                          </a:solidFill>
                          <a:latin typeface="Segoe UI"/>
                        </a:rPr>
                        <a:t>The “rule fired, model disagrees” case has zero instances on this data, so the evaluation could not exercise it.</a:t>
                      </a:r>
                    </a:p>
                  </a:txBody>
                  <a:tcPr marL="82296" marR="82296" marT="13716" marB="13716" anchor="ctr">
                    <a:solidFill>
                      <a:srgbClr val="FFFFFF"/>
                    </a:solidFill>
                  </a:tcPr>
                </a:tc>
              </a:tr>
              <a:tr h="493776">
                <a:tc>
                  <a:txBody>
                    <a:bodyPr wrap="square"/>
                    <a:lstStyle/>
                    <a:p>
                      <a:pPr algn="l"/>
                      <a:r>
                        <a:rPr sz="919" b="0">
                          <a:solidFill>
                            <a:srgbClr val="2A3441"/>
                          </a:solidFill>
                          <a:latin typeface="Segoe UI"/>
                        </a:rPr>
                        <a:t>The guardrail sentence says “Critical” on a High badge</a:t>
                      </a:r>
                    </a:p>
                  </a:txBody>
                  <a:tcPr marL="82296" marR="82296" marT="13716" marB="13716" anchor="ctr">
                    <a:solidFill>
                      <a:srgbClr val="F4F7FB"/>
                    </a:solidFill>
                  </a:tcPr>
                </a:tc>
                <a:tc>
                  <a:txBody>
                    <a:bodyPr wrap="square"/>
                    <a:lstStyle/>
                    <a:p>
                      <a:pPr algn="l"/>
                      <a:r>
                        <a:rPr sz="919" b="0">
                          <a:solidFill>
                            <a:srgbClr val="2A3441"/>
                          </a:solidFill>
                          <a:latin typeface="Segoe UI"/>
                        </a:rPr>
                        <a:t>The Critical floor triggers on the detection score reaching 80; the displayed severity is capped by the attack class’s ceiling (v1.29). Both are deliberate, but the sentence asserts the badge rather than the score. Wording only — logged, not yet fixed.</a:t>
                      </a:r>
                    </a:p>
                  </a:txBody>
                  <a:tcPr marL="82296" marR="82296" marT="13716" marB="13716" anchor="ctr">
                    <a:solidFill>
                      <a:srgbClr val="F4F7FB"/>
                    </a:solidFill>
                  </a:tcPr>
                </a:tc>
              </a:tr>
              <a:tr h="493776">
                <a:tc>
                  <a:txBody>
                    <a:bodyPr wrap="square"/>
                    <a:lstStyle/>
                    <a:p>
                      <a:pPr algn="l"/>
                      <a:r>
                        <a:rPr sz="919" b="0">
                          <a:solidFill>
                            <a:srgbClr val="2A3441"/>
                          </a:solidFill>
                          <a:latin typeface="Segoe UI"/>
                        </a:rPr>
                        <a:t>Infiltration rests on a very small sample</a:t>
                      </a:r>
                    </a:p>
                  </a:txBody>
                  <a:tcPr marL="82296" marR="82296" marT="13716" marB="13716" anchor="ctr">
                    <a:solidFill>
                      <a:srgbClr val="FFFFFF"/>
                    </a:solidFill>
                  </a:tcPr>
                </a:tc>
                <a:tc>
                  <a:txBody>
                    <a:bodyPr wrap="square"/>
                    <a:lstStyle/>
                    <a:p>
                      <a:pPr algn="l"/>
                      <a:r>
                        <a:rPr sz="919" b="0">
                          <a:solidFill>
                            <a:srgbClr val="2A3441"/>
                          </a:solidFill>
                          <a:latin typeface="Segoe UI"/>
                        </a:rPr>
                        <a:t>277 training and 55 held-out examples. Its 0.913 F1 should always be quoted beside the support count.</a:t>
                      </a:r>
                    </a:p>
                  </a:txBody>
                  <a:tcPr marL="82296" marR="82296" marT="13716" marB="13716" anchor="ctr">
                    <a:solidFill>
                      <a:srgbClr val="FFFFFF"/>
                    </a:solidFill>
                  </a:tcPr>
                </a:tc>
              </a:tr>
              <a:tr h="493776">
                <a:tc>
                  <a:txBody>
                    <a:bodyPr wrap="square"/>
                    <a:lstStyle/>
                    <a:p>
                      <a:pPr algn="l"/>
                      <a:r>
                        <a:rPr sz="919" b="0">
                          <a:solidFill>
                            <a:srgbClr val="2A3441"/>
                          </a:solidFill>
                          <a:latin typeface="Segoe UI"/>
                        </a:rPr>
                        <a:t>Out of scope by the approved project boundary</a:t>
                      </a:r>
                    </a:p>
                  </a:txBody>
                  <a:tcPr marL="82296" marR="82296" marT="13716" marB="13716" anchor="ctr">
                    <a:solidFill>
                      <a:srgbClr val="F4F7FB"/>
                    </a:solidFill>
                  </a:tcPr>
                </a:tc>
                <a:tc>
                  <a:txBody>
                    <a:bodyPr wrap="square"/>
                    <a:lstStyle/>
                    <a:p>
                      <a:pPr algn="l"/>
                      <a:r>
                        <a:rPr sz="919" b="0">
                          <a:solidFill>
                            <a:srgbClr val="2A3441"/>
                          </a:solidFill>
                          <a:latin typeface="Segoe UI"/>
                        </a:rPr>
                        <a:t>Live packet capture, automated response or blocking, host-based IDS and endpoint agents, a full SIEM or SOAR, and online retraining from feedback.</a:t>
                      </a:r>
                    </a:p>
                  </a:txBody>
                  <a:tcPr marL="82296" marR="82296" marT="13716" marB="13716" anchor="ctr">
                    <a:solidFill>
                      <a:srgbClr val="F4F7FB"/>
                    </a:solidFill>
                  </a:tcPr>
                </a:tc>
              </a:tr>
              <a:tr h="493776">
                <a:tc>
                  <a:txBody>
                    <a:bodyPr wrap="square"/>
                    <a:lstStyle/>
                    <a:p>
                      <a:pPr algn="l"/>
                      <a:r>
                        <a:rPr sz="919" b="0">
                          <a:solidFill>
                            <a:srgbClr val="2A3441"/>
                          </a:solidFill>
                          <a:latin typeface="Segoe UI"/>
                        </a:rPr>
                        <a:t>Demo-specific honest limits</a:t>
                      </a:r>
                    </a:p>
                  </a:txBody>
                  <a:tcPr marL="82296" marR="82296" marT="13716" marB="13716" anchor="ctr">
                    <a:solidFill>
                      <a:srgbClr val="FFFFFF"/>
                    </a:solidFill>
                  </a:tcPr>
                </a:tc>
                <a:tc>
                  <a:txBody>
                    <a:bodyPr wrap="square"/>
                    <a:lstStyle/>
                    <a:p>
                      <a:pPr algn="l"/>
                      <a:r>
                        <a:rPr sz="919" b="0">
                          <a:solidFill>
                            <a:srgbClr val="2A3441"/>
                          </a:solidFill>
                          <a:latin typeface="Segoe UI"/>
                        </a:rPr>
                        <a:t>Detection is an offline batch, so “Check again” reports the latest run; accounts are seeded with committed passwords; tokens live in sessionStorage; time-to-verdict reflects session activity, not operational metrics.</a:t>
                      </a:r>
                    </a:p>
                  </a:txBody>
                  <a:tcPr marL="82296" marR="82296" marT="13716" marB="13716"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377440"/>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Segoe UI"/>
              </a:rPr>
              <a:t>Questions &amp; Discussion</a:t>
            </a:r>
          </a:p>
        </p:txBody>
      </p:sp>
      <p:sp>
        <p:nvSpPr>
          <p:cNvPr id="5" name="Rectangle 4"/>
          <p:cNvSpPr/>
          <p:nvPr/>
        </p:nvSpPr>
        <p:spPr>
          <a:xfrm>
            <a:off x="886968" y="3401568"/>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3639312"/>
            <a:ext cx="8863279" cy="1097280"/>
          </a:xfrm>
          <a:prstGeom prst="rect">
            <a:avLst/>
          </a:prstGeom>
          <a:noFill/>
        </p:spPr>
        <p:txBody>
          <a:bodyPr wrap="square" anchor="t" lIns="0" rIns="0" tIns="0" bIns="0">
            <a:spAutoFit/>
          </a:bodyPr>
          <a:lstStyle/>
          <a:p>
            <a:pPr algn="l">
              <a:spcBef>
                <a:spcPts val="0"/>
              </a:spcBef>
              <a:spcAft>
                <a:spcPts val="1000"/>
              </a:spcAft>
            </a:pPr>
            <a:r>
              <a:rPr sz="1250" b="0" i="0">
                <a:solidFill>
                  <a:srgbClr val="C3CEDA"/>
                </a:solidFill>
                <a:latin typeface="Segoe UI"/>
              </a:rPr>
              <a:t>Human-in-the-Loop Intrusion Detection Dashboard  ·  FYP-26-S3-13</a:t>
            </a:r>
          </a:p>
          <a:p>
            <a:pPr algn="l">
              <a:lnSpc>
                <a:spcPct val="120000"/>
              </a:lnSpc>
              <a:spcBef>
                <a:spcPts val="0"/>
              </a:spcBef>
              <a:spcAft>
                <a:spcPts val="1000"/>
              </a:spcAft>
            </a:pPr>
            <a:r>
              <a:rPr sz="1050" b="0" i="0">
                <a:solidFill>
                  <a:srgbClr val="8FA3B8"/>
                </a:solidFill>
                <a:latin typeface="Segoe UI"/>
              </a:rPr>
              <a:t>Tan Jing Kai · Zay Yar Naing · Glenn Ang Zhen Xiang · Isaac Koh Zhi Xian · Thian Wen Jun Gene · Liow Chee Kuang</a:t>
            </a:r>
          </a:p>
          <a:p>
            <a:pPr algn="l">
              <a:spcBef>
                <a:spcPts val="0"/>
              </a:spcBef>
              <a:spcAft>
                <a:spcPts val="0"/>
              </a:spcAft>
            </a:pPr>
            <a:r>
              <a:rPr sz="1050" b="0" i="0">
                <a:solidFill>
                  <a:srgbClr val="8FA3B8"/>
                </a:solidFill>
                <a:latin typeface="Segoe UI"/>
              </a:rPr>
              <a:t>Supervisor: Mr Lim Min Han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