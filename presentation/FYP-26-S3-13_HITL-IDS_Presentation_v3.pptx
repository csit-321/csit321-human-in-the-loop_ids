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29984"/>
            <a:ext cx="12191695" cy="128016"/>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7" y="1170432"/>
            <a:ext cx="10509199" cy="274320"/>
          </a:xfrm>
          <a:prstGeom prst="rect">
            <a:avLst/>
          </a:prstGeom>
          <a:noFill/>
        </p:spPr>
        <p:txBody>
          <a:bodyPr wrap="square" anchor="t" lIns="0" rIns="0" tIns="0" bIns="0">
            <a:spAutoFit/>
          </a:bodyPr>
          <a:lstStyle/>
          <a:p>
            <a:pPr algn="l">
              <a:spcBef>
                <a:spcPts val="0"/>
              </a:spcBef>
              <a:spcAft>
                <a:spcPts val="0"/>
              </a:spcAft>
            </a:pPr>
            <a:r>
              <a:rPr sz="1200" b="1" i="0">
                <a:solidFill>
                  <a:srgbClr val="1F6FEB"/>
                </a:solidFill>
                <a:latin typeface="Segoe UI"/>
              </a:rPr>
              <a:t>CSIT321  ·  FINAL YEAR PROJECT  ·  FYP-26-S3-13</a:t>
            </a:r>
          </a:p>
        </p:txBody>
      </p:sp>
      <p:sp>
        <p:nvSpPr>
          <p:cNvPr id="5" name="TextBox 4"/>
          <p:cNvSpPr txBox="1"/>
          <p:nvPr/>
        </p:nvSpPr>
        <p:spPr>
          <a:xfrm>
            <a:off x="841247" y="1627632"/>
            <a:ext cx="10143439" cy="1371600"/>
          </a:xfrm>
          <a:prstGeom prst="rect">
            <a:avLst/>
          </a:prstGeom>
          <a:noFill/>
        </p:spPr>
        <p:txBody>
          <a:bodyPr wrap="square" anchor="t" lIns="0" rIns="0" tIns="0" bIns="0">
            <a:spAutoFit/>
          </a:bodyPr>
          <a:lstStyle/>
          <a:p>
            <a:pPr algn="l">
              <a:lnSpc>
                <a:spcPct val="100000"/>
              </a:lnSpc>
              <a:spcBef>
                <a:spcPts val="0"/>
              </a:spcBef>
              <a:spcAft>
                <a:spcPts val="0"/>
              </a:spcAft>
            </a:pPr>
            <a:r>
              <a:rPr sz="4400" b="1" i="0">
                <a:solidFill>
                  <a:srgbClr val="0F2A47"/>
                </a:solidFill>
                <a:latin typeface="Segoe UI"/>
              </a:rPr>
              <a:t>Human-in-the-Loop</a:t>
            </a:r>
          </a:p>
          <a:p>
            <a:pPr algn="l">
              <a:lnSpc>
                <a:spcPct val="100000"/>
              </a:lnSpc>
              <a:spcBef>
                <a:spcPts val="0"/>
              </a:spcBef>
              <a:spcAft>
                <a:spcPts val="0"/>
              </a:spcAft>
            </a:pPr>
            <a:r>
              <a:rPr sz="4400" b="1" i="0">
                <a:solidFill>
                  <a:srgbClr val="0F2A47"/>
                </a:solidFill>
                <a:latin typeface="Segoe UI"/>
              </a:rPr>
              <a:t>Intrusion Detection Dashboard</a:t>
            </a:r>
          </a:p>
        </p:txBody>
      </p:sp>
      <p:sp>
        <p:nvSpPr>
          <p:cNvPr id="6" name="Rectangle 5"/>
          <p:cNvSpPr/>
          <p:nvPr/>
        </p:nvSpPr>
        <p:spPr>
          <a:xfrm>
            <a:off x="841247" y="3054096"/>
            <a:ext cx="137160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1247" y="3255264"/>
            <a:ext cx="9594799" cy="457200"/>
          </a:xfrm>
          <a:prstGeom prst="rect">
            <a:avLst/>
          </a:prstGeom>
          <a:noFill/>
        </p:spPr>
        <p:txBody>
          <a:bodyPr wrap="square" anchor="t" lIns="0" rIns="0" tIns="0" bIns="0">
            <a:spAutoFit/>
          </a:bodyPr>
          <a:lstStyle/>
          <a:p>
            <a:pPr algn="l">
              <a:lnSpc>
                <a:spcPct val="120000"/>
              </a:lnSpc>
              <a:spcBef>
                <a:spcPts val="0"/>
              </a:spcBef>
              <a:spcAft>
                <a:spcPts val="0"/>
              </a:spcAft>
            </a:pPr>
            <a:r>
              <a:rPr sz="1350" b="0" i="0">
                <a:solidFill>
                  <a:srgbClr val="6B7684"/>
                </a:solidFill>
                <a:latin typeface="Segoe UI"/>
              </a:rPr>
              <a:t>Fusing signature and machine-learning detection with analyst feedback, bounded by safety guardrails.</a:t>
            </a:r>
          </a:p>
        </p:txBody>
      </p:sp>
      <p:sp>
        <p:nvSpPr>
          <p:cNvPr id="8" name="Rectangle 7"/>
          <p:cNvSpPr/>
          <p:nvPr/>
        </p:nvSpPr>
        <p:spPr>
          <a:xfrm>
            <a:off x="841247" y="3931920"/>
            <a:ext cx="10509199"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7" y="4078224"/>
            <a:ext cx="5852160" cy="1371600"/>
          </a:xfrm>
          <a:prstGeom prst="rect">
            <a:avLst/>
          </a:prstGeom>
          <a:noFill/>
        </p:spPr>
        <p:txBody>
          <a:bodyPr wrap="square" anchor="t" lIns="0" rIns="0" tIns="0" bIns="0">
            <a:spAutoFit/>
          </a:bodyPr>
          <a:lstStyle/>
          <a:p>
            <a:pPr algn="l">
              <a:spcBef>
                <a:spcPts val="0"/>
              </a:spcBef>
              <a:spcAft>
                <a:spcPts val="400"/>
              </a:spcAft>
            </a:pPr>
            <a:r>
              <a:rPr sz="950" b="1" i="0">
                <a:solidFill>
                  <a:srgbClr val="1F6FEB"/>
                </a:solidFill>
                <a:latin typeface="Segoe UI"/>
              </a:rPr>
              <a:t>PROJECT TEAM</a:t>
            </a:r>
          </a:p>
          <a:p>
            <a:pPr algn="l">
              <a:lnSpc>
                <a:spcPct val="105000"/>
              </a:lnSpc>
              <a:spcBef>
                <a:spcPts val="0"/>
              </a:spcBef>
              <a:spcAft>
                <a:spcPts val="150"/>
              </a:spcAft>
            </a:pPr>
            <a:r>
              <a:rPr sz="1100" b="0" i="0">
                <a:solidFill>
                  <a:srgbClr val="2A3441"/>
                </a:solidFill>
                <a:latin typeface="Segoe UI"/>
              </a:rPr>
              <a:t>Tan Jing Kai</a:t>
            </a:r>
          </a:p>
          <a:p>
            <a:pPr algn="l">
              <a:lnSpc>
                <a:spcPct val="105000"/>
              </a:lnSpc>
              <a:spcBef>
                <a:spcPts val="0"/>
              </a:spcBef>
              <a:spcAft>
                <a:spcPts val="150"/>
              </a:spcAft>
            </a:pPr>
            <a:r>
              <a:rPr sz="1100" b="0" i="0">
                <a:solidFill>
                  <a:srgbClr val="2A3441"/>
                </a:solidFill>
                <a:latin typeface="Segoe UI"/>
              </a:rPr>
              <a:t>Zay Yar Naing</a:t>
            </a:r>
          </a:p>
          <a:p>
            <a:pPr algn="l">
              <a:lnSpc>
                <a:spcPct val="105000"/>
              </a:lnSpc>
              <a:spcBef>
                <a:spcPts val="0"/>
              </a:spcBef>
              <a:spcAft>
                <a:spcPts val="150"/>
              </a:spcAft>
            </a:pPr>
            <a:r>
              <a:rPr sz="1100" b="0" i="0">
                <a:solidFill>
                  <a:srgbClr val="2A3441"/>
                </a:solidFill>
                <a:latin typeface="Segoe UI"/>
              </a:rPr>
              <a:t>Glenn Ang Zhen Xiang</a:t>
            </a:r>
          </a:p>
          <a:p>
            <a:pPr algn="l">
              <a:lnSpc>
                <a:spcPct val="105000"/>
              </a:lnSpc>
              <a:spcBef>
                <a:spcPts val="0"/>
              </a:spcBef>
              <a:spcAft>
                <a:spcPts val="150"/>
              </a:spcAft>
            </a:pPr>
            <a:r>
              <a:rPr sz="1100" b="0" i="0">
                <a:solidFill>
                  <a:srgbClr val="2A3441"/>
                </a:solidFill>
                <a:latin typeface="Segoe UI"/>
              </a:rPr>
              <a:t>Isaac Koh Zhi Xian</a:t>
            </a:r>
          </a:p>
          <a:p>
            <a:pPr algn="l">
              <a:lnSpc>
                <a:spcPct val="105000"/>
              </a:lnSpc>
              <a:spcBef>
                <a:spcPts val="0"/>
              </a:spcBef>
              <a:spcAft>
                <a:spcPts val="150"/>
              </a:spcAft>
            </a:pPr>
            <a:r>
              <a:rPr sz="1100" b="0" i="0">
                <a:solidFill>
                  <a:srgbClr val="2A3441"/>
                </a:solidFill>
                <a:latin typeface="Segoe UI"/>
              </a:rPr>
              <a:t>Thian Wen Jun Gene</a:t>
            </a:r>
          </a:p>
          <a:p>
            <a:pPr algn="l">
              <a:lnSpc>
                <a:spcPct val="105000"/>
              </a:lnSpc>
              <a:spcBef>
                <a:spcPts val="0"/>
              </a:spcBef>
              <a:spcAft>
                <a:spcPts val="150"/>
              </a:spcAft>
            </a:pPr>
            <a:r>
              <a:rPr sz="1100" b="0" i="0">
                <a:solidFill>
                  <a:srgbClr val="2A3441"/>
                </a:solidFill>
                <a:latin typeface="Segoe UI"/>
              </a:rPr>
              <a:t>Liow Chee Kuang</a:t>
            </a:r>
          </a:p>
        </p:txBody>
      </p:sp>
      <p:sp>
        <p:nvSpPr>
          <p:cNvPr id="10" name="TextBox 9"/>
          <p:cNvSpPr txBox="1"/>
          <p:nvPr/>
        </p:nvSpPr>
        <p:spPr>
          <a:xfrm>
            <a:off x="6949440" y="4078224"/>
            <a:ext cx="4657039" cy="1097280"/>
          </a:xfrm>
          <a:prstGeom prst="rect">
            <a:avLst/>
          </a:prstGeom>
          <a:noFill/>
        </p:spPr>
        <p:txBody>
          <a:bodyPr wrap="square" anchor="t" lIns="0" rIns="0" tIns="0" bIns="0">
            <a:spAutoFit/>
          </a:bodyPr>
          <a:lstStyle/>
          <a:p>
            <a:pPr algn="l">
              <a:spcBef>
                <a:spcPts val="0"/>
              </a:spcBef>
              <a:spcAft>
                <a:spcPts val="400"/>
              </a:spcAft>
            </a:pPr>
            <a:r>
              <a:rPr sz="950" b="1" i="0">
                <a:solidFill>
                  <a:srgbClr val="1F6FEB"/>
                </a:solidFill>
                <a:latin typeface="Segoe UI"/>
              </a:rPr>
              <a:t>SUPERVISOR</a:t>
            </a:r>
          </a:p>
          <a:p>
            <a:pPr algn="l">
              <a:lnSpc>
                <a:spcPct val="105000"/>
              </a:lnSpc>
              <a:spcBef>
                <a:spcPts val="0"/>
              </a:spcBef>
              <a:spcAft>
                <a:spcPts val="800"/>
              </a:spcAft>
            </a:pPr>
            <a:r>
              <a:rPr sz="1100" b="0" i="0">
                <a:solidFill>
                  <a:srgbClr val="2A3441"/>
                </a:solidFill>
                <a:latin typeface="Segoe UI"/>
              </a:rPr>
              <a:t>Mr Lim Min Han</a:t>
            </a:r>
          </a:p>
          <a:p>
            <a:pPr algn="l">
              <a:spcBef>
                <a:spcPts val="0"/>
              </a:spcBef>
              <a:spcAft>
                <a:spcPts val="400"/>
              </a:spcAft>
            </a:pPr>
            <a:r>
              <a:rPr sz="950" b="1" i="0">
                <a:solidFill>
                  <a:srgbClr val="1F6FEB"/>
                </a:solidFill>
                <a:latin typeface="Segoe UI"/>
              </a:rPr>
              <a:t>REPOSITORY</a:t>
            </a:r>
          </a:p>
          <a:p>
            <a:pPr algn="l">
              <a:lnSpc>
                <a:spcPct val="115000"/>
              </a:lnSpc>
              <a:spcBef>
                <a:spcPts val="0"/>
              </a:spcBef>
              <a:spcAft>
                <a:spcPts val="0"/>
              </a:spcAft>
            </a:pPr>
            <a:r>
              <a:rPr sz="950" b="0" i="0">
                <a:solidFill>
                  <a:srgbClr val="6B7684"/>
                </a:solidFill>
                <a:latin typeface="Consolas"/>
              </a:rPr>
              <a:t>github.com/CSIT-321/CSIT321-Human-in-the-loop_IDS</a:t>
            </a:r>
          </a:p>
        </p:txBody>
      </p:sp>
      <p:sp>
        <p:nvSpPr>
          <p:cNvPr id="11" name="TextBox 10"/>
          <p:cNvSpPr txBox="1"/>
          <p:nvPr/>
        </p:nvSpPr>
        <p:spPr>
          <a:xfrm>
            <a:off x="841247" y="6053328"/>
            <a:ext cx="11057839" cy="274320"/>
          </a:xfrm>
          <a:prstGeom prst="rect">
            <a:avLst/>
          </a:prstGeom>
          <a:noFill/>
        </p:spPr>
        <p:txBody>
          <a:bodyPr wrap="square" anchor="t" lIns="0" rIns="0" tIns="0" bIns="0">
            <a:spAutoFit/>
          </a:bodyPr>
          <a:lstStyle/>
          <a:p>
            <a:pPr algn="l">
              <a:spcBef>
                <a:spcPts val="0"/>
              </a:spcBef>
              <a:spcAft>
                <a:spcPts val="0"/>
              </a:spcAft>
            </a:pPr>
            <a:r>
              <a:rPr sz="950" b="0" i="0">
                <a:solidFill>
                  <a:srgbClr val="9AA4B0"/>
                </a:solidFill>
                <a:latin typeface="Segoe UI"/>
              </a:rPr>
              <a:t>Presented by the project team  ·  Demo build,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CONTENTS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this presentation covers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a:t>
            </a:r>
          </a:p>
        </p:txBody>
      </p:sp>
      <p:sp>
        <p:nvSpPr>
          <p:cNvPr id="8" name="TextBox 7"/>
          <p:cNvSpPr txBox="1"/>
          <p:nvPr/>
        </p:nvSpPr>
        <p:spPr>
          <a:xfrm>
            <a:off x="566928" y="1572768"/>
            <a:ext cx="5327751" cy="4206240"/>
          </a:xfrm>
          <a:prstGeom prst="rect">
            <a:avLst/>
          </a:prstGeom>
          <a:noFill/>
        </p:spPr>
        <p:txBody>
          <a:bodyPr wrap="square" anchor="t" lIns="0" rIns="0" tIns="0" bIns="0">
            <a:spAutoFit/>
          </a:bodyPr>
          <a:lstStyle/>
          <a:p>
            <a:pPr algn="l">
              <a:lnSpc>
                <a:spcPct val="118000"/>
              </a:lnSpc>
              <a:spcBef>
                <a:spcPts val="0"/>
              </a:spcBef>
              <a:spcAft>
                <a:spcPts val="1100"/>
              </a:spcAft>
            </a:pPr>
            <a:r>
              <a:rPr sz="1250" b="1" i="0">
                <a:solidFill>
                  <a:srgbClr val="2A3441"/>
                </a:solidFill>
                <a:latin typeface="Segoe UI"/>
              </a:rPr>
              <a:t>—  The problem: analyst alert fatigue, and what the research shows</a:t>
            </a:r>
          </a:p>
          <a:p>
            <a:pPr algn="l">
              <a:lnSpc>
                <a:spcPct val="118000"/>
              </a:lnSpc>
              <a:spcBef>
                <a:spcPts val="0"/>
              </a:spcBef>
              <a:spcAft>
                <a:spcPts val="1100"/>
              </a:spcAft>
            </a:pPr>
            <a:r>
              <a:rPr sz="1250" b="1" i="0">
                <a:solidFill>
                  <a:srgbClr val="2A3441"/>
                </a:solidFill>
                <a:latin typeface="Segoe UI"/>
              </a:rPr>
              <a:t>—  Our solution, and why we built it this specific way</a:t>
            </a:r>
          </a:p>
          <a:p>
            <a:pPr algn="l">
              <a:lnSpc>
                <a:spcPct val="118000"/>
              </a:lnSpc>
              <a:spcBef>
                <a:spcPts val="0"/>
              </a:spcBef>
              <a:spcAft>
                <a:spcPts val="1100"/>
              </a:spcAft>
            </a:pPr>
            <a:r>
              <a:rPr sz="1250" b="1" i="0">
                <a:solidFill>
                  <a:srgbClr val="2A3441"/>
                </a:solidFill>
                <a:latin typeface="Segoe UI"/>
              </a:rPr>
              <a:t>—  How the solution answers the problem — the implemented workflow</a:t>
            </a:r>
          </a:p>
          <a:p>
            <a:pPr algn="l">
              <a:lnSpc>
                <a:spcPct val="118000"/>
              </a:lnSpc>
              <a:spcBef>
                <a:spcPts val="0"/>
              </a:spcBef>
              <a:spcAft>
                <a:spcPts val="1100"/>
              </a:spcAft>
            </a:pPr>
            <a:r>
              <a:rPr sz="1250" b="1" i="0">
                <a:solidFill>
                  <a:srgbClr val="2A3441"/>
                </a:solidFill>
                <a:latin typeface="Segoe UI"/>
              </a:rPr>
              <a:t>—  Technical introduction and the technology stack</a:t>
            </a:r>
          </a:p>
          <a:p>
            <a:pPr algn="l">
              <a:lnSpc>
                <a:spcPct val="118000"/>
              </a:lnSpc>
              <a:spcBef>
                <a:spcPts val="0"/>
              </a:spcBef>
              <a:spcAft>
                <a:spcPts val="1100"/>
              </a:spcAft>
            </a:pPr>
            <a:r>
              <a:rPr sz="1250" b="1" i="0">
                <a:solidFill>
                  <a:srgbClr val="2A3441"/>
                </a:solidFill>
                <a:latin typeface="Segoe UI"/>
              </a:rPr>
              <a:t>—  Dataset selection, and the audit that changed the project</a:t>
            </a:r>
          </a:p>
        </p:txBody>
      </p:sp>
      <p:sp>
        <p:nvSpPr>
          <p:cNvPr id="9" name="TextBox 8"/>
          <p:cNvSpPr txBox="1"/>
          <p:nvPr/>
        </p:nvSpPr>
        <p:spPr>
          <a:xfrm>
            <a:off x="6297015" y="1572768"/>
            <a:ext cx="5327751" cy="4206240"/>
          </a:xfrm>
          <a:prstGeom prst="rect">
            <a:avLst/>
          </a:prstGeom>
          <a:noFill/>
        </p:spPr>
        <p:txBody>
          <a:bodyPr wrap="square" anchor="t" lIns="0" rIns="0" tIns="0" bIns="0">
            <a:spAutoFit/>
          </a:bodyPr>
          <a:lstStyle/>
          <a:p>
            <a:pPr algn="l">
              <a:lnSpc>
                <a:spcPct val="118000"/>
              </a:lnSpc>
              <a:spcBef>
                <a:spcPts val="0"/>
              </a:spcBef>
              <a:spcAft>
                <a:spcPts val="1100"/>
              </a:spcAft>
            </a:pPr>
            <a:r>
              <a:rPr sz="1250" b="1" i="0">
                <a:solidFill>
                  <a:srgbClr val="2A3441"/>
                </a:solidFill>
                <a:latin typeface="Segoe UI"/>
              </a:rPr>
              <a:t>—  Technical analysis: notebooks 04 to 07, with results</a:t>
            </a:r>
          </a:p>
          <a:p>
            <a:pPr algn="l">
              <a:lnSpc>
                <a:spcPct val="118000"/>
              </a:lnSpc>
              <a:spcBef>
                <a:spcPts val="0"/>
              </a:spcBef>
              <a:spcAft>
                <a:spcPts val="1100"/>
              </a:spcAft>
            </a:pPr>
            <a:r>
              <a:rPr sz="1250" b="1" i="0">
                <a:solidFill>
                  <a:srgbClr val="2A3441"/>
                </a:solidFill>
                <a:latin typeface="Segoe UI"/>
              </a:rPr>
              <a:t>—  How those results produced the ranking mathematics</a:t>
            </a:r>
          </a:p>
          <a:p>
            <a:pPr algn="l">
              <a:lnSpc>
                <a:spcPct val="118000"/>
              </a:lnSpc>
              <a:spcBef>
                <a:spcPts val="0"/>
              </a:spcBef>
              <a:spcAft>
                <a:spcPts val="1100"/>
              </a:spcAft>
            </a:pPr>
            <a:r>
              <a:rPr sz="1250" b="1" i="0">
                <a:solidFill>
                  <a:srgbClr val="2A3441"/>
                </a:solidFill>
                <a:latin typeface="Segoe UI"/>
              </a:rPr>
              <a:t>—  The three-arm evaluation, including the result that went the wrong way</a:t>
            </a:r>
          </a:p>
          <a:p>
            <a:pPr algn="l">
              <a:lnSpc>
                <a:spcPct val="118000"/>
              </a:lnSpc>
              <a:spcBef>
                <a:spcPts val="0"/>
              </a:spcBef>
              <a:spcAft>
                <a:spcPts val="1100"/>
              </a:spcAft>
            </a:pPr>
            <a:r>
              <a:rPr sz="1250" b="1" i="0">
                <a:solidFill>
                  <a:srgbClr val="2A3441"/>
                </a:solidFill>
                <a:latin typeface="Segoe UI"/>
              </a:rPr>
              <a:t>—  Commercial IDS tools, their gaps, and where we fit</a:t>
            </a:r>
          </a:p>
          <a:p>
            <a:pPr algn="l">
              <a:lnSpc>
                <a:spcPct val="118000"/>
              </a:lnSpc>
              <a:spcBef>
                <a:spcPts val="0"/>
              </a:spcBef>
              <a:spcAft>
                <a:spcPts val="1100"/>
              </a:spcAft>
            </a:pPr>
            <a:r>
              <a:rPr sz="1250" b="1" i="0">
                <a:solidFill>
                  <a:srgbClr val="2A3441"/>
                </a:solidFill>
                <a:latin typeface="Segoe UI"/>
              </a:rPr>
              <a:t>—  What the demo covers, what remains planned, and our limitations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ONE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problem</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Networks generate more security events than analysts can read. The evidence says the bottleneck is no longer detection — it is deciding what deserves attention.</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01</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Analysts are drowning in alerts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Volume is not the only problem — context is the missing half.</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a:t>
            </a:r>
          </a:p>
        </p:txBody>
      </p:sp>
      <p:sp>
        <p:nvSpPr>
          <p:cNvPr id="9" name="Rectangle 8"/>
          <p:cNvSpPr/>
          <p:nvPr/>
        </p:nvSpPr>
        <p:spPr>
          <a:xfrm>
            <a:off x="566928"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00784"/>
            <a:ext cx="261358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4944"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Huge</a:t>
            </a:r>
          </a:p>
          <a:p>
            <a:pPr algn="ctr">
              <a:lnSpc>
                <a:spcPct val="112000"/>
              </a:lnSpc>
              <a:spcBef>
                <a:spcPts val="0"/>
              </a:spcBef>
              <a:spcAft>
                <a:spcPts val="0"/>
              </a:spcAft>
            </a:pPr>
            <a:r>
              <a:rPr sz="950" b="0" i="0">
                <a:solidFill>
                  <a:srgbClr val="6B7684"/>
                </a:solidFill>
                <a:latin typeface="Segoe UI"/>
              </a:rPr>
              <a:t>security events generated by modern networks</a:t>
            </a:r>
          </a:p>
        </p:txBody>
      </p:sp>
      <p:sp>
        <p:nvSpPr>
          <p:cNvPr id="12" name="Rectangle 11"/>
          <p:cNvSpPr/>
          <p:nvPr/>
        </p:nvSpPr>
        <p:spPr>
          <a:xfrm>
            <a:off x="3381679"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81679" y="1700784"/>
            <a:ext cx="2613583" cy="45720"/>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09695"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E07B18"/>
                </a:solidFill>
                <a:latin typeface="Segoe UI"/>
              </a:rPr>
              <a:t>Repetitive</a:t>
            </a:r>
          </a:p>
          <a:p>
            <a:pPr algn="ctr">
              <a:lnSpc>
                <a:spcPct val="112000"/>
              </a:lnSpc>
              <a:spcBef>
                <a:spcPts val="0"/>
              </a:spcBef>
              <a:spcAft>
                <a:spcPts val="0"/>
              </a:spcAft>
            </a:pPr>
            <a:r>
              <a:rPr sz="950" b="0" i="0">
                <a:solidFill>
                  <a:srgbClr val="6B7684"/>
                </a:solidFill>
                <a:latin typeface="Segoe UI"/>
              </a:rPr>
              <a:t>low-value alerts that pile up unattended</a:t>
            </a:r>
          </a:p>
        </p:txBody>
      </p:sp>
      <p:sp>
        <p:nvSpPr>
          <p:cNvPr id="15" name="Rectangle 14"/>
          <p:cNvSpPr/>
          <p:nvPr/>
        </p:nvSpPr>
        <p:spPr>
          <a:xfrm>
            <a:off x="6196431"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96431" y="1700784"/>
            <a:ext cx="2613583" cy="45720"/>
          </a:xfrm>
          <a:prstGeom prst="rect">
            <a:avLst/>
          </a:prstGeom>
          <a:solidFill>
            <a:srgbClr val="B08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24447"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B08900"/>
                </a:solidFill>
                <a:latin typeface="Segoe UI"/>
              </a:rPr>
              <a:t>Falling</a:t>
            </a:r>
          </a:p>
          <a:p>
            <a:pPr algn="ctr">
              <a:lnSpc>
                <a:spcPct val="112000"/>
              </a:lnSpc>
              <a:spcBef>
                <a:spcPts val="0"/>
              </a:spcBef>
              <a:spcAft>
                <a:spcPts val="0"/>
              </a:spcAft>
            </a:pPr>
            <a:r>
              <a:rPr sz="950" b="0" i="0">
                <a:solidFill>
                  <a:srgbClr val="6B7684"/>
                </a:solidFill>
                <a:latin typeface="Segoe UI"/>
              </a:rPr>
              <a:t>investigation efficiency as the backlog grows</a:t>
            </a:r>
          </a:p>
        </p:txBody>
      </p:sp>
      <p:sp>
        <p:nvSpPr>
          <p:cNvPr id="18" name="Rectangle 17"/>
          <p:cNvSpPr/>
          <p:nvPr/>
        </p:nvSpPr>
        <p:spPr>
          <a:xfrm>
            <a:off x="9011183"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011183" y="1700784"/>
            <a:ext cx="2613583"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39199"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C0392B"/>
                </a:solidFill>
                <a:latin typeface="Segoe UI"/>
              </a:rPr>
              <a:t>Fatigue</a:t>
            </a:r>
          </a:p>
          <a:p>
            <a:pPr algn="ctr">
              <a:lnSpc>
                <a:spcPct val="112000"/>
              </a:lnSpc>
              <a:spcBef>
                <a:spcPts val="0"/>
              </a:spcBef>
              <a:spcAft>
                <a:spcPts val="0"/>
              </a:spcAft>
            </a:pPr>
            <a:r>
              <a:rPr sz="950" b="0" i="0">
                <a:solidFill>
                  <a:srgbClr val="6B7684"/>
                </a:solidFill>
                <a:latin typeface="Segoe UI"/>
              </a:rPr>
              <a:t>the human result of triaging without context</a:t>
            </a:r>
          </a:p>
        </p:txBody>
      </p:sp>
      <p:sp>
        <p:nvSpPr>
          <p:cNvPr id="21" name="TextBox 20"/>
          <p:cNvSpPr txBox="1"/>
          <p:nvPr/>
        </p:nvSpPr>
        <p:spPr>
          <a:xfrm>
            <a:off x="566928" y="2962656"/>
            <a:ext cx="11057839" cy="2377440"/>
          </a:xfrm>
          <a:prstGeom prst="rect">
            <a:avLst/>
          </a:prstGeom>
          <a:noFill/>
        </p:spPr>
        <p:txBody>
          <a:bodyPr wrap="square" anchor="t" lIns="0" rIns="0" tIns="0" bIns="0">
            <a:spAutoFit/>
          </a:bodyPr>
          <a:lstStyle/>
          <a:p>
            <a:pPr algn="l">
              <a:lnSpc>
                <a:spcPct val="118000"/>
              </a:lnSpc>
              <a:spcBef>
                <a:spcPts val="0"/>
              </a:spcBef>
              <a:spcAft>
                <a:spcPts val="900"/>
              </a:spcAft>
            </a:pPr>
            <a:r>
              <a:rPr sz="1250" b="0" i="0">
                <a:solidFill>
                  <a:srgbClr val="2A3441"/>
                </a:solidFill>
                <a:latin typeface="Segoe UI"/>
              </a:rPr>
              <a:t>Modern networks generate enormous volumes of security activity, so analysts cannot tell quickly what needs attention first.</a:t>
            </a:r>
          </a:p>
          <a:p>
            <a:pPr algn="l">
              <a:lnSpc>
                <a:spcPct val="118000"/>
              </a:lnSpc>
              <a:spcBef>
                <a:spcPts val="0"/>
              </a:spcBef>
              <a:spcAft>
                <a:spcPts val="900"/>
              </a:spcAft>
            </a:pPr>
            <a:r>
              <a:rPr sz="1250" b="0" i="0">
                <a:solidFill>
                  <a:srgbClr val="2A3441"/>
                </a:solidFill>
                <a:latin typeface="Segoe UI"/>
              </a:rPr>
              <a:t>Signature and machine-learning detectors each catch different patterns, but neither understands operational context.</a:t>
            </a:r>
          </a:p>
          <a:p>
            <a:pPr algn="l">
              <a:lnSpc>
                <a:spcPct val="118000"/>
              </a:lnSpc>
              <a:spcBef>
                <a:spcPts val="0"/>
              </a:spcBef>
              <a:spcAft>
                <a:spcPts val="900"/>
              </a:spcAft>
            </a:pPr>
            <a:r>
              <a:rPr sz="1250" b="0" i="0">
                <a:solidFill>
                  <a:srgbClr val="2A3441"/>
                </a:solidFill>
                <a:latin typeface="Segoe UI"/>
              </a:rPr>
              <a:t>An event flagged as malicious may be authorised, expected, or a scheduled scan inside a given environment.</a:t>
            </a:r>
          </a:p>
          <a:p>
            <a:pPr algn="l">
              <a:lnSpc>
                <a:spcPct val="118000"/>
              </a:lnSpc>
              <a:spcBef>
                <a:spcPts val="0"/>
              </a:spcBef>
              <a:spcAft>
                <a:spcPts val="900"/>
              </a:spcAft>
            </a:pPr>
            <a:r>
              <a:rPr sz="1250" b="0" i="0">
                <a:solidFill>
                  <a:srgbClr val="2A3441"/>
                </a:solidFill>
                <a:latin typeface="Segoe UI"/>
              </a:rPr>
              <a:t>The result is the same in every report: repetitive low-value alerts accumulate, investigation efficiency drops, and alert fatigue sets in.</a:t>
            </a:r>
          </a:p>
        </p:txBody>
      </p:sp>
      <p:sp>
        <p:nvSpPr>
          <p:cNvPr id="22" name="Rectangle 21"/>
          <p:cNvSpPr/>
          <p:nvPr/>
        </p:nvSpPr>
        <p:spPr>
          <a:xfrm>
            <a:off x="566928" y="5138928"/>
            <a:ext cx="11057839" cy="786384"/>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8096" y="5266944"/>
            <a:ext cx="10655503" cy="566928"/>
          </a:xfrm>
          <a:prstGeom prst="rect">
            <a:avLst/>
          </a:prstGeom>
          <a:noFill/>
        </p:spPr>
        <p:txBody>
          <a:bodyPr wrap="square" anchor="t" lIns="0" rIns="0" tIns="0" bIns="0">
            <a:spAutoFit/>
          </a:bodyPr>
          <a:lstStyle/>
          <a:p>
            <a:pPr algn="l">
              <a:lnSpc>
                <a:spcPct val="115000"/>
              </a:lnSpc>
              <a:spcBef>
                <a:spcPts val="0"/>
              </a:spcBef>
              <a:spcAft>
                <a:spcPts val="300"/>
              </a:spcAft>
            </a:pPr>
            <a:r>
              <a:rPr sz="1250" b="1" i="0">
                <a:solidFill>
                  <a:srgbClr val="0F2A47"/>
                </a:solidFill>
                <a:latin typeface="Segoe UI"/>
              </a:rPr>
              <a:t>The bottleneck has moved. Detection is no longer the hard part — deciding what deserves a human's attention is.</a:t>
            </a:r>
          </a:p>
          <a:p>
            <a:pPr algn="l">
              <a:spcBef>
                <a:spcPts val="0"/>
              </a:spcBef>
              <a:spcAft>
                <a:spcPts val="0"/>
              </a:spcAft>
            </a:pPr>
            <a:r>
              <a:rPr sz="1050" b="0" i="0">
                <a:solidFill>
                  <a:srgbClr val="6B7684"/>
                </a:solidFill>
                <a:latin typeface="Segoe UI"/>
              </a:rPr>
              <a:t>That is the problem this project takes as its starting 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the research says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Sources below were fetched and read; two further papers are cited from metadata only, and are marked as such.</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5</a:t>
            </a:r>
          </a:p>
        </p:txBody>
      </p:sp>
      <p:graphicFrame>
        <p:nvGraphicFramePr>
          <p:cNvPr id="9" name="Table 8"/>
          <p:cNvGraphicFramePr>
            <a:graphicFrameLocks noGrp="1"/>
          </p:cNvGraphicFramePr>
          <p:nvPr/>
        </p:nvGraphicFramePr>
        <p:xfrm>
          <a:off x="566928" y="1773936"/>
          <a:ext cx="11091671" cy="3904488"/>
        </p:xfrm>
        <a:graphic>
          <a:graphicData uri="http://schemas.openxmlformats.org/drawingml/2006/table">
            <a:tbl>
              <a:tblPr firstRow="0" bandRow="0"/>
              <a:tblGrid>
                <a:gridCol w="1874519"/>
                <a:gridCol w="4617720"/>
                <a:gridCol w="4599432"/>
              </a:tblGrid>
              <a:tr h="292608">
                <a:tc>
                  <a:txBody>
                    <a:bodyPr wrap="square"/>
                    <a:lstStyle/>
                    <a:p>
                      <a:pPr algn="l"/>
                      <a:r>
                        <a:rPr sz="900" b="1">
                          <a:solidFill>
                            <a:srgbClr val="FFFFFF"/>
                          </a:solidFill>
                          <a:latin typeface="Segoe UI"/>
                        </a:rPr>
                        <a:t>Source</a:t>
                      </a:r>
                    </a:p>
                  </a:txBody>
                  <a:tcPr marL="82296" marR="82296" marT="13716" marB="13716" anchor="ctr">
                    <a:solidFill>
                      <a:srgbClr val="0F2A47"/>
                    </a:solidFill>
                  </a:tcPr>
                </a:tc>
                <a:tc>
                  <a:txBody>
                    <a:bodyPr wrap="square"/>
                    <a:lstStyle/>
                    <a:p>
                      <a:pPr algn="l"/>
                      <a:r>
                        <a:rPr sz="900" b="1">
                          <a:solidFill>
                            <a:srgbClr val="FFFFFF"/>
                          </a:solidFill>
                          <a:latin typeface="Segoe UI"/>
                        </a:rPr>
                        <a:t>What it found</a:t>
                      </a:r>
                    </a:p>
                  </a:txBody>
                  <a:tcPr marL="82296" marR="82296" marT="13716" marB="13716" anchor="ctr">
                    <a:solidFill>
                      <a:srgbClr val="0F2A47"/>
                    </a:solidFill>
                  </a:tcPr>
                </a:tc>
                <a:tc>
                  <a:txBody>
                    <a:bodyPr wrap="square"/>
                    <a:lstStyle/>
                    <a:p>
                      <a:pPr algn="l"/>
                      <a:r>
                        <a:rPr sz="900" b="1">
                          <a:solidFill>
                            <a:srgbClr val="FFFFFF"/>
                          </a:solidFill>
                          <a:latin typeface="Segoe UI"/>
                        </a:rPr>
                        <a:t>Why it shapes our design</a:t>
                      </a:r>
                    </a:p>
                  </a:txBody>
                  <a:tcPr marL="82296" marR="82296" marT="13716" marB="13716" anchor="ctr">
                    <a:solidFill>
                      <a:srgbClr val="0F2A47"/>
                    </a:solidFill>
                  </a:tcPr>
                </a:tc>
              </a:tr>
              <a:tr h="722376">
                <a:tc>
                  <a:txBody>
                    <a:bodyPr wrap="square"/>
                    <a:lstStyle/>
                    <a:p>
                      <a:pPr algn="l"/>
                      <a:r>
                        <a:rPr sz="930" b="0">
                          <a:solidFill>
                            <a:srgbClr val="2A3441"/>
                          </a:solidFill>
                          <a:latin typeface="Segoe UI"/>
                        </a:rPr>
                        <a:t>Too Much to Trust?
(CCS 2025)</a:t>
                      </a:r>
                    </a:p>
                  </a:txBody>
                  <a:tcPr marL="82296" marR="82296" marT="13716" marB="13716" anchor="ctr">
                    <a:solidFill>
                      <a:srgbClr val="FFFFFF"/>
                    </a:solidFill>
                  </a:tcPr>
                </a:tc>
                <a:tc>
                  <a:txBody>
                    <a:bodyPr wrap="square"/>
                    <a:lstStyle/>
                    <a:p>
                      <a:pPr algn="l"/>
                      <a:r>
                        <a:rPr sz="930" b="0">
                          <a:solidFill>
                            <a:srgbClr val="2A3441"/>
                          </a:solidFill>
                          <a:latin typeface="Segoe UI"/>
                        </a:rPr>
                        <a:t>Survey N = 248, interviews N = 24. Analysts accepted explainable output when explanations were relevant and evidence-backed.</a:t>
                      </a:r>
                    </a:p>
                  </a:txBody>
                  <a:tcPr marL="82296" marR="82296" marT="13716" marB="13716" anchor="ctr">
                    <a:solidFill>
                      <a:srgbClr val="FFFFFF"/>
                    </a:solidFill>
                  </a:tcPr>
                </a:tc>
                <a:tc>
                  <a:txBody>
                    <a:bodyPr wrap="square"/>
                    <a:lstStyle/>
                    <a:p>
                      <a:pPr algn="l"/>
                      <a:r>
                        <a:rPr sz="930" b="0">
                          <a:solidFill>
                            <a:srgbClr val="2A3441"/>
                          </a:solidFill>
                          <a:latin typeface="Segoe UI"/>
                        </a:rPr>
                        <a:t>Pair every model verdict with raw evidence, not model internals.</a:t>
                      </a:r>
                    </a:p>
                  </a:txBody>
                  <a:tcPr marL="82296" marR="82296" marT="13716" marB="13716" anchor="ctr">
                    <a:solidFill>
                      <a:srgbClr val="FFFFFF"/>
                    </a:solidFill>
                  </a:tcPr>
                </a:tc>
              </a:tr>
              <a:tr h="722376">
                <a:tc>
                  <a:txBody>
                    <a:bodyPr wrap="square"/>
                    <a:lstStyle/>
                    <a:p>
                      <a:pPr algn="l"/>
                      <a:r>
                        <a:rPr sz="930" b="0">
                          <a:solidFill>
                            <a:srgbClr val="2A3441"/>
                          </a:solidFill>
                          <a:latin typeface="Segoe UI"/>
                        </a:rPr>
                        <a:t>ContextBuddy
(2025)</a:t>
                      </a:r>
                    </a:p>
                  </a:txBody>
                  <a:tcPr marL="82296" marR="82296" marT="13716" marB="13716" anchor="ctr">
                    <a:solidFill>
                      <a:srgbClr val="F4F7FB"/>
                    </a:solidFill>
                  </a:tcPr>
                </a:tc>
                <a:tc>
                  <a:txBody>
                    <a:bodyPr wrap="square"/>
                    <a:lstStyle/>
                    <a:p>
                      <a:pPr algn="l"/>
                      <a:r>
                        <a:rPr sz="930" b="0">
                          <a:solidFill>
                            <a:srgbClr val="2A3441"/>
                          </a:solidFill>
                          <a:latin typeface="Segoe UI"/>
                        </a:rPr>
                        <a:t>Recommending relevant context cues raised classification accuracy 21.1% and cut alert-validation time 24%.</a:t>
                      </a:r>
                    </a:p>
                  </a:txBody>
                  <a:tcPr marL="82296" marR="82296" marT="13716" marB="13716" anchor="ctr">
                    <a:solidFill>
                      <a:srgbClr val="F4F7FB"/>
                    </a:solidFill>
                  </a:tcPr>
                </a:tc>
                <a:tc>
                  <a:txBody>
                    <a:bodyPr wrap="square"/>
                    <a:lstStyle/>
                    <a:p>
                      <a:pPr algn="l"/>
                      <a:r>
                        <a:rPr sz="930" b="0">
                          <a:solidFill>
                            <a:srgbClr val="2A3441"/>
                          </a:solidFill>
                          <a:latin typeface="Segoe UI"/>
                        </a:rPr>
                        <a:t>Show a short, curated key-evidence panel instead of every field.</a:t>
                      </a:r>
                    </a:p>
                  </a:txBody>
                  <a:tcPr marL="82296" marR="82296" marT="13716" marB="13716" anchor="ctr">
                    <a:solidFill>
                      <a:srgbClr val="F4F7FB"/>
                    </a:solidFill>
                  </a:tcPr>
                </a:tc>
              </a:tr>
              <a:tr h="722376">
                <a:tc>
                  <a:txBody>
                    <a:bodyPr wrap="square"/>
                    <a:lstStyle/>
                    <a:p>
                      <a:pPr algn="l"/>
                      <a:r>
                        <a:rPr sz="930" b="0">
                          <a:solidFill>
                            <a:srgbClr val="2A3441"/>
                          </a:solidFill>
                          <a:latin typeface="Segoe UI"/>
                        </a:rPr>
                        <a:t>Decision-Aware Trust
Signal Alignment</a:t>
                      </a:r>
                    </a:p>
                  </a:txBody>
                  <a:tcPr marL="82296" marR="82296" marT="13716" marB="13716" anchor="ctr">
                    <a:solidFill>
                      <a:srgbClr val="FFFFFF"/>
                    </a:solidFill>
                  </a:tcPr>
                </a:tc>
                <a:tc>
                  <a:txBody>
                    <a:bodyPr wrap="square"/>
                    <a:lstStyle/>
                    <a:p>
                      <a:pPr algn="l"/>
                      <a:r>
                        <a:rPr sz="930" b="0">
                          <a:solidFill>
                            <a:srgbClr val="2A3441"/>
                          </a:solidFill>
                          <a:latin typeface="Segoe UI"/>
                        </a:rPr>
                        <a:t>Uncalibrated confidence displays are hard to read under pressure and amplify false negatives.</a:t>
                      </a:r>
                    </a:p>
                  </a:txBody>
                  <a:tcPr marL="82296" marR="82296" marT="13716" marB="13716" anchor="ctr">
                    <a:solidFill>
                      <a:srgbClr val="FFFFFF"/>
                    </a:solidFill>
                  </a:tcPr>
                </a:tc>
                <a:tc>
                  <a:txBody>
                    <a:bodyPr wrap="square"/>
                    <a:lstStyle/>
                    <a:p>
                      <a:pPr algn="l"/>
                      <a:r>
                        <a:rPr sz="930" b="0">
                          <a:solidFill>
                            <a:srgbClr val="2A3441"/>
                          </a:solidFill>
                          <a:latin typeface="Segoe UI"/>
                        </a:rPr>
                        <a:t>Show confidence as a band, and keep guardrail floors separate from model confidence.</a:t>
                      </a:r>
                    </a:p>
                  </a:txBody>
                  <a:tcPr marL="82296" marR="82296" marT="13716" marB="13716" anchor="ctr">
                    <a:solidFill>
                      <a:srgbClr val="FFFFFF"/>
                    </a:solidFill>
                  </a:tcPr>
                </a:tc>
              </a:tr>
              <a:tr h="722376">
                <a:tc>
                  <a:txBody>
                    <a:bodyPr wrap="square"/>
                    <a:lstStyle/>
                    <a:p>
                      <a:pPr algn="l"/>
                      <a:r>
                        <a:rPr sz="930" b="0">
                          <a:solidFill>
                            <a:srgbClr val="2A3441"/>
                          </a:solidFill>
                          <a:latin typeface="Segoe UI"/>
                        </a:rPr>
                        <a:t>LLMs in the SOC
(2025)</a:t>
                      </a:r>
                    </a:p>
                  </a:txBody>
                  <a:tcPr marL="82296" marR="82296" marT="13716" marB="13716" anchor="ctr">
                    <a:solidFill>
                      <a:srgbClr val="F4F7FB"/>
                    </a:solidFill>
                  </a:tcPr>
                </a:tc>
                <a:tc>
                  <a:txBody>
                    <a:bodyPr wrap="square"/>
                    <a:lstStyle/>
                    <a:p>
                      <a:pPr algn="l"/>
                      <a:r>
                        <a:rPr sz="930" b="0">
                          <a:solidFill>
                            <a:srgbClr val="2A3441"/>
                          </a:solidFill>
                          <a:latin typeface="Segoe UI"/>
                        </a:rPr>
                        <a:t>3,090 queries from 45 analysts over 10 months. Analysts retained decision authority and used AI as a sensemaking aid.</a:t>
                      </a:r>
                    </a:p>
                  </a:txBody>
                  <a:tcPr marL="82296" marR="82296" marT="13716" marB="13716" anchor="ctr">
                    <a:solidFill>
                      <a:srgbClr val="F4F7FB"/>
                    </a:solidFill>
                  </a:tcPr>
                </a:tc>
                <a:tc>
                  <a:txBody>
                    <a:bodyPr wrap="square"/>
                    <a:lstStyle/>
                    <a:p>
                      <a:pPr algn="l"/>
                      <a:r>
                        <a:rPr sz="930" b="0">
                          <a:solidFill>
                            <a:srgbClr val="2A3441"/>
                          </a:solidFill>
                          <a:latin typeface="Segoe UI"/>
                        </a:rPr>
                        <a:t>The model advises; the verdict is always the analyst's.</a:t>
                      </a:r>
                    </a:p>
                  </a:txBody>
                  <a:tcPr marL="82296" marR="82296" marT="13716" marB="13716" anchor="ctr">
                    <a:solidFill>
                      <a:srgbClr val="F4F7FB"/>
                    </a:solidFill>
                  </a:tcPr>
                </a:tc>
              </a:tr>
              <a:tr h="722376">
                <a:tc>
                  <a:txBody>
                    <a:bodyPr wrap="square"/>
                    <a:lstStyle/>
                    <a:p>
                      <a:pPr algn="l"/>
                      <a:r>
                        <a:rPr sz="930" b="0">
                          <a:solidFill>
                            <a:srgbClr val="2A3441"/>
                          </a:solidFill>
                          <a:latin typeface="Segoe UI"/>
                        </a:rPr>
                        <a:t>Vendor console docs
(Sentinel, Elastic, Splunk)</a:t>
                      </a:r>
                    </a:p>
                  </a:txBody>
                  <a:tcPr marL="82296" marR="82296" marT="13716" marB="13716" anchor="ctr">
                    <a:solidFill>
                      <a:srgbClr val="FFFFFF"/>
                    </a:solidFill>
                  </a:tcPr>
                </a:tc>
                <a:tc>
                  <a:txBody>
                    <a:bodyPr wrap="square"/>
                    <a:lstStyle/>
                    <a:p>
                      <a:pPr algn="l"/>
                      <a:r>
                        <a:rPr sz="930" b="0">
                          <a:solidFill>
                            <a:srgbClr val="2A3441"/>
                          </a:solidFill>
                          <a:latin typeface="Segoe UI"/>
                        </a:rPr>
                        <a:t>Every console requires a closing classification, and all expose owner, status and severity as triage controls.</a:t>
                      </a:r>
                    </a:p>
                  </a:txBody>
                  <a:tcPr marL="82296" marR="82296" marT="13716" marB="13716" anchor="ctr">
                    <a:solidFill>
                      <a:srgbClr val="FFFFFF"/>
                    </a:solidFill>
                  </a:tcPr>
                </a:tc>
                <a:tc>
                  <a:txBody>
                    <a:bodyPr wrap="square"/>
                    <a:lstStyle/>
                    <a:p>
                      <a:pPr algn="l"/>
                      <a:r>
                        <a:rPr sz="930" b="0">
                          <a:solidFill>
                            <a:srgbClr val="2A3441"/>
                          </a:solidFill>
                          <a:latin typeface="Segoe UI"/>
                        </a:rPr>
                        <a:t>One verdict per alert, with industry-standard labels.</a:t>
                      </a:r>
                    </a:p>
                  </a:txBody>
                  <a:tcPr marL="82296" marR="82296" marT="13716" marB="13716" anchor="ctr">
                    <a:solidFill>
                      <a:srgbClr val="FFFFFF"/>
                    </a:solidFill>
                  </a:tcPr>
                </a:tc>
              </a:tr>
            </a:tbl>
          </a:graphicData>
        </a:graphic>
      </p:graphicFrame>
      <p:sp>
        <p:nvSpPr>
          <p:cNvPr id="10" name="TextBox 9"/>
          <p:cNvSpPr txBox="1"/>
          <p:nvPr/>
        </p:nvSpPr>
        <p:spPr>
          <a:xfrm>
            <a:off x="566928" y="6089904"/>
            <a:ext cx="11057839" cy="365760"/>
          </a:xfrm>
          <a:prstGeom prst="rect">
            <a:avLst/>
          </a:prstGeom>
          <a:noFill/>
        </p:spPr>
        <p:txBody>
          <a:bodyPr wrap="square" anchor="t" lIns="0" rIns="0" tIns="0" bIns="0">
            <a:spAutoFit/>
          </a:bodyPr>
          <a:lstStyle/>
          <a:p>
            <a:pPr algn="l">
              <a:lnSpc>
                <a:spcPct val="115000"/>
              </a:lnSpc>
              <a:spcBef>
                <a:spcPts val="0"/>
              </a:spcBef>
              <a:spcAft>
                <a:spcPts val="0"/>
              </a:spcAft>
            </a:pPr>
            <a:r>
              <a:rPr sz="900" b="0" i="1">
                <a:solidFill>
                  <a:srgbClr val="6B7684"/>
                </a:solidFill>
                <a:latin typeface="Segoe UI"/>
              </a:rPr>
              <a:t>Cited from metadata only, not yet re-fetched: Alahmadi et al., “99% False Positives” (USENIX Security 2022) and Tariq et al., “Alert Fatigue in SOCs” (ACM CSUR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automation alone falls short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6</a:t>
            </a:r>
          </a:p>
        </p:txBody>
      </p:sp>
      <p:sp>
        <p:nvSpPr>
          <p:cNvPr id="8" name="Rectangle 7"/>
          <p:cNvSpPr/>
          <p:nvPr/>
        </p:nvSpPr>
        <p:spPr>
          <a:xfrm>
            <a:off x="566928" y="1517904"/>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17904"/>
            <a:ext cx="50292" cy="15179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1627631"/>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Signature-based detection</a:t>
            </a:r>
          </a:p>
          <a:p>
            <a:pPr algn="l">
              <a:lnSpc>
                <a:spcPct val="120000"/>
              </a:lnSpc>
              <a:spcBef>
                <a:spcPts val="0"/>
              </a:spcBef>
              <a:spcAft>
                <a:spcPts val="0"/>
              </a:spcAft>
            </a:pPr>
            <a:r>
              <a:rPr sz="1070" b="0" i="0">
                <a:solidFill>
                  <a:srgbClr val="2A3441"/>
                </a:solidFill>
                <a:latin typeface="Segoe UI"/>
              </a:rPr>
              <a:t>Matches known attack patterns against packet and flow fields. Precise and human-checkable — but blind to anything new, and it offers no way to say which of its matches matter most.</a:t>
            </a:r>
          </a:p>
        </p:txBody>
      </p:sp>
      <p:sp>
        <p:nvSpPr>
          <p:cNvPr id="11" name="Rectangle 10"/>
          <p:cNvSpPr/>
          <p:nvPr/>
        </p:nvSpPr>
        <p:spPr>
          <a:xfrm>
            <a:off x="6205575" y="1517904"/>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05575" y="1517904"/>
            <a:ext cx="50292" cy="15179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8455" y="1627631"/>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Machine-learning detection</a:t>
            </a:r>
          </a:p>
          <a:p>
            <a:pPr algn="l">
              <a:lnSpc>
                <a:spcPct val="120000"/>
              </a:lnSpc>
              <a:spcBef>
                <a:spcPts val="0"/>
              </a:spcBef>
              <a:spcAft>
                <a:spcPts val="0"/>
              </a:spcAft>
            </a:pPr>
            <a:r>
              <a:rPr sz="1070" b="0" i="0">
                <a:solidFill>
                  <a:srgbClr val="2A3441"/>
                </a:solidFill>
                <a:latin typeface="Segoe UI"/>
              </a:rPr>
              <a:t>Finds complex patterns that rules cannot express. Powerful on volume — but an opaque decision, and its confidence is only useful where it is calibrated.</a:t>
            </a:r>
          </a:p>
        </p:txBody>
      </p:sp>
      <p:sp>
        <p:nvSpPr>
          <p:cNvPr id="14" name="Rectangle 13"/>
          <p:cNvSpPr/>
          <p:nvPr/>
        </p:nvSpPr>
        <p:spPr>
          <a:xfrm>
            <a:off x="566928" y="3218687"/>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3218687"/>
            <a:ext cx="50292" cy="1517904"/>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8" y="3328415"/>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Operational context</a:t>
            </a:r>
          </a:p>
          <a:p>
            <a:pPr algn="l">
              <a:lnSpc>
                <a:spcPct val="120000"/>
              </a:lnSpc>
              <a:spcBef>
                <a:spcPts val="0"/>
              </a:spcBef>
              <a:spcAft>
                <a:spcPts val="0"/>
              </a:spcAft>
            </a:pPr>
            <a:r>
              <a:rPr sz="1070" b="0" i="0">
                <a:solidFill>
                  <a:srgbClr val="2A3441"/>
                </a:solidFill>
                <a:latin typeface="Segoe UI"/>
              </a:rPr>
              <a:t>Neither approach can know whether a flagged event is authorised or expected in this environment. That judgement is organisational knowledge, and it lives with the analyst.</a:t>
            </a:r>
          </a:p>
        </p:txBody>
      </p:sp>
      <p:sp>
        <p:nvSpPr>
          <p:cNvPr id="17" name="Rectangle 16"/>
          <p:cNvSpPr/>
          <p:nvPr/>
        </p:nvSpPr>
        <p:spPr>
          <a:xfrm>
            <a:off x="6205575" y="3218687"/>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05575" y="3218687"/>
            <a:ext cx="50292" cy="1517904"/>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88455" y="3328415"/>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The triage burden</a:t>
            </a:r>
          </a:p>
          <a:p>
            <a:pPr algn="l">
              <a:lnSpc>
                <a:spcPct val="120000"/>
              </a:lnSpc>
              <a:spcBef>
                <a:spcPts val="0"/>
              </a:spcBef>
              <a:spcAft>
                <a:spcPts val="0"/>
              </a:spcAft>
            </a:pPr>
            <a:r>
              <a:rPr sz="1070" b="0" i="0">
                <a:solidFill>
                  <a:srgbClr val="2A3441"/>
                </a:solidFill>
                <a:latin typeface="Segoe UI"/>
              </a:rPr>
              <a:t>Existing products still produce high alert volumes, need complex configuration, and give limited transparency into how analyst feedback is supposed to change prioritisation.</a:t>
            </a:r>
          </a:p>
        </p:txBody>
      </p:sp>
      <p:sp>
        <p:nvSpPr>
          <p:cNvPr id="20" name="Rectangle 19"/>
          <p:cNvSpPr/>
          <p:nvPr/>
        </p:nvSpPr>
        <p:spPr>
          <a:xfrm>
            <a:off x="566928" y="4846320"/>
            <a:ext cx="11057839" cy="107899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6384" y="4956048"/>
            <a:ext cx="10618927" cy="877824"/>
          </a:xfrm>
          <a:prstGeom prst="rect">
            <a:avLst/>
          </a:prstGeom>
          <a:noFill/>
        </p:spPr>
        <p:txBody>
          <a:bodyPr wrap="square" anchor="t" lIns="0" rIns="0" tIns="0" bIns="0">
            <a:spAutoFit/>
          </a:bodyPr>
          <a:lstStyle/>
          <a:p>
            <a:pPr algn="l">
              <a:lnSpc>
                <a:spcPct val="115000"/>
              </a:lnSpc>
              <a:spcBef>
                <a:spcPts val="0"/>
              </a:spcBef>
              <a:spcAft>
                <a:spcPts val="400"/>
              </a:spcAft>
            </a:pPr>
            <a:r>
              <a:rPr sz="1300" b="1" i="0">
                <a:solidFill>
                  <a:srgbClr val="0F2A47"/>
                </a:solidFill>
                <a:latin typeface="Segoe UI"/>
              </a:rPr>
              <a:t>→  We need automation and human judgement, working together — and we need the machine to tell the analyst where its own evidence is weak.</a:t>
            </a:r>
          </a:p>
          <a:p>
            <a:pPr algn="l">
              <a:lnSpc>
                <a:spcPct val="120000"/>
              </a:lnSpc>
              <a:spcBef>
                <a:spcPts val="0"/>
              </a:spcBef>
              <a:spcAft>
                <a:spcPts val="0"/>
              </a:spcAft>
            </a:pPr>
            <a:r>
              <a:rPr sz="1050" b="0" i="0">
                <a:solidFill>
                  <a:srgbClr val="6B7684"/>
                </a:solidFill>
                <a:latin typeface="Segoe UI"/>
              </a:rPr>
              <a:t>That is the design premise of a human-in-the-loop system: the machine narrows the field, the human supplies context, and the system learns from the human's decision.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TWO</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Our solution</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A hybrid detector that ranks its own evidence, and an analyst verdict that re-ranks future alerts — inside guardrails that explain themselves.</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02</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OUR SOLUTION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we built, and the claim we can defend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8</a:t>
            </a:r>
          </a:p>
        </p:txBody>
      </p:sp>
      <p:sp>
        <p:nvSpPr>
          <p:cNvPr id="8" name="Rectangle 7"/>
          <p:cNvSpPr/>
          <p:nvPr/>
        </p:nvSpPr>
        <p:spPr>
          <a:xfrm>
            <a:off x="566928" y="1481328"/>
            <a:ext cx="11057839" cy="859536"/>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 y="1609344"/>
            <a:ext cx="10618927" cy="621792"/>
          </a:xfrm>
          <a:prstGeom prst="rect">
            <a:avLst/>
          </a:prstGeom>
          <a:noFill/>
        </p:spPr>
        <p:txBody>
          <a:bodyPr wrap="square" anchor="t" lIns="0" rIns="0" tIns="0" bIns="0">
            <a:spAutoFit/>
          </a:bodyPr>
          <a:lstStyle/>
          <a:p>
            <a:pPr algn="l">
              <a:lnSpc>
                <a:spcPct val="120000"/>
              </a:lnSpc>
              <a:spcBef>
                <a:spcPts val="0"/>
              </a:spcBef>
              <a:spcAft>
                <a:spcPts val="0"/>
              </a:spcAft>
            </a:pPr>
            <a:r>
              <a:rPr sz="1350" b="1" i="0">
                <a:solidFill>
                  <a:srgbClr val="FFFFFF"/>
                </a:solidFill>
                <a:latin typeface="Segoe UI"/>
              </a:rPr>
              <a:t>The model is confidently wrong. A human overrules it inside guardrails that explain themselves, and the correction spreads — measurably, and within limits — to the alerts like it.</a:t>
            </a:r>
          </a:p>
        </p:txBody>
      </p:sp>
      <p:sp>
        <p:nvSpPr>
          <p:cNvPr id="10" name="Rectangle 9"/>
          <p:cNvSpPr/>
          <p:nvPr/>
        </p:nvSpPr>
        <p:spPr>
          <a:xfrm>
            <a:off x="566928" y="2487168"/>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487168"/>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2596896"/>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1 · Fuse two detectors into one ranked alert</a:t>
            </a:r>
          </a:p>
          <a:p>
            <a:pPr algn="l">
              <a:lnSpc>
                <a:spcPct val="120000"/>
              </a:lnSpc>
              <a:spcBef>
                <a:spcPts val="0"/>
              </a:spcBef>
              <a:spcAft>
                <a:spcPts val="0"/>
              </a:spcAft>
            </a:pPr>
            <a:r>
              <a:rPr sz="1050" b="0" i="0">
                <a:solidFill>
                  <a:srgbClr val="2A3441"/>
                </a:solidFill>
                <a:latin typeface="Segoe UI"/>
              </a:rPr>
              <a:t>A signature engine and an 8-class XGBoost model score every flow. Fusion assigns one evidence class, one score, one review flag and one explanation.</a:t>
            </a:r>
          </a:p>
        </p:txBody>
      </p:sp>
      <p:sp>
        <p:nvSpPr>
          <p:cNvPr id="13" name="Rectangle 12"/>
          <p:cNvSpPr/>
          <p:nvPr/>
        </p:nvSpPr>
        <p:spPr>
          <a:xfrm>
            <a:off x="6205575" y="2487168"/>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05575" y="2487168"/>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88455" y="2596896"/>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2 · Show the analyst why</a:t>
            </a:r>
          </a:p>
          <a:p>
            <a:pPr algn="l">
              <a:lnSpc>
                <a:spcPct val="120000"/>
              </a:lnSpc>
              <a:spcBef>
                <a:spcPts val="0"/>
              </a:spcBef>
              <a:spcAft>
                <a:spcPts val="0"/>
              </a:spcAft>
            </a:pPr>
            <a:r>
              <a:rPr sz="1050" b="0" i="0">
                <a:solidFill>
                  <a:srgbClr val="2A3441"/>
                </a:solidFill>
                <a:latin typeface="Segoe UI"/>
              </a:rPr>
              <a:t>Every alert carries the rule's checkable clauses, the model's prediction, and a native TreeSHAP attribution of the features that pushed towards and away.</a:t>
            </a:r>
          </a:p>
        </p:txBody>
      </p:sp>
      <p:sp>
        <p:nvSpPr>
          <p:cNvPr id="16" name="Rectangle 15"/>
          <p:cNvSpPr/>
          <p:nvPr/>
        </p:nvSpPr>
        <p:spPr>
          <a:xfrm>
            <a:off x="566928" y="4151376"/>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151376"/>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9808" y="4261104"/>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3 · Take the analyst's verdict</a:t>
            </a:r>
          </a:p>
          <a:p>
            <a:pPr algn="l">
              <a:lnSpc>
                <a:spcPct val="120000"/>
              </a:lnSpc>
              <a:spcBef>
                <a:spcPts val="0"/>
              </a:spcBef>
              <a:spcAft>
                <a:spcPts val="0"/>
              </a:spcAft>
            </a:pPr>
            <a:r>
              <a:rPr sz="1050" b="0" i="0">
                <a:solidFill>
                  <a:srgbClr val="2A3441"/>
                </a:solidFill>
                <a:latin typeface="Segoe UI"/>
              </a:rPr>
              <a:t>One of five verdicts per alert. The verdict moves the alert's operational score through the guardrails, and the adjustment chain states exactly how far it moved and why.</a:t>
            </a:r>
          </a:p>
        </p:txBody>
      </p:sp>
      <p:sp>
        <p:nvSpPr>
          <p:cNvPr id="19" name="Rectangle 18"/>
          <p:cNvSpPr/>
          <p:nvPr/>
        </p:nvSpPr>
        <p:spPr>
          <a:xfrm>
            <a:off x="6205575" y="4151376"/>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05575" y="4151376"/>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88455" y="4261104"/>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4 · Spread it to similar alerts</a:t>
            </a:r>
          </a:p>
          <a:p>
            <a:pPr algn="l">
              <a:lnSpc>
                <a:spcPct val="120000"/>
              </a:lnSpc>
              <a:spcBef>
                <a:spcPts val="0"/>
              </a:spcBef>
              <a:spcAft>
                <a:spcPts val="0"/>
              </a:spcAft>
            </a:pPr>
            <a:r>
              <a:rPr sz="1050" b="0" i="0">
                <a:solidFill>
                  <a:srgbClr val="2A3441"/>
                </a:solidFill>
                <a:latin typeface="Segoe UI"/>
              </a:rPr>
              <a:t>A verdict teaches its family of similar alerts — but only after at least three agree. Unjudged alerts in that family then move too.</a:t>
            </a:r>
          </a:p>
        </p:txBody>
      </p:sp>
      <p:sp>
        <p:nvSpPr>
          <p:cNvPr id="22" name="Rectangle 21"/>
          <p:cNvSpPr/>
          <p:nvPr/>
        </p:nvSpPr>
        <p:spPr>
          <a:xfrm>
            <a:off x="566928" y="5541264"/>
            <a:ext cx="11057839" cy="658368"/>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8096" y="5650992"/>
            <a:ext cx="10655503" cy="457200"/>
          </a:xfrm>
          <a:prstGeom prst="rect">
            <a:avLst/>
          </a:prstGeom>
          <a:noFill/>
        </p:spPr>
        <p:txBody>
          <a:bodyPr wrap="square" anchor="t" lIns="0" rIns="0" tIns="0" bIns="0">
            <a:spAutoFit/>
          </a:bodyPr>
          <a:lstStyle/>
          <a:p>
            <a:pPr algn="l">
              <a:lnSpc>
                <a:spcPct val="115000"/>
              </a:lnSpc>
              <a:spcBef>
                <a:spcPts val="0"/>
              </a:spcBef>
              <a:spcAft>
                <a:spcPts val="200"/>
              </a:spcAft>
            </a:pPr>
            <a:r>
              <a:rPr sz="1200" b="1" i="0">
                <a:solidFill>
                  <a:srgbClr val="0F2A47"/>
                </a:solidFill>
                <a:latin typeface="Segoe UI"/>
              </a:rPr>
              <a:t>The claim we can defend:  the hybrid does not detect more — it tells the analyst where their attention is worth spending.</a:t>
            </a:r>
          </a:p>
          <a:p>
            <a:pPr algn="l">
              <a:spcBef>
                <a:spcPts val="0"/>
              </a:spcBef>
              <a:spcAft>
                <a:spcPts val="0"/>
              </a:spcAft>
            </a:pPr>
            <a:r>
              <a:rPr sz="980" b="0" i="0">
                <a:solidFill>
                  <a:srgbClr val="6B7684"/>
                </a:solidFill>
                <a:latin typeface="Segoe UI"/>
              </a:rPr>
              <a:t>We deliberately do not claim a detection-coverage gain. Notebook 04 shows there is none on this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OUR SOLUTION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we built it this specific way</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Each choice below was forced by a measurement, not by preference.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9</a:t>
            </a:r>
          </a:p>
        </p:txBody>
      </p:sp>
      <p:graphicFrame>
        <p:nvGraphicFramePr>
          <p:cNvPr id="9" name="Table 8"/>
          <p:cNvGraphicFramePr>
            <a:graphicFrameLocks noGrp="1"/>
          </p:cNvGraphicFramePr>
          <p:nvPr/>
        </p:nvGraphicFramePr>
        <p:xfrm>
          <a:off x="566928" y="1792224"/>
          <a:ext cx="11055096" cy="4242816"/>
        </p:xfrm>
        <a:graphic>
          <a:graphicData uri="http://schemas.openxmlformats.org/drawingml/2006/table">
            <a:tbl>
              <a:tblPr firstRow="0" bandRow="0"/>
              <a:tblGrid>
                <a:gridCol w="3611880"/>
                <a:gridCol w="7443216"/>
              </a:tblGrid>
              <a:tr h="292608">
                <a:tc>
                  <a:txBody>
                    <a:bodyPr wrap="square"/>
                    <a:lstStyle/>
                    <a:p>
                      <a:pPr algn="l"/>
                      <a:r>
                        <a:rPr sz="900" b="1">
                          <a:solidFill>
                            <a:srgbClr val="FFFFFF"/>
                          </a:solidFill>
                          <a:latin typeface="Segoe UI"/>
                        </a:rPr>
                        <a:t>Design decision</a:t>
                      </a:r>
                    </a:p>
                  </a:txBody>
                  <a:tcPr marL="82296" marR="82296" marT="13716" marB="13716" anchor="ctr">
                    <a:solidFill>
                      <a:srgbClr val="0F2A47"/>
                    </a:solidFill>
                  </a:tcPr>
                </a:tc>
                <a:tc>
                  <a:txBody>
                    <a:bodyPr wrap="square"/>
                    <a:lstStyle/>
                    <a:p>
                      <a:pPr algn="l"/>
                      <a:r>
                        <a:rPr sz="900" b="1">
                          <a:solidFill>
                            <a:srgbClr val="FFFFFF"/>
                          </a:solidFill>
                          <a:latin typeface="Segoe UI"/>
                        </a:rPr>
                        <a:t>Why — the evidence that forced it</a:t>
                      </a:r>
                    </a:p>
                  </a:txBody>
                  <a:tcPr marL="82296" marR="82296" marT="13716" marB="13716" anchor="ctr">
                    <a:solidFill>
                      <a:srgbClr val="0F2A47"/>
                    </a:solidFill>
                  </a:tcPr>
                </a:tc>
              </a:tr>
              <a:tr h="658368">
                <a:tc>
                  <a:txBody>
                    <a:bodyPr wrap="square"/>
                    <a:lstStyle/>
                    <a:p>
                      <a:pPr algn="l"/>
                      <a:r>
                        <a:rPr sz="940" b="0">
                          <a:solidFill>
                            <a:srgbClr val="2A3441"/>
                          </a:solidFill>
                          <a:latin typeface="Segoe UI"/>
                        </a:rPr>
                        <a:t>Complementary Evidence Fusion, not a weighted sum</a:t>
                      </a:r>
                    </a:p>
                  </a:txBody>
                  <a:tcPr marL="82296" marR="82296" marT="13716" marB="13716" anchor="ctr">
                    <a:solidFill>
                      <a:srgbClr val="FFFFFF"/>
                    </a:solidFill>
                  </a:tcPr>
                </a:tc>
                <a:tc>
                  <a:txBody>
                    <a:bodyPr wrap="square"/>
                    <a:lstStyle/>
                    <a:p>
                      <a:pPr algn="l"/>
                      <a:r>
                        <a:rPr sz="940" b="0">
                          <a:solidFill>
                            <a:srgbClr val="2A3441"/>
                          </a:solidFill>
                          <a:latin typeface="Segoe UI"/>
                        </a:rPr>
                        <a:t>The two detectors produce scores from different evidence classes, which are not commensurable. A weight sweep rescaled two disjoint populations: rank correlation stayed ρ = 1.0000 at every setting. All averaging could do was hide the real problem.</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Evidence classes instead of one blended number</a:t>
                      </a:r>
                    </a:p>
                  </a:txBody>
                  <a:tcPr marL="82296" marR="82296" marT="13716" marB="13716" anchor="ctr">
                    <a:solidFill>
                      <a:srgbClr val="F4F7FB"/>
                    </a:solidFill>
                  </a:tcPr>
                </a:tc>
                <a:tc>
                  <a:txBody>
                    <a:bodyPr wrap="square"/>
                    <a:lstStyle/>
                    <a:p>
                      <a:pPr algn="l"/>
                      <a:r>
                        <a:rPr sz="940" b="0">
                          <a:solidFill>
                            <a:srgbClr val="2A3441"/>
                          </a:solidFill>
                          <a:latin typeface="Segoe UI"/>
                        </a:rPr>
                        <a:t>Classes preserve what averaging destroys: whether an alert is fast-track, needs review, or is a rule the model disputes. They also let the queue order carry a triage meaning.</a:t>
                      </a:r>
                    </a:p>
                  </a:txBody>
                  <a:tcPr marL="82296" marR="82296" marT="13716" marB="13716" anchor="ctr">
                    <a:solidFill>
                      <a:srgbClr val="F4F7FB"/>
                    </a:solidFill>
                  </a:tcPr>
                </a:tc>
              </a:tr>
              <a:tr h="658368">
                <a:tc>
                  <a:txBody>
                    <a:bodyPr wrap="square"/>
                    <a:lstStyle/>
                    <a:p>
                      <a:pPr algn="l"/>
                      <a:r>
                        <a:rPr sz="940" b="0">
                          <a:solidFill>
                            <a:srgbClr val="2A3441"/>
                          </a:solidFill>
                          <a:latin typeface="Segoe UI"/>
                        </a:rPr>
                        <a:t>The signature layer repositioned as trust, not coverage</a:t>
                      </a:r>
                    </a:p>
                  </a:txBody>
                  <a:tcPr marL="82296" marR="82296" marT="13716" marB="13716" anchor="ctr">
                    <a:solidFill>
                      <a:srgbClr val="FFFFFF"/>
                    </a:solidFill>
                  </a:tcPr>
                </a:tc>
                <a:tc>
                  <a:txBody>
                    <a:bodyPr wrap="square"/>
                    <a:lstStyle/>
                    <a:p>
                      <a:pPr algn="l"/>
                      <a:r>
                        <a:rPr sz="940" b="0">
                          <a:solidFill>
                            <a:srgbClr val="2A3441"/>
                          </a:solidFill>
                          <a:latin typeface="Segoe UI"/>
                        </a:rPr>
                        <a:t>Retuning the rules reached precision 1.000 and recall 20%, yet unique signature coverage stayed at exactly zero. Coverage could not be the justification, so trust and explainability became it.</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Ranking parameters chosen by experiment</a:t>
                      </a:r>
                    </a:p>
                  </a:txBody>
                  <a:tcPr marL="82296" marR="82296" marT="13716" marB="13716" anchor="ctr">
                    <a:solidFill>
                      <a:srgbClr val="F4F7FB"/>
                    </a:solidFill>
                  </a:tcPr>
                </a:tc>
                <a:tc>
                  <a:txBody>
                    <a:bodyPr wrap="square"/>
                    <a:lstStyle/>
                    <a:p>
                      <a:pPr algn="l"/>
                      <a:r>
                        <a:rPr sz="940" b="0">
                          <a:solidFill>
                            <a:srgbClr val="2A3441"/>
                          </a:solidFill>
                          <a:latin typeface="Segoe UI"/>
                        </a:rPr>
                        <a:t>The project lead's decision: test candidate systems and pick one, rather than argue for one. Four formulas and two movement rules were pre-registered and run.</a:t>
                      </a:r>
                    </a:p>
                  </a:txBody>
                  <a:tcPr marL="82296" marR="82296" marT="13716" marB="13716" anchor="ctr">
                    <a:solidFill>
                      <a:srgbClr val="F4F7FB"/>
                    </a:solidFill>
                  </a:tcPr>
                </a:tc>
              </a:tr>
              <a:tr h="658368">
                <a:tc>
                  <a:txBody>
                    <a:bodyPr wrap="square"/>
                    <a:lstStyle/>
                    <a:p>
                      <a:pPr algn="l"/>
                      <a:r>
                        <a:rPr sz="940" b="0">
                          <a:solidFill>
                            <a:srgbClr val="2A3441"/>
                          </a:solidFill>
                          <a:latin typeface="Segoe UI"/>
                        </a:rPr>
                        <a:t>Guardrail values taken from the collaborator's engine</a:t>
                      </a:r>
                    </a:p>
                  </a:txBody>
                  <a:tcPr marL="82296" marR="82296" marT="13716" marB="13716" anchor="ctr">
                    <a:solidFill>
                      <a:srgbClr val="FFFFFF"/>
                    </a:solidFill>
                  </a:tcPr>
                </a:tc>
                <a:tc>
                  <a:txBody>
                    <a:bodyPr wrap="square"/>
                    <a:lstStyle/>
                    <a:p>
                      <a:pPr algn="l"/>
                      <a:r>
                        <a:rPr sz="940" b="0">
                          <a:solidFill>
                            <a:srgbClr val="2A3441"/>
                          </a:solidFill>
                          <a:latin typeface="Segoe UI"/>
                        </a:rPr>
                        <a:t>Their feedback engine states the caps, floors and thresholds in code, and is richer than the written documents — the documents omit a positive cap entirely, without which confirmations inflate without bound.</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TreeSHAP computed inside the detection run</a:t>
                      </a:r>
                    </a:p>
                  </a:txBody>
                  <a:tcPr marL="82296" marR="82296" marT="13716" marB="13716" anchor="ctr">
                    <a:solidFill>
                      <a:srgbClr val="F4F7FB"/>
                    </a:solidFill>
                  </a:tcPr>
                </a:tc>
                <a:tc>
                  <a:txBody>
                    <a:bodyPr wrap="square"/>
                    <a:lstStyle/>
                    <a:p>
                      <a:pPr algn="l"/>
                      <a:r>
                        <a:rPr sz="940" b="0">
                          <a:solidFill>
                            <a:srgbClr val="2A3441"/>
                          </a:solidFill>
                          <a:latin typeface="Segoe UI"/>
                        </a:rPr>
                        <a:t>Explainability is a hard requirement, but computing it on demand would break the 2-second response budget. Inside the batch run it is free at request time.</a:t>
                      </a:r>
                    </a:p>
                  </a:txBody>
                  <a:tcPr marL="82296" marR="82296" marT="13716" marB="13716" anchor="ctr">
                    <a:solidFill>
                      <a:srgbClr val="F4F7FB"/>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THREE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workflow, and what we built</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From a recorded flow to a re-ranked queue — and the eight stages that sit between them.</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03</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End to end, in eight stages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11</a:t>
            </a:r>
          </a:p>
        </p:txBody>
      </p:sp>
      <p:sp>
        <p:nvSpPr>
          <p:cNvPr id="8" name="Chevron 7"/>
          <p:cNvSpPr/>
          <p:nvPr/>
        </p:nvSpPr>
        <p:spPr>
          <a:xfrm>
            <a:off x="566928"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Recorded flow</a:t>
            </a:r>
          </a:p>
        </p:txBody>
      </p:sp>
      <p:sp>
        <p:nvSpPr>
          <p:cNvPr id="10" name="Chevron 9"/>
          <p:cNvSpPr/>
          <p:nvPr/>
        </p:nvSpPr>
        <p:spPr>
          <a:xfrm>
            <a:off x="1956015"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029167"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Signature + ML</a:t>
            </a:r>
          </a:p>
        </p:txBody>
      </p:sp>
      <p:sp>
        <p:nvSpPr>
          <p:cNvPr id="12" name="Chevron 11"/>
          <p:cNvSpPr/>
          <p:nvPr/>
        </p:nvSpPr>
        <p:spPr>
          <a:xfrm>
            <a:off x="3345103"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18255"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Detection score</a:t>
            </a:r>
          </a:p>
        </p:txBody>
      </p:sp>
      <p:sp>
        <p:nvSpPr>
          <p:cNvPr id="14" name="Chevron 13"/>
          <p:cNvSpPr/>
          <p:nvPr/>
        </p:nvSpPr>
        <p:spPr>
          <a:xfrm>
            <a:off x="4734191"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807343"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Analyst review</a:t>
            </a:r>
          </a:p>
        </p:txBody>
      </p:sp>
      <p:sp>
        <p:nvSpPr>
          <p:cNvPr id="16" name="Chevron 15"/>
          <p:cNvSpPr/>
          <p:nvPr/>
        </p:nvSpPr>
        <p:spPr>
          <a:xfrm>
            <a:off x="6123279"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196431"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Human feedback</a:t>
            </a:r>
          </a:p>
        </p:txBody>
      </p:sp>
      <p:sp>
        <p:nvSpPr>
          <p:cNvPr id="18" name="Chevron 17"/>
          <p:cNvSpPr/>
          <p:nvPr/>
        </p:nvSpPr>
        <p:spPr>
          <a:xfrm>
            <a:off x="7512367"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585519"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Guard- rails</a:t>
            </a:r>
          </a:p>
        </p:txBody>
      </p:sp>
      <p:sp>
        <p:nvSpPr>
          <p:cNvPr id="20" name="Chevron 19"/>
          <p:cNvSpPr/>
          <p:nvPr/>
        </p:nvSpPr>
        <p:spPr>
          <a:xfrm>
            <a:off x="8901455"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74607"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Operational priority</a:t>
            </a:r>
          </a:p>
        </p:txBody>
      </p:sp>
      <p:sp>
        <p:nvSpPr>
          <p:cNvPr id="22" name="Chevron 21"/>
          <p:cNvSpPr/>
          <p:nvPr/>
        </p:nvSpPr>
        <p:spPr>
          <a:xfrm>
            <a:off x="10290543"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363695"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Re-ranked queue</a:t>
            </a:r>
          </a:p>
        </p:txBody>
      </p:sp>
      <p:sp>
        <p:nvSpPr>
          <p:cNvPr id="24" name="Rectangle 23"/>
          <p:cNvSpPr/>
          <p:nvPr/>
        </p:nvSpPr>
        <p:spPr>
          <a:xfrm>
            <a:off x="566928" y="2395728"/>
            <a:ext cx="5419191"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2395728"/>
            <a:ext cx="50292"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9808" y="2505456"/>
            <a:ext cx="5108295" cy="1097280"/>
          </a:xfrm>
          <a:prstGeom prst="rect">
            <a:avLst/>
          </a:prstGeom>
          <a:noFill/>
        </p:spPr>
        <p:txBody>
          <a:bodyPr wrap="square" anchor="t" lIns="0" rIns="0" tIns="0" bIns="0">
            <a:spAutoFit/>
          </a:bodyPr>
          <a:lstStyle/>
          <a:p>
            <a:pPr algn="l">
              <a:lnSpc>
                <a:spcPct val="105000"/>
              </a:lnSpc>
              <a:spcBef>
                <a:spcPts val="0"/>
              </a:spcBef>
              <a:spcAft>
                <a:spcPts val="200"/>
              </a:spcAft>
            </a:pPr>
            <a:r>
              <a:rPr sz="1220" b="1" i="0">
                <a:solidFill>
                  <a:srgbClr val="0F2A47"/>
                </a:solidFill>
                <a:latin typeface="Segoe UI"/>
              </a:rPr>
              <a:t>The four lanes of the system</a:t>
            </a:r>
          </a:p>
          <a:p>
            <a:pPr algn="l">
              <a:lnSpc>
                <a:spcPct val="120000"/>
              </a:lnSpc>
              <a:spcBef>
                <a:spcPts val="0"/>
              </a:spcBef>
              <a:spcAft>
                <a:spcPts val="0"/>
              </a:spcAft>
            </a:pPr>
            <a:r>
              <a:rPr sz="1019" b="0" i="0">
                <a:solidFill>
                  <a:srgbClr val="2A3441"/>
                </a:solidFill>
                <a:latin typeface="Segoe UI"/>
              </a:rPr>
              <a:t>1 · Real world (post-demo, S17): traffic → flow exporter → ExporterSource.   2 · Local today: dataset → sample → CsvReplaySource.   3 · Detection core (built): two views → two detectors → fusion → alert.   4 · Store, show, feedback: SQLite → API → analyst → guardrails → new score.</a:t>
            </a:r>
          </a:p>
        </p:txBody>
      </p:sp>
      <p:sp>
        <p:nvSpPr>
          <p:cNvPr id="27" name="Rectangle 26"/>
          <p:cNvSpPr/>
          <p:nvPr/>
        </p:nvSpPr>
        <p:spPr>
          <a:xfrm>
            <a:off x="6205575" y="2395728"/>
            <a:ext cx="5419191"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05575" y="2395728"/>
            <a:ext cx="50292" cy="129844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88455" y="2505456"/>
            <a:ext cx="5108295" cy="1097280"/>
          </a:xfrm>
          <a:prstGeom prst="rect">
            <a:avLst/>
          </a:prstGeom>
          <a:noFill/>
        </p:spPr>
        <p:txBody>
          <a:bodyPr wrap="square" anchor="t" lIns="0" rIns="0" tIns="0" bIns="0">
            <a:spAutoFit/>
          </a:bodyPr>
          <a:lstStyle/>
          <a:p>
            <a:pPr algn="l">
              <a:lnSpc>
                <a:spcPct val="105000"/>
              </a:lnSpc>
              <a:spcBef>
                <a:spcPts val="0"/>
              </a:spcBef>
              <a:spcAft>
                <a:spcPts val="200"/>
              </a:spcAft>
            </a:pPr>
            <a:r>
              <a:rPr sz="1220" b="1" i="0">
                <a:solidFill>
                  <a:srgbClr val="0F2A47"/>
                </a:solidFill>
                <a:latin typeface="Segoe UI"/>
              </a:rPr>
              <a:t>Two score fields on every alert</a:t>
            </a:r>
          </a:p>
          <a:p>
            <a:pPr algn="l">
              <a:lnSpc>
                <a:spcPct val="120000"/>
              </a:lnSpc>
              <a:spcBef>
                <a:spcPts val="0"/>
              </a:spcBef>
              <a:spcAft>
                <a:spcPts val="0"/>
              </a:spcAft>
            </a:pPr>
            <a:r>
              <a:rPr sz="1019" b="0" i="0">
                <a:solidFill>
                  <a:srgbClr val="2A3441"/>
                </a:solidFill>
                <a:latin typeface="Segoe UI"/>
              </a:rPr>
              <a:t>detection_score is what the detectors concluded, set once and never changed. combined_score is the operational score that feedback moves. Keeping both is deliberate: their difference is the measurable effect of human feedback.</a:t>
            </a:r>
          </a:p>
        </p:txBody>
      </p:sp>
      <p:sp>
        <p:nvSpPr>
          <p:cNvPr id="30" name="TextBox 29"/>
          <p:cNvSpPr txBox="1"/>
          <p:nvPr/>
        </p:nvSpPr>
        <p:spPr>
          <a:xfrm>
            <a:off x="566928" y="3895344"/>
            <a:ext cx="11057839" cy="1371600"/>
          </a:xfrm>
          <a:prstGeom prst="rect">
            <a:avLst/>
          </a:prstGeom>
          <a:noFill/>
        </p:spPr>
        <p:txBody>
          <a:bodyPr wrap="square" anchor="t" lIns="0" rIns="0" tIns="0" bIns="0">
            <a:spAutoFit/>
          </a:bodyPr>
          <a:lstStyle/>
          <a:p>
            <a:pPr algn="l">
              <a:lnSpc>
                <a:spcPct val="118000"/>
              </a:lnSpc>
              <a:spcBef>
                <a:spcPts val="0"/>
              </a:spcBef>
              <a:spcAft>
                <a:spcPts val="800"/>
              </a:spcAft>
            </a:pPr>
            <a:r>
              <a:rPr sz="1150" b="0" i="0">
                <a:solidFill>
                  <a:srgbClr val="2A3441"/>
                </a:solidFill>
                <a:latin typeface="Segoe UI"/>
              </a:rPr>
              <a:t>Detection is an offline batch run: python scripts/run_detection.py turns 5,000 flows into 5,000 alerts in about 21 seconds.</a:t>
            </a:r>
          </a:p>
          <a:p>
            <a:pPr algn="l">
              <a:lnSpc>
                <a:spcPct val="118000"/>
              </a:lnSpc>
              <a:spcBef>
                <a:spcPts val="0"/>
              </a:spcBef>
              <a:spcAft>
                <a:spcPts val="800"/>
              </a:spcAft>
            </a:pPr>
            <a:r>
              <a:rPr sz="1150" b="0" i="0">
                <a:solidFill>
                  <a:srgbClr val="2A3441"/>
                </a:solidFill>
                <a:latin typeface="Segoe UI"/>
              </a:rPr>
              <a:t>Every flow becomes an alert — including the 4,004 no detector flagged. They are the queue's bottom band and the evaluation's denominator.</a:t>
            </a:r>
          </a:p>
          <a:p>
            <a:pPr algn="l">
              <a:lnSpc>
                <a:spcPct val="118000"/>
              </a:lnSpc>
              <a:spcBef>
                <a:spcPts val="0"/>
              </a:spcBef>
              <a:spcAft>
                <a:spcPts val="800"/>
              </a:spcAft>
            </a:pPr>
            <a:r>
              <a:rPr sz="1150" b="0" i="0">
                <a:solidFill>
                  <a:srgbClr val="2A3441"/>
                </a:solidFill>
                <a:latin typeface="Segoe UI"/>
              </a:rPr>
              <a:t>The system is deterministic: a second run over the same sample differs in no scored field, for any of the 5,000 alerts (NFR-05).</a:t>
            </a:r>
          </a:p>
        </p:txBody>
      </p:sp>
      <p:sp>
        <p:nvSpPr>
          <p:cNvPr id="31" name="Rectangle 30"/>
          <p:cNvSpPr/>
          <p:nvPr/>
        </p:nvSpPr>
        <p:spPr>
          <a:xfrm>
            <a:off x="566928" y="5358384"/>
            <a:ext cx="11057839" cy="841248"/>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68096" y="5468112"/>
            <a:ext cx="10655503" cy="640080"/>
          </a:xfrm>
          <a:prstGeom prst="rect">
            <a:avLst/>
          </a:prstGeom>
          <a:noFill/>
        </p:spPr>
        <p:txBody>
          <a:bodyPr wrap="square" anchor="t" lIns="0" rIns="0" tIns="0" bIns="0">
            <a:spAutoFit/>
          </a:bodyPr>
          <a:lstStyle/>
          <a:p>
            <a:pPr algn="l">
              <a:lnSpc>
                <a:spcPct val="115000"/>
              </a:lnSpc>
              <a:spcBef>
                <a:spcPts val="0"/>
              </a:spcBef>
              <a:spcAft>
                <a:spcPts val="200"/>
              </a:spcAft>
            </a:pPr>
            <a:r>
              <a:rPr sz="1100" b="1" i="0">
                <a:solidFill>
                  <a:srgbClr val="0F2A47"/>
                </a:solidFill>
                <a:latin typeface="Segoe UI"/>
              </a:rPr>
              <a:t>Shipped and reachable:  python -m uvicorn apps.api.main:app serves the API on port 8000; cd apps/web &amp;&amp; npm run dev serves the console on port 5173.</a:t>
            </a:r>
          </a:p>
          <a:p>
            <a:pPr algn="l">
              <a:spcBef>
                <a:spcPts val="0"/>
              </a:spcBef>
              <a:spcAft>
                <a:spcPts val="0"/>
              </a:spcAft>
            </a:pPr>
            <a:r>
              <a:rPr sz="980" b="0" i="0">
                <a:solidFill>
                  <a:srgbClr val="6B7684"/>
                </a:solidFill>
                <a:latin typeface="Segoe UI"/>
              </a:rPr>
              <a:t>The console's three views are three real accounts, each signing in to its own role — not one user switching a dropdown.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detection core — six layers, one score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Full formulas and worked examples are in docs/iteration-2-report.md, section 4.</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12</a:t>
            </a:r>
          </a:p>
        </p:txBody>
      </p:sp>
      <p:graphicFrame>
        <p:nvGraphicFramePr>
          <p:cNvPr id="9" name="Table 8"/>
          <p:cNvGraphicFramePr>
            <a:graphicFrameLocks noGrp="1"/>
          </p:cNvGraphicFramePr>
          <p:nvPr/>
        </p:nvGraphicFramePr>
        <p:xfrm>
          <a:off x="566928" y="1773936"/>
          <a:ext cx="11055096" cy="3913632"/>
        </p:xfrm>
        <a:graphic>
          <a:graphicData uri="http://schemas.openxmlformats.org/drawingml/2006/table">
            <a:tbl>
              <a:tblPr firstRow="0" bandRow="0"/>
              <a:tblGrid>
                <a:gridCol w="384048"/>
                <a:gridCol w="2697480"/>
                <a:gridCol w="7973568"/>
              </a:tblGrid>
              <a:tr h="292608">
                <a:tc>
                  <a:txBody>
                    <a:bodyPr wrap="square"/>
                    <a:lstStyle/>
                    <a:p>
                      <a:pPr algn="r"/>
                      <a:r>
                        <a:rPr sz="900" b="1">
                          <a:solidFill>
                            <a:srgbClr val="FFFFFF"/>
                          </a:solidFill>
                          <a:latin typeface="Segoe UI"/>
                        </a:rPr>
                        <a:t>#</a:t>
                      </a:r>
                    </a:p>
                  </a:txBody>
                  <a:tcPr marL="82296" marR="82296" marT="13716" marB="13716" anchor="ctr">
                    <a:solidFill>
                      <a:srgbClr val="0F2A47"/>
                    </a:solidFill>
                  </a:tcPr>
                </a:tc>
                <a:tc>
                  <a:txBody>
                    <a:bodyPr wrap="square"/>
                    <a:lstStyle/>
                    <a:p>
                      <a:pPr algn="l"/>
                      <a:r>
                        <a:rPr sz="900" b="1">
                          <a:solidFill>
                            <a:srgbClr val="FFFFFF"/>
                          </a:solidFill>
                          <a:latin typeface="Segoe UI"/>
                        </a:rPr>
                        <a:t>Layer</a:t>
                      </a:r>
                    </a:p>
                  </a:txBody>
                  <a:tcPr marL="82296" marR="82296" marT="13716" marB="13716" anchor="ctr">
                    <a:solidFill>
                      <a:srgbClr val="0F2A47"/>
                    </a:solidFill>
                  </a:tcPr>
                </a:tc>
                <a:tc>
                  <a:txBody>
                    <a:bodyPr wrap="square"/>
                    <a:lstStyle/>
                    <a:p>
                      <a:pPr algn="l"/>
                      <a:r>
                        <a:rPr sz="900" b="1">
                          <a:solidFill>
                            <a:srgbClr val="FFFFFF"/>
                          </a:solidFill>
                          <a:latin typeface="Segoe UI"/>
                        </a:rPr>
                        <a:t>What it produces</a:t>
                      </a:r>
                    </a:p>
                  </a:txBody>
                  <a:tcPr marL="82296" marR="82296" marT="13716" marB="13716" anchor="ctr">
                    <a:solidFill>
                      <a:srgbClr val="0F2A47"/>
                    </a:solidFill>
                  </a:tcPr>
                </a:tc>
              </a:tr>
              <a:tr h="603504">
                <a:tc>
                  <a:txBody>
                    <a:bodyPr wrap="square"/>
                    <a:lstStyle/>
                    <a:p>
                      <a:pPr algn="r"/>
                      <a:r>
                        <a:rPr sz="969" b="0">
                          <a:solidFill>
                            <a:srgbClr val="2A3441"/>
                          </a:solidFill>
                          <a:latin typeface="Segoe UI"/>
                        </a:rPr>
                        <a:t>1</a:t>
                      </a:r>
                    </a:p>
                  </a:txBody>
                  <a:tcPr marL="82296" marR="82296" marT="13716" marB="13716" anchor="ctr">
                    <a:solidFill>
                      <a:srgbClr val="FFFFFF"/>
                    </a:solidFill>
                  </a:tcPr>
                </a:tc>
                <a:tc>
                  <a:txBody>
                    <a:bodyPr wrap="square"/>
                    <a:lstStyle/>
                    <a:p>
                      <a:pPr algn="l"/>
                      <a:r>
                        <a:rPr sz="969" b="0">
                          <a:solidFill>
                            <a:srgbClr val="2A3441"/>
                          </a:solidFill>
                          <a:latin typeface="Segoe UI"/>
                        </a:rPr>
                        <a:t>Two views of one flow</a:t>
                      </a:r>
                    </a:p>
                  </a:txBody>
                  <a:tcPr marL="82296" marR="82296" marT="13716" marB="13716" anchor="ctr">
                    <a:solidFill>
                      <a:srgbClr val="FFFFFF"/>
                    </a:solidFill>
                  </a:tcPr>
                </a:tc>
                <a:tc>
                  <a:txBody>
                    <a:bodyPr wrap="square"/>
                    <a:lstStyle/>
                    <a:p>
                      <a:pPr algn="l"/>
                      <a:r>
                        <a:rPr sz="969" b="0">
                          <a:solidFill>
                            <a:srgbClr val="2A3441"/>
                          </a:solidFill>
                          <a:latin typeface="Segoe UI"/>
                        </a:rPr>
                        <a:t>16 observable fields for the rules; 82 features for the model.</a:t>
                      </a:r>
                    </a:p>
                  </a:txBody>
                  <a:tcPr marL="82296" marR="82296" marT="13716" marB="13716" anchor="ctr">
                    <a:solidFill>
                      <a:srgbClr val="FFFFFF"/>
                    </a:solidFill>
                  </a:tcPr>
                </a:tc>
              </a:tr>
              <a:tr h="603504">
                <a:tc>
                  <a:txBody>
                    <a:bodyPr wrap="square"/>
                    <a:lstStyle/>
                    <a:p>
                      <a:pPr algn="r"/>
                      <a:r>
                        <a:rPr sz="969" b="0">
                          <a:solidFill>
                            <a:srgbClr val="2A3441"/>
                          </a:solidFill>
                          <a:latin typeface="Segoe UI"/>
                        </a:rPr>
                        <a:t>2</a:t>
                      </a:r>
                    </a:p>
                  </a:txBody>
                  <a:tcPr marL="82296" marR="82296" marT="13716" marB="13716" anchor="ctr">
                    <a:solidFill>
                      <a:srgbClr val="F4F7FB"/>
                    </a:solidFill>
                  </a:tcPr>
                </a:tc>
                <a:tc>
                  <a:txBody>
                    <a:bodyPr wrap="square"/>
                    <a:lstStyle/>
                    <a:p>
                      <a:pPr algn="l"/>
                      <a:r>
                        <a:rPr sz="969" b="0">
                          <a:solidFill>
                            <a:srgbClr val="2A3441"/>
                          </a:solidFill>
                          <a:latin typeface="Segoe UI"/>
                        </a:rPr>
                        <a:t>Two detectors, side by side</a:t>
                      </a:r>
                    </a:p>
                  </a:txBody>
                  <a:tcPr marL="82296" marR="82296" marT="13716" marB="13716" anchor="ctr">
                    <a:solidFill>
                      <a:srgbClr val="F4F7FB"/>
                    </a:solidFill>
                  </a:tcPr>
                </a:tc>
                <a:tc>
                  <a:txBody>
                    <a:bodyPr wrap="square"/>
                    <a:lstStyle/>
                    <a:p>
                      <a:pPr algn="l"/>
                      <a:r>
                        <a:rPr sz="969" b="0">
                          <a:solidFill>
                            <a:srgbClr val="2A3441"/>
                          </a:solidFill>
                          <a:latin typeface="Segoe UI"/>
                        </a:rPr>
                        <a:t>Signature engine: which rules matched, each condition's observed value → sig. Model: one of 8 classes, ml = 1 − P(Benign), plus a TreeSHAP explanation.</a:t>
                      </a:r>
                    </a:p>
                  </a:txBody>
                  <a:tcPr marL="82296" marR="82296" marT="13716" marB="13716" anchor="ctr">
                    <a:solidFill>
                      <a:srgbClr val="F4F7FB"/>
                    </a:solidFill>
                  </a:tcPr>
                </a:tc>
              </a:tr>
              <a:tr h="603504">
                <a:tc>
                  <a:txBody>
                    <a:bodyPr wrap="square"/>
                    <a:lstStyle/>
                    <a:p>
                      <a:pPr algn="r"/>
                      <a:r>
                        <a:rPr sz="969" b="0">
                          <a:solidFill>
                            <a:srgbClr val="2A3441"/>
                          </a:solidFill>
                          <a:latin typeface="Segoe UI"/>
                        </a:rPr>
                        <a:t>3</a:t>
                      </a:r>
                    </a:p>
                  </a:txBody>
                  <a:tcPr marL="82296" marR="82296" marT="13716" marB="13716" anchor="ctr">
                    <a:solidFill>
                      <a:srgbClr val="FFFFFF"/>
                    </a:solidFill>
                  </a:tcPr>
                </a:tc>
                <a:tc>
                  <a:txBody>
                    <a:bodyPr wrap="square"/>
                    <a:lstStyle/>
                    <a:p>
                      <a:pPr algn="l"/>
                      <a:r>
                        <a:rPr sz="969" b="0">
                          <a:solidFill>
                            <a:srgbClr val="2A3441"/>
                          </a:solidFill>
                          <a:latin typeface="Segoe UI"/>
                        </a:rPr>
                        <a:t>Evidence class</a:t>
                      </a:r>
                    </a:p>
                  </a:txBody>
                  <a:tcPr marL="82296" marR="82296" marT="13716" marB="13716" anchor="ctr">
                    <a:solidFill>
                      <a:srgbClr val="FFFFFF"/>
                    </a:solidFill>
                  </a:tcPr>
                </a:tc>
                <a:tc>
                  <a:txBody>
                    <a:bodyPr wrap="square"/>
                    <a:lstStyle/>
                    <a:p>
                      <a:pPr algn="l"/>
                      <a:r>
                        <a:rPr sz="969" b="0">
                          <a:solidFill>
                            <a:srgbClr val="2A3441"/>
                          </a:solidFill>
                          <a:latin typeface="Segoe UI"/>
                        </a:rPr>
                        <a:t>corroborated · signature_override · ml_only · none.</a:t>
                      </a:r>
                    </a:p>
                  </a:txBody>
                  <a:tcPr marL="82296" marR="82296" marT="13716" marB="13716" anchor="ctr">
                    <a:solidFill>
                      <a:srgbClr val="FFFFFF"/>
                    </a:solidFill>
                  </a:tcPr>
                </a:tc>
              </a:tr>
              <a:tr h="603504">
                <a:tc>
                  <a:txBody>
                    <a:bodyPr wrap="square"/>
                    <a:lstStyle/>
                    <a:p>
                      <a:pPr algn="r"/>
                      <a:r>
                        <a:rPr sz="969" b="0">
                          <a:solidFill>
                            <a:srgbClr val="2A3441"/>
                          </a:solidFill>
                          <a:latin typeface="Segoe UI"/>
                        </a:rPr>
                        <a:t>4</a:t>
                      </a:r>
                    </a:p>
                  </a:txBody>
                  <a:tcPr marL="82296" marR="82296" marT="13716" marB="13716" anchor="ctr">
                    <a:solidFill>
                      <a:srgbClr val="F4F7FB"/>
                    </a:solidFill>
                  </a:tcPr>
                </a:tc>
                <a:tc>
                  <a:txBody>
                    <a:bodyPr wrap="square"/>
                    <a:lstStyle/>
                    <a:p>
                      <a:pPr algn="l"/>
                      <a:r>
                        <a:rPr sz="969" b="0">
                          <a:solidFill>
                            <a:srgbClr val="2A3441"/>
                          </a:solidFill>
                          <a:latin typeface="Segoe UI"/>
                        </a:rPr>
                        <a:t>Score</a:t>
                      </a:r>
                    </a:p>
                  </a:txBody>
                  <a:tcPr marL="82296" marR="82296" marT="13716" marB="13716" anchor="ctr">
                    <a:solidFill>
                      <a:srgbClr val="F4F7FB"/>
                    </a:solidFill>
                  </a:tcPr>
                </a:tc>
                <a:tc>
                  <a:txBody>
                    <a:bodyPr wrap="square"/>
                    <a:lstStyle/>
                    <a:p>
                      <a:pPr algn="l"/>
                      <a:r>
                        <a:rPr sz="969" b="0">
                          <a:solidFill>
                            <a:srgbClr val="2A3441"/>
                          </a:solidFill>
                          <a:latin typeface="Segoe UI"/>
                        </a:rPr>
                        <a:t>corroborated  min(100, max(sig, ml) × 100 + 5)  ·  override sig × 100  ·  ml_only and none  ml × 100.</a:t>
                      </a:r>
                    </a:p>
                  </a:txBody>
                  <a:tcPr marL="82296" marR="82296" marT="13716" marB="13716" anchor="ctr">
                    <a:solidFill>
                      <a:srgbClr val="F4F7FB"/>
                    </a:solidFill>
                  </a:tcPr>
                </a:tc>
              </a:tr>
              <a:tr h="603504">
                <a:tc>
                  <a:txBody>
                    <a:bodyPr wrap="square"/>
                    <a:lstStyle/>
                    <a:p>
                      <a:pPr algn="r"/>
                      <a:r>
                        <a:rPr sz="969" b="0">
                          <a:solidFill>
                            <a:srgbClr val="2A3441"/>
                          </a:solidFill>
                          <a:latin typeface="Segoe UI"/>
                        </a:rPr>
                        <a:t>5</a:t>
                      </a:r>
                    </a:p>
                  </a:txBody>
                  <a:tcPr marL="82296" marR="82296" marT="13716" marB="13716" anchor="ctr">
                    <a:solidFill>
                      <a:srgbClr val="FFFFFF"/>
                    </a:solidFill>
                  </a:tcPr>
                </a:tc>
                <a:tc>
                  <a:txBody>
                    <a:bodyPr wrap="square"/>
                    <a:lstStyle/>
                    <a:p>
                      <a:pPr algn="l"/>
                      <a:r>
                        <a:rPr sz="969" b="0">
                          <a:solidFill>
                            <a:srgbClr val="2A3441"/>
                          </a:solidFill>
                          <a:latin typeface="Segoe UI"/>
                        </a:rPr>
                        <a:t>Severity and flags</a:t>
                      </a:r>
                    </a:p>
                  </a:txBody>
                  <a:tcPr marL="82296" marR="82296" marT="13716" marB="13716" anchor="ctr">
                    <a:solidFill>
                      <a:srgbClr val="FFFFFF"/>
                    </a:solidFill>
                  </a:tcPr>
                </a:tc>
                <a:tc>
                  <a:txBody>
                    <a:bodyPr wrap="square"/>
                    <a:lstStyle/>
                    <a:p>
                      <a:pPr algn="l"/>
                      <a:r>
                        <a:rPr sz="969" b="0">
                          <a:solidFill>
                            <a:srgbClr val="2A3441"/>
                          </a:solidFill>
                          <a:latin typeface="Segoe UI"/>
                        </a:rPr>
                        <a:t>One threshold, 80, sets severity Critical, is_critical and the review flag together, so the three can never disagree. The override class is always reviewed.</a:t>
                      </a:r>
                    </a:p>
                  </a:txBody>
                  <a:tcPr marL="82296" marR="82296" marT="13716" marB="13716" anchor="ctr">
                    <a:solidFill>
                      <a:srgbClr val="FFFFFF"/>
                    </a:solidFill>
                  </a:tcPr>
                </a:tc>
              </a:tr>
              <a:tr h="603504">
                <a:tc>
                  <a:txBody>
                    <a:bodyPr wrap="square"/>
                    <a:lstStyle/>
                    <a:p>
                      <a:pPr algn="r"/>
                      <a:r>
                        <a:rPr sz="969" b="0">
                          <a:solidFill>
                            <a:srgbClr val="2A3441"/>
                          </a:solidFill>
                          <a:latin typeface="Segoe UI"/>
                        </a:rPr>
                        <a:t>6</a:t>
                      </a:r>
                    </a:p>
                  </a:txBody>
                  <a:tcPr marL="82296" marR="82296" marT="13716" marB="13716" anchor="ctr">
                    <a:solidFill>
                      <a:srgbClr val="F4F7FB"/>
                    </a:solidFill>
                  </a:tcPr>
                </a:tc>
                <a:tc>
                  <a:txBody>
                    <a:bodyPr wrap="square"/>
                    <a:lstStyle/>
                    <a:p>
                      <a:pPr algn="l"/>
                      <a:r>
                        <a:rPr sz="969" b="0">
                          <a:solidFill>
                            <a:srgbClr val="2A3441"/>
                          </a:solidFill>
                          <a:latin typeface="Segoe UI"/>
                        </a:rPr>
                        <a:t>Explanation and queue place</a:t>
                      </a:r>
                    </a:p>
                  </a:txBody>
                  <a:tcPr marL="82296" marR="82296" marT="13716" marB="13716" anchor="ctr">
                    <a:solidFill>
                      <a:srgbClr val="F4F7FB"/>
                    </a:solidFill>
                  </a:tcPr>
                </a:tc>
                <a:tc>
                  <a:txBody>
                    <a:bodyPr wrap="square"/>
                    <a:lstStyle/>
                    <a:p>
                      <a:pPr algn="l"/>
                      <a:r>
                        <a:rPr sz="969" b="0">
                          <a:solidFill>
                            <a:srgbClr val="2A3441"/>
                          </a:solidFill>
                          <a:latin typeface="Segoe UI"/>
                        </a:rPr>
                        <a:t>A plain-language reason — the rule's checkable clauses plus the model's strongest features — and a queue place by evidence class, then score.</a:t>
                      </a:r>
                    </a:p>
                  </a:txBody>
                  <a:tcPr marL="82296" marR="82296" marT="13716" marB="13716" anchor="ctr">
                    <a:solidFill>
                      <a:srgbClr val="F4F7FB"/>
                    </a:solidFill>
                  </a:tcPr>
                </a:tc>
              </a:tr>
            </a:tbl>
          </a:graphicData>
        </a:graphic>
      </p:graphicFrame>
      <p:sp>
        <p:nvSpPr>
          <p:cNvPr id="10" name="Rectangle 9"/>
          <p:cNvSpPr/>
          <p:nvPr/>
        </p:nvSpPr>
        <p:spPr>
          <a:xfrm>
            <a:off x="566928" y="5193792"/>
            <a:ext cx="5419191"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5193792"/>
            <a:ext cx="50292" cy="8595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5303520"/>
            <a:ext cx="5108295" cy="658368"/>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1 − P(Benign), not the predicted class's confidence</a:t>
            </a:r>
          </a:p>
          <a:p>
            <a:pPr algn="l">
              <a:lnSpc>
                <a:spcPct val="120000"/>
              </a:lnSpc>
              <a:spcBef>
                <a:spcPts val="0"/>
              </a:spcBef>
              <a:spcAft>
                <a:spcPts val="0"/>
              </a:spcAft>
            </a:pPr>
            <a:r>
              <a:rPr sz="950" b="0" i="0">
                <a:solidFill>
                  <a:srgbClr val="2A3441"/>
                </a:solidFill>
                <a:latin typeface="Segoe UI"/>
              </a:rPr>
              <a:t>Confidence understates risk when probability is split between attack classes: DoS 0.50 + DDoS 0.45 is 0.95 malicious, not 0.50.</a:t>
            </a:r>
          </a:p>
        </p:txBody>
      </p:sp>
      <p:sp>
        <p:nvSpPr>
          <p:cNvPr id="13" name="Rectangle 12"/>
          <p:cNvSpPr/>
          <p:nvPr/>
        </p:nvSpPr>
        <p:spPr>
          <a:xfrm>
            <a:off x="6205575" y="5193792"/>
            <a:ext cx="5419191"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05575" y="5193792"/>
            <a:ext cx="50292" cy="859536"/>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88455" y="5303520"/>
            <a:ext cx="5108295" cy="658368"/>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the +5 agreement bonus</a:t>
            </a:r>
          </a:p>
          <a:p>
            <a:pPr algn="l">
              <a:lnSpc>
                <a:spcPct val="120000"/>
              </a:lnSpc>
              <a:spcBef>
                <a:spcPts val="0"/>
              </a:spcBef>
              <a:spcAft>
                <a:spcPts val="0"/>
              </a:spcAft>
            </a:pPr>
            <a:r>
              <a:rPr sz="950" b="0" i="0">
                <a:solidFill>
                  <a:srgbClr val="2A3441"/>
                </a:solidFill>
                <a:latin typeface="Segoe UI"/>
              </a:rPr>
              <a:t>A precision-1.000 rule and the model agreeing on the class is worth slightly more than either alone — and it is verifiable by a human.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Analyst feedback, and the guardrails that bound it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13</a:t>
            </a:r>
          </a:p>
        </p:txBody>
      </p:sp>
      <p:graphicFrame>
        <p:nvGraphicFramePr>
          <p:cNvPr id="8" name="Table 7"/>
          <p:cNvGraphicFramePr>
            <a:graphicFrameLocks noGrp="1"/>
          </p:cNvGraphicFramePr>
          <p:nvPr/>
        </p:nvGraphicFramePr>
        <p:xfrm>
          <a:off x="566928" y="1572768"/>
          <a:ext cx="5733288" cy="1819656"/>
        </p:xfrm>
        <a:graphic>
          <a:graphicData uri="http://schemas.openxmlformats.org/drawingml/2006/table">
            <a:tbl>
              <a:tblPr firstRow="0" bandRow="0"/>
              <a:tblGrid>
                <a:gridCol w="1572768"/>
                <a:gridCol w="2011680"/>
                <a:gridCol w="1188720"/>
                <a:gridCol w="960120"/>
              </a:tblGrid>
              <a:tr h="310896">
                <a:tc>
                  <a:txBody>
                    <a:bodyPr wrap="square"/>
                    <a:lstStyle/>
                    <a:p>
                      <a:pPr algn="l"/>
                      <a:r>
                        <a:rPr sz="900" b="1">
                          <a:solidFill>
                            <a:srgbClr val="FFFFFF"/>
                          </a:solidFill>
                          <a:latin typeface="Segoe UI"/>
                        </a:rPr>
                        <a:t>Verdict (industry label)</a:t>
                      </a:r>
                    </a:p>
                  </a:txBody>
                  <a:tcPr marL="82296" marR="82296" marT="13716" marB="13716" anchor="ctr">
                    <a:solidFill>
                      <a:srgbClr val="0F2A47"/>
                    </a:solidFill>
                  </a:tcPr>
                </a:tc>
                <a:tc>
                  <a:txBody>
                    <a:bodyPr wrap="square"/>
                    <a:lstStyle/>
                    <a:p>
                      <a:pPr algn="l"/>
                      <a:r>
                        <a:rPr sz="900" b="1">
                          <a:solidFill>
                            <a:srgbClr val="FFFFFF"/>
                          </a:solidFill>
                          <a:latin typeface="Segoe UI"/>
                        </a:rPr>
                        <a:t>API category</a:t>
                      </a:r>
                    </a:p>
                  </a:txBody>
                  <a:tcPr marL="82296" marR="82296" marT="13716" marB="13716" anchor="ctr">
                    <a:solidFill>
                      <a:srgbClr val="0F2A47"/>
                    </a:solidFill>
                  </a:tcPr>
                </a:tc>
                <a:tc>
                  <a:txBody>
                    <a:bodyPr wrap="square"/>
                    <a:lstStyle/>
                    <a:p>
                      <a:pPr algn="r"/>
                      <a:r>
                        <a:rPr sz="900" b="1">
                          <a:solidFill>
                            <a:srgbClr val="FFFFFF"/>
                          </a:solidFill>
                          <a:latin typeface="Segoe UI"/>
                        </a:rPr>
                        <a:t>Requests</a:t>
                      </a:r>
                    </a:p>
                  </a:txBody>
                  <a:tcPr marL="82296" marR="82296" marT="13716" marB="13716" anchor="ctr">
                    <a:solidFill>
                      <a:srgbClr val="0F2A47"/>
                    </a:solidFill>
                  </a:tcPr>
                </a:tc>
                <a:tc>
                  <a:txBody>
                    <a:bodyPr wrap="square"/>
                    <a:lstStyle/>
                    <a:p>
                      <a:pPr algn="r"/>
                      <a:r>
                        <a:rPr sz="900" b="1">
                          <a:solidFill>
                            <a:srgbClr val="FFFFFF"/>
                          </a:solidFill>
                          <a:latin typeface="Segoe UI"/>
                        </a:rPr>
                        <a:t>Forces review</a:t>
                      </a:r>
                    </a:p>
                  </a:txBody>
                  <a:tcPr marL="82296" marR="82296" marT="13716" marB="13716" anchor="ctr">
                    <a:solidFill>
                      <a:srgbClr val="0F2A47"/>
                    </a:solidFill>
                  </a:tcPr>
                </a:tc>
              </a:tr>
              <a:tr h="301752">
                <a:tc>
                  <a:txBody>
                    <a:bodyPr wrap="square"/>
                    <a:lstStyle/>
                    <a:p>
                      <a:pPr algn="l"/>
                      <a:r>
                        <a:rPr sz="950" b="0">
                          <a:solidFill>
                            <a:srgbClr val="2A3441"/>
                          </a:solidFill>
                          <a:latin typeface="Segoe UI"/>
                        </a:rPr>
                        <a:t>True Positive</a:t>
                      </a:r>
                    </a:p>
                  </a:txBody>
                  <a:tcPr marL="82296" marR="82296" marT="13716" marB="13716" anchor="ctr">
                    <a:solidFill>
                      <a:srgbClr val="FFFFFF"/>
                    </a:solidFill>
                  </a:tcPr>
                </a:tc>
                <a:tc>
                  <a:txBody>
                    <a:bodyPr wrap="square"/>
                    <a:lstStyle/>
                    <a:p>
                      <a:pPr algn="l"/>
                      <a:r>
                        <a:rPr sz="950" b="0">
                          <a:solidFill>
                            <a:srgbClr val="2A3441"/>
                          </a:solidFill>
                          <a:latin typeface="Segoe UI"/>
                        </a:rPr>
                        <a:t>confirm_true_positive</a:t>
                      </a:r>
                    </a:p>
                  </a:txBody>
                  <a:tcPr marL="82296" marR="82296" marT="13716" marB="13716" anchor="ctr">
                    <a:solidFill>
                      <a:srgbClr val="FFFFFF"/>
                    </a:solidFill>
                  </a:tcPr>
                </a:tc>
                <a:tc>
                  <a:txBody>
                    <a:bodyPr wrap="square"/>
                    <a:lstStyle/>
                    <a:p>
                      <a:pPr algn="r"/>
                      <a:r>
                        <a:rPr sz="950" b="0">
                          <a:solidFill>
                            <a:srgbClr val="2A3441"/>
                          </a:solidFill>
                          <a:latin typeface="Segoe UI"/>
                        </a:rPr>
                        <a:t>+10</a:t>
                      </a:r>
                    </a:p>
                  </a:txBody>
                  <a:tcPr marL="82296" marR="82296" marT="13716" marB="13716" anchor="ctr">
                    <a:solidFill>
                      <a:srgbClr val="FFFFFF"/>
                    </a:solidFill>
                  </a:tcPr>
                </a:tc>
                <a:tc>
                  <a:txBody>
                    <a:bodyPr wrap="square"/>
                    <a:lstStyle/>
                    <a:p>
                      <a:pPr algn="r"/>
                      <a:r>
                        <a:rPr sz="950" b="0">
                          <a:solidFill>
                            <a:srgbClr val="2A3441"/>
                          </a:solidFill>
                          <a:latin typeface="Segoe UI"/>
                        </a:rPr>
                        <a:t>yes</a:t>
                      </a:r>
                    </a:p>
                  </a:txBody>
                  <a:tcPr marL="82296" marR="82296" marT="13716" marB="13716" anchor="ctr">
                    <a:solidFill>
                      <a:srgbClr val="FFFFFF"/>
                    </a:solidFill>
                  </a:tcPr>
                </a:tc>
              </a:tr>
              <a:tr h="301752">
                <a:tc>
                  <a:txBody>
                    <a:bodyPr wrap="square"/>
                    <a:lstStyle/>
                    <a:p>
                      <a:pPr algn="l"/>
                      <a:r>
                        <a:rPr sz="950" b="0">
                          <a:solidFill>
                            <a:srgbClr val="2A3441"/>
                          </a:solidFill>
                          <a:latin typeface="Segoe UI"/>
                        </a:rPr>
                        <a:t>False Positive</a:t>
                      </a:r>
                    </a:p>
                  </a:txBody>
                  <a:tcPr marL="82296" marR="82296" marT="13716" marB="13716" anchor="ctr">
                    <a:solidFill>
                      <a:srgbClr val="F4F7FB"/>
                    </a:solidFill>
                  </a:tcPr>
                </a:tc>
                <a:tc>
                  <a:txBody>
                    <a:bodyPr wrap="square"/>
                    <a:lstStyle/>
                    <a:p>
                      <a:pPr algn="l"/>
                      <a:r>
                        <a:rPr sz="950" b="0">
                          <a:solidFill>
                            <a:srgbClr val="2A3441"/>
                          </a:solidFill>
                          <a:latin typeface="Segoe UI"/>
                        </a:rPr>
                        <a:t>mark_false_positive</a:t>
                      </a:r>
                    </a:p>
                  </a:txBody>
                  <a:tcPr marL="82296" marR="82296" marT="13716" marB="13716" anchor="ctr">
                    <a:solidFill>
                      <a:srgbClr val="F4F7FB"/>
                    </a:solidFill>
                  </a:tcPr>
                </a:tc>
                <a:tc>
                  <a:txBody>
                    <a:bodyPr wrap="square"/>
                    <a:lstStyle/>
                    <a:p>
                      <a:pPr algn="r"/>
                      <a:r>
                        <a:rPr sz="950" b="0">
                          <a:solidFill>
                            <a:srgbClr val="2A3441"/>
                          </a:solidFill>
                          <a:latin typeface="Segoe UI"/>
                        </a:rPr>
                        <a:t>−30</a:t>
                      </a:r>
                    </a:p>
                  </a:txBody>
                  <a:tcPr marL="82296" marR="82296" marT="13716" marB="13716" anchor="ctr">
                    <a:solidFill>
                      <a:srgbClr val="F4F7FB"/>
                    </a:solidFill>
                  </a:tcPr>
                </a:tc>
                <a:tc>
                  <a:txBody>
                    <a:bodyPr wrap="square"/>
                    <a:lstStyle/>
                    <a:p>
                      <a:pPr algn="r"/>
                      <a:r>
                        <a:rPr sz="950" b="0">
                          <a:solidFill>
                            <a:srgbClr val="2A3441"/>
                          </a:solidFill>
                          <a:latin typeface="Segoe UI"/>
                        </a:rPr>
                        <a:t>no</a:t>
                      </a:r>
                    </a:p>
                  </a:txBody>
                  <a:tcPr marL="82296" marR="82296" marT="13716" marB="13716" anchor="ctr">
                    <a:solidFill>
                      <a:srgbClr val="F4F7FB"/>
                    </a:solidFill>
                  </a:tcPr>
                </a:tc>
              </a:tr>
              <a:tr h="301752">
                <a:tc>
                  <a:txBody>
                    <a:bodyPr wrap="square"/>
                    <a:lstStyle/>
                    <a:p>
                      <a:pPr algn="l"/>
                      <a:r>
                        <a:rPr sz="950" b="0">
                          <a:solidFill>
                            <a:srgbClr val="2A3441"/>
                          </a:solidFill>
                          <a:latin typeface="Segoe UI"/>
                        </a:rPr>
                        <a:t>Benign Positive</a:t>
                      </a:r>
                    </a:p>
                  </a:txBody>
                  <a:tcPr marL="82296" marR="82296" marT="13716" marB="13716" anchor="ctr">
                    <a:solidFill>
                      <a:srgbClr val="FFFFFF"/>
                    </a:solidFill>
                  </a:tcPr>
                </a:tc>
                <a:tc>
                  <a:txBody>
                    <a:bodyPr wrap="square"/>
                    <a:lstStyle/>
                    <a:p>
                      <a:pPr algn="l"/>
                      <a:r>
                        <a:rPr sz="950" b="0">
                          <a:solidFill>
                            <a:srgbClr val="2A3441"/>
                          </a:solidFill>
                          <a:latin typeface="Segoe UI"/>
                        </a:rPr>
                        <a:t>mark_expected_activity</a:t>
                      </a:r>
                    </a:p>
                  </a:txBody>
                  <a:tcPr marL="82296" marR="82296" marT="13716" marB="13716" anchor="ctr">
                    <a:solidFill>
                      <a:srgbClr val="FFFFFF"/>
                    </a:solidFill>
                  </a:tcPr>
                </a:tc>
                <a:tc>
                  <a:txBody>
                    <a:bodyPr wrap="square"/>
                    <a:lstStyle/>
                    <a:p>
                      <a:pPr algn="r"/>
                      <a:r>
                        <a:rPr sz="950" b="0">
                          <a:solidFill>
                            <a:srgbClr val="2A3441"/>
                          </a:solidFill>
                          <a:latin typeface="Segoe UI"/>
                        </a:rPr>
                        <a:t>−15</a:t>
                      </a:r>
                    </a:p>
                  </a:txBody>
                  <a:tcPr marL="82296" marR="82296" marT="13716" marB="13716" anchor="ctr">
                    <a:solidFill>
                      <a:srgbClr val="FFFFFF"/>
                    </a:solidFill>
                  </a:tcPr>
                </a:tc>
                <a:tc>
                  <a:txBody>
                    <a:bodyPr wrap="square"/>
                    <a:lstStyle/>
                    <a:p>
                      <a:pPr algn="r"/>
                      <a:r>
                        <a:rPr sz="950" b="0">
                          <a:solidFill>
                            <a:srgbClr val="2A3441"/>
                          </a:solidFill>
                          <a:latin typeface="Segoe UI"/>
                        </a:rPr>
                        <a:t>no</a:t>
                      </a:r>
                    </a:p>
                  </a:txBody>
                  <a:tcPr marL="82296" marR="82296" marT="13716" marB="13716" anchor="ctr">
                    <a:solidFill>
                      <a:srgbClr val="FFFFFF"/>
                    </a:solidFill>
                  </a:tcPr>
                </a:tc>
              </a:tr>
              <a:tr h="301752">
                <a:tc>
                  <a:txBody>
                    <a:bodyPr wrap="square"/>
                    <a:lstStyle/>
                    <a:p>
                      <a:pPr algn="l"/>
                      <a:r>
                        <a:rPr sz="950" b="0">
                          <a:solidFill>
                            <a:srgbClr val="2A3441"/>
                          </a:solidFill>
                          <a:latin typeface="Segoe UI"/>
                        </a:rPr>
                        <a:t>Needs investigation</a:t>
                      </a:r>
                    </a:p>
                  </a:txBody>
                  <a:tcPr marL="82296" marR="82296" marT="13716" marB="13716" anchor="ctr">
                    <a:solidFill>
                      <a:srgbClr val="F4F7FB"/>
                    </a:solidFill>
                  </a:tcPr>
                </a:tc>
                <a:tc>
                  <a:txBody>
                    <a:bodyPr wrap="square"/>
                    <a:lstStyle/>
                    <a:p>
                      <a:pPr algn="l"/>
                      <a:r>
                        <a:rPr sz="950" b="0">
                          <a:solidFill>
                            <a:srgbClr val="2A3441"/>
                          </a:solidFill>
                          <a:latin typeface="Segoe UI"/>
                        </a:rPr>
                        <a:t>needs_investigation</a:t>
                      </a:r>
                    </a:p>
                  </a:txBody>
                  <a:tcPr marL="82296" marR="82296" marT="13716" marB="13716" anchor="ctr">
                    <a:solidFill>
                      <a:srgbClr val="F4F7FB"/>
                    </a:solidFill>
                  </a:tcPr>
                </a:tc>
                <a:tc>
                  <a:txBody>
                    <a:bodyPr wrap="square"/>
                    <a:lstStyle/>
                    <a:p>
                      <a:pPr algn="r"/>
                      <a:r>
                        <a:rPr sz="950" b="0">
                          <a:solidFill>
                            <a:srgbClr val="2A3441"/>
                          </a:solidFill>
                          <a:latin typeface="Segoe UI"/>
                        </a:rPr>
                        <a:t>0</a:t>
                      </a:r>
                    </a:p>
                  </a:txBody>
                  <a:tcPr marL="82296" marR="82296" marT="13716" marB="13716" anchor="ctr">
                    <a:solidFill>
                      <a:srgbClr val="F4F7FB"/>
                    </a:solidFill>
                  </a:tcPr>
                </a:tc>
                <a:tc>
                  <a:txBody>
                    <a:bodyPr wrap="square"/>
                    <a:lstStyle/>
                    <a:p>
                      <a:pPr algn="r"/>
                      <a:r>
                        <a:rPr sz="950" b="0">
                          <a:solidFill>
                            <a:srgbClr val="2A3441"/>
                          </a:solidFill>
                          <a:latin typeface="Segoe UI"/>
                        </a:rPr>
                        <a:t>yes</a:t>
                      </a:r>
                    </a:p>
                  </a:txBody>
                  <a:tcPr marL="82296" marR="82296" marT="13716" marB="13716" anchor="ctr">
                    <a:solidFill>
                      <a:srgbClr val="F4F7FB"/>
                    </a:solidFill>
                  </a:tcPr>
                </a:tc>
              </a:tr>
              <a:tr h="301752">
                <a:tc>
                  <a:txBody>
                    <a:bodyPr wrap="square"/>
                    <a:lstStyle/>
                    <a:p>
                      <a:pPr algn="l"/>
                      <a:r>
                        <a:rPr sz="950" b="0">
                          <a:solidFill>
                            <a:srgbClr val="2A3441"/>
                          </a:solidFill>
                          <a:latin typeface="Segoe UI"/>
                        </a:rPr>
                        <a:t>Escalate to Tier 2</a:t>
                      </a:r>
                    </a:p>
                  </a:txBody>
                  <a:tcPr marL="82296" marR="82296" marT="13716" marB="13716" anchor="ctr">
                    <a:solidFill>
                      <a:srgbClr val="FFFFFF"/>
                    </a:solidFill>
                  </a:tcPr>
                </a:tc>
                <a:tc>
                  <a:txBody>
                    <a:bodyPr wrap="square"/>
                    <a:lstStyle/>
                    <a:p>
                      <a:pPr algn="l"/>
                      <a:r>
                        <a:rPr sz="950" b="0">
                          <a:solidFill>
                            <a:srgbClr val="2A3441"/>
                          </a:solidFill>
                          <a:latin typeface="Segoe UI"/>
                        </a:rPr>
                        <a:t>escalate</a:t>
                      </a:r>
                    </a:p>
                  </a:txBody>
                  <a:tcPr marL="82296" marR="82296" marT="13716" marB="13716" anchor="ctr">
                    <a:solidFill>
                      <a:srgbClr val="FFFFFF"/>
                    </a:solidFill>
                  </a:tcPr>
                </a:tc>
                <a:tc>
                  <a:txBody>
                    <a:bodyPr wrap="square"/>
                    <a:lstStyle/>
                    <a:p>
                      <a:pPr algn="r"/>
                      <a:r>
                        <a:rPr sz="950" b="0">
                          <a:solidFill>
                            <a:srgbClr val="2A3441"/>
                          </a:solidFill>
                          <a:latin typeface="Segoe UI"/>
                        </a:rPr>
                        <a:t>+15</a:t>
                      </a:r>
                    </a:p>
                  </a:txBody>
                  <a:tcPr marL="82296" marR="82296" marT="13716" marB="13716" anchor="ctr">
                    <a:solidFill>
                      <a:srgbClr val="FFFFFF"/>
                    </a:solidFill>
                  </a:tcPr>
                </a:tc>
                <a:tc>
                  <a:txBody>
                    <a:bodyPr wrap="square"/>
                    <a:lstStyle/>
                    <a:p>
                      <a:pPr algn="r"/>
                      <a:r>
                        <a:rPr sz="950" b="0">
                          <a:solidFill>
                            <a:srgbClr val="2A3441"/>
                          </a:solidFill>
                          <a:latin typeface="Segoe UI"/>
                        </a:rPr>
                        <a:t>yes</a:t>
                      </a:r>
                    </a:p>
                  </a:txBody>
                  <a:tcPr marL="82296" marR="82296" marT="13716" marB="13716" anchor="ctr">
                    <a:solidFill>
                      <a:srgbClr val="FFFFFF"/>
                    </a:solidFill>
                  </a:tcPr>
                </a:tc>
              </a:tr>
            </a:tbl>
          </a:graphicData>
        </a:graphic>
      </p:graphicFrame>
      <p:sp>
        <p:nvSpPr>
          <p:cNvPr id="9" name="TextBox 8"/>
          <p:cNvSpPr txBox="1"/>
          <p:nvPr/>
        </p:nvSpPr>
        <p:spPr>
          <a:xfrm>
            <a:off x="566928" y="3474720"/>
            <a:ext cx="5584208" cy="2286000"/>
          </a:xfrm>
          <a:prstGeom prst="rect">
            <a:avLst/>
          </a:prstGeom>
          <a:noFill/>
        </p:spPr>
        <p:txBody>
          <a:bodyPr wrap="square" anchor="t" lIns="0" rIns="0" tIns="0" bIns="0">
            <a:spAutoFit/>
          </a:bodyPr>
          <a:lstStyle/>
          <a:p>
            <a:pPr algn="l">
              <a:lnSpc>
                <a:spcPct val="120000"/>
              </a:lnSpc>
              <a:spcBef>
                <a:spcPts val="0"/>
              </a:spcBef>
              <a:spcAft>
                <a:spcPts val="1000"/>
              </a:spcAft>
            </a:pPr>
            <a:r>
              <a:rPr sz="1000" b="0" i="1">
                <a:solidFill>
                  <a:srgbClr val="6B7684"/>
                </a:solidFill>
                <a:latin typeface="Segoe UI"/>
              </a:rPr>
              <a:t>duplicate is a queue action, not a score change — it links the alert to its original and suppresses it from the active queue.</a:t>
            </a:r>
          </a:p>
          <a:p>
            <a:pPr algn="l">
              <a:lnSpc>
                <a:spcPct val="122000"/>
              </a:lnSpc>
              <a:spcBef>
                <a:spcPts val="0"/>
              </a:spcBef>
              <a:spcAft>
                <a:spcPts val="0"/>
              </a:spcAft>
            </a:pPr>
            <a:r>
              <a:rPr sz="1050" b="0" i="0">
                <a:solidFill>
                  <a:srgbClr val="2A3441"/>
                </a:solidFill>
                <a:latin typeface="Segoe UI"/>
              </a:rPr>
              <a:t>Verdicts do not stack. Each new verdict supersedes the previous one, so the score is always the detection score plus the guarded change of the latest verdict. A score can never drift further than one capped change from what the detectors said.</a:t>
            </a:r>
          </a:p>
        </p:txBody>
      </p:sp>
      <p:sp>
        <p:nvSpPr>
          <p:cNvPr id="10" name="TextBox 9"/>
          <p:cNvSpPr txBox="1"/>
          <p:nvPr/>
        </p:nvSpPr>
        <p:spPr>
          <a:xfrm>
            <a:off x="6407168" y="1572768"/>
            <a:ext cx="5217598"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THE GUARDRAILS, IN ORDER</a:t>
            </a:r>
          </a:p>
        </p:txBody>
      </p:sp>
      <p:sp>
        <p:nvSpPr>
          <p:cNvPr id="11" name="Rectangle 10"/>
          <p:cNvSpPr/>
          <p:nvPr/>
        </p:nvSpPr>
        <p:spPr>
          <a:xfrm>
            <a:off x="6407168" y="1883664"/>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407168" y="1883664"/>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71760" y="1965960"/>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1 · Evidence check</a:t>
            </a:r>
          </a:p>
          <a:p>
            <a:pPr algn="l">
              <a:lnSpc>
                <a:spcPct val="118000"/>
              </a:lnSpc>
              <a:spcBef>
                <a:spcPts val="0"/>
              </a:spcBef>
              <a:spcAft>
                <a:spcPts val="0"/>
              </a:spcAft>
            </a:pPr>
            <a:r>
              <a:rPr sz="950" b="0" i="0">
                <a:solidFill>
                  <a:srgbClr val="2A3441"/>
                </a:solidFill>
                <a:latin typeface="Segoe UI"/>
              </a:rPr>
              <a:t>A disputed rule (signature_override) keeps its score; the verdict routes to the administrator as a possible rule regression.</a:t>
            </a:r>
          </a:p>
        </p:txBody>
      </p:sp>
      <p:sp>
        <p:nvSpPr>
          <p:cNvPr id="14" name="Rectangle 13"/>
          <p:cNvSpPr/>
          <p:nvPr/>
        </p:nvSpPr>
        <p:spPr>
          <a:xfrm>
            <a:off x="6407168" y="2688336"/>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07168" y="2688336"/>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571760" y="2770632"/>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2 · Cap</a:t>
            </a:r>
          </a:p>
          <a:p>
            <a:pPr algn="l">
              <a:lnSpc>
                <a:spcPct val="118000"/>
              </a:lnSpc>
              <a:spcBef>
                <a:spcPts val="0"/>
              </a:spcBef>
              <a:spcAft>
                <a:spcPts val="0"/>
              </a:spcAft>
            </a:pPr>
            <a:r>
              <a:rPr sz="950" b="0" i="0">
                <a:solidFill>
                  <a:srgbClr val="2A3441"/>
                </a:solidFill>
                <a:latin typeface="Segoe UI"/>
              </a:rPr>
              <a:t>One verdict may move a score by at most −30 or +20.</a:t>
            </a:r>
          </a:p>
        </p:txBody>
      </p:sp>
      <p:sp>
        <p:nvSpPr>
          <p:cNvPr id="17" name="Rectangle 16"/>
          <p:cNvSpPr/>
          <p:nvPr/>
        </p:nvSpPr>
        <p:spPr>
          <a:xfrm>
            <a:off x="6407168" y="3493008"/>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407168" y="3493008"/>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571760" y="3575303"/>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3 · Floors</a:t>
            </a:r>
          </a:p>
          <a:p>
            <a:pPr algn="l">
              <a:lnSpc>
                <a:spcPct val="118000"/>
              </a:lnSpc>
              <a:spcBef>
                <a:spcPts val="0"/>
              </a:spcBef>
              <a:spcAft>
                <a:spcPts val="0"/>
              </a:spcAft>
            </a:pPr>
            <a:r>
              <a:rPr sz="950" b="0" i="0">
                <a:solidFill>
                  <a:srgbClr val="2A3441"/>
                </a:solidFill>
                <a:latin typeface="Segoe UI"/>
              </a:rPr>
              <a:t>A Critical alert cannot be pushed below 70; an Infiltration alert not below 75. A floor never raises a score.</a:t>
            </a:r>
          </a:p>
        </p:txBody>
      </p:sp>
      <p:sp>
        <p:nvSpPr>
          <p:cNvPr id="20" name="Rectangle 19"/>
          <p:cNvSpPr/>
          <p:nvPr/>
        </p:nvSpPr>
        <p:spPr>
          <a:xfrm>
            <a:off x="6407168" y="4297680"/>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407168" y="4297680"/>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71760" y="4379976"/>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4 · Outcome</a:t>
            </a:r>
          </a:p>
          <a:p>
            <a:pPr algn="l">
              <a:lnSpc>
                <a:spcPct val="118000"/>
              </a:lnSpc>
              <a:spcBef>
                <a:spcPts val="0"/>
              </a:spcBef>
              <a:spcAft>
                <a:spcPts val="0"/>
              </a:spcAft>
            </a:pPr>
            <a:r>
              <a:rPr sz="950" b="0" i="0">
                <a:solidFill>
                  <a:srgbClr val="2A3441"/>
                </a:solidFill>
                <a:latin typeface="Segoe UI"/>
              </a:rPr>
              <a:t>Every event records the requested change, the change applied, and whether it was applied, capped or rejected — with the reason.</a:t>
            </a:r>
          </a:p>
        </p:txBody>
      </p:sp>
      <p:sp>
        <p:nvSpPr>
          <p:cNvPr id="23" name="Rectangle 22"/>
          <p:cNvSpPr/>
          <p:nvPr/>
        </p:nvSpPr>
        <p:spPr>
          <a:xfrm>
            <a:off x="566928" y="5138928"/>
            <a:ext cx="11057839" cy="1042415"/>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86384" y="5266944"/>
            <a:ext cx="10618927" cy="804672"/>
          </a:xfrm>
          <a:prstGeom prst="rect">
            <a:avLst/>
          </a:prstGeom>
          <a:noFill/>
        </p:spPr>
        <p:txBody>
          <a:bodyPr wrap="square" anchor="t" lIns="0" rIns="0" tIns="0" bIns="0">
            <a:spAutoFit/>
          </a:bodyPr>
          <a:lstStyle/>
          <a:p>
            <a:pPr algn="l">
              <a:spcBef>
                <a:spcPts val="0"/>
              </a:spcBef>
              <a:spcAft>
                <a:spcPts val="300"/>
              </a:spcAft>
            </a:pPr>
            <a:r>
              <a:rPr sz="1150" b="1" i="0">
                <a:solidFill>
                  <a:srgbClr val="0F2A47"/>
                </a:solidFill>
                <a:latin typeface="Segoe UI"/>
              </a:rPr>
              <a:t>Worked example — AL-00478, a benign flow the model calls a Web Attack at 99.89, Critical:</a:t>
            </a:r>
          </a:p>
          <a:p>
            <a:pPr algn="l">
              <a:lnSpc>
                <a:spcPct val="120000"/>
              </a:lnSpc>
              <a:spcBef>
                <a:spcPts val="0"/>
              </a:spcBef>
              <a:spcAft>
                <a:spcPts val="300"/>
              </a:spcAft>
            </a:pPr>
            <a:r>
              <a:rPr sz="1030" b="0">
                <a:solidFill>
                  <a:srgbClr val="2A3441"/>
                </a:solidFill>
                <a:latin typeface="Segoe UI"/>
              </a:rPr>
              <a:t>The analyst records False Positive (requests −30). </a:t>
            </a:r>
            <a:r>
              <a:rPr sz="1030" b="1">
                <a:solidFill>
                  <a:srgbClr val="2A3441"/>
                </a:solidFill>
                <a:latin typeface="Segoe UI"/>
              </a:rPr>
              <a:t>99.89 − 30 = 69.89, below the Critical floor, so the score is held at 70.00</a:t>
            </a:r>
            <a:r>
              <a:rPr sz="1030" b="0">
                <a:solidFill>
                  <a:srgbClr val="2A3441"/>
                </a:solidFill>
                <a:latin typeface="Segoe UI"/>
              </a:rPr>
              <a:t>. The chain reads 99.89 → requested −30.00 → bound → applied −29.89 → 70.00, and the guardrail's own sentence says why.</a:t>
            </a:r>
          </a:p>
          <a:p>
            <a:pPr algn="l">
              <a:spcBef>
                <a:spcPts val="0"/>
              </a:spcBef>
              <a:spcAft>
                <a:spcPts val="0"/>
              </a:spcAft>
            </a:pPr>
            <a:r>
              <a:rPr sz="980" b="0" i="1">
                <a:solidFill>
                  <a:srgbClr val="6B7684"/>
                </a:solidFill>
                <a:latin typeface="Segoe UI"/>
              </a:rPr>
              <a:t>The verdict is recorded in full. What the guardrail limited is how far one verdict may move a Critical alert — not the analyst's finding.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Similar-alert learning — the thesis mechanism</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A verdict does not only move the alert judged. It teaches the family of similar alerts.</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14</a:t>
            </a:r>
          </a:p>
        </p:txBody>
      </p:sp>
      <p:sp>
        <p:nvSpPr>
          <p:cNvPr id="9" name="Rectangle 8"/>
          <p:cNvSpPr/>
          <p:nvPr/>
        </p:nvSpPr>
        <p:spPr>
          <a:xfrm>
            <a:off x="566928" y="1517904"/>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517904"/>
            <a:ext cx="50292" cy="14447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1627631"/>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family key</a:t>
            </a:r>
          </a:p>
          <a:p>
            <a:pPr algn="l">
              <a:lnSpc>
                <a:spcPct val="120000"/>
              </a:lnSpc>
              <a:spcBef>
                <a:spcPts val="0"/>
              </a:spcBef>
              <a:spcAft>
                <a:spcPts val="0"/>
              </a:spcAft>
            </a:pPr>
            <a:r>
              <a:rPr sz="1019" b="0" i="0">
                <a:solidFill>
                  <a:srgbClr val="2A3441"/>
                </a:solidFill>
                <a:latin typeface="Segoe UI"/>
              </a:rPr>
              <a:t>Alerts sharing attack class, destination port, protocol and matched rule. A flow no detector flagged also keys on its destination. This is the collaborator's similarity design, reduced to an exact key.</a:t>
            </a:r>
          </a:p>
        </p:txBody>
      </p:sp>
      <p:sp>
        <p:nvSpPr>
          <p:cNvPr id="12" name="Rectangle 11"/>
          <p:cNvSpPr/>
          <p:nvPr/>
        </p:nvSpPr>
        <p:spPr>
          <a:xfrm>
            <a:off x="6205575" y="1517904"/>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05575" y="1517904"/>
            <a:ext cx="50292" cy="1444752"/>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8455" y="1627631"/>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agreement gate</a:t>
            </a:r>
          </a:p>
          <a:p>
            <a:pPr algn="l">
              <a:lnSpc>
                <a:spcPct val="120000"/>
              </a:lnSpc>
              <a:spcBef>
                <a:spcPts val="0"/>
              </a:spcBef>
              <a:spcAft>
                <a:spcPts val="0"/>
              </a:spcAft>
            </a:pPr>
            <a:r>
              <a:rPr sz="1019" b="0" i="0">
                <a:solidFill>
                  <a:srgbClr val="2A3441"/>
                </a:solidFill>
                <a:latin typeface="Segoe UI"/>
              </a:rPr>
              <a:t>Nothing reaches the queue until a family has at least 3 learning verdicts, no tie, and at least 0.67 agreement on one category. Only the learning that points the agreed way then applies.</a:t>
            </a:r>
          </a:p>
        </p:txBody>
      </p:sp>
      <p:sp>
        <p:nvSpPr>
          <p:cNvPr id="15" name="Rectangle 14"/>
          <p:cNvSpPr/>
          <p:nvPr/>
        </p:nvSpPr>
        <p:spPr>
          <a:xfrm>
            <a:off x="566928" y="3145536"/>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145536"/>
            <a:ext cx="50292" cy="1444752"/>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9808" y="3255264"/>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movement</a:t>
            </a:r>
          </a:p>
          <a:p>
            <a:pPr algn="l">
              <a:lnSpc>
                <a:spcPct val="120000"/>
              </a:lnSpc>
              <a:spcBef>
                <a:spcPts val="0"/>
              </a:spcBef>
              <a:spcAft>
                <a:spcPts val="0"/>
              </a:spcAft>
            </a:pPr>
            <a:r>
              <a:rPr sz="1019" b="0" i="0">
                <a:solidFill>
                  <a:srgbClr val="2A3441"/>
                </a:solidFill>
                <a:latin typeface="Segoe UI"/>
              </a:rPr>
              <a:t>Formula C1: up by +K·w, down by −K·(1 − w), with K = 30 and w = the attack type's severity ÷ 10. A family moves one queue band at a time (movement M1).</a:t>
            </a:r>
          </a:p>
        </p:txBody>
      </p:sp>
      <p:sp>
        <p:nvSpPr>
          <p:cNvPr id="18" name="Rectangle 17"/>
          <p:cNvSpPr/>
          <p:nvPr/>
        </p:nvSpPr>
        <p:spPr>
          <a:xfrm>
            <a:off x="6205575" y="3145536"/>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05575" y="3145536"/>
            <a:ext cx="50292" cy="14447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8455" y="3255264"/>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precedence rule</a:t>
            </a:r>
          </a:p>
          <a:p>
            <a:pPr algn="l">
              <a:lnSpc>
                <a:spcPct val="120000"/>
              </a:lnSpc>
              <a:spcBef>
                <a:spcPts val="0"/>
              </a:spcBef>
              <a:spcAft>
                <a:spcPts val="0"/>
              </a:spcAft>
            </a:pPr>
            <a:r>
              <a:rPr sz="1019" b="0" i="0">
                <a:solidFill>
                  <a:srgbClr val="2A3441"/>
                </a:solidFill>
                <a:latin typeface="Segoe UI"/>
              </a:rPr>
              <a:t>An alert with a verdict of its own is placed by that verdict, not by its family. A disputed-rule alert neither teaches nor learns, and never leaves its band.</a:t>
            </a:r>
          </a:p>
        </p:txBody>
      </p:sp>
      <p:sp>
        <p:nvSpPr>
          <p:cNvPr id="21" name="Rectangle 20"/>
          <p:cNvSpPr/>
          <p:nvPr/>
        </p:nvSpPr>
        <p:spPr>
          <a:xfrm>
            <a:off x="566928" y="4718304"/>
            <a:ext cx="11057839" cy="1426464"/>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86384" y="4846320"/>
            <a:ext cx="10618927" cy="1188720"/>
          </a:xfrm>
          <a:prstGeom prst="rect">
            <a:avLst/>
          </a:prstGeom>
          <a:noFill/>
        </p:spPr>
        <p:txBody>
          <a:bodyPr wrap="square" anchor="t" lIns="0" rIns="0" tIns="0" bIns="0">
            <a:spAutoFit/>
          </a:bodyPr>
          <a:lstStyle/>
          <a:p>
            <a:pPr algn="l">
              <a:spcBef>
                <a:spcPts val="0"/>
              </a:spcBef>
              <a:spcAft>
                <a:spcPts val="400"/>
              </a:spcAft>
            </a:pPr>
            <a:r>
              <a:rPr sz="1200" b="1" i="0">
                <a:solidFill>
                  <a:srgbClr val="0F2A47"/>
                </a:solidFill>
                <a:latin typeface="Segoe UI"/>
              </a:rPr>
              <a:t>Why the gate matters more than the formula we chose</a:t>
            </a:r>
          </a:p>
        </p:txBody>
      </p:sp>
      <p:sp>
        <p:nvSpPr>
          <p:cNvPr id="23" name="TextBox 22"/>
          <p:cNvSpPr txBox="1"/>
          <p:nvPr/>
        </p:nvSpPr>
        <p:spPr>
          <a:xfrm>
            <a:off x="786384" y="5138928"/>
            <a:ext cx="10618927" cy="914400"/>
          </a:xfrm>
          <a:prstGeom prst="rect">
            <a:avLst/>
          </a:prstGeom>
          <a:noFill/>
        </p:spPr>
        <p:txBody>
          <a:bodyPr wrap="square" anchor="t" lIns="0" rIns="0" tIns="0" bIns="0">
            <a:spAutoFit/>
          </a:bodyPr>
          <a:lstStyle/>
          <a:p>
            <a:pPr algn="l">
              <a:lnSpc>
                <a:spcPct val="118000"/>
              </a:lnSpc>
              <a:spcBef>
                <a:spcPts val="0"/>
              </a:spcBef>
              <a:spcAft>
                <a:spcPts val="500"/>
              </a:spcAft>
            </a:pPr>
            <a:r>
              <a:rPr sz="1019" b="0" i="0">
                <a:solidFill>
                  <a:srgbClr val="2A3441"/>
                </a:solidFill>
                <a:latin typeface="Segoe UI"/>
              </a:rPr>
              <a:t>Without a gate, one wrong verdict moved a whole family: thirteen correct dismissals were outweighed by one confirmation, lifting 779 benign flows into Tier 2.</a:t>
            </a:r>
          </a:p>
          <a:p>
            <a:pPr algn="l">
              <a:lnSpc>
                <a:spcPct val="118000"/>
              </a:lnSpc>
              <a:spcBef>
                <a:spcPts val="0"/>
              </a:spcBef>
              <a:spcAft>
                <a:spcPts val="500"/>
              </a:spcAft>
            </a:pPr>
            <a:r>
              <a:rPr sz="1019" b="0" i="0">
                <a:solidFill>
                  <a:srgbClr val="2A3441"/>
                </a:solidFill>
                <a:latin typeface="Segoe UI"/>
              </a:rPr>
              <a:t>With the gate on, that failure disappears for every formula tested — the 59 demoted attacks and the 780 misplaced alerts both fall to zero, in every seed.</a:t>
            </a:r>
          </a:p>
          <a:p>
            <a:pPr algn="l">
              <a:lnSpc>
                <a:spcPct val="118000"/>
              </a:lnSpc>
              <a:spcBef>
                <a:spcPts val="0"/>
              </a:spcBef>
              <a:spcAft>
                <a:spcPts val="500"/>
              </a:spcAft>
            </a:pPr>
            <a:r>
              <a:rPr sz="1019" b="0" i="0">
                <a:solidFill>
                  <a:srgbClr val="2A3441"/>
                </a:solidFill>
                <a:latin typeface="Segoe UI"/>
              </a:rPr>
              <a:t>The gate counts by category, not by direction, because 2 false positives plus 1 expected-activity verdict is 0.6667 agreement — and the gate correctly stays shut.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FOUR</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Technical introduction</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What the system is made of, how the pieces are separated, and the exact technology stack.</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04</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TECHNICAL INTRODUCTION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Architecture at a glance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16</a:t>
            </a:r>
          </a:p>
        </p:txBody>
      </p:sp>
      <p:sp>
        <p:nvSpPr>
          <p:cNvPr id="8" name="Rectangle 7"/>
          <p:cNvSpPr/>
          <p:nvPr/>
        </p:nvSpPr>
        <p:spPr>
          <a:xfrm>
            <a:off x="566928" y="1444752"/>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444752"/>
            <a:ext cx="54864"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1517904"/>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Interface</a:t>
            </a:r>
          </a:p>
        </p:txBody>
      </p:sp>
      <p:sp>
        <p:nvSpPr>
          <p:cNvPr id="11" name="TextBox 10"/>
          <p:cNvSpPr txBox="1"/>
          <p:nvPr/>
        </p:nvSpPr>
        <p:spPr>
          <a:xfrm>
            <a:off x="2542032" y="1517904"/>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1F6FEB"/>
                </a:solidFill>
                <a:latin typeface="Consolas"/>
              </a:rPr>
              <a:t>apps/web  —  </a:t>
            </a:r>
            <a:r>
              <a:rPr sz="1000" b="0">
                <a:solidFill>
                  <a:srgbClr val="2A3441"/>
                </a:solidFill>
                <a:latin typeface="Segoe UI"/>
              </a:rPr>
              <a:t>React console — analyst workstation, overview, entity view, admin, evaluator</a:t>
            </a:r>
          </a:p>
        </p:txBody>
      </p:sp>
      <p:sp>
        <p:nvSpPr>
          <p:cNvPr id="12" name="Rectangle 11"/>
          <p:cNvSpPr/>
          <p:nvPr/>
        </p:nvSpPr>
        <p:spPr>
          <a:xfrm>
            <a:off x="566928" y="2185416"/>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185416"/>
            <a:ext cx="54864"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68096" y="2258568"/>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API</a:t>
            </a:r>
          </a:p>
        </p:txBody>
      </p:sp>
      <p:sp>
        <p:nvSpPr>
          <p:cNvPr id="15" name="TextBox 14"/>
          <p:cNvSpPr txBox="1"/>
          <p:nvPr/>
        </p:nvSpPr>
        <p:spPr>
          <a:xfrm>
            <a:off x="2542032" y="2258568"/>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1F6FEB"/>
                </a:solidFill>
                <a:latin typeface="Consolas"/>
              </a:rPr>
              <a:t>apps/api  —  </a:t>
            </a:r>
            <a:r>
              <a:rPr sz="1000" b="0">
                <a:solidFill>
                  <a:srgbClr val="2A3441"/>
                </a:solidFill>
                <a:latin typeface="Segoe UI"/>
              </a:rPr>
              <a:t>FastAPI service; contract in apps/api/contract (pure Pydantic), handlers in routes.py, mappers.py</a:t>
            </a:r>
          </a:p>
        </p:txBody>
      </p:sp>
      <p:sp>
        <p:nvSpPr>
          <p:cNvPr id="16" name="Rectangle 15"/>
          <p:cNvSpPr/>
          <p:nvPr/>
        </p:nvSpPr>
        <p:spPr>
          <a:xfrm>
            <a:off x="566928" y="2926080"/>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2926080"/>
            <a:ext cx="54864" cy="676656"/>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8096" y="2999232"/>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Persistence</a:t>
            </a:r>
          </a:p>
        </p:txBody>
      </p:sp>
      <p:sp>
        <p:nvSpPr>
          <p:cNvPr id="19" name="TextBox 18"/>
          <p:cNvSpPr txBox="1"/>
          <p:nvPr/>
        </p:nvSpPr>
        <p:spPr>
          <a:xfrm>
            <a:off x="2542032" y="2999232"/>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1E7A45"/>
                </a:solidFill>
                <a:latin typeface="Consolas"/>
              </a:rPr>
              <a:t>packages/contracts · pipeline/store.py  —  </a:t>
            </a:r>
            <a:r>
              <a:rPr sz="1000" b="0">
                <a:solidFill>
                  <a:srgbClr val="2A3441"/>
                </a:solidFill>
                <a:latin typeface="Segoe UI"/>
              </a:rPr>
              <a:t>SQLite with 13 tables and append-only triggers; repository reads in store.py</a:t>
            </a:r>
          </a:p>
        </p:txBody>
      </p:sp>
      <p:sp>
        <p:nvSpPr>
          <p:cNvPr id="20" name="Rectangle 19"/>
          <p:cNvSpPr/>
          <p:nvPr/>
        </p:nvSpPr>
        <p:spPr>
          <a:xfrm>
            <a:off x="566928" y="3666744"/>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6928" y="3666744"/>
            <a:ext cx="54864" cy="676656"/>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68096" y="3739896"/>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Detection</a:t>
            </a:r>
          </a:p>
        </p:txBody>
      </p:sp>
      <p:sp>
        <p:nvSpPr>
          <p:cNvPr id="23" name="TextBox 22"/>
          <p:cNvSpPr txBox="1"/>
          <p:nvPr/>
        </p:nvSpPr>
        <p:spPr>
          <a:xfrm>
            <a:off x="2542032" y="3739896"/>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E07B18"/>
                </a:solidFill>
                <a:latin typeface="Consolas"/>
              </a:rPr>
              <a:t>packages/detection  —  </a:t>
            </a:r>
            <a:r>
              <a:rPr sz="1000" b="0">
                <a:solidFill>
                  <a:srgbClr val="2A3441"/>
                </a:solidFill>
                <a:latin typeface="Segoe UI"/>
              </a:rPr>
              <a:t>signature/ · ml/ · fusion/ · ranking/ · feedback/ · guardrail/ · triage/ · pipeline/</a:t>
            </a:r>
          </a:p>
        </p:txBody>
      </p:sp>
      <p:sp>
        <p:nvSpPr>
          <p:cNvPr id="24" name="Rectangle 23"/>
          <p:cNvSpPr/>
          <p:nvPr/>
        </p:nvSpPr>
        <p:spPr>
          <a:xfrm>
            <a:off x="566928" y="4407408"/>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4407408"/>
            <a:ext cx="54864" cy="676656"/>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 y="4480560"/>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Evaluation</a:t>
            </a:r>
          </a:p>
        </p:txBody>
      </p:sp>
      <p:sp>
        <p:nvSpPr>
          <p:cNvPr id="27" name="TextBox 26"/>
          <p:cNvSpPr txBox="1"/>
          <p:nvPr/>
        </p:nvSpPr>
        <p:spPr>
          <a:xfrm>
            <a:off x="2542032" y="4480560"/>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E07B18"/>
                </a:solidFill>
                <a:latin typeface="Consolas"/>
              </a:rPr>
              <a:t>packages/evaluation  —  </a:t>
            </a:r>
            <a:r>
              <a:rPr sz="1000" b="0">
                <a:solidFill>
                  <a:srgbClr val="2A3441"/>
                </a:solidFill>
                <a:latin typeface="Segoe UI"/>
              </a:rPr>
              <a:t>truth.py · scenario.py · metrics.py · harness.py — the three-arm harness</a:t>
            </a:r>
          </a:p>
        </p:txBody>
      </p:sp>
      <p:sp>
        <p:nvSpPr>
          <p:cNvPr id="28" name="Rectangle 27"/>
          <p:cNvSpPr/>
          <p:nvPr/>
        </p:nvSpPr>
        <p:spPr>
          <a:xfrm>
            <a:off x="566928" y="5148072"/>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66928" y="5148072"/>
            <a:ext cx="54864" cy="676656"/>
          </a:xfrm>
          <a:prstGeom prst="rect">
            <a:avLst/>
          </a:prstGeom>
          <a:solidFill>
            <a:srgbClr val="B08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8096" y="5221224"/>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Evidence</a:t>
            </a:r>
          </a:p>
        </p:txBody>
      </p:sp>
      <p:sp>
        <p:nvSpPr>
          <p:cNvPr id="31" name="TextBox 30"/>
          <p:cNvSpPr txBox="1"/>
          <p:nvPr/>
        </p:nvSpPr>
        <p:spPr>
          <a:xfrm>
            <a:off x="2542032" y="5221224"/>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B08900"/>
                </a:solidFill>
                <a:latin typeface="Consolas"/>
              </a:rPr>
              <a:t>data/processed · models · rules · config  —  </a:t>
            </a:r>
            <a:r>
              <a:rPr sz="1000" b="0">
                <a:solidFill>
                  <a:srgbClr val="2A3441"/>
                </a:solidFill>
                <a:latin typeface="Segoe UI"/>
              </a:rPr>
              <a:t>Samples, 8-class model, tuned rule set, versioned severity chart</a:t>
            </a:r>
          </a:p>
        </p:txBody>
      </p:sp>
      <p:sp>
        <p:nvSpPr>
          <p:cNvPr id="32" name="TextBox 31"/>
          <p:cNvSpPr txBox="1"/>
          <p:nvPr/>
        </p:nvSpPr>
        <p:spPr>
          <a:xfrm>
            <a:off x="566928" y="5961888"/>
            <a:ext cx="11057839" cy="420624"/>
          </a:xfrm>
          <a:prstGeom prst="rect">
            <a:avLst/>
          </a:prstGeom>
          <a:noFill/>
        </p:spPr>
        <p:txBody>
          <a:bodyPr wrap="square" anchor="t" lIns="0" rIns="0" tIns="0" bIns="0">
            <a:spAutoFit/>
          </a:bodyPr>
          <a:lstStyle/>
          <a:p>
            <a:pPr algn="l">
              <a:lnSpc>
                <a:spcPct val="120000"/>
              </a:lnSpc>
              <a:spcBef>
                <a:spcPts val="0"/>
              </a:spcBef>
              <a:spcAft>
                <a:spcPts val="0"/>
              </a:spcAft>
            </a:pPr>
            <a:r>
              <a:rPr sz="1000" b="0" i="1">
                <a:solidFill>
                  <a:srgbClr val="6B7684"/>
                </a:solidFill>
                <a:latin typeface="Segoe UI"/>
              </a:rPr>
              <a:t>Dependency direction is one-way: the interface depends on the API, which depends on the contract, which depends on nothing. The contract imports no web framework at all — which is why the console's client is generated from it and cannot drift.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TECHNICAL INTRODUCTION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Technology stack — backend and machine learning</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The exact versions the project is tested with, pinned in requirements.txt on Python 3.11.</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17</a:t>
            </a:r>
          </a:p>
        </p:txBody>
      </p:sp>
      <p:graphicFrame>
        <p:nvGraphicFramePr>
          <p:cNvPr id="9" name="Table 8"/>
          <p:cNvGraphicFramePr>
            <a:graphicFrameLocks noGrp="1"/>
          </p:cNvGraphicFramePr>
          <p:nvPr/>
        </p:nvGraphicFramePr>
        <p:xfrm>
          <a:off x="566928" y="1517904"/>
          <a:ext cx="11055096" cy="3355848"/>
        </p:xfrm>
        <a:graphic>
          <a:graphicData uri="http://schemas.openxmlformats.org/drawingml/2006/table">
            <a:tbl>
              <a:tblPr firstRow="0" bandRow="0"/>
              <a:tblGrid>
                <a:gridCol w="1298448"/>
                <a:gridCol w="2395728"/>
                <a:gridCol w="1417320"/>
                <a:gridCol w="5943600"/>
              </a:tblGrid>
              <a:tr h="292608">
                <a:tc>
                  <a:txBody>
                    <a:bodyPr wrap="square"/>
                    <a:lstStyle/>
                    <a:p>
                      <a:pPr algn="l"/>
                      <a:r>
                        <a:rPr sz="900" b="1">
                          <a:solidFill>
                            <a:srgbClr val="FFFFFF"/>
                          </a:solidFill>
                          <a:latin typeface="Segoe UI"/>
                        </a:rPr>
                        <a:t>Layer</a:t>
                      </a:r>
                    </a:p>
                  </a:txBody>
                  <a:tcPr marL="82296" marR="82296" marT="13716" marB="13716" anchor="ctr">
                    <a:solidFill>
                      <a:srgbClr val="0F2A47"/>
                    </a:solidFill>
                  </a:tcPr>
                </a:tc>
                <a:tc>
                  <a:txBody>
                    <a:bodyPr wrap="square"/>
                    <a:lstStyle/>
                    <a:p>
                      <a:pPr algn="l"/>
                      <a:r>
                        <a:rPr sz="900" b="1">
                          <a:solidFill>
                            <a:srgbClr val="FFFFFF"/>
                          </a:solidFill>
                          <a:latin typeface="Segoe UI"/>
                        </a:rPr>
                        <a:t>Technology</a:t>
                      </a:r>
                    </a:p>
                  </a:txBody>
                  <a:tcPr marL="82296" marR="82296" marT="13716" marB="13716" anchor="ctr">
                    <a:solidFill>
                      <a:srgbClr val="0F2A47"/>
                    </a:solidFill>
                  </a:tcPr>
                </a:tc>
                <a:tc>
                  <a:txBody>
                    <a:bodyPr wrap="square"/>
                    <a:lstStyle/>
                    <a:p>
                      <a:pPr algn="l"/>
                      <a:r>
                        <a:rPr sz="900" b="1">
                          <a:solidFill>
                            <a:srgbClr val="FFFFFF"/>
                          </a:solidFill>
                          <a:latin typeface="Segoe UI"/>
                        </a:rPr>
                        <a:t>Version</a:t>
                      </a:r>
                    </a:p>
                  </a:txBody>
                  <a:tcPr marL="82296" marR="82296" marT="13716" marB="13716" anchor="ctr">
                    <a:solidFill>
                      <a:srgbClr val="0F2A47"/>
                    </a:solidFill>
                  </a:tcPr>
                </a:tc>
                <a:tc>
                  <a:txBody>
                    <a:bodyPr wrap="square"/>
                    <a:lstStyle/>
                    <a:p>
                      <a:pPr algn="l"/>
                      <a:r>
                        <a:rPr sz="900" b="1">
                          <a:solidFill>
                            <a:srgbClr val="FFFFFF"/>
                          </a:solidFill>
                          <a:latin typeface="Segoe UI"/>
                        </a:rPr>
                        <a:t>Why this one</a:t>
                      </a:r>
                    </a:p>
                  </a:txBody>
                  <a:tcPr marL="82296" marR="82296" marT="13716" marB="13716" anchor="ctr">
                    <a:solidFill>
                      <a:srgbClr val="0F2A47"/>
                    </a:solidFill>
                  </a:tcPr>
                </a:tc>
              </a:tr>
              <a:tr h="306324">
                <a:tc>
                  <a:txBody>
                    <a:bodyPr wrap="square"/>
                    <a:lstStyle/>
                    <a:p>
                      <a:pPr algn="l"/>
                      <a:r>
                        <a:rPr sz="930" b="0">
                          <a:solidFill>
                            <a:srgbClr val="2A3441"/>
                          </a:solidFill>
                          <a:latin typeface="Segoe UI"/>
                        </a:rPr>
                        <a:t>Language</a:t>
                      </a:r>
                    </a:p>
                  </a:txBody>
                  <a:tcPr marL="82296" marR="82296" marT="13716" marB="13716" anchor="ctr">
                    <a:solidFill>
                      <a:srgbClr val="FFFFFF"/>
                    </a:solidFill>
                  </a:tcPr>
                </a:tc>
                <a:tc>
                  <a:txBody>
                    <a:bodyPr wrap="square"/>
                    <a:lstStyle/>
                    <a:p>
                      <a:pPr algn="l"/>
                      <a:r>
                        <a:rPr sz="930" b="0">
                          <a:solidFill>
                            <a:srgbClr val="2A3441"/>
                          </a:solidFill>
                          <a:latin typeface="Segoe UI"/>
                        </a:rPr>
                        <a:t>Python</a:t>
                      </a:r>
                    </a:p>
                  </a:txBody>
                  <a:tcPr marL="82296" marR="82296" marT="13716" marB="13716" anchor="ctr">
                    <a:solidFill>
                      <a:srgbClr val="FFFFFF"/>
                    </a:solidFill>
                  </a:tcPr>
                </a:tc>
                <a:tc>
                  <a:txBody>
                    <a:bodyPr wrap="square"/>
                    <a:lstStyle/>
                    <a:p>
                      <a:pPr algn="l"/>
                      <a:r>
                        <a:rPr sz="930" b="0">
                          <a:solidFill>
                            <a:srgbClr val="2A3441"/>
                          </a:solidFill>
                          <a:latin typeface="Segoe UI"/>
                        </a:rPr>
                        <a:t>3.11.11</a:t>
                      </a:r>
                    </a:p>
                  </a:txBody>
                  <a:tcPr marL="82296" marR="82296" marT="13716" marB="13716" anchor="ctr">
                    <a:solidFill>
                      <a:srgbClr val="FFFFFF"/>
                    </a:solidFill>
                  </a:tcPr>
                </a:tc>
                <a:tc>
                  <a:txBody>
                    <a:bodyPr wrap="square"/>
                    <a:lstStyle/>
                    <a:p>
                      <a:pPr algn="l"/>
                      <a:r>
                        <a:rPr sz="930" b="0">
                          <a:solidFill>
                            <a:srgbClr val="2A3441"/>
                          </a:solidFill>
                          <a:latin typeface="Segoe UI"/>
                        </a:rPr>
                        <a:t>The tested set every result was produced on.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API</a:t>
                      </a:r>
                    </a:p>
                  </a:txBody>
                  <a:tcPr marL="82296" marR="82296" marT="13716" marB="13716" anchor="ctr">
                    <a:solidFill>
                      <a:srgbClr val="F4F7FB"/>
                    </a:solidFill>
                  </a:tcPr>
                </a:tc>
                <a:tc>
                  <a:txBody>
                    <a:bodyPr wrap="square"/>
                    <a:lstStyle/>
                    <a:p>
                      <a:pPr algn="l"/>
                      <a:r>
                        <a:rPr sz="930" b="0">
                          <a:solidFill>
                            <a:srgbClr val="2A3441"/>
                          </a:solidFill>
                          <a:latin typeface="Segoe UI"/>
                        </a:rPr>
                        <a:t>FastAPI</a:t>
                      </a:r>
                    </a:p>
                  </a:txBody>
                  <a:tcPr marL="82296" marR="82296" marT="13716" marB="13716" anchor="ctr">
                    <a:solidFill>
                      <a:srgbClr val="F4F7FB"/>
                    </a:solidFill>
                  </a:tcPr>
                </a:tc>
                <a:tc>
                  <a:txBody>
                    <a:bodyPr wrap="square"/>
                    <a:lstStyle/>
                    <a:p>
                      <a:pPr algn="l"/>
                      <a:r>
                        <a:rPr sz="930" b="0">
                          <a:solidFill>
                            <a:srgbClr val="2A3441"/>
                          </a:solidFill>
                          <a:latin typeface="Segoe UI"/>
                        </a:rPr>
                        <a:t>0.136.0</a:t>
                      </a:r>
                    </a:p>
                  </a:txBody>
                  <a:tcPr marL="82296" marR="82296" marT="13716" marB="13716" anchor="ctr">
                    <a:solidFill>
                      <a:srgbClr val="F4F7FB"/>
                    </a:solidFill>
                  </a:tcPr>
                </a:tc>
                <a:tc>
                  <a:txBody>
                    <a:bodyPr wrap="square"/>
                    <a:lstStyle/>
                    <a:p>
                      <a:pPr algn="l"/>
                      <a:r>
                        <a:rPr sz="930" b="0">
                          <a:solidFill>
                            <a:srgbClr val="2A3441"/>
                          </a:solidFill>
                          <a:latin typeface="Segoe UI"/>
                        </a:rPr>
                        <a:t>Typed request and response models, OpenAPI generated from the contract.</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ASGI</a:t>
                      </a:r>
                    </a:p>
                  </a:txBody>
                  <a:tcPr marL="82296" marR="82296" marT="13716" marB="13716" anchor="ctr">
                    <a:solidFill>
                      <a:srgbClr val="FFFFFF"/>
                    </a:solidFill>
                  </a:tcPr>
                </a:tc>
                <a:tc>
                  <a:txBody>
                    <a:bodyPr wrap="square"/>
                    <a:lstStyle/>
                    <a:p>
                      <a:pPr algn="l"/>
                      <a:r>
                        <a:rPr sz="930" b="0">
                          <a:solidFill>
                            <a:srgbClr val="2A3441"/>
                          </a:solidFill>
                          <a:latin typeface="Segoe UI"/>
                        </a:rPr>
                        <a:t>Starlette · Uvicorn</a:t>
                      </a:r>
                    </a:p>
                  </a:txBody>
                  <a:tcPr marL="82296" marR="82296" marT="13716" marB="13716" anchor="ctr">
                    <a:solidFill>
                      <a:srgbClr val="FFFFFF"/>
                    </a:solidFill>
                  </a:tcPr>
                </a:tc>
                <a:tc>
                  <a:txBody>
                    <a:bodyPr wrap="square"/>
                    <a:lstStyle/>
                    <a:p>
                      <a:pPr algn="l"/>
                      <a:r>
                        <a:rPr sz="930" b="0">
                          <a:solidFill>
                            <a:srgbClr val="2A3441"/>
                          </a:solidFill>
                          <a:latin typeface="Segoe UI"/>
                        </a:rPr>
                        <a:t>1.6.0 · 0.37.0</a:t>
                      </a:r>
                    </a:p>
                  </a:txBody>
                  <a:tcPr marL="82296" marR="82296" marT="13716" marB="13716" anchor="ctr">
                    <a:solidFill>
                      <a:srgbClr val="FFFFFF"/>
                    </a:solidFill>
                  </a:tcPr>
                </a:tc>
                <a:tc>
                  <a:txBody>
                    <a:bodyPr wrap="square"/>
                    <a:lstStyle/>
                    <a:p>
                      <a:pPr algn="l"/>
                      <a:r>
                        <a:rPr sz="930" b="0">
                          <a:solidFill>
                            <a:srgbClr val="2A3441"/>
                          </a:solidFill>
                          <a:latin typeface="Segoe UI"/>
                        </a:rPr>
                        <a:t>The ASGI layer and server the API runs on.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Contracts</a:t>
                      </a:r>
                    </a:p>
                  </a:txBody>
                  <a:tcPr marL="82296" marR="82296" marT="13716" marB="13716" anchor="ctr">
                    <a:solidFill>
                      <a:srgbClr val="F4F7FB"/>
                    </a:solidFill>
                  </a:tcPr>
                </a:tc>
                <a:tc>
                  <a:txBody>
                    <a:bodyPr wrap="square"/>
                    <a:lstStyle/>
                    <a:p>
                      <a:pPr algn="l"/>
                      <a:r>
                        <a:rPr sz="930" b="0">
                          <a:solidFill>
                            <a:srgbClr val="2A3441"/>
                          </a:solidFill>
                          <a:latin typeface="Segoe UI"/>
                        </a:rPr>
                        <a:t>Pydantic</a:t>
                      </a:r>
                    </a:p>
                  </a:txBody>
                  <a:tcPr marL="82296" marR="82296" marT="13716" marB="13716" anchor="ctr">
                    <a:solidFill>
                      <a:srgbClr val="F4F7FB"/>
                    </a:solidFill>
                  </a:tcPr>
                </a:tc>
                <a:tc>
                  <a:txBody>
                    <a:bodyPr wrap="square"/>
                    <a:lstStyle/>
                    <a:p>
                      <a:pPr algn="l"/>
                      <a:r>
                        <a:rPr sz="930" b="0">
                          <a:solidFill>
                            <a:srgbClr val="2A3441"/>
                          </a:solidFill>
                          <a:latin typeface="Segoe UI"/>
                        </a:rPr>
                        <a:t>2.11.9</a:t>
                      </a:r>
                    </a:p>
                  </a:txBody>
                  <a:tcPr marL="82296" marR="82296" marT="13716" marB="13716" anchor="ctr">
                    <a:solidFill>
                      <a:srgbClr val="F4F7FB"/>
                    </a:solidFill>
                  </a:tcPr>
                </a:tc>
                <a:tc>
                  <a:txBody>
                    <a:bodyPr wrap="square"/>
                    <a:lstStyle/>
                    <a:p>
                      <a:pPr algn="l"/>
                      <a:r>
                        <a:rPr sz="930" b="0">
                          <a:solidFill>
                            <a:srgbClr val="2A3441"/>
                          </a:solidFill>
                          <a:latin typeface="Segoe UI"/>
                        </a:rPr>
                        <a:t>One definition, enforced again as database CHECK constraints.</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Model</a:t>
                      </a:r>
                    </a:p>
                  </a:txBody>
                  <a:tcPr marL="82296" marR="82296" marT="13716" marB="13716" anchor="ctr">
                    <a:solidFill>
                      <a:srgbClr val="FFFFFF"/>
                    </a:solidFill>
                  </a:tcPr>
                </a:tc>
                <a:tc>
                  <a:txBody>
                    <a:bodyPr wrap="square"/>
                    <a:lstStyle/>
                    <a:p>
                      <a:pPr algn="l"/>
                      <a:r>
                        <a:rPr sz="930" b="0">
                          <a:solidFill>
                            <a:srgbClr val="2A3441"/>
                          </a:solidFill>
                          <a:latin typeface="Segoe UI"/>
                        </a:rPr>
                        <a:t>XGBoost</a:t>
                      </a:r>
                    </a:p>
                  </a:txBody>
                  <a:tcPr marL="82296" marR="82296" marT="13716" marB="13716" anchor="ctr">
                    <a:solidFill>
                      <a:srgbClr val="FFFFFF"/>
                    </a:solidFill>
                  </a:tcPr>
                </a:tc>
                <a:tc>
                  <a:txBody>
                    <a:bodyPr wrap="square"/>
                    <a:lstStyle/>
                    <a:p>
                      <a:pPr algn="l"/>
                      <a:r>
                        <a:rPr sz="930" b="0">
                          <a:solidFill>
                            <a:srgbClr val="2A3441"/>
                          </a:solidFill>
                          <a:latin typeface="Segoe UI"/>
                        </a:rPr>
                        <a:t>3.2.0</a:t>
                      </a:r>
                    </a:p>
                  </a:txBody>
                  <a:tcPr marL="82296" marR="82296" marT="13716" marB="13716" anchor="ctr">
                    <a:solidFill>
                      <a:srgbClr val="FFFFFF"/>
                    </a:solidFill>
                  </a:tcPr>
                </a:tc>
                <a:tc>
                  <a:txBody>
                    <a:bodyPr wrap="square"/>
                    <a:lstStyle/>
                    <a:p>
                      <a:pPr algn="l"/>
                      <a:r>
                        <a:rPr sz="930" b="0">
                          <a:solidFill>
                            <a:srgbClr val="2A3441"/>
                          </a:solidFill>
                          <a:latin typeface="Segoe UI"/>
                        </a:rPr>
                        <a:t>8-class classifier with native TreeSHAP at no extra cost.</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ML support</a:t>
                      </a:r>
                    </a:p>
                  </a:txBody>
                  <a:tcPr marL="82296" marR="82296" marT="13716" marB="13716" anchor="ctr">
                    <a:solidFill>
                      <a:srgbClr val="F4F7FB"/>
                    </a:solidFill>
                  </a:tcPr>
                </a:tc>
                <a:tc>
                  <a:txBody>
                    <a:bodyPr wrap="square"/>
                    <a:lstStyle/>
                    <a:p>
                      <a:pPr algn="l"/>
                      <a:r>
                        <a:rPr sz="930" b="0">
                          <a:solidFill>
                            <a:srgbClr val="2A3441"/>
                          </a:solidFill>
                          <a:latin typeface="Segoe UI"/>
                        </a:rPr>
                        <a:t>scikit-learn · NumPy · pandas</a:t>
                      </a:r>
                    </a:p>
                  </a:txBody>
                  <a:tcPr marL="82296" marR="82296" marT="13716" marB="13716" anchor="ctr">
                    <a:solidFill>
                      <a:srgbClr val="F4F7FB"/>
                    </a:solidFill>
                  </a:tcPr>
                </a:tc>
                <a:tc>
                  <a:txBody>
                    <a:bodyPr wrap="square"/>
                    <a:lstStyle/>
                    <a:p>
                      <a:pPr algn="l"/>
                      <a:r>
                        <a:rPr sz="930" b="0">
                          <a:solidFill>
                            <a:srgbClr val="2A3441"/>
                          </a:solidFill>
                          <a:latin typeface="Segoe UI"/>
                        </a:rPr>
                        <a:t>1.7.1 · 2.3.5 · 2.3.3</a:t>
                      </a:r>
                    </a:p>
                  </a:txBody>
                  <a:tcPr marL="82296" marR="82296" marT="13716" marB="13716" anchor="ctr">
                    <a:solidFill>
                      <a:srgbClr val="F4F7FB"/>
                    </a:solidFill>
                  </a:tcPr>
                </a:tc>
                <a:tc>
                  <a:txBody>
                    <a:bodyPr wrap="square"/>
                    <a:lstStyle/>
                    <a:p>
                      <a:pPr algn="l"/>
                      <a:r>
                        <a:rPr sz="930" b="0">
                          <a:solidFill>
                            <a:srgbClr val="2A3441"/>
                          </a:solidFill>
                          <a:latin typeface="Segoe UI"/>
                        </a:rPr>
                        <a:t>Metrics, cross-validation, and the analysis notebooks.</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Explainability</a:t>
                      </a:r>
                    </a:p>
                  </a:txBody>
                  <a:tcPr marL="82296" marR="82296" marT="13716" marB="13716" anchor="ctr">
                    <a:solidFill>
                      <a:srgbClr val="FFFFFF"/>
                    </a:solidFill>
                  </a:tcPr>
                </a:tc>
                <a:tc>
                  <a:txBody>
                    <a:bodyPr wrap="square"/>
                    <a:lstStyle/>
                    <a:p>
                      <a:pPr algn="l"/>
                      <a:r>
                        <a:rPr sz="930" b="0">
                          <a:solidFill>
                            <a:srgbClr val="2A3441"/>
                          </a:solidFill>
                          <a:latin typeface="Segoe UI"/>
                        </a:rPr>
                        <a:t>TreeSHAP (native, in-run)</a:t>
                      </a:r>
                    </a:p>
                  </a:txBody>
                  <a:tcPr marL="82296" marR="82296" marT="13716" marB="13716" anchor="ctr">
                    <a:solidFill>
                      <a:srgbClr val="FFFFFF"/>
                    </a:solidFill>
                  </a:tcPr>
                </a:tc>
                <a:tc>
                  <a:txBody>
                    <a:bodyPr wrap="square"/>
                    <a:lstStyle/>
                    <a:p>
                      <a:pPr algn="l"/>
                      <a:r>
                        <a:rPr sz="930" b="0">
                          <a:solidFill>
                            <a:srgbClr val="2A3441"/>
                          </a:solidFill>
                          <a:latin typeface="Segoe UI"/>
                        </a:rPr>
                        <a:t>—</a:t>
                      </a:r>
                    </a:p>
                  </a:txBody>
                  <a:tcPr marL="82296" marR="82296" marT="13716" marB="13716" anchor="ctr">
                    <a:solidFill>
                      <a:srgbClr val="FFFFFF"/>
                    </a:solidFill>
                  </a:tcPr>
                </a:tc>
                <a:tc>
                  <a:txBody>
                    <a:bodyPr wrap="square"/>
                    <a:lstStyle/>
                    <a:p>
                      <a:pPr algn="l"/>
                      <a:r>
                        <a:rPr sz="930" b="0">
                          <a:solidFill>
                            <a:srgbClr val="2A3441"/>
                          </a:solidFill>
                          <a:latin typeface="Segoe UI"/>
                        </a:rPr>
                        <a:t>5,000 of 5,000 alerts carry an additivity-verified explanation.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Storage</a:t>
                      </a:r>
                    </a:p>
                  </a:txBody>
                  <a:tcPr marL="82296" marR="82296" marT="13716" marB="13716" anchor="ctr">
                    <a:solidFill>
                      <a:srgbClr val="F4F7FB"/>
                    </a:solidFill>
                  </a:tcPr>
                </a:tc>
                <a:tc>
                  <a:txBody>
                    <a:bodyPr wrap="square"/>
                    <a:lstStyle/>
                    <a:p>
                      <a:pPr algn="l"/>
                      <a:r>
                        <a:rPr sz="930" b="0">
                          <a:solidFill>
                            <a:srgbClr val="2A3441"/>
                          </a:solidFill>
                          <a:latin typeface="Segoe UI"/>
                        </a:rPr>
                        <a:t>SQLite (PostgreSQL at S18)</a:t>
                      </a:r>
                    </a:p>
                  </a:txBody>
                  <a:tcPr marL="82296" marR="82296" marT="13716" marB="13716" anchor="ctr">
                    <a:solidFill>
                      <a:srgbClr val="F4F7FB"/>
                    </a:solidFill>
                  </a:tcPr>
                </a:tc>
                <a:tc>
                  <a:txBody>
                    <a:bodyPr wrap="square"/>
                    <a:lstStyle/>
                    <a:p>
                      <a:pPr algn="l"/>
                      <a:r>
                        <a:rPr sz="930" b="0">
                          <a:solidFill>
                            <a:srgbClr val="2A3441"/>
                          </a:solidFill>
                          <a:latin typeface="Segoe UI"/>
                        </a:rPr>
                        <a:t>—</a:t>
                      </a:r>
                    </a:p>
                  </a:txBody>
                  <a:tcPr marL="82296" marR="82296" marT="13716" marB="13716" anchor="ctr">
                    <a:solidFill>
                      <a:srgbClr val="F4F7FB"/>
                    </a:solidFill>
                  </a:tcPr>
                </a:tc>
                <a:tc>
                  <a:txBody>
                    <a:bodyPr wrap="square"/>
                    <a:lstStyle/>
                    <a:p>
                      <a:pPr algn="l"/>
                      <a:r>
                        <a:rPr sz="930" b="0">
                          <a:solidFill>
                            <a:srgbClr val="2A3441"/>
                          </a:solidFill>
                          <a:latin typeface="Segoe UI"/>
                        </a:rPr>
                        <a:t>The schema was written for Postgres, so the migration is a port.</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Auth</a:t>
                      </a:r>
                    </a:p>
                  </a:txBody>
                  <a:tcPr marL="82296" marR="82296" marT="13716" marB="13716" anchor="ctr">
                    <a:solidFill>
                      <a:srgbClr val="FFFFFF"/>
                    </a:solidFill>
                  </a:tcPr>
                </a:tc>
                <a:tc>
                  <a:txBody>
                    <a:bodyPr wrap="square"/>
                    <a:lstStyle/>
                    <a:p>
                      <a:pPr algn="l"/>
                      <a:r>
                        <a:rPr sz="930" b="0">
                          <a:solidFill>
                            <a:srgbClr val="2A3441"/>
                          </a:solidFill>
                          <a:latin typeface="Segoe UI"/>
                        </a:rPr>
                        <a:t>bcrypt · PyJWT (HS256)</a:t>
                      </a:r>
                    </a:p>
                  </a:txBody>
                  <a:tcPr marL="82296" marR="82296" marT="13716" marB="13716" anchor="ctr">
                    <a:solidFill>
                      <a:srgbClr val="FFFFFF"/>
                    </a:solidFill>
                  </a:tcPr>
                </a:tc>
                <a:tc>
                  <a:txBody>
                    <a:bodyPr wrap="square"/>
                    <a:lstStyle/>
                    <a:p>
                      <a:pPr algn="l"/>
                      <a:r>
                        <a:rPr sz="930" b="0">
                          <a:solidFill>
                            <a:srgbClr val="2A3441"/>
                          </a:solidFill>
                          <a:latin typeface="Segoe UI"/>
                        </a:rPr>
                        <a:t>—</a:t>
                      </a:r>
                    </a:p>
                  </a:txBody>
                  <a:tcPr marL="82296" marR="82296" marT="13716" marB="13716" anchor="ctr">
                    <a:solidFill>
                      <a:srgbClr val="FFFFFF"/>
                    </a:solidFill>
                  </a:tcPr>
                </a:tc>
                <a:tc>
                  <a:txBody>
                    <a:bodyPr wrap="square"/>
                    <a:lstStyle/>
                    <a:p>
                      <a:pPr algn="l"/>
                      <a:r>
                        <a:rPr sz="930" b="0">
                          <a:solidFill>
                            <a:srgbClr val="2A3441"/>
                          </a:solidFill>
                          <a:latin typeface="Segoe UI"/>
                        </a:rPr>
                        <a:t>Real sign-in: 8-hour bearer tokens, role carried inside the token.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Tests / lint</a:t>
                      </a:r>
                    </a:p>
                  </a:txBody>
                  <a:tcPr marL="82296" marR="82296" marT="13716" marB="13716" anchor="ctr">
                    <a:solidFill>
                      <a:srgbClr val="F4F7FB"/>
                    </a:solidFill>
                  </a:tcPr>
                </a:tc>
                <a:tc>
                  <a:txBody>
                    <a:bodyPr wrap="square"/>
                    <a:lstStyle/>
                    <a:p>
                      <a:pPr algn="l"/>
                      <a:r>
                        <a:rPr sz="930" b="0">
                          <a:solidFill>
                            <a:srgbClr val="2A3441"/>
                          </a:solidFill>
                          <a:latin typeface="Segoe UI"/>
                        </a:rPr>
                        <a:t>pytest · ruff</a:t>
                      </a:r>
                    </a:p>
                  </a:txBody>
                  <a:tcPr marL="82296" marR="82296" marT="13716" marB="13716" anchor="ctr">
                    <a:solidFill>
                      <a:srgbClr val="F4F7FB"/>
                    </a:solidFill>
                  </a:tcPr>
                </a:tc>
                <a:tc>
                  <a:txBody>
                    <a:bodyPr wrap="square"/>
                    <a:lstStyle/>
                    <a:p>
                      <a:pPr algn="l"/>
                      <a:r>
                        <a:rPr sz="930" b="0">
                          <a:solidFill>
                            <a:srgbClr val="2A3441"/>
                          </a:solidFill>
                          <a:latin typeface="Segoe UI"/>
                        </a:rPr>
                        <a:t>8+</a:t>
                      </a:r>
                    </a:p>
                  </a:txBody>
                  <a:tcPr marL="82296" marR="82296" marT="13716" marB="13716" anchor="ctr">
                    <a:solidFill>
                      <a:srgbClr val="F4F7FB"/>
                    </a:solidFill>
                  </a:tcPr>
                </a:tc>
                <a:tc>
                  <a:txBody>
                    <a:bodyPr wrap="square"/>
                    <a:lstStyle/>
                    <a:p>
                      <a:pPr algn="l"/>
                      <a:r>
                        <a:rPr sz="930" b="0">
                          <a:solidFill>
                            <a:srgbClr val="2A3441"/>
                          </a:solidFill>
                          <a:latin typeface="Segoe UI"/>
                        </a:rPr>
                        <a:t>445 Python tests, 0 skipped.</a:t>
                      </a:r>
                    </a:p>
                  </a:txBody>
                  <a:tcPr marL="82296" marR="82296" marT="13716" marB="13716" anchor="ctr">
                    <a:solidFill>
                      <a:srgbClr val="F4F7FB"/>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TECHNICAL INTRODUCTION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Technology stack — console and tooling</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18</a:t>
            </a:r>
          </a:p>
        </p:txBody>
      </p:sp>
      <p:graphicFrame>
        <p:nvGraphicFramePr>
          <p:cNvPr id="8" name="Table 7"/>
          <p:cNvGraphicFramePr>
            <a:graphicFrameLocks noGrp="1"/>
          </p:cNvGraphicFramePr>
          <p:nvPr/>
        </p:nvGraphicFramePr>
        <p:xfrm>
          <a:off x="566928" y="1517904"/>
          <a:ext cx="11055096" cy="3461004"/>
        </p:xfrm>
        <a:graphic>
          <a:graphicData uri="http://schemas.openxmlformats.org/drawingml/2006/table">
            <a:tbl>
              <a:tblPr firstRow="0" bandRow="0"/>
              <a:tblGrid>
                <a:gridCol w="1298448"/>
                <a:gridCol w="2926080"/>
                <a:gridCol w="1417320"/>
                <a:gridCol w="5413248"/>
              </a:tblGrid>
              <a:tr h="292608">
                <a:tc>
                  <a:txBody>
                    <a:bodyPr wrap="square"/>
                    <a:lstStyle/>
                    <a:p>
                      <a:pPr algn="l"/>
                      <a:r>
                        <a:rPr sz="900" b="1">
                          <a:solidFill>
                            <a:srgbClr val="FFFFFF"/>
                          </a:solidFill>
                          <a:latin typeface="Segoe UI"/>
                        </a:rPr>
                        <a:t>Layer</a:t>
                      </a:r>
                    </a:p>
                  </a:txBody>
                  <a:tcPr marL="82296" marR="82296" marT="13716" marB="13716" anchor="ctr">
                    <a:solidFill>
                      <a:srgbClr val="0F2A47"/>
                    </a:solidFill>
                  </a:tcPr>
                </a:tc>
                <a:tc>
                  <a:txBody>
                    <a:bodyPr wrap="square"/>
                    <a:lstStyle/>
                    <a:p>
                      <a:pPr algn="l"/>
                      <a:r>
                        <a:rPr sz="900" b="1">
                          <a:solidFill>
                            <a:srgbClr val="FFFFFF"/>
                          </a:solidFill>
                          <a:latin typeface="Segoe UI"/>
                        </a:rPr>
                        <a:t>Technology</a:t>
                      </a:r>
                    </a:p>
                  </a:txBody>
                  <a:tcPr marL="82296" marR="82296" marT="13716" marB="13716" anchor="ctr">
                    <a:solidFill>
                      <a:srgbClr val="0F2A47"/>
                    </a:solidFill>
                  </a:tcPr>
                </a:tc>
                <a:tc>
                  <a:txBody>
                    <a:bodyPr wrap="square"/>
                    <a:lstStyle/>
                    <a:p>
                      <a:pPr algn="l"/>
                      <a:r>
                        <a:rPr sz="900" b="1">
                          <a:solidFill>
                            <a:srgbClr val="FFFFFF"/>
                          </a:solidFill>
                          <a:latin typeface="Segoe UI"/>
                        </a:rPr>
                        <a:t>Version</a:t>
                      </a:r>
                    </a:p>
                  </a:txBody>
                  <a:tcPr marL="82296" marR="82296" marT="13716" marB="13716" anchor="ctr">
                    <a:solidFill>
                      <a:srgbClr val="0F2A47"/>
                    </a:solidFill>
                  </a:tcPr>
                </a:tc>
                <a:tc>
                  <a:txBody>
                    <a:bodyPr wrap="square"/>
                    <a:lstStyle/>
                    <a:p>
                      <a:pPr algn="l"/>
                      <a:r>
                        <a:rPr sz="900" b="1">
                          <a:solidFill>
                            <a:srgbClr val="FFFFFF"/>
                          </a:solidFill>
                          <a:latin typeface="Segoe UI"/>
                        </a:rPr>
                        <a:t>Why this one</a:t>
                      </a:r>
                    </a:p>
                  </a:txBody>
                  <a:tcPr marL="82296" marR="82296" marT="13716" marB="13716" anchor="ctr">
                    <a:solidFill>
                      <a:srgbClr val="0F2A47"/>
                    </a:solidFill>
                  </a:tcPr>
                </a:tc>
              </a:tr>
              <a:tr h="352044">
                <a:tc>
                  <a:txBody>
                    <a:bodyPr wrap="square"/>
                    <a:lstStyle/>
                    <a:p>
                      <a:pPr algn="l"/>
                      <a:r>
                        <a:rPr sz="930" b="0">
                          <a:solidFill>
                            <a:srgbClr val="2A3441"/>
                          </a:solidFill>
                          <a:latin typeface="Segoe UI"/>
                        </a:rPr>
                        <a:t>UI framework</a:t>
                      </a:r>
                    </a:p>
                  </a:txBody>
                  <a:tcPr marL="82296" marR="82296" marT="13716" marB="13716" anchor="ctr">
                    <a:solidFill>
                      <a:srgbClr val="FFFFFF"/>
                    </a:solidFill>
                  </a:tcPr>
                </a:tc>
                <a:tc>
                  <a:txBody>
                    <a:bodyPr wrap="square"/>
                    <a:lstStyle/>
                    <a:p>
                      <a:pPr algn="l"/>
                      <a:r>
                        <a:rPr sz="930" b="0">
                          <a:solidFill>
                            <a:srgbClr val="2A3441"/>
                          </a:solidFill>
                          <a:latin typeface="Segoe UI"/>
                        </a:rPr>
                        <a:t>React</a:t>
                      </a:r>
                    </a:p>
                  </a:txBody>
                  <a:tcPr marL="82296" marR="82296" marT="13716" marB="13716" anchor="ctr">
                    <a:solidFill>
                      <a:srgbClr val="FFFFFF"/>
                    </a:solidFill>
                  </a:tcPr>
                </a:tc>
                <a:tc>
                  <a:txBody>
                    <a:bodyPr wrap="square"/>
                    <a:lstStyle/>
                    <a:p>
                      <a:pPr algn="l"/>
                      <a:r>
                        <a:rPr sz="930" b="0">
                          <a:solidFill>
                            <a:srgbClr val="2A3441"/>
                          </a:solidFill>
                          <a:latin typeface="Segoe UI"/>
                        </a:rPr>
                        <a:t>19.3.0</a:t>
                      </a:r>
                    </a:p>
                  </a:txBody>
                  <a:tcPr marL="82296" marR="82296" marT="13716" marB="13716" anchor="ctr">
                    <a:solidFill>
                      <a:srgbClr val="FFFFFF"/>
                    </a:solidFill>
                  </a:tcPr>
                </a:tc>
                <a:tc>
                  <a:txBody>
                    <a:bodyPr wrap="square"/>
                    <a:lstStyle/>
                    <a:p>
                      <a:pPr algn="l"/>
                      <a:r>
                        <a:rPr sz="930" b="0">
                          <a:solidFill>
                            <a:srgbClr val="2A3441"/>
                          </a:solidFill>
                          <a:latin typeface="Segoe UI"/>
                        </a:rPr>
                        <a:t>Component model for a dense, keyboard-driven console.</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Build</a:t>
                      </a:r>
                    </a:p>
                  </a:txBody>
                  <a:tcPr marL="82296" marR="82296" marT="13716" marB="13716" anchor="ctr">
                    <a:solidFill>
                      <a:srgbClr val="F4F7FB"/>
                    </a:solidFill>
                  </a:tcPr>
                </a:tc>
                <a:tc>
                  <a:txBody>
                    <a:bodyPr wrap="square"/>
                    <a:lstStyle/>
                    <a:p>
                      <a:pPr algn="l"/>
                      <a:r>
                        <a:rPr sz="930" b="0">
                          <a:solidFill>
                            <a:srgbClr val="2A3441"/>
                          </a:solidFill>
                          <a:latin typeface="Segoe UI"/>
                        </a:rPr>
                        <a:t>Vite</a:t>
                      </a:r>
                    </a:p>
                  </a:txBody>
                  <a:tcPr marL="82296" marR="82296" marT="13716" marB="13716" anchor="ctr">
                    <a:solidFill>
                      <a:srgbClr val="F4F7FB"/>
                    </a:solidFill>
                  </a:tcPr>
                </a:tc>
                <a:tc>
                  <a:txBody>
                    <a:bodyPr wrap="square"/>
                    <a:lstStyle/>
                    <a:p>
                      <a:pPr algn="l"/>
                      <a:r>
                        <a:rPr sz="930" b="0">
                          <a:solidFill>
                            <a:srgbClr val="2A3441"/>
                          </a:solidFill>
                          <a:latin typeface="Segoe UI"/>
                        </a:rPr>
                        <a:t>8.3.0</a:t>
                      </a:r>
                    </a:p>
                  </a:txBody>
                  <a:tcPr marL="82296" marR="82296" marT="13716" marB="13716" anchor="ctr">
                    <a:solidFill>
                      <a:srgbClr val="F4F7FB"/>
                    </a:solidFill>
                  </a:tcPr>
                </a:tc>
                <a:tc>
                  <a:txBody>
                    <a:bodyPr wrap="square"/>
                    <a:lstStyle/>
                    <a:p>
                      <a:pPr algn="l"/>
                      <a:r>
                        <a:rPr sz="930" b="0">
                          <a:solidFill>
                            <a:srgbClr val="2A3441"/>
                          </a:solidFill>
                          <a:latin typeface="Segoe UI"/>
                        </a:rPr>
                        <a:t>Fast dev server with an /api proxy.</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Language</a:t>
                      </a:r>
                    </a:p>
                  </a:txBody>
                  <a:tcPr marL="82296" marR="82296" marT="13716" marB="13716" anchor="ctr">
                    <a:solidFill>
                      <a:srgbClr val="FFFFFF"/>
                    </a:solidFill>
                  </a:tcPr>
                </a:tc>
                <a:tc>
                  <a:txBody>
                    <a:bodyPr wrap="square"/>
                    <a:lstStyle/>
                    <a:p>
                      <a:pPr algn="l"/>
                      <a:r>
                        <a:rPr sz="930" b="0">
                          <a:solidFill>
                            <a:srgbClr val="2A3441"/>
                          </a:solidFill>
                          <a:latin typeface="Segoe UI"/>
                        </a:rPr>
                        <a:t>TypeScript</a:t>
                      </a:r>
                    </a:p>
                  </a:txBody>
                  <a:tcPr marL="82296" marR="82296" marT="13716" marB="13716" anchor="ctr">
                    <a:solidFill>
                      <a:srgbClr val="FFFFFF"/>
                    </a:solidFill>
                  </a:tcPr>
                </a:tc>
                <a:tc>
                  <a:txBody>
                    <a:bodyPr wrap="square"/>
                    <a:lstStyle/>
                    <a:p>
                      <a:pPr algn="l"/>
                      <a:r>
                        <a:rPr sz="930" b="0">
                          <a:solidFill>
                            <a:srgbClr val="2A3441"/>
                          </a:solidFill>
                          <a:latin typeface="Segoe UI"/>
                        </a:rPr>
                        <a:t>5.9.3</a:t>
                      </a:r>
                    </a:p>
                  </a:txBody>
                  <a:tcPr marL="82296" marR="82296" marT="13716" marB="13716" anchor="ctr">
                    <a:solidFill>
                      <a:srgbClr val="FFFFFF"/>
                    </a:solidFill>
                  </a:tcPr>
                </a:tc>
                <a:tc>
                  <a:txBody>
                    <a:bodyPr wrap="square"/>
                    <a:lstStyle/>
                    <a:p>
                      <a:pPr algn="l"/>
                      <a:r>
                        <a:rPr sz="930" b="0">
                          <a:solidFill>
                            <a:srgbClr val="2A3441"/>
                          </a:solidFill>
                          <a:latin typeface="Segoe UI"/>
                        </a:rPr>
                        <a:t>No any in src/ — a stated exit criterion.</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Styling</a:t>
                      </a:r>
                    </a:p>
                  </a:txBody>
                  <a:tcPr marL="82296" marR="82296" marT="13716" marB="13716" anchor="ctr">
                    <a:solidFill>
                      <a:srgbClr val="F4F7FB"/>
                    </a:solidFill>
                  </a:tcPr>
                </a:tc>
                <a:tc>
                  <a:txBody>
                    <a:bodyPr wrap="square"/>
                    <a:lstStyle/>
                    <a:p>
                      <a:pPr algn="l"/>
                      <a:r>
                        <a:rPr sz="930" b="0">
                          <a:solidFill>
                            <a:srgbClr val="2A3441"/>
                          </a:solidFill>
                          <a:latin typeface="Segoe UI"/>
                        </a:rPr>
                        <a:t>Tailwind CSS</a:t>
                      </a:r>
                    </a:p>
                  </a:txBody>
                  <a:tcPr marL="82296" marR="82296" marT="13716" marB="13716" anchor="ctr">
                    <a:solidFill>
                      <a:srgbClr val="F4F7FB"/>
                    </a:solidFill>
                  </a:tcPr>
                </a:tc>
                <a:tc>
                  <a:txBody>
                    <a:bodyPr wrap="square"/>
                    <a:lstStyle/>
                    <a:p>
                      <a:pPr algn="l"/>
                      <a:r>
                        <a:rPr sz="930" b="0">
                          <a:solidFill>
                            <a:srgbClr val="2A3441"/>
                          </a:solidFill>
                          <a:latin typeface="Segoe UI"/>
                        </a:rPr>
                        <a:t>4.3.3</a:t>
                      </a:r>
                    </a:p>
                  </a:txBody>
                  <a:tcPr marL="82296" marR="82296" marT="13716" marB="13716" anchor="ctr">
                    <a:solidFill>
                      <a:srgbClr val="F4F7FB"/>
                    </a:solidFill>
                  </a:tcPr>
                </a:tc>
                <a:tc>
                  <a:txBody>
                    <a:bodyPr wrap="square"/>
                    <a:lstStyle/>
                    <a:p>
                      <a:pPr algn="l"/>
                      <a:r>
                        <a:rPr sz="930" b="0">
                          <a:solidFill>
                            <a:srgbClr val="2A3441"/>
                          </a:solidFill>
                          <a:latin typeface="Segoe UI"/>
                        </a:rPr>
                        <a:t>Design tokens in one place, under semantic names.</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Routing</a:t>
                      </a:r>
                    </a:p>
                  </a:txBody>
                  <a:tcPr marL="82296" marR="82296" marT="13716" marB="13716" anchor="ctr">
                    <a:solidFill>
                      <a:srgbClr val="FFFFFF"/>
                    </a:solidFill>
                  </a:tcPr>
                </a:tc>
                <a:tc>
                  <a:txBody>
                    <a:bodyPr wrap="square"/>
                    <a:lstStyle/>
                    <a:p>
                      <a:pPr algn="l"/>
                      <a:r>
                        <a:rPr sz="930" b="0">
                          <a:solidFill>
                            <a:srgbClr val="2A3441"/>
                          </a:solidFill>
                          <a:latin typeface="Segoe UI"/>
                        </a:rPr>
                        <a:t>react-router</a:t>
                      </a:r>
                    </a:p>
                  </a:txBody>
                  <a:tcPr marL="82296" marR="82296" marT="13716" marB="13716" anchor="ctr">
                    <a:solidFill>
                      <a:srgbClr val="FFFFFF"/>
                    </a:solidFill>
                  </a:tcPr>
                </a:tc>
                <a:tc>
                  <a:txBody>
                    <a:bodyPr wrap="square"/>
                    <a:lstStyle/>
                    <a:p>
                      <a:pPr algn="l"/>
                      <a:r>
                        <a:rPr sz="930" b="0">
                          <a:solidFill>
                            <a:srgbClr val="2A3441"/>
                          </a:solidFill>
                          <a:latin typeface="Segoe UI"/>
                        </a:rPr>
                        <a:t>7.18.3</a:t>
                      </a:r>
                    </a:p>
                  </a:txBody>
                  <a:tcPr marL="82296" marR="82296" marT="13716" marB="13716" anchor="ctr">
                    <a:solidFill>
                      <a:srgbClr val="FFFFFF"/>
                    </a:solidFill>
                  </a:tcPr>
                </a:tc>
                <a:tc>
                  <a:txBody>
                    <a:bodyPr wrap="square"/>
                    <a:lstStyle/>
                    <a:p>
                      <a:pPr algn="l"/>
                      <a:r>
                        <a:rPr sz="930" b="0">
                          <a:solidFill>
                            <a:srgbClr val="2A3441"/>
                          </a:solidFill>
                          <a:latin typeface="Segoe UI"/>
                        </a:rPr>
                        <a:t>One shell, three role-scoped route trees.</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Charts</a:t>
                      </a:r>
                    </a:p>
                  </a:txBody>
                  <a:tcPr marL="82296" marR="82296" marT="13716" marB="13716" anchor="ctr">
                    <a:solidFill>
                      <a:srgbClr val="F4F7FB"/>
                    </a:solidFill>
                  </a:tcPr>
                </a:tc>
                <a:tc>
                  <a:txBody>
                    <a:bodyPr wrap="square"/>
                    <a:lstStyle/>
                    <a:p>
                      <a:pPr algn="l"/>
                      <a:r>
                        <a:rPr sz="930" b="0">
                          <a:solidFill>
                            <a:srgbClr val="2A3441"/>
                          </a:solidFill>
                          <a:latin typeface="Segoe UI"/>
                        </a:rPr>
                        <a:t>Recharts</a:t>
                      </a:r>
                    </a:p>
                  </a:txBody>
                  <a:tcPr marL="82296" marR="82296" marT="13716" marB="13716" anchor="ctr">
                    <a:solidFill>
                      <a:srgbClr val="F4F7FB"/>
                    </a:solidFill>
                  </a:tcPr>
                </a:tc>
                <a:tc>
                  <a:txBody>
                    <a:bodyPr wrap="square"/>
                    <a:lstStyle/>
                    <a:p>
                      <a:pPr algn="l"/>
                      <a:r>
                        <a:rPr sz="930" b="0">
                          <a:solidFill>
                            <a:srgbClr val="2A3441"/>
                          </a:solidFill>
                          <a:latin typeface="Segoe UI"/>
                        </a:rPr>
                        <a:t>3.10.1</a:t>
                      </a:r>
                    </a:p>
                  </a:txBody>
                  <a:tcPr marL="82296" marR="82296" marT="13716" marB="13716" anchor="ctr">
                    <a:solidFill>
                      <a:srgbClr val="F4F7FB"/>
                    </a:solidFill>
                  </a:tcPr>
                </a:tc>
                <a:tc>
                  <a:txBody>
                    <a:bodyPr wrap="square"/>
                    <a:lstStyle/>
                    <a:p>
                      <a:pPr algn="l"/>
                      <a:r>
                        <a:rPr sz="930" b="0">
                          <a:solidFill>
                            <a:srgbClr val="2A3441"/>
                          </a:solidFill>
                          <a:latin typeface="Segoe UI"/>
                        </a:rPr>
                        <a:t>Overview and evaluator charts; every chart repeats as a table.</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API client</a:t>
                      </a:r>
                    </a:p>
                  </a:txBody>
                  <a:tcPr marL="82296" marR="82296" marT="13716" marB="13716" anchor="ctr">
                    <a:solidFill>
                      <a:srgbClr val="FFFFFF"/>
                    </a:solidFill>
                  </a:tcPr>
                </a:tc>
                <a:tc>
                  <a:txBody>
                    <a:bodyPr wrap="square"/>
                    <a:lstStyle/>
                    <a:p>
                      <a:pPr algn="l"/>
                      <a:r>
                        <a:rPr sz="930" b="0">
                          <a:solidFill>
                            <a:srgbClr val="2A3441"/>
                          </a:solidFill>
                          <a:latin typeface="Segoe UI"/>
                        </a:rPr>
                        <a:t>openapi-fetch · openapi-typescript</a:t>
                      </a:r>
                    </a:p>
                  </a:txBody>
                  <a:tcPr marL="82296" marR="82296" marT="13716" marB="13716" anchor="ctr">
                    <a:solidFill>
                      <a:srgbClr val="FFFFFF"/>
                    </a:solidFill>
                  </a:tcPr>
                </a:tc>
                <a:tc>
                  <a:txBody>
                    <a:bodyPr wrap="square"/>
                    <a:lstStyle/>
                    <a:p>
                      <a:pPr algn="l"/>
                      <a:r>
                        <a:rPr sz="930" b="0">
                          <a:solidFill>
                            <a:srgbClr val="2A3441"/>
                          </a:solidFill>
                          <a:latin typeface="Segoe UI"/>
                        </a:rPr>
                        <a:t>0.17.0 · 7.13.0</a:t>
                      </a:r>
                    </a:p>
                  </a:txBody>
                  <a:tcPr marL="82296" marR="82296" marT="13716" marB="13716" anchor="ctr">
                    <a:solidFill>
                      <a:srgbClr val="FFFFFF"/>
                    </a:solidFill>
                  </a:tcPr>
                </a:tc>
                <a:tc>
                  <a:txBody>
                    <a:bodyPr wrap="square"/>
                    <a:lstStyle/>
                    <a:p>
                      <a:pPr algn="l"/>
                      <a:r>
                        <a:rPr sz="930" b="0">
                          <a:solidFill>
                            <a:srgbClr val="2A3441"/>
                          </a:solidFill>
                          <a:latin typeface="Segoe UI"/>
                        </a:rPr>
                        <a:t>The client is generated from the contract; check:api fails if it is stale.</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Unit tests</a:t>
                      </a:r>
                    </a:p>
                  </a:txBody>
                  <a:tcPr marL="82296" marR="82296" marT="13716" marB="13716" anchor="ctr">
                    <a:solidFill>
                      <a:srgbClr val="F4F7FB"/>
                    </a:solidFill>
                  </a:tcPr>
                </a:tc>
                <a:tc>
                  <a:txBody>
                    <a:bodyPr wrap="square"/>
                    <a:lstStyle/>
                    <a:p>
                      <a:pPr algn="l"/>
                      <a:r>
                        <a:rPr sz="930" b="0">
                          <a:solidFill>
                            <a:srgbClr val="2A3441"/>
                          </a:solidFill>
                          <a:latin typeface="Segoe UI"/>
                        </a:rPr>
                        <a:t>Vitest · Testing Library</a:t>
                      </a:r>
                    </a:p>
                  </a:txBody>
                  <a:tcPr marL="82296" marR="82296" marT="13716" marB="13716" anchor="ctr">
                    <a:solidFill>
                      <a:srgbClr val="F4F7FB"/>
                    </a:solidFill>
                  </a:tcPr>
                </a:tc>
                <a:tc>
                  <a:txBody>
                    <a:bodyPr wrap="square"/>
                    <a:lstStyle/>
                    <a:p>
                      <a:pPr algn="l"/>
                      <a:r>
                        <a:rPr sz="930" b="0">
                          <a:solidFill>
                            <a:srgbClr val="2A3441"/>
                          </a:solidFill>
                          <a:latin typeface="Segoe UI"/>
                        </a:rPr>
                        <a:t>5.0.0</a:t>
                      </a:r>
                    </a:p>
                  </a:txBody>
                  <a:tcPr marL="82296" marR="82296" marT="13716" marB="13716" anchor="ctr">
                    <a:solidFill>
                      <a:srgbClr val="F4F7FB"/>
                    </a:solidFill>
                  </a:tcPr>
                </a:tc>
                <a:tc>
                  <a:txBody>
                    <a:bodyPr wrap="square"/>
                    <a:lstStyle/>
                    <a:p>
                      <a:pPr algn="l"/>
                      <a:r>
                        <a:rPr sz="930" b="0">
                          <a:solidFill>
                            <a:srgbClr val="2A3441"/>
                          </a:solidFill>
                          <a:latin typeface="Segoe UI"/>
                        </a:rPr>
                        <a:t>128 web tests.</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End-to-end</a:t>
                      </a:r>
                    </a:p>
                  </a:txBody>
                  <a:tcPr marL="82296" marR="82296" marT="13716" marB="13716" anchor="ctr">
                    <a:solidFill>
                      <a:srgbClr val="FFFFFF"/>
                    </a:solidFill>
                  </a:tcPr>
                </a:tc>
                <a:tc>
                  <a:txBody>
                    <a:bodyPr wrap="square"/>
                    <a:lstStyle/>
                    <a:p>
                      <a:pPr algn="l"/>
                      <a:r>
                        <a:rPr sz="930" b="0">
                          <a:solidFill>
                            <a:srgbClr val="2A3441"/>
                          </a:solidFill>
                          <a:latin typeface="Segoe UI"/>
                        </a:rPr>
                        <a:t>Playwright</a:t>
                      </a:r>
                    </a:p>
                  </a:txBody>
                  <a:tcPr marL="82296" marR="82296" marT="13716" marB="13716" anchor="ctr">
                    <a:solidFill>
                      <a:srgbClr val="FFFFFF"/>
                    </a:solidFill>
                  </a:tcPr>
                </a:tc>
                <a:tc>
                  <a:txBody>
                    <a:bodyPr wrap="square"/>
                    <a:lstStyle/>
                    <a:p>
                      <a:pPr algn="l"/>
                      <a:r>
                        <a:rPr sz="930" b="0">
                          <a:solidFill>
                            <a:srgbClr val="2A3441"/>
                          </a:solidFill>
                          <a:latin typeface="Segoe UI"/>
                        </a:rPr>
                        <a:t>1.63.0</a:t>
                      </a:r>
                    </a:p>
                  </a:txBody>
                  <a:tcPr marL="82296" marR="82296" marT="13716" marB="13716" anchor="ctr">
                    <a:solidFill>
                      <a:srgbClr val="FFFFFF"/>
                    </a:solidFill>
                  </a:tcPr>
                </a:tc>
                <a:tc>
                  <a:txBody>
                    <a:bodyPr wrap="square"/>
                    <a:lstStyle/>
                    <a:p>
                      <a:pPr algn="l"/>
                      <a:r>
                        <a:rPr sz="930" b="0">
                          <a:solidFill>
                            <a:srgbClr val="2A3441"/>
                          </a:solidFill>
                          <a:latin typeface="Segoe UI"/>
                        </a:rPr>
                        <a:t>The demo narrative in a real browser, with three real sign-ins.</a:t>
                      </a:r>
                    </a:p>
                  </a:txBody>
                  <a:tcPr marL="82296" marR="82296" marT="13716" marB="13716"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FIVE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Dataset and technical analysis</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What the data actually is, how it was split, and the four notebooks that decided the project's direction.</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05</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Dataset selection — and why this one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20</a:t>
            </a:r>
          </a:p>
        </p:txBody>
      </p:sp>
      <p:sp>
        <p:nvSpPr>
          <p:cNvPr id="8" name="Rectangle 7"/>
          <p:cNvSpPr/>
          <p:nvPr/>
        </p:nvSpPr>
        <p:spPr>
          <a:xfrm>
            <a:off x="566928" y="1517904"/>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17904"/>
            <a:ext cx="50292" cy="13898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1627631"/>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choice</a:t>
            </a:r>
          </a:p>
          <a:p>
            <a:pPr algn="l">
              <a:lnSpc>
                <a:spcPct val="120000"/>
              </a:lnSpc>
              <a:spcBef>
                <a:spcPts val="0"/>
              </a:spcBef>
              <a:spcAft>
                <a:spcPts val="0"/>
              </a:spcAft>
            </a:pPr>
            <a:r>
              <a:rPr sz="1019" b="0" i="0">
                <a:solidFill>
                  <a:srgbClr val="2A3441"/>
                </a:solidFill>
                <a:latin typeface="Segoe UI"/>
              </a:rPr>
              <a:t>CICIDS2017, as the PRD assumed, was replaced by the corrected CSE-CIC-IDS2018 release — Engelen et al., IEEE CNS 2022.</a:t>
            </a:r>
          </a:p>
        </p:txBody>
      </p:sp>
      <p:sp>
        <p:nvSpPr>
          <p:cNvPr id="11" name="Rectangle 10"/>
          <p:cNvSpPr/>
          <p:nvPr/>
        </p:nvSpPr>
        <p:spPr>
          <a:xfrm>
            <a:off x="6205575" y="1517904"/>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05575" y="1517904"/>
            <a:ext cx="50292" cy="13898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8455" y="1627631"/>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Why the correction mattered</a:t>
            </a:r>
          </a:p>
          <a:p>
            <a:pPr algn="l">
              <a:lnSpc>
                <a:spcPct val="120000"/>
              </a:lnSpc>
              <a:spcBef>
                <a:spcPts val="0"/>
              </a:spcBef>
              <a:spcAft>
                <a:spcPts val="0"/>
              </a:spcAft>
            </a:pPr>
            <a:r>
              <a:rPr sz="1019" b="0" i="0">
                <a:solidFill>
                  <a:srgbClr val="2A3441"/>
                </a:solidFill>
                <a:latin typeface="Segoe UI"/>
              </a:rPr>
              <a:t>The original labels are wrong in ways that invalidate headline metrics. Published errors were documented in WTMC 2021 and CNS 2022. Training on the uncorrected labels would have produced a model that cannot emit two of the classes the demo needs.</a:t>
            </a:r>
          </a:p>
        </p:txBody>
      </p:sp>
      <p:sp>
        <p:nvSpPr>
          <p:cNvPr id="14" name="Rectangle 13"/>
          <p:cNvSpPr/>
          <p:nvPr/>
        </p:nvSpPr>
        <p:spPr>
          <a:xfrm>
            <a:off x="566928" y="3090672"/>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3090672"/>
            <a:ext cx="50292" cy="138988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8" y="3200400"/>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Why 2018 over 2017</a:t>
            </a:r>
          </a:p>
          <a:p>
            <a:pPr algn="l">
              <a:lnSpc>
                <a:spcPct val="120000"/>
              </a:lnSpc>
              <a:spcBef>
                <a:spcPts val="0"/>
              </a:spcBef>
              <a:spcAft>
                <a:spcPts val="0"/>
              </a:spcAft>
            </a:pPr>
            <a:r>
              <a:rPr sz="1019" b="0" i="0">
                <a:solidFill>
                  <a:srgbClr val="2A3441"/>
                </a:solidFill>
                <a:latin typeface="Segoe UI"/>
              </a:rPr>
              <a:t>The implementation was already weeks ahead on 2018, and the flow schema matches what a real flow exporter produces. Moving to the corrected release cost one retrain and pre-empted a dataset-validity challenge.</a:t>
            </a:r>
          </a:p>
        </p:txBody>
      </p:sp>
      <p:sp>
        <p:nvSpPr>
          <p:cNvPr id="17" name="Rectangle 16"/>
          <p:cNvSpPr/>
          <p:nvPr/>
        </p:nvSpPr>
        <p:spPr>
          <a:xfrm>
            <a:off x="6205575" y="3090672"/>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05575" y="3090672"/>
            <a:ext cx="50292" cy="138988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88455" y="3200400"/>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Why a flow dataset at all</a:t>
            </a:r>
          </a:p>
          <a:p>
            <a:pPr algn="l">
              <a:lnSpc>
                <a:spcPct val="120000"/>
              </a:lnSpc>
              <a:spcBef>
                <a:spcPts val="0"/>
              </a:spcBef>
              <a:spcAft>
                <a:spcPts val="0"/>
              </a:spcAft>
            </a:pPr>
            <a:r>
              <a:rPr sz="1019" b="0" i="0">
                <a:solidFill>
                  <a:srgbClr val="2A3441"/>
                </a:solidFill>
                <a:latin typeface="Segoe UI"/>
              </a:rPr>
              <a:t>The system is flow-based, so the features it consumes at training time must be the features a flow exporter computes in production. The corrected release was produced by the same tool we would deploy.</a:t>
            </a:r>
          </a:p>
        </p:txBody>
      </p:sp>
      <p:sp>
        <p:nvSpPr>
          <p:cNvPr id="20" name="Rectangle 19"/>
          <p:cNvSpPr/>
          <p:nvPr/>
        </p:nvSpPr>
        <p:spPr>
          <a:xfrm>
            <a:off x="566928"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6928" y="4443984"/>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63,195,145</a:t>
            </a:r>
          </a:p>
          <a:p>
            <a:pPr algn="ctr">
              <a:lnSpc>
                <a:spcPct val="112000"/>
              </a:lnSpc>
              <a:spcBef>
                <a:spcPts val="0"/>
              </a:spcBef>
              <a:spcAft>
                <a:spcPts val="0"/>
              </a:spcAft>
            </a:pPr>
            <a:r>
              <a:rPr sz="950" b="0" i="0">
                <a:solidFill>
                  <a:srgbClr val="6B7684"/>
                </a:solidFill>
                <a:latin typeface="Segoe UI"/>
              </a:rPr>
              <a:t>labelled flows scanned</a:t>
            </a:r>
          </a:p>
        </p:txBody>
      </p:sp>
      <p:sp>
        <p:nvSpPr>
          <p:cNvPr id="23" name="Rectangle 22"/>
          <p:cNvSpPr/>
          <p:nvPr/>
        </p:nvSpPr>
        <p:spPr>
          <a:xfrm>
            <a:off x="2818729"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818729" y="4443984"/>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946745"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10</a:t>
            </a:r>
          </a:p>
          <a:p>
            <a:pPr algn="ctr">
              <a:lnSpc>
                <a:spcPct val="112000"/>
              </a:lnSpc>
              <a:spcBef>
                <a:spcPts val="0"/>
              </a:spcBef>
              <a:spcAft>
                <a:spcPts val="0"/>
              </a:spcAft>
            </a:pPr>
            <a:r>
              <a:rPr sz="950" b="0" i="0">
                <a:solidFill>
                  <a:srgbClr val="6B7684"/>
                </a:solidFill>
                <a:latin typeface="Segoe UI"/>
              </a:rPr>
              <a:t>capture days</a:t>
            </a:r>
          </a:p>
        </p:txBody>
      </p:sp>
      <p:sp>
        <p:nvSpPr>
          <p:cNvPr id="26" name="Rectangle 25"/>
          <p:cNvSpPr/>
          <p:nvPr/>
        </p:nvSpPr>
        <p:spPr>
          <a:xfrm>
            <a:off x="5070530"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070530" y="4443984"/>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198546"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10.43 GB</a:t>
            </a:r>
          </a:p>
          <a:p>
            <a:pPr algn="ctr">
              <a:lnSpc>
                <a:spcPct val="112000"/>
              </a:lnSpc>
              <a:spcBef>
                <a:spcPts val="0"/>
              </a:spcBef>
              <a:spcAft>
                <a:spcPts val="0"/>
              </a:spcAft>
            </a:pPr>
            <a:r>
              <a:rPr sz="950" b="0" i="0">
                <a:solidFill>
                  <a:srgbClr val="6B7684"/>
                </a:solidFill>
                <a:latin typeface="Segoe UI"/>
              </a:rPr>
              <a:t>compressed archive, streamed — never extracted</a:t>
            </a:r>
          </a:p>
        </p:txBody>
      </p:sp>
      <p:sp>
        <p:nvSpPr>
          <p:cNvPr id="29" name="Rectangle 28"/>
          <p:cNvSpPr/>
          <p:nvPr/>
        </p:nvSpPr>
        <p:spPr>
          <a:xfrm>
            <a:off x="7322332"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322332" y="4443984"/>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50348"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93.92%</a:t>
            </a:r>
          </a:p>
          <a:p>
            <a:pPr algn="ctr">
              <a:lnSpc>
                <a:spcPct val="112000"/>
              </a:lnSpc>
              <a:spcBef>
                <a:spcPts val="0"/>
              </a:spcBef>
              <a:spcAft>
                <a:spcPts val="0"/>
              </a:spcAft>
            </a:pPr>
            <a:r>
              <a:rPr sz="950" b="0" i="0">
                <a:solidFill>
                  <a:srgbClr val="6B7684"/>
                </a:solidFill>
                <a:latin typeface="Segoe UI"/>
              </a:rPr>
              <a:t>of flows are benign</a:t>
            </a:r>
          </a:p>
        </p:txBody>
      </p:sp>
      <p:sp>
        <p:nvSpPr>
          <p:cNvPr id="32" name="Rectangle 31"/>
          <p:cNvSpPr/>
          <p:nvPr/>
        </p:nvSpPr>
        <p:spPr>
          <a:xfrm>
            <a:off x="9574133"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574133" y="4443984"/>
            <a:ext cx="2050633" cy="45720"/>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702149"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E07B18"/>
                </a:solidFill>
                <a:latin typeface="Segoe UI"/>
              </a:rPr>
              <a:t>6.08%</a:t>
            </a:r>
          </a:p>
          <a:p>
            <a:pPr algn="ctr">
              <a:lnSpc>
                <a:spcPct val="112000"/>
              </a:lnSpc>
              <a:spcBef>
                <a:spcPts val="0"/>
              </a:spcBef>
              <a:spcAft>
                <a:spcPts val="0"/>
              </a:spcAft>
            </a:pPr>
            <a:r>
              <a:rPr sz="950" b="0" i="0">
                <a:solidFill>
                  <a:srgbClr val="6B7684"/>
                </a:solidFill>
                <a:latin typeface="Segoe UI"/>
              </a:rPr>
              <a:t>of flows are attacks</a:t>
            </a:r>
          </a:p>
        </p:txBody>
      </p:sp>
      <p:sp>
        <p:nvSpPr>
          <p:cNvPr id="35" name="TextBox 34"/>
          <p:cNvSpPr txBox="1"/>
          <p:nvPr/>
        </p:nvSpPr>
        <p:spPr>
          <a:xfrm>
            <a:off x="566928" y="5614416"/>
            <a:ext cx="11057839" cy="640080"/>
          </a:xfrm>
          <a:prstGeom prst="rect">
            <a:avLst/>
          </a:prstGeom>
          <a:noFill/>
        </p:spPr>
        <p:txBody>
          <a:bodyPr wrap="square" anchor="t" lIns="0" rIns="0" tIns="0" bIns="0">
            <a:spAutoFit/>
          </a:bodyPr>
          <a:lstStyle/>
          <a:p>
            <a:pPr algn="l">
              <a:lnSpc>
                <a:spcPct val="120000"/>
              </a:lnSpc>
              <a:spcBef>
                <a:spcPts val="0"/>
              </a:spcBef>
              <a:spcAft>
                <a:spcPts val="0"/>
              </a:spcAft>
            </a:pPr>
            <a:r>
              <a:rPr sz="1019" b="0" i="0">
                <a:solidFill>
                  <a:srgbClr val="6B7684"/>
                </a:solidFill>
                <a:latin typeface="Segoe UI"/>
              </a:rPr>
              <a:t>The 36 GB of uncompressed CSV is streamed directly from the zip. Only the two derived samples ever touch disk — an explicit working rule of the project.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audit that changed the class taxonomy</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Three findings from the corrected release forced decisions, not just numbers.</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21</a:t>
            </a:r>
          </a:p>
        </p:txBody>
      </p:sp>
      <p:graphicFrame>
        <p:nvGraphicFramePr>
          <p:cNvPr id="9" name="Table 8"/>
          <p:cNvGraphicFramePr>
            <a:graphicFrameLocks noGrp="1"/>
          </p:cNvGraphicFramePr>
          <p:nvPr/>
        </p:nvGraphicFramePr>
        <p:xfrm>
          <a:off x="566928" y="1773936"/>
          <a:ext cx="11055096" cy="4206240"/>
        </p:xfrm>
        <a:graphic>
          <a:graphicData uri="http://schemas.openxmlformats.org/drawingml/2006/table">
            <a:tbl>
              <a:tblPr firstRow="0" bandRow="0"/>
              <a:tblGrid>
                <a:gridCol w="2148840"/>
                <a:gridCol w="4434840"/>
                <a:gridCol w="4471416"/>
              </a:tblGrid>
              <a:tr h="292608">
                <a:tc>
                  <a:txBody>
                    <a:bodyPr wrap="square"/>
                    <a:lstStyle/>
                    <a:p>
                      <a:pPr algn="l"/>
                      <a:r>
                        <a:rPr sz="900" b="1">
                          <a:solidFill>
                            <a:srgbClr val="FFFFFF"/>
                          </a:solidFill>
                          <a:latin typeface="Segoe UI"/>
                        </a:rPr>
                        <a:t>Finding</a:t>
                      </a:r>
                    </a:p>
                  </a:txBody>
                  <a:tcPr marL="82296" marR="82296" marT="13716" marB="13716" anchor="ctr">
                    <a:solidFill>
                      <a:srgbClr val="0F2A47"/>
                    </a:solidFill>
                  </a:tcPr>
                </a:tc>
                <a:tc>
                  <a:txBody>
                    <a:bodyPr wrap="square"/>
                    <a:lstStyle/>
                    <a:p>
                      <a:pPr algn="l"/>
                      <a:r>
                        <a:rPr sz="900" b="1">
                          <a:solidFill>
                            <a:srgbClr val="FFFFFF"/>
                          </a:solidFill>
                          <a:latin typeface="Segoe UI"/>
                        </a:rPr>
                        <a:t>The evidence</a:t>
                      </a:r>
                    </a:p>
                  </a:txBody>
                  <a:tcPr marL="82296" marR="82296" marT="13716" marB="13716" anchor="ctr">
                    <a:solidFill>
                      <a:srgbClr val="0F2A47"/>
                    </a:solidFill>
                  </a:tcPr>
                </a:tc>
                <a:tc>
                  <a:txBody>
                    <a:bodyPr wrap="square"/>
                    <a:lstStyle/>
                    <a:p>
                      <a:pPr algn="l"/>
                      <a:r>
                        <a:rPr sz="900" b="1">
                          <a:solidFill>
                            <a:srgbClr val="FFFFFF"/>
                          </a:solidFill>
                          <a:latin typeface="Segoe UI"/>
                        </a:rPr>
                        <a:t>Decision it forced</a:t>
                      </a:r>
                    </a:p>
                  </a:txBody>
                  <a:tcPr marL="82296" marR="82296" marT="13716" marB="13716" anchor="ctr">
                    <a:solidFill>
                      <a:srgbClr val="0F2A47"/>
                    </a:solidFill>
                  </a:tcPr>
                </a:tc>
              </a:tr>
              <a:tr h="978408">
                <a:tc>
                  <a:txBody>
                    <a:bodyPr wrap="square"/>
                    <a:lstStyle/>
                    <a:p>
                      <a:pPr algn="l"/>
                      <a:r>
                        <a:rPr sz="919" b="0">
                          <a:solidFill>
                            <a:srgbClr val="2A3441"/>
                          </a:solidFill>
                          <a:latin typeface="Segoe UI"/>
                        </a:rPr>
                        <a:t>Infiltration was never one class</a:t>
                      </a:r>
                    </a:p>
                  </a:txBody>
                  <a:tcPr marL="82296" marR="82296" marT="13716" marB="13716" anchor="ctr">
                    <a:solidFill>
                      <a:srgbClr val="FFFFFF"/>
                    </a:solidFill>
                  </a:tcPr>
                </a:tc>
                <a:tc>
                  <a:txBody>
                    <a:bodyPr wrap="square"/>
                    <a:lstStyle/>
                    <a:p>
                      <a:pPr algn="l"/>
                      <a:r>
                        <a:rPr sz="919" b="0">
                          <a:solidFill>
                            <a:srgbClr val="2A3441"/>
                          </a:solidFill>
                          <a:latin typeface="Segoe UI"/>
                        </a:rPr>
                        <a:t>89,374 of 89,691 “Infiltration” flows — 99.6% — are NMAP Portscan. True infiltration is 317 flows in 63.2 million.</a:t>
                      </a:r>
                    </a:p>
                  </a:txBody>
                  <a:tcPr marL="82296" marR="82296" marT="13716" marB="13716" anchor="ctr">
                    <a:solidFill>
                      <a:srgbClr val="FFFFFF"/>
                    </a:solidFill>
                  </a:tcPr>
                </a:tc>
                <a:tc>
                  <a:txBody>
                    <a:bodyPr wrap="square"/>
                    <a:lstStyle/>
                    <a:p>
                      <a:pPr algn="l"/>
                      <a:r>
                        <a:rPr sz="919" b="0">
                          <a:solidFill>
                            <a:srgbClr val="2A3441"/>
                          </a:solidFill>
                          <a:latin typeface="Segoe UI"/>
                        </a:rPr>
                        <a:t>Q19: Port Scan becomes an 8th class. This is why the literature calls the class unlearnable — the label conflated reconnaissance with post-compromise activity.</a:t>
                      </a:r>
                    </a:p>
                  </a:txBody>
                  <a:tcPr marL="82296" marR="82296" marT="13716" marB="13716" anchor="ctr">
                    <a:solidFill>
                      <a:srgbClr val="FFFFFF"/>
                    </a:solidFill>
                  </a:tcPr>
                </a:tc>
              </a:tr>
              <a:tr h="978408">
                <a:tc>
                  <a:txBody>
                    <a:bodyPr wrap="square"/>
                    <a:lstStyle/>
                    <a:p>
                      <a:pPr algn="l"/>
                      <a:r>
                        <a:rPr sz="919" b="0">
                          <a:solidFill>
                            <a:srgbClr val="2A3441"/>
                          </a:solidFill>
                          <a:latin typeface="Segoe UI"/>
                        </a:rPr>
                        <a:t>FTP brute force never succeeded</a:t>
                      </a:r>
                    </a:p>
                  </a:txBody>
                  <a:tcPr marL="82296" marR="82296" marT="13716" marB="13716" anchor="ctr">
                    <a:solidFill>
                      <a:srgbClr val="F4F7FB"/>
                    </a:solidFill>
                  </a:tcPr>
                </a:tc>
                <a:tc>
                  <a:txBody>
                    <a:bodyPr wrap="square"/>
                    <a:lstStyle/>
                    <a:p>
                      <a:pPr algn="l"/>
                      <a:r>
                        <a:rPr sz="919" b="0">
                          <a:solidFill>
                            <a:srgbClr val="2A3441"/>
                          </a:solidFill>
                          <a:latin typeface="Segoe UI"/>
                        </a:rPr>
                        <a:t>All 298,844 FTP-BruteForce flows are marked Attempted; 76% of the whole Brute Force class is attempts.</a:t>
                      </a:r>
                    </a:p>
                  </a:txBody>
                  <a:tcPr marL="82296" marR="82296" marT="13716" marB="13716" anchor="ctr">
                    <a:solidFill>
                      <a:srgbClr val="F4F7FB"/>
                    </a:solidFill>
                  </a:tcPr>
                </a:tc>
                <a:tc>
                  <a:txBody>
                    <a:bodyPr wrap="square"/>
                    <a:lstStyle/>
                    <a:p>
                      <a:pPr algn="l"/>
                      <a:r>
                        <a:rPr sz="919" b="0">
                          <a:solidFill>
                            <a:srgbClr val="2A3441"/>
                          </a:solidFill>
                          <a:latin typeface="Segoe UI"/>
                        </a:rPr>
                        <a:t>Q18: attempted attacks are malicious, flagged via is_attempted. Calling them benign would delete the class and make the IDS “correct” to ignore an in-progress intrusion.</a:t>
                      </a:r>
                    </a:p>
                  </a:txBody>
                  <a:tcPr marL="82296" marR="82296" marT="13716" marB="13716" anchor="ctr">
                    <a:solidFill>
                      <a:srgbClr val="F4F7FB"/>
                    </a:solidFill>
                  </a:tcPr>
                </a:tc>
              </a:tr>
              <a:tr h="978408">
                <a:tc>
                  <a:txBody>
                    <a:bodyPr wrap="square"/>
                    <a:lstStyle/>
                    <a:p>
                      <a:pPr algn="l"/>
                      <a:r>
                        <a:rPr sz="919" b="0">
                          <a:solidFill>
                            <a:srgbClr val="2A3441"/>
                          </a:solidFill>
                          <a:latin typeface="Segoe UI"/>
                        </a:rPr>
                        <a:t>Web Attack barely exists</a:t>
                      </a:r>
                    </a:p>
                  </a:txBody>
                  <a:tcPr marL="82296" marR="82296" marT="13716" marB="13716" anchor="ctr">
                    <a:solidFill>
                      <a:srgbClr val="FFFFFF"/>
                    </a:solidFill>
                  </a:tcPr>
                </a:tc>
                <a:tc>
                  <a:txBody>
                    <a:bodyPr wrap="square"/>
                    <a:lstStyle/>
                    <a:p>
                      <a:pPr algn="l"/>
                      <a:r>
                        <a:rPr sz="919" b="0">
                          <a:solidFill>
                            <a:srgbClr val="2A3441"/>
                          </a:solidFill>
                          <a:latin typeface="Segoe UI"/>
                        </a:rPr>
                        <a:t>283 successful flows in 63,195,145 — 0.0004%. The old 1,000-row sample held 83 of them, 29.3% of the entire class.</a:t>
                      </a:r>
                    </a:p>
                  </a:txBody>
                  <a:tcPr marL="82296" marR="82296" marT="13716" marB="13716" anchor="ctr">
                    <a:solidFill>
                      <a:srgbClr val="FFFFFF"/>
                    </a:solidFill>
                  </a:tcPr>
                </a:tc>
                <a:tc>
                  <a:txBody>
                    <a:bodyPr wrap="square"/>
                    <a:lstStyle/>
                    <a:p>
                      <a:pPr algn="l"/>
                      <a:r>
                        <a:rPr sz="919" b="0">
                          <a:solidFill>
                            <a:srgbClr val="2A3441"/>
                          </a:solidFill>
                          <a:latin typeface="Segoe UI"/>
                        </a:rPr>
                        <a:t>Old sample discarded. Any Web Attack metric from it was computed on almost the whole population and could not generalise.</a:t>
                      </a:r>
                    </a:p>
                  </a:txBody>
                  <a:tcPr marL="82296" marR="82296" marT="13716" marB="13716" anchor="ctr">
                    <a:solidFill>
                      <a:srgbClr val="FFFFFF"/>
                    </a:solidFill>
                  </a:tcPr>
                </a:tc>
              </a:tr>
              <a:tr h="978408">
                <a:tc>
                  <a:txBody>
                    <a:bodyPr wrap="square"/>
                    <a:lstStyle/>
                    <a:p>
                      <a:pPr algn="l"/>
                      <a:r>
                        <a:rPr sz="919" b="0">
                          <a:solidFill>
                            <a:srgbClr val="2A3441"/>
                          </a:solidFill>
                          <a:latin typeface="Segoe UI"/>
                        </a:rPr>
                        <a:t>The schema is not what the documents said</a:t>
                      </a:r>
                    </a:p>
                  </a:txBody>
                  <a:tcPr marL="82296" marR="82296" marT="13716" marB="13716" anchor="ctr">
                    <a:solidFill>
                      <a:srgbClr val="F4F7FB"/>
                    </a:solidFill>
                  </a:tcPr>
                </a:tc>
                <a:tc>
                  <a:txBody>
                    <a:bodyPr wrap="square"/>
                    <a:lstStyle/>
                    <a:p>
                      <a:pPr algn="l"/>
                      <a:r>
                        <a:rPr sz="919" b="0">
                          <a:solidFill>
                            <a:srgbClr val="2A3441"/>
                          </a:solidFill>
                          <a:latin typeface="Segoe UI"/>
                        </a:rPr>
                        <a:t>91 columns, not 79. Six columns are new in the corrected release, and “CWE Flag Count” is a typo for “CWR Flag Count” (TCP Congestion Window Reduced).</a:t>
                      </a:r>
                    </a:p>
                  </a:txBody>
                  <a:tcPr marL="82296" marR="82296" marT="13716" marB="13716" anchor="ctr">
                    <a:solidFill>
                      <a:srgbClr val="F4F7FB"/>
                    </a:solidFill>
                  </a:tcPr>
                </a:tc>
                <a:tc>
                  <a:txBody>
                    <a:bodyPr wrap="square"/>
                    <a:lstStyle/>
                    <a:p>
                      <a:pPr algn="l"/>
                      <a:r>
                        <a:rPr sz="919" b="0">
                          <a:solidFill>
                            <a:srgbClr val="2A3441"/>
                          </a:solidFill>
                          <a:latin typeface="Segoe UI"/>
                        </a:rPr>
                        <a:t>All 78 features were re-mapped and verified; the training schema is regenerated from the corrected release.</a:t>
                      </a:r>
                    </a:p>
                  </a:txBody>
                  <a:tcPr marL="82296" marR="82296" marT="13716" marB="13716" anchor="ctr">
                    <a:solidFill>
                      <a:srgbClr val="F4F7FB"/>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we split the data, and what we dropped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Two disjoint samples, one seed, and an explicit leakage guard.</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22</a:t>
            </a:r>
          </a:p>
        </p:txBody>
      </p:sp>
      <p:graphicFrame>
        <p:nvGraphicFramePr>
          <p:cNvPr id="9" name="Table 8"/>
          <p:cNvGraphicFramePr>
            <a:graphicFrameLocks noGrp="1"/>
          </p:cNvGraphicFramePr>
          <p:nvPr/>
        </p:nvGraphicFramePr>
        <p:xfrm>
          <a:off x="566928" y="1773936"/>
          <a:ext cx="7232904" cy="1499616"/>
        </p:xfrm>
        <a:graphic>
          <a:graphicData uri="http://schemas.openxmlformats.org/drawingml/2006/table">
            <a:tbl>
              <a:tblPr firstRow="0" bandRow="0"/>
              <a:tblGrid>
                <a:gridCol w="1481328"/>
                <a:gridCol w="713232"/>
                <a:gridCol w="3401568"/>
                <a:gridCol w="1636776"/>
              </a:tblGrid>
              <a:tr h="292608">
                <a:tc>
                  <a:txBody>
                    <a:bodyPr wrap="square"/>
                    <a:lstStyle/>
                    <a:p>
                      <a:pPr algn="l"/>
                      <a:r>
                        <a:rPr sz="880" b="1">
                          <a:solidFill>
                            <a:srgbClr val="FFFFFF"/>
                          </a:solidFill>
                          <a:latin typeface="Segoe UI"/>
                        </a:rPr>
                        <a:t>Sample</a:t>
                      </a:r>
                    </a:p>
                  </a:txBody>
                  <a:tcPr marL="82296" marR="82296" marT="13716" marB="13716" anchor="ctr">
                    <a:solidFill>
                      <a:srgbClr val="0F2A47"/>
                    </a:solidFill>
                  </a:tcPr>
                </a:tc>
                <a:tc>
                  <a:txBody>
                    <a:bodyPr wrap="square"/>
                    <a:lstStyle/>
                    <a:p>
                      <a:pPr algn="l"/>
                      <a:r>
                        <a:rPr sz="880" b="1">
                          <a:solidFill>
                            <a:srgbClr val="FFFFFF"/>
                          </a:solidFill>
                          <a:latin typeface="Segoe UI"/>
                        </a:rPr>
                        <a:t>Rows</a:t>
                      </a:r>
                    </a:p>
                  </a:txBody>
                  <a:tcPr marL="82296" marR="82296" marT="13716" marB="13716" anchor="ctr">
                    <a:solidFill>
                      <a:srgbClr val="0F2A47"/>
                    </a:solidFill>
                  </a:tcPr>
                </a:tc>
                <a:tc>
                  <a:txBody>
                    <a:bodyPr wrap="square"/>
                    <a:lstStyle/>
                    <a:p>
                      <a:pPr algn="l"/>
                      <a:r>
                        <a:rPr sz="880" b="1">
                          <a:solidFill>
                            <a:srgbClr val="FFFFFF"/>
                          </a:solidFill>
                          <a:latin typeface="Segoe UI"/>
                        </a:rPr>
                        <a:t>Composition</a:t>
                      </a:r>
                    </a:p>
                  </a:txBody>
                  <a:tcPr marL="82296" marR="82296" marT="13716" marB="13716" anchor="ctr">
                    <a:solidFill>
                      <a:srgbClr val="0F2A47"/>
                    </a:solidFill>
                  </a:tcPr>
                </a:tc>
                <a:tc>
                  <a:txBody>
                    <a:bodyPr wrap="square"/>
                    <a:lstStyle/>
                    <a:p>
                      <a:pPr algn="l"/>
                      <a:r>
                        <a:rPr sz="880" b="1">
                          <a:solidFill>
                            <a:srgbClr val="FFFFFF"/>
                          </a:solidFill>
                          <a:latin typeface="Segoe UI"/>
                        </a:rPr>
                        <a:t>Purpose</a:t>
                      </a:r>
                    </a:p>
                  </a:txBody>
                  <a:tcPr marL="82296" marR="82296" marT="13716" marB="13716" anchor="ctr">
                    <a:solidFill>
                      <a:srgbClr val="0F2A47"/>
                    </a:solidFill>
                  </a:tcPr>
                </a:tc>
              </a:tr>
              <a:tr h="603504">
                <a:tc>
                  <a:txBody>
                    <a:bodyPr wrap="square"/>
                    <a:lstStyle/>
                    <a:p>
                      <a:pPr algn="l"/>
                      <a:r>
                        <a:rPr sz="900" b="0">
                          <a:solidFill>
                            <a:srgbClr val="2A3441"/>
                          </a:solidFill>
                          <a:latin typeface="Segoe UI"/>
                        </a:rPr>
                        <a:t>train_sample.csv</a:t>
                      </a:r>
                    </a:p>
                  </a:txBody>
                  <a:tcPr marL="82296" marR="82296" marT="13716" marB="13716" anchor="ctr">
                    <a:solidFill>
                      <a:srgbClr val="FFFFFF"/>
                    </a:solidFill>
                  </a:tcPr>
                </a:tc>
                <a:tc>
                  <a:txBody>
                    <a:bodyPr wrap="square"/>
                    <a:lstStyle/>
                    <a:p>
                      <a:pPr algn="l"/>
                      <a:r>
                        <a:rPr sz="900" b="0">
                          <a:solidFill>
                            <a:srgbClr val="2A3441"/>
                          </a:solidFill>
                          <a:latin typeface="Segoe UI"/>
                        </a:rPr>
                        <a:t>250,655</a:t>
                      </a:r>
                    </a:p>
                  </a:txBody>
                  <a:tcPr marL="82296" marR="82296" marT="13716" marB="13716" anchor="ctr">
                    <a:solidFill>
                      <a:srgbClr val="FFFFFF"/>
                    </a:solidFill>
                  </a:tcPr>
                </a:tc>
                <a:tc>
                  <a:txBody>
                    <a:bodyPr wrap="square"/>
                    <a:lstStyle/>
                    <a:p>
                      <a:pPr algn="l"/>
                      <a:r>
                        <a:rPr sz="900" b="0">
                          <a:solidFill>
                            <a:srgbClr val="2A3441"/>
                          </a:solidFill>
                          <a:latin typeface="Segoe UI"/>
                        </a:rPr>
                        <a:t>Benign 100,000 · Botnet, DoS, DDoS, Port Scan, Brute Force 30,000 each · Web Attack 378 · Infiltration 277</a:t>
                      </a:r>
                    </a:p>
                  </a:txBody>
                  <a:tcPr marL="82296" marR="82296" marT="13716" marB="13716" anchor="ctr">
                    <a:solidFill>
                      <a:srgbClr val="FFFFFF"/>
                    </a:solidFill>
                  </a:tcPr>
                </a:tc>
                <a:tc>
                  <a:txBody>
                    <a:bodyPr wrap="square"/>
                    <a:lstStyle/>
                    <a:p>
                      <a:pPr algn="l"/>
                      <a:r>
                        <a:rPr sz="900" b="0">
                          <a:solidFill>
                            <a:srgbClr val="2A3441"/>
                          </a:solidFill>
                          <a:latin typeface="Segoe UI"/>
                        </a:rPr>
                        <a:t>Train the model and validate the rules held-out</a:t>
                      </a:r>
                    </a:p>
                  </a:txBody>
                  <a:tcPr marL="82296" marR="82296" marT="13716" marB="13716" anchor="ctr">
                    <a:solidFill>
                      <a:srgbClr val="FFFFFF"/>
                    </a:solidFill>
                  </a:tcPr>
                </a:tc>
              </a:tr>
              <a:tr h="603504">
                <a:tc>
                  <a:txBody>
                    <a:bodyPr wrap="square"/>
                    <a:lstStyle/>
                    <a:p>
                      <a:pPr algn="l"/>
                      <a:r>
                        <a:rPr sz="900" b="0">
                          <a:solidFill>
                            <a:srgbClr val="2A3441"/>
                          </a:solidFill>
                          <a:latin typeface="Segoe UI"/>
                        </a:rPr>
                        <a:t>demo_sample.csv</a:t>
                      </a:r>
                    </a:p>
                  </a:txBody>
                  <a:tcPr marL="82296" marR="82296" marT="13716" marB="13716" anchor="ctr">
                    <a:solidFill>
                      <a:srgbClr val="F4F7FB"/>
                    </a:solidFill>
                  </a:tcPr>
                </a:tc>
                <a:tc>
                  <a:txBody>
                    <a:bodyPr wrap="square"/>
                    <a:lstStyle/>
                    <a:p>
                      <a:pPr algn="l"/>
                      <a:r>
                        <a:rPr sz="900" b="0">
                          <a:solidFill>
                            <a:srgbClr val="2A3441"/>
                          </a:solidFill>
                          <a:latin typeface="Segoe UI"/>
                        </a:rPr>
                        <a:t>5,000</a:t>
                      </a:r>
                    </a:p>
                  </a:txBody>
                  <a:tcPr marL="82296" marR="82296" marT="13716" marB="13716" anchor="ctr">
                    <a:solidFill>
                      <a:srgbClr val="F4F7FB"/>
                    </a:solidFill>
                  </a:tcPr>
                </a:tc>
                <a:tc>
                  <a:txBody>
                    <a:bodyPr wrap="square"/>
                    <a:lstStyle/>
                    <a:p>
                      <a:pPr algn="l"/>
                      <a:r>
                        <a:rPr sz="900" b="0">
                          <a:solidFill>
                            <a:srgbClr val="2A3441"/>
                          </a:solidFill>
                          <a:latin typeface="Segoe UI"/>
                        </a:rPr>
                        <a:t>Benign 4,000 · DoS, DDoS, Brute Force 200 each · Botnet, Port Scan 150 each · Web Attack 60 · Infiltration 40</a:t>
                      </a:r>
                    </a:p>
                  </a:txBody>
                  <a:tcPr marL="82296" marR="82296" marT="13716" marB="13716" anchor="ctr">
                    <a:solidFill>
                      <a:srgbClr val="F4F7FB"/>
                    </a:solidFill>
                  </a:tcPr>
                </a:tc>
                <a:tc>
                  <a:txBody>
                    <a:bodyPr wrap="square"/>
                    <a:lstStyle/>
                    <a:p>
                      <a:pPr algn="l"/>
                      <a:r>
                        <a:rPr sz="900" b="0">
                          <a:solidFill>
                            <a:srgbClr val="2A3441"/>
                          </a:solidFill>
                          <a:latin typeface="Segoe UI"/>
                        </a:rPr>
                        <a:t>The detection run, the console, the demo and the evaluation</a:t>
                      </a:r>
                    </a:p>
                  </a:txBody>
                  <a:tcPr marL="82296" marR="82296" marT="13716" marB="13716" anchor="ctr">
                    <a:solidFill>
                      <a:srgbClr val="F4F7FB"/>
                    </a:solidFill>
                  </a:tcPr>
                </a:tc>
              </a:tr>
            </a:tbl>
          </a:graphicData>
        </a:graphic>
      </p:graphicFrame>
      <p:sp>
        <p:nvSpPr>
          <p:cNvPr id="10" name="TextBox 9"/>
          <p:cNvSpPr txBox="1"/>
          <p:nvPr/>
        </p:nvSpPr>
        <p:spPr>
          <a:xfrm>
            <a:off x="566928" y="3346704"/>
            <a:ext cx="6358257" cy="2743200"/>
          </a:xfrm>
          <a:prstGeom prst="rect">
            <a:avLst/>
          </a:prstGeom>
          <a:noFill/>
        </p:spPr>
        <p:txBody>
          <a:bodyPr wrap="square" anchor="t" lIns="0" rIns="0" tIns="0" bIns="0">
            <a:spAutoFit/>
          </a:bodyPr>
          <a:lstStyle/>
          <a:p>
            <a:pPr algn="l">
              <a:lnSpc>
                <a:spcPct val="122000"/>
              </a:lnSpc>
              <a:spcBef>
                <a:spcPts val="0"/>
              </a:spcBef>
              <a:spcAft>
                <a:spcPts val="800"/>
              </a:spcAft>
            </a:pPr>
            <a:r>
              <a:rPr sz="1000" b="1">
                <a:solidFill>
                  <a:srgbClr val="0F2A47"/>
                </a:solidFill>
                <a:latin typeface="Segoe UI"/>
              </a:rPr>
              <a:t>Why two samples. </a:t>
            </a:r>
            <a:r>
              <a:rPr sz="1000" b="0">
                <a:solidFill>
                  <a:srgbClr val="2A3441"/>
                </a:solidFill>
                <a:latin typeface="Segoe UI"/>
              </a:rPr>
              <a:t>The previous single 1,000-row sample was 50% attacks — about 15× more attack-dense than the reality of 6.08%. Separating the two lets the demo look alive without the training set inheriting a false prior. Both are drawn with seed 20260911 and asserted disjoint.</a:t>
            </a:r>
          </a:p>
          <a:p>
            <a:pPr algn="l">
              <a:lnSpc>
                <a:spcPct val="122000"/>
              </a:lnSpc>
              <a:spcBef>
                <a:spcPts val="0"/>
              </a:spcBef>
              <a:spcAft>
                <a:spcPts val="600"/>
              </a:spcAft>
            </a:pPr>
            <a:r>
              <a:rPr sz="1000" b="1">
                <a:solidFill>
                  <a:srgbClr val="0F2A47"/>
                </a:solidFill>
                <a:latin typeface="Segoe UI"/>
              </a:rPr>
              <a:t>Columns dropped — 11 fields never reach a detector. </a:t>
            </a:r>
            <a:r>
              <a:rPr sz="1000" b="0">
                <a:solidFill>
                  <a:srgbClr val="C0392B"/>
                </a:solidFill>
                <a:latin typeface="Consolas"/>
              </a:rPr>
              <a:t>Attempted Category, Dst IP, Flow ID, Label, Src IP, Src Port, Timestamp, alert_id, attack_class, id, is_attempted.</a:t>
            </a:r>
          </a:p>
          <a:p>
            <a:pPr algn="l">
              <a:lnSpc>
                <a:spcPct val="120000"/>
              </a:lnSpc>
              <a:spcBef>
                <a:spcPts val="0"/>
              </a:spcBef>
              <a:spcAft>
                <a:spcPts val="800"/>
              </a:spcAft>
            </a:pPr>
            <a:r>
              <a:rPr sz="950" b="0" i="0">
                <a:solidFill>
                  <a:srgbClr val="6B7684"/>
                </a:solidFill>
                <a:latin typeface="Segoe UI"/>
              </a:rPr>
              <a:t>Attempted Category is the dangerous one: it states whether an attack succeeded, so it is a label-leakage vector that did not exist before the corrected release.</a:t>
            </a:r>
          </a:p>
          <a:p>
            <a:pPr algn="l">
              <a:lnSpc>
                <a:spcPct val="120000"/>
              </a:lnSpc>
              <a:spcBef>
                <a:spcPts val="0"/>
              </a:spcBef>
              <a:spcAft>
                <a:spcPts val="0"/>
              </a:spcAft>
            </a:pPr>
            <a:r>
              <a:rPr sz="950" b="0" i="0">
                <a:solidFill>
                  <a:srgbClr val="6B7684"/>
                </a:solidFill>
                <a:latin typeface="Segoe UI"/>
              </a:rPr>
              <a:t>Ground truth is kept out of the database schema entirely. The evaluation reaches it through exactly one join, on flow_data.source_record_id, and only after prediction.</a:t>
            </a:r>
          </a:p>
        </p:txBody>
      </p:sp>
      <p:sp>
        <p:nvSpPr>
          <p:cNvPr id="11" name="TextBox 10"/>
          <p:cNvSpPr txBox="1"/>
          <p:nvPr/>
        </p:nvSpPr>
        <p:spPr>
          <a:xfrm>
            <a:off x="7217793" y="1773936"/>
            <a:ext cx="4406973"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91 DATASET COLUMNS → 82 MODEL FEATURES</a:t>
            </a:r>
          </a:p>
        </p:txBody>
      </p:sp>
      <p:graphicFrame>
        <p:nvGraphicFramePr>
          <p:cNvPr id="12" name="Table 11"/>
          <p:cNvGraphicFramePr>
            <a:graphicFrameLocks noGrp="1"/>
          </p:cNvGraphicFramePr>
          <p:nvPr/>
        </p:nvGraphicFramePr>
        <p:xfrm>
          <a:off x="7217793" y="2066543"/>
          <a:ext cx="4535424" cy="3255264"/>
        </p:xfrm>
        <a:graphic>
          <a:graphicData uri="http://schemas.openxmlformats.org/drawingml/2006/table">
            <a:tbl>
              <a:tblPr firstRow="0" bandRow="0"/>
              <a:tblGrid>
                <a:gridCol w="2103120"/>
                <a:gridCol w="2432304"/>
              </a:tblGrid>
              <a:tr h="292608">
                <a:tc>
                  <a:txBody>
                    <a:bodyPr wrap="square"/>
                    <a:lstStyle/>
                    <a:p>
                      <a:pPr algn="l"/>
                      <a:r>
                        <a:rPr sz="880" b="1">
                          <a:solidFill>
                            <a:srgbClr val="FFFFFF"/>
                          </a:solidFill>
                          <a:latin typeface="Segoe UI"/>
                        </a:rPr>
                        <a:t>From the corrected release</a:t>
                      </a:r>
                    </a:p>
                  </a:txBody>
                  <a:tcPr marL="82296" marR="82296" marT="13716" marB="13716" anchor="ctr">
                    <a:solidFill>
                      <a:srgbClr val="0F2A47"/>
                    </a:solidFill>
                  </a:tcPr>
                </a:tc>
                <a:tc>
                  <a:txBody>
                    <a:bodyPr wrap="square"/>
                    <a:lstStyle/>
                    <a:p>
                      <a:pPr algn="l"/>
                      <a:r>
                        <a:rPr sz="880" b="1">
                          <a:solidFill>
                            <a:srgbClr val="FFFFFF"/>
                          </a:solidFill>
                          <a:latin typeface="Segoe UI"/>
                        </a:rPr>
                        <a:t>Handling</a:t>
                      </a:r>
                    </a:p>
                  </a:txBody>
                  <a:tcPr marL="82296" marR="82296" marT="13716" marB="13716" anchor="ctr">
                    <a:solidFill>
                      <a:srgbClr val="0F2A47"/>
                    </a:solidFill>
                  </a:tcPr>
                </a:tc>
              </a:tr>
              <a:tr h="987552">
                <a:tc>
                  <a:txBody>
                    <a:bodyPr wrap="square"/>
                    <a:lstStyle/>
                    <a:p>
                      <a:pPr algn="l"/>
                      <a:r>
                        <a:rPr sz="900" b="0">
                          <a:solidFill>
                            <a:srgbClr val="2A3441"/>
                          </a:solidFill>
                          <a:latin typeface="Segoe UI"/>
                        </a:rPr>
                        <a:t>6 new columns
(Fwd/Bwd RST Flags, ICMP Code, ICMP Type, Total TCP Flow Time, Attempted Category)</a:t>
                      </a:r>
                    </a:p>
                  </a:txBody>
                  <a:tcPr marL="82296" marR="82296" marT="13716" marB="13716" anchor="ctr">
                    <a:solidFill>
                      <a:srgbClr val="FFFFFF"/>
                    </a:solidFill>
                  </a:tcPr>
                </a:tc>
                <a:tc>
                  <a:txBody>
                    <a:bodyPr wrap="square"/>
                    <a:lstStyle/>
                    <a:p>
                      <a:pPr algn="l"/>
                      <a:r>
                        <a:rPr sz="900" b="0">
                          <a:solidFill>
                            <a:srgbClr val="2A3441"/>
                          </a:solidFill>
                          <a:latin typeface="Segoe UI"/>
                        </a:rPr>
                        <a:t>Not used by the shipped model, which was trained on the 78-feature set. A retrained model may adopt them.</a:t>
                      </a:r>
                    </a:p>
                  </a:txBody>
                  <a:tcPr marL="82296" marR="82296" marT="13716" marB="13716" anchor="ctr">
                    <a:solidFill>
                      <a:srgbClr val="FFFFFF"/>
                    </a:solidFill>
                  </a:tcPr>
                </a:tc>
              </a:tr>
              <a:tr h="987552">
                <a:tc>
                  <a:txBody>
                    <a:bodyPr wrap="square"/>
                    <a:lstStyle/>
                    <a:p>
                      <a:pPr algn="l"/>
                      <a:r>
                        <a:rPr sz="900" b="0">
                          <a:solidFill>
                            <a:srgbClr val="2A3441"/>
                          </a:solidFill>
                          <a:latin typeface="Segoe UI"/>
                        </a:rPr>
                        <a:t>8 renamed features</a:t>
                      </a:r>
                    </a:p>
                  </a:txBody>
                  <a:tcPr marL="82296" marR="82296" marT="13716" marB="13716" anchor="ctr">
                    <a:solidFill>
                      <a:srgbClr val="F4F7FB"/>
                    </a:solidFill>
                  </a:tcPr>
                </a:tc>
                <a:tc>
                  <a:txBody>
                    <a:bodyPr wrap="square"/>
                    <a:lstStyle/>
                    <a:p>
                      <a:pPr algn="l"/>
                      <a:r>
                        <a:rPr sz="900" b="0">
                          <a:solidFill>
                            <a:srgbClr val="2A3441"/>
                          </a:solidFill>
                          <a:latin typeface="Segoe UI"/>
                        </a:rPr>
                        <a:t>Pinned by hand in scripts/column_map.json — 70 of 78 match automatically; 8 do not, and a silent mismatch here is train/serve skew.</a:t>
                      </a:r>
                    </a:p>
                  </a:txBody>
                  <a:tcPr marL="82296" marR="82296" marT="13716" marB="13716" anchor="ctr">
                    <a:solidFill>
                      <a:srgbClr val="F4F7FB"/>
                    </a:solidFill>
                  </a:tcPr>
                </a:tc>
              </a:tr>
              <a:tr h="987552">
                <a:tc>
                  <a:txBody>
                    <a:bodyPr wrap="square"/>
                    <a:lstStyle/>
                    <a:p>
                      <a:pPr algn="l"/>
                      <a:r>
                        <a:rPr sz="900" b="0">
                          <a:solidFill>
                            <a:srgbClr val="2A3441"/>
                          </a:solidFill>
                          <a:latin typeface="Segoe UI"/>
                        </a:rPr>
                        <a:t>CWE Flag Count</a:t>
                      </a:r>
                    </a:p>
                  </a:txBody>
                  <a:tcPr marL="82296" marR="82296" marT="13716" marB="13716" anchor="ctr">
                    <a:solidFill>
                      <a:srgbClr val="FFFFFF"/>
                    </a:solidFill>
                  </a:tcPr>
                </a:tc>
                <a:tc>
                  <a:txBody>
                    <a:bodyPr wrap="square"/>
                    <a:lstStyle/>
                    <a:p>
                      <a:pPr algn="l"/>
                      <a:r>
                        <a:rPr sz="900" b="0">
                          <a:solidFill>
                            <a:srgbClr val="2A3441"/>
                          </a:solidFill>
                          <a:latin typeface="Segoe UI"/>
                        </a:rPr>
                        <a:t>Corrected to CWR Flag Count by the release itself.</a:t>
                      </a:r>
                    </a:p>
                  </a:txBody>
                  <a:tcPr marL="82296" marR="82296" marT="13716" marB="13716"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SIX</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technical analysis, notebook by notebook</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Notebooks 04 to 07 carry the results that produced the ranking combination. One of them reversed the project's central claim.</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06</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reversal that redirected the project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24</a:t>
            </a:r>
          </a:p>
        </p:txBody>
      </p:sp>
      <p:sp>
        <p:nvSpPr>
          <p:cNvPr id="8" name="TextBox 7"/>
          <p:cNvSpPr txBox="1"/>
          <p:nvPr/>
        </p:nvSpPr>
        <p:spPr>
          <a:xfrm>
            <a:off x="566928" y="1481328"/>
            <a:ext cx="11057839" cy="548640"/>
          </a:xfrm>
          <a:prstGeom prst="rect">
            <a:avLst/>
          </a:prstGeom>
          <a:noFill/>
        </p:spPr>
        <p:txBody>
          <a:bodyPr wrap="square" anchor="t" lIns="0" rIns="0" tIns="0" bIns="0">
            <a:spAutoFit/>
          </a:bodyPr>
          <a:lstStyle/>
          <a:p>
            <a:pPr algn="l">
              <a:lnSpc>
                <a:spcPct val="122000"/>
              </a:lnSpc>
              <a:spcBef>
                <a:spcPts val="0"/>
              </a:spcBef>
              <a:spcAft>
                <a:spcPts val="0"/>
              </a:spcAft>
            </a:pPr>
            <a:r>
              <a:rPr sz="1150" b="0" i="0">
                <a:solidFill>
                  <a:srgbClr val="2A3441"/>
                </a:solidFill>
                <a:latin typeface="Segoe UI"/>
              </a:rPr>
              <a:t>Notebooks 01 to 03 concluded the detectors were complementary — that the signature layer caught attacks the model confidently mislabelled — and designed fusion around that idea. Re-measured on the corrected data, the conclusion reverses.</a:t>
            </a:r>
          </a:p>
        </p:txBody>
      </p:sp>
      <p:graphicFrame>
        <p:nvGraphicFramePr>
          <p:cNvPr id="9" name="Table 8"/>
          <p:cNvGraphicFramePr>
            <a:graphicFrameLocks noGrp="1"/>
          </p:cNvGraphicFramePr>
          <p:nvPr/>
        </p:nvGraphicFramePr>
        <p:xfrm>
          <a:off x="566928" y="2139696"/>
          <a:ext cx="5614416" cy="1883664"/>
        </p:xfrm>
        <a:graphic>
          <a:graphicData uri="http://schemas.openxmlformats.org/drawingml/2006/table">
            <a:tbl>
              <a:tblPr firstRow="0" bandRow="0"/>
              <a:tblGrid>
                <a:gridCol w="2103120"/>
                <a:gridCol w="2048256"/>
                <a:gridCol w="1463040"/>
              </a:tblGrid>
              <a:tr h="420624">
                <a:tc>
                  <a:txBody>
                    <a:bodyPr wrap="square"/>
                    <a:lstStyle/>
                    <a:p>
                      <a:pPr algn="l"/>
                      <a:r>
                        <a:rPr sz="900" b="1">
                          <a:solidFill>
                            <a:srgbClr val="FFFFFF"/>
                          </a:solidFill>
                          <a:latin typeface="Segoe UI"/>
                        </a:rPr>
                        <a:t>1,000 malicious flows — caught by</a:t>
                      </a:r>
                    </a:p>
                  </a:txBody>
                  <a:tcPr marL="82296" marR="82296" marT="13716" marB="13716" anchor="ctr">
                    <a:solidFill>
                      <a:srgbClr val="0F2A47"/>
                    </a:solidFill>
                  </a:tcPr>
                </a:tc>
                <a:tc>
                  <a:txBody>
                    <a:bodyPr wrap="square"/>
                    <a:lstStyle/>
                    <a:p>
                      <a:pPr algn="r"/>
                      <a:r>
                        <a:rPr sz="900" b="1">
                          <a:solidFill>
                            <a:srgbClr val="FFFFFF"/>
                          </a:solidFill>
                          <a:latin typeface="Segoe UI"/>
                        </a:rPr>
                        <a:t>Old sample (notebooks 01–03)</a:t>
                      </a:r>
                    </a:p>
                  </a:txBody>
                  <a:tcPr marL="82296" marR="82296" marT="13716" marB="13716" anchor="ctr">
                    <a:solidFill>
                      <a:srgbClr val="0F2A47"/>
                    </a:solidFill>
                  </a:tcPr>
                </a:tc>
                <a:tc>
                  <a:txBody>
                    <a:bodyPr wrap="square"/>
                    <a:lstStyle/>
                    <a:p>
                      <a:pPr algn="r"/>
                      <a:r>
                        <a:rPr sz="900" b="1">
                          <a:solidFill>
                            <a:srgbClr val="FFFFFF"/>
                          </a:solidFill>
                          <a:latin typeface="Segoe UI"/>
                        </a:rPr>
                        <a:t>Corrected sample</a:t>
                      </a:r>
                    </a:p>
                  </a:txBody>
                  <a:tcPr marL="82296" marR="82296" marT="13716" marB="13716" anchor="ctr">
                    <a:solidFill>
                      <a:srgbClr val="0F2A47"/>
                    </a:solidFill>
                  </a:tcPr>
                </a:tc>
              </a:tr>
              <a:tr h="365760">
                <a:tc>
                  <a:txBody>
                    <a:bodyPr wrap="square"/>
                    <a:lstStyle/>
                    <a:p>
                      <a:pPr algn="l"/>
                      <a:r>
                        <a:rPr sz="1000" b="0">
                          <a:solidFill>
                            <a:srgbClr val="2A3441"/>
                          </a:solidFill>
                          <a:latin typeface="Segoe UI"/>
                        </a:rPr>
                        <a:t>ML only</a:t>
                      </a:r>
                    </a:p>
                  </a:txBody>
                  <a:tcPr marL="82296" marR="82296" marT="13716" marB="13716" anchor="ctr">
                    <a:solidFill>
                      <a:srgbClr val="FFFFFF"/>
                    </a:solidFill>
                  </a:tcPr>
                </a:tc>
                <a:tc>
                  <a:txBody>
                    <a:bodyPr wrap="square"/>
                    <a:lstStyle/>
                    <a:p>
                      <a:pPr algn="r"/>
                      <a:r>
                        <a:rPr sz="1000" b="0">
                          <a:solidFill>
                            <a:srgbClr val="2A3441"/>
                          </a:solidFill>
                          <a:latin typeface="Segoe UI"/>
                        </a:rPr>
                        <a:t>403</a:t>
                      </a:r>
                    </a:p>
                  </a:txBody>
                  <a:tcPr marL="82296" marR="82296" marT="13716" marB="13716" anchor="ctr">
                    <a:solidFill>
                      <a:srgbClr val="FFFFFF"/>
                    </a:solidFill>
                  </a:tcPr>
                </a:tc>
                <a:tc>
                  <a:txBody>
                    <a:bodyPr wrap="square"/>
                    <a:lstStyle/>
                    <a:p>
                      <a:pPr algn="r"/>
                      <a:r>
                        <a:rPr sz="1000" b="0">
                          <a:solidFill>
                            <a:srgbClr val="2A3441"/>
                          </a:solidFill>
                          <a:latin typeface="Segoe UI"/>
                        </a:rPr>
                        <a:t>940</a:t>
                      </a:r>
                    </a:p>
                  </a:txBody>
                  <a:tcPr marL="82296" marR="82296" marT="13716" marB="13716" anchor="ctr">
                    <a:solidFill>
                      <a:srgbClr val="FFFFFF"/>
                    </a:solidFill>
                  </a:tcPr>
                </a:tc>
              </a:tr>
              <a:tr h="365760">
                <a:tc>
                  <a:txBody>
                    <a:bodyPr wrap="square"/>
                    <a:lstStyle/>
                    <a:p>
                      <a:pPr algn="l"/>
                      <a:r>
                        <a:rPr sz="1000" b="0">
                          <a:solidFill>
                            <a:srgbClr val="2A3441"/>
                          </a:solidFill>
                          <a:latin typeface="Segoe UI"/>
                        </a:rPr>
                        <a:t>SIGNATURE only</a:t>
                      </a:r>
                    </a:p>
                  </a:txBody>
                  <a:tcPr marL="82296" marR="82296" marT="13716" marB="13716" anchor="ctr">
                    <a:solidFill>
                      <a:srgbClr val="F4F7FB"/>
                    </a:solidFill>
                  </a:tcPr>
                </a:tc>
                <a:tc>
                  <a:txBody>
                    <a:bodyPr wrap="square"/>
                    <a:lstStyle/>
                    <a:p>
                      <a:pPr algn="r"/>
                      <a:r>
                        <a:rPr sz="1000" b="1">
                          <a:solidFill>
                            <a:srgbClr val="C0392B"/>
                          </a:solidFill>
                          <a:latin typeface="Segoe UI"/>
                        </a:rPr>
                        <a:t>8</a:t>
                      </a:r>
                    </a:p>
                  </a:txBody>
                  <a:tcPr marL="82296" marR="82296" marT="13716" marB="13716" anchor="ctr">
                    <a:solidFill>
                      <a:srgbClr val="F4F7FB"/>
                    </a:solidFill>
                  </a:tcPr>
                </a:tc>
                <a:tc>
                  <a:txBody>
                    <a:bodyPr wrap="square"/>
                    <a:lstStyle/>
                    <a:p>
                      <a:pPr algn="r"/>
                      <a:r>
                        <a:rPr sz="1000" b="1">
                          <a:solidFill>
                            <a:srgbClr val="C0392B"/>
                          </a:solidFill>
                          <a:latin typeface="Segoe UI"/>
                        </a:rPr>
                        <a:t>0</a:t>
                      </a:r>
                    </a:p>
                  </a:txBody>
                  <a:tcPr marL="82296" marR="82296" marT="13716" marB="13716" anchor="ctr">
                    <a:solidFill>
                      <a:srgbClr val="F4F7FB"/>
                    </a:solidFill>
                  </a:tcPr>
                </a:tc>
              </a:tr>
              <a:tr h="365760">
                <a:tc>
                  <a:txBody>
                    <a:bodyPr wrap="square"/>
                    <a:lstStyle/>
                    <a:p>
                      <a:pPr algn="l"/>
                      <a:r>
                        <a:rPr sz="1000" b="0">
                          <a:solidFill>
                            <a:srgbClr val="2A3441"/>
                          </a:solidFill>
                          <a:latin typeface="Segoe UI"/>
                        </a:rPr>
                        <a:t>BOTH (agreement)</a:t>
                      </a:r>
                    </a:p>
                  </a:txBody>
                  <a:tcPr marL="82296" marR="82296" marT="13716" marB="13716" anchor="ctr">
                    <a:solidFill>
                      <a:srgbClr val="FFFFFF"/>
                    </a:solidFill>
                  </a:tcPr>
                </a:tc>
                <a:tc>
                  <a:txBody>
                    <a:bodyPr wrap="square"/>
                    <a:lstStyle/>
                    <a:p>
                      <a:pPr algn="r"/>
                      <a:r>
                        <a:rPr sz="1000" b="1">
                          <a:solidFill>
                            <a:srgbClr val="C0392B"/>
                          </a:solidFill>
                          <a:latin typeface="Segoe UI"/>
                        </a:rPr>
                        <a:t>0</a:t>
                      </a:r>
                    </a:p>
                  </a:txBody>
                  <a:tcPr marL="82296" marR="82296" marT="13716" marB="13716" anchor="ctr">
                    <a:solidFill>
                      <a:srgbClr val="FFFFFF"/>
                    </a:solidFill>
                  </a:tcPr>
                </a:tc>
                <a:tc>
                  <a:txBody>
                    <a:bodyPr wrap="square"/>
                    <a:lstStyle/>
                    <a:p>
                      <a:pPr algn="r"/>
                      <a:r>
                        <a:rPr sz="1000" b="1">
                          <a:solidFill>
                            <a:srgbClr val="1E7A45"/>
                          </a:solidFill>
                          <a:latin typeface="Segoe UI"/>
                        </a:rPr>
                        <a:t>54</a:t>
                      </a:r>
                    </a:p>
                  </a:txBody>
                  <a:tcPr marL="82296" marR="82296" marT="13716" marB="13716" anchor="ctr">
                    <a:solidFill>
                      <a:srgbClr val="FFFFFF"/>
                    </a:solidFill>
                  </a:tcPr>
                </a:tc>
              </a:tr>
              <a:tr h="365760">
                <a:tc>
                  <a:txBody>
                    <a:bodyPr wrap="square"/>
                    <a:lstStyle/>
                    <a:p>
                      <a:pPr algn="l"/>
                      <a:r>
                        <a:rPr sz="1000" b="0">
                          <a:solidFill>
                            <a:srgbClr val="2A3441"/>
                          </a:solidFill>
                          <a:latin typeface="Segoe UI"/>
                        </a:rPr>
                        <a:t>Missed by both</a:t>
                      </a:r>
                    </a:p>
                  </a:txBody>
                  <a:tcPr marL="82296" marR="82296" marT="13716" marB="13716" anchor="ctr">
                    <a:solidFill>
                      <a:srgbClr val="F4F7FB"/>
                    </a:solidFill>
                  </a:tcPr>
                </a:tc>
                <a:tc>
                  <a:txBody>
                    <a:bodyPr wrap="square"/>
                    <a:lstStyle/>
                    <a:p>
                      <a:pPr algn="r"/>
                      <a:r>
                        <a:rPr sz="1000" b="0">
                          <a:solidFill>
                            <a:srgbClr val="2A3441"/>
                          </a:solidFill>
                          <a:latin typeface="Segoe UI"/>
                        </a:rPr>
                        <a:t>89</a:t>
                      </a:r>
                    </a:p>
                  </a:txBody>
                  <a:tcPr marL="82296" marR="82296" marT="13716" marB="13716" anchor="ctr">
                    <a:solidFill>
                      <a:srgbClr val="F4F7FB"/>
                    </a:solidFill>
                  </a:tcPr>
                </a:tc>
                <a:tc>
                  <a:txBody>
                    <a:bodyPr wrap="square"/>
                    <a:lstStyle/>
                    <a:p>
                      <a:pPr algn="r"/>
                      <a:r>
                        <a:rPr sz="1000" b="0">
                          <a:solidFill>
                            <a:srgbClr val="2A3441"/>
                          </a:solidFill>
                          <a:latin typeface="Segoe UI"/>
                        </a:rPr>
                        <a:t>6</a:t>
                      </a:r>
                    </a:p>
                  </a:txBody>
                  <a:tcPr marL="82296" marR="82296" marT="13716" marB="13716" anchor="ctr">
                    <a:solidFill>
                      <a:srgbClr val="F4F7FB"/>
                    </a:solidFill>
                  </a:tcPr>
                </a:tc>
              </a:tr>
            </a:tbl>
          </a:graphicData>
        </a:graphic>
      </p:graphicFrame>
      <p:sp>
        <p:nvSpPr>
          <p:cNvPr id="10" name="TextBox 9"/>
          <p:cNvSpPr txBox="1"/>
          <p:nvPr/>
        </p:nvSpPr>
        <p:spPr>
          <a:xfrm>
            <a:off x="6001006" y="2139696"/>
            <a:ext cx="5623761" cy="3657600"/>
          </a:xfrm>
          <a:prstGeom prst="rect">
            <a:avLst/>
          </a:prstGeom>
          <a:noFill/>
        </p:spPr>
        <p:txBody>
          <a:bodyPr wrap="square" anchor="t" lIns="0" rIns="0" tIns="0" bIns="0">
            <a:spAutoFit/>
          </a:bodyPr>
          <a:lstStyle/>
          <a:p>
            <a:pPr algn="l">
              <a:spcBef>
                <a:spcPts val="0"/>
              </a:spcBef>
              <a:spcAft>
                <a:spcPts val="500"/>
              </a:spcAft>
            </a:pPr>
            <a:r>
              <a:rPr sz="950" b="1" i="0">
                <a:solidFill>
                  <a:srgbClr val="1F6FEB"/>
                </a:solidFill>
                <a:latin typeface="Segoe UI"/>
              </a:rPr>
              <a:t>TWO CLAIMS WITHDRAWN</a:t>
            </a:r>
          </a:p>
          <a:p>
            <a:pPr algn="l">
              <a:lnSpc>
                <a:spcPct val="120000"/>
              </a:lnSpc>
              <a:spcBef>
                <a:spcPts val="0"/>
              </a:spcBef>
              <a:spcAft>
                <a:spcPts val="900"/>
              </a:spcAft>
            </a:pPr>
            <a:r>
              <a:rPr sz="1050" b="0" i="0">
                <a:solidFill>
                  <a:srgbClr val="2A3441"/>
                </a:solidFill>
                <a:latin typeface="Segoe UI"/>
              </a:rPr>
              <a:t>“The detectors are complementary.”  Withdrawn: unique signature coverage is exactly zero on the corrected data.</a:t>
            </a:r>
          </a:p>
          <a:p>
            <a:pPr algn="l">
              <a:lnSpc>
                <a:spcPct val="120000"/>
              </a:lnSpc>
              <a:spcBef>
                <a:spcPts val="0"/>
              </a:spcBef>
              <a:spcAft>
                <a:spcPts val="900"/>
              </a:spcAft>
            </a:pPr>
            <a:r>
              <a:rPr sz="1050" b="0" i="0">
                <a:solidFill>
                  <a:srgbClr val="2A3441"/>
                </a:solidFill>
                <a:latin typeface="Segoe UI"/>
              </a:rPr>
              <a:t>“There is zero co-occurrence between the detectors.”  Withdrawn: agreement occurs 200 times after retuning — which is what makes the corroborated band real.</a:t>
            </a:r>
          </a:p>
          <a:p>
            <a:pPr algn="l">
              <a:lnSpc>
                <a:spcPct val="120000"/>
              </a:lnSpc>
              <a:spcBef>
                <a:spcPts val="0"/>
              </a:spcBef>
              <a:spcAft>
                <a:spcPts val="900"/>
              </a:spcAft>
            </a:pPr>
            <a:r>
              <a:rPr sz="1050" b="0" i="0">
                <a:solidFill>
                  <a:srgbClr val="2A3441"/>
                </a:solidFill>
                <a:latin typeface="Segoe UI"/>
              </a:rPr>
              <a:t>Signature precision and recall did improve — 0.533 → 0.871 and 0.016 → 0.054 — which is why the layer was kept rather than discarded.</a:t>
            </a:r>
          </a:p>
          <a:p>
            <a:pPr algn="l">
              <a:lnSpc>
                <a:spcPct val="120000"/>
              </a:lnSpc>
              <a:spcBef>
                <a:spcPts val="0"/>
              </a:spcBef>
              <a:spcAft>
                <a:spcPts val="0"/>
              </a:spcAft>
            </a:pPr>
            <a:r>
              <a:rPr sz="1050" b="1" i="0">
                <a:solidFill>
                  <a:srgbClr val="0F2A47"/>
                </a:solidFill>
                <a:latin typeface="Segoe UI"/>
              </a:rPr>
              <a:t>Cause, stated plainly: the new model is far stronger, not the rules. The old 6-class model was trained on mislabelled data and called SSH brute force “Benign” at 0.78 confidence. A strong classifier subsumes weak rules.</a:t>
            </a:r>
          </a:p>
        </p:txBody>
      </p:sp>
      <p:sp>
        <p:nvSpPr>
          <p:cNvPr id="11" name="Rectangle 10"/>
          <p:cNvSpPr/>
          <p:nvPr/>
        </p:nvSpPr>
        <p:spPr>
          <a:xfrm>
            <a:off x="566928" y="4407408"/>
            <a:ext cx="11057839" cy="1609344"/>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 y="4517136"/>
            <a:ext cx="10618927" cy="1371600"/>
          </a:xfrm>
          <a:prstGeom prst="rect">
            <a:avLst/>
          </a:prstGeom>
          <a:noFill/>
        </p:spPr>
        <p:txBody>
          <a:bodyPr wrap="square" anchor="t" lIns="0" rIns="0" tIns="0" bIns="0">
            <a:spAutoFit/>
          </a:bodyPr>
          <a:lstStyle/>
          <a:p>
            <a:pPr algn="l">
              <a:spcBef>
                <a:spcPts val="0"/>
              </a:spcBef>
              <a:spcAft>
                <a:spcPts val="600"/>
              </a:spcAft>
            </a:pPr>
            <a:r>
              <a:rPr sz="1250" b="1" i="0">
                <a:solidFill>
                  <a:srgbClr val="0F2A47"/>
                </a:solidFill>
                <a:latin typeface="Segoe UI"/>
              </a:rPr>
              <a:t>Why this is the most valuable notebook in the project</a:t>
            </a:r>
          </a:p>
        </p:txBody>
      </p:sp>
      <p:sp>
        <p:nvSpPr>
          <p:cNvPr id="13" name="TextBox 12"/>
          <p:cNvSpPr txBox="1"/>
          <p:nvPr/>
        </p:nvSpPr>
        <p:spPr>
          <a:xfrm>
            <a:off x="786384" y="4864608"/>
            <a:ext cx="10618927" cy="1097280"/>
          </a:xfrm>
          <a:prstGeom prst="rect">
            <a:avLst/>
          </a:prstGeom>
          <a:noFill/>
        </p:spPr>
        <p:txBody>
          <a:bodyPr wrap="square" anchor="t" lIns="0" rIns="0" tIns="0" bIns="0">
            <a:spAutoFit/>
          </a:bodyPr>
          <a:lstStyle/>
          <a:p>
            <a:pPr algn="l">
              <a:lnSpc>
                <a:spcPct val="118000"/>
              </a:lnSpc>
              <a:spcBef>
                <a:spcPts val="0"/>
              </a:spcBef>
              <a:spcAft>
                <a:spcPts val="400"/>
              </a:spcAft>
            </a:pPr>
            <a:r>
              <a:rPr sz="1000" b="0" i="0">
                <a:solidFill>
                  <a:srgbClr val="2A3441"/>
                </a:solidFill>
                <a:latin typeface="Segoe UI"/>
              </a:rPr>
              <a:t>It was found before anything was built on top of it. Every claim reversed here would otherwise have been reversed later, after being depended on.</a:t>
            </a:r>
          </a:p>
          <a:p>
            <a:pPr algn="l">
              <a:lnSpc>
                <a:spcPct val="118000"/>
              </a:lnSpc>
              <a:spcBef>
                <a:spcPts val="0"/>
              </a:spcBef>
              <a:spcAft>
                <a:spcPts val="400"/>
              </a:spcAft>
            </a:pPr>
            <a:r>
              <a:rPr sz="1000" b="0" i="0">
                <a:solidFill>
                  <a:srgbClr val="2A3441"/>
                </a:solidFill>
                <a:latin typeface="Segoe UI"/>
              </a:rPr>
              <a:t>It is recorded rather than erased: notebooks 01 to 03 still exist, carry supersession banners, and are kept as the research record.</a:t>
            </a:r>
          </a:p>
          <a:p>
            <a:pPr algn="l">
              <a:lnSpc>
                <a:spcPct val="118000"/>
              </a:lnSpc>
              <a:spcBef>
                <a:spcPts val="0"/>
              </a:spcBef>
              <a:spcAft>
                <a:spcPts val="400"/>
              </a:spcAft>
            </a:pPr>
            <a:r>
              <a:rPr sz="1000" b="0" i="0">
                <a:solidFill>
                  <a:srgbClr val="2A3441"/>
                </a:solidFill>
                <a:latin typeface="Segoe UI"/>
              </a:rPr>
              <a:t>It also records a process error honestly — the earlier redesign was built on the uncorrected sample while a corrected one was known to be pending. Empirical premises must be settled on final data before a design is committed to.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8-class model, and the objection we tested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25</a:t>
            </a:r>
          </a:p>
        </p:txBody>
      </p:sp>
      <p:graphicFrame>
        <p:nvGraphicFramePr>
          <p:cNvPr id="8" name="Table 7"/>
          <p:cNvGraphicFramePr>
            <a:graphicFrameLocks noGrp="1"/>
          </p:cNvGraphicFramePr>
          <p:nvPr/>
        </p:nvGraphicFramePr>
        <p:xfrm>
          <a:off x="566928" y="1517904"/>
          <a:ext cx="4617720" cy="2743200"/>
        </p:xfrm>
        <a:graphic>
          <a:graphicData uri="http://schemas.openxmlformats.org/drawingml/2006/table">
            <a:tbl>
              <a:tblPr firstRow="0" bandRow="0"/>
              <a:tblGrid>
                <a:gridCol w="1508760"/>
                <a:gridCol w="777240"/>
                <a:gridCol w="713232"/>
                <a:gridCol w="713232"/>
                <a:gridCol w="905256"/>
              </a:tblGrid>
              <a:tr h="292608">
                <a:tc>
                  <a:txBody>
                    <a:bodyPr wrap="square"/>
                    <a:lstStyle/>
                    <a:p>
                      <a:pPr algn="l"/>
                      <a:r>
                        <a:rPr sz="900" b="1">
                          <a:solidFill>
                            <a:srgbClr val="FFFFFF"/>
                          </a:solidFill>
                          <a:latin typeface="Segoe UI"/>
                        </a:rPr>
                        <a:t>Class</a:t>
                      </a:r>
                    </a:p>
                  </a:txBody>
                  <a:tcPr marL="82296" marR="82296" marT="13716" marB="13716" anchor="ctr">
                    <a:solidFill>
                      <a:srgbClr val="0F2A47"/>
                    </a:solidFill>
                  </a:tcPr>
                </a:tc>
                <a:tc>
                  <a:txBody>
                    <a:bodyPr wrap="square"/>
                    <a:lstStyle/>
                    <a:p>
                      <a:pPr algn="r"/>
                      <a:r>
                        <a:rPr sz="900" b="1">
                          <a:solidFill>
                            <a:srgbClr val="FFFFFF"/>
                          </a:solidFill>
                          <a:latin typeface="Segoe UI"/>
                        </a:rPr>
                        <a:t>Precision</a:t>
                      </a:r>
                    </a:p>
                  </a:txBody>
                  <a:tcPr marL="82296" marR="82296" marT="13716" marB="13716" anchor="ctr">
                    <a:solidFill>
                      <a:srgbClr val="0F2A47"/>
                    </a:solidFill>
                  </a:tcPr>
                </a:tc>
                <a:tc>
                  <a:txBody>
                    <a:bodyPr wrap="square"/>
                    <a:lstStyle/>
                    <a:p>
                      <a:pPr algn="r"/>
                      <a:r>
                        <a:rPr sz="900" b="1">
                          <a:solidFill>
                            <a:srgbClr val="FFFFFF"/>
                          </a:solidFill>
                          <a:latin typeface="Segoe UI"/>
                        </a:rPr>
                        <a:t>Recall</a:t>
                      </a:r>
                    </a:p>
                  </a:txBody>
                  <a:tcPr marL="82296" marR="82296" marT="13716" marB="13716" anchor="ctr">
                    <a:solidFill>
                      <a:srgbClr val="0F2A47"/>
                    </a:solidFill>
                  </a:tcPr>
                </a:tc>
                <a:tc>
                  <a:txBody>
                    <a:bodyPr wrap="square"/>
                    <a:lstStyle/>
                    <a:p>
                      <a:pPr algn="r"/>
                      <a:r>
                        <a:rPr sz="900" b="1">
                          <a:solidFill>
                            <a:srgbClr val="FFFFFF"/>
                          </a:solidFill>
                          <a:latin typeface="Segoe UI"/>
                        </a:rPr>
                        <a:t>F1</a:t>
                      </a:r>
                    </a:p>
                  </a:txBody>
                  <a:tcPr marL="82296" marR="82296" marT="13716" marB="13716" anchor="ctr">
                    <a:solidFill>
                      <a:srgbClr val="0F2A47"/>
                    </a:solidFill>
                  </a:tcPr>
                </a:tc>
                <a:tc>
                  <a:txBody>
                    <a:bodyPr wrap="square"/>
                    <a:lstStyle/>
                    <a:p>
                      <a:pPr algn="r"/>
                      <a:r>
                        <a:rPr sz="900" b="1">
                          <a:solidFill>
                            <a:srgbClr val="FFFFFF"/>
                          </a:solidFill>
                          <a:latin typeface="Segoe UI"/>
                        </a:rPr>
                        <a:t>Support</a:t>
                      </a:r>
                    </a:p>
                  </a:txBody>
                  <a:tcPr marL="82296" marR="82296" marT="13716" marB="13716" anchor="ctr">
                    <a:solidFill>
                      <a:srgbClr val="0F2A47"/>
                    </a:solidFill>
                  </a:tcPr>
                </a:tc>
              </a:tr>
              <a:tr h="306324">
                <a:tc>
                  <a:txBody>
                    <a:bodyPr wrap="square"/>
                    <a:lstStyle/>
                    <a:p>
                      <a:pPr algn="l"/>
                      <a:r>
                        <a:rPr sz="930" b="0">
                          <a:solidFill>
                            <a:srgbClr val="2A3441"/>
                          </a:solidFill>
                          <a:latin typeface="Segoe UI"/>
                        </a:rPr>
                        <a:t>Benign</a:t>
                      </a:r>
                    </a:p>
                  </a:txBody>
                  <a:tcPr marL="82296" marR="82296" marT="13716" marB="13716" anchor="ctr">
                    <a:solidFill>
                      <a:srgbClr val="FFFFFF"/>
                    </a:solidFill>
                  </a:tcPr>
                </a:tc>
                <a:tc>
                  <a:txBody>
                    <a:bodyPr wrap="square"/>
                    <a:lstStyle/>
                    <a:p>
                      <a:pPr algn="r"/>
                      <a:r>
                        <a:rPr sz="930" b="0">
                          <a:solidFill>
                            <a:srgbClr val="2A3441"/>
                          </a:solidFill>
                          <a:latin typeface="Segoe UI"/>
                        </a:rPr>
                        <a:t>0.999</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20,000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Botnet</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6,000</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Brute Force</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6,000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DDoS</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6,000</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DoS</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6,000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Infiltration</a:t>
                      </a:r>
                    </a:p>
                  </a:txBody>
                  <a:tcPr marL="82296" marR="82296" marT="13716" marB="13716" anchor="ctr">
                    <a:solidFill>
                      <a:srgbClr val="F4F7FB"/>
                    </a:solidFill>
                  </a:tcPr>
                </a:tc>
                <a:tc>
                  <a:txBody>
                    <a:bodyPr wrap="square"/>
                    <a:lstStyle/>
                    <a:p>
                      <a:pPr algn="r"/>
                      <a:r>
                        <a:rPr sz="930" b="0">
                          <a:solidFill>
                            <a:srgbClr val="2A3441"/>
                          </a:solidFill>
                          <a:latin typeface="Segoe UI"/>
                        </a:rPr>
                        <a:t>0.979</a:t>
                      </a:r>
                    </a:p>
                  </a:txBody>
                  <a:tcPr marL="82296" marR="82296" marT="13716" marB="13716" anchor="ctr">
                    <a:solidFill>
                      <a:srgbClr val="F4F7FB"/>
                    </a:solidFill>
                  </a:tcPr>
                </a:tc>
                <a:tc>
                  <a:txBody>
                    <a:bodyPr wrap="square"/>
                    <a:lstStyle/>
                    <a:p>
                      <a:pPr algn="r"/>
                      <a:r>
                        <a:rPr sz="930" b="0">
                          <a:solidFill>
                            <a:srgbClr val="2A3441"/>
                          </a:solidFill>
                          <a:latin typeface="Segoe UI"/>
                        </a:rPr>
                        <a:t>0.855</a:t>
                      </a:r>
                    </a:p>
                  </a:txBody>
                  <a:tcPr marL="82296" marR="82296" marT="13716" marB="13716" anchor="ctr">
                    <a:solidFill>
                      <a:srgbClr val="F4F7FB"/>
                    </a:solidFill>
                  </a:tcPr>
                </a:tc>
                <a:tc>
                  <a:txBody>
                    <a:bodyPr wrap="square"/>
                    <a:lstStyle/>
                    <a:p>
                      <a:pPr algn="r"/>
                      <a:r>
                        <a:rPr sz="930" b="1">
                          <a:solidFill>
                            <a:srgbClr val="B06A00"/>
                          </a:solidFill>
                          <a:latin typeface="Segoe UI"/>
                        </a:rPr>
                        <a:t>0.913</a:t>
                      </a:r>
                    </a:p>
                  </a:txBody>
                  <a:tcPr marL="82296" marR="82296" marT="13716" marB="13716" anchor="ctr">
                    <a:solidFill>
                      <a:srgbClr val="F4F7FB"/>
                    </a:solidFill>
                  </a:tcPr>
                </a:tc>
                <a:tc>
                  <a:txBody>
                    <a:bodyPr wrap="square"/>
                    <a:lstStyle/>
                    <a:p>
                      <a:pPr algn="r"/>
                      <a:r>
                        <a:rPr sz="930" b="0">
                          <a:solidFill>
                            <a:srgbClr val="2A3441"/>
                          </a:solidFill>
                          <a:latin typeface="Segoe UI"/>
                        </a:rPr>
                        <a:t>55</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Port Scan</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6,000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Web Attack</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0.987</a:t>
                      </a:r>
                    </a:p>
                  </a:txBody>
                  <a:tcPr marL="82296" marR="82296" marT="13716" marB="13716" anchor="ctr">
                    <a:solidFill>
                      <a:srgbClr val="F4F7FB"/>
                    </a:solidFill>
                  </a:tcPr>
                </a:tc>
                <a:tc>
                  <a:txBody>
                    <a:bodyPr wrap="square"/>
                    <a:lstStyle/>
                    <a:p>
                      <a:pPr algn="r"/>
                      <a:r>
                        <a:rPr sz="930" b="0">
                          <a:solidFill>
                            <a:srgbClr val="2A3441"/>
                          </a:solidFill>
                          <a:latin typeface="Segoe UI"/>
                        </a:rPr>
                        <a:t>0.993</a:t>
                      </a:r>
                    </a:p>
                  </a:txBody>
                  <a:tcPr marL="82296" marR="82296" marT="13716" marB="13716" anchor="ctr">
                    <a:solidFill>
                      <a:srgbClr val="F4F7FB"/>
                    </a:solidFill>
                  </a:tcPr>
                </a:tc>
                <a:tc>
                  <a:txBody>
                    <a:bodyPr wrap="square"/>
                    <a:lstStyle/>
                    <a:p>
                      <a:pPr algn="r"/>
                      <a:r>
                        <a:rPr sz="930" b="0">
                          <a:solidFill>
                            <a:srgbClr val="2A3441"/>
                          </a:solidFill>
                          <a:latin typeface="Segoe UI"/>
                        </a:rPr>
                        <a:t>76</a:t>
                      </a:r>
                    </a:p>
                  </a:txBody>
                  <a:tcPr marL="82296" marR="82296" marT="13716" marB="13716" anchor="ctr">
                    <a:solidFill>
                      <a:srgbClr val="F4F7FB"/>
                    </a:solidFill>
                  </a:tcPr>
                </a:tc>
              </a:tr>
            </a:tbl>
          </a:graphicData>
        </a:graphic>
      </p:graphicFrame>
      <p:sp>
        <p:nvSpPr>
          <p:cNvPr id="9" name="TextBox 8"/>
          <p:cNvSpPr txBox="1"/>
          <p:nvPr/>
        </p:nvSpPr>
        <p:spPr>
          <a:xfrm>
            <a:off x="5458968" y="1517904"/>
            <a:ext cx="6165799" cy="365760"/>
          </a:xfrm>
          <a:prstGeom prst="rect">
            <a:avLst/>
          </a:prstGeom>
          <a:noFill/>
        </p:spPr>
        <p:txBody>
          <a:bodyPr wrap="square" anchor="t" lIns="0" rIns="0" tIns="0" bIns="0">
            <a:spAutoFit/>
          </a:bodyPr>
          <a:lstStyle/>
          <a:p>
            <a:pPr algn="l">
              <a:spcBef>
                <a:spcPts val="0"/>
              </a:spcBef>
              <a:spcAft>
                <a:spcPts val="200"/>
              </a:spcAft>
            </a:pPr>
            <a:r>
              <a:rPr sz="1300" b="1" i="0">
                <a:solidFill>
                  <a:srgbClr val="0F2A47"/>
                </a:solidFill>
                <a:latin typeface="Segoe UI"/>
              </a:rPr>
              <a:t>macro F1 0.9882  ·  weighted F1 0.9997</a:t>
            </a:r>
          </a:p>
          <a:p>
            <a:pPr algn="l">
              <a:spcBef>
                <a:spcPts val="0"/>
              </a:spcBef>
              <a:spcAft>
                <a:spcPts val="1200"/>
              </a:spcAft>
            </a:pPr>
            <a:r>
              <a:rPr sz="980" b="0" i="0">
                <a:solidFill>
                  <a:srgbClr val="6B7684"/>
                </a:solidFill>
                <a:latin typeface="Segoe UI"/>
              </a:rPr>
              <a:t>82 features · trained on 200,524 rows · validated on 50,131 held-out rows</a:t>
            </a:r>
          </a:p>
          <a:p>
            <a:pPr algn="l">
              <a:spcBef>
                <a:spcPts val="0"/>
              </a:spcBef>
              <a:spcAft>
                <a:spcPts val="600"/>
              </a:spcAft>
            </a:pPr>
            <a:r>
              <a:rPr sz="950" b="1" i="0">
                <a:solidFill>
                  <a:srgbClr val="1F6FEB"/>
                </a:solidFill>
                <a:latin typeface="Segoe UI"/>
              </a:rPr>
              <a:t>TESTING THE OBVIOUS OBJECTION: IS THIS LEAKAGE?</a:t>
            </a:r>
          </a:p>
          <a:p>
            <a:pPr algn="l">
              <a:lnSpc>
                <a:spcPct val="122000"/>
              </a:lnSpc>
              <a:spcBef>
                <a:spcPts val="0"/>
              </a:spcBef>
              <a:spcAft>
                <a:spcPts val="800"/>
              </a:spcAft>
            </a:pPr>
            <a:r>
              <a:rPr sz="1019" b="0" i="0">
                <a:solidFill>
                  <a:srgbClr val="2A3441"/>
                </a:solidFill>
                <a:latin typeface="Segoe UI"/>
              </a:rPr>
              <a:t>Every attack class in this testbed targets a fixed port — Botnet 100% on 8080, DoS, DDoS and Web Attack 100% on port 80. A majority-class-per-port lookup alone reaches about 83% accuracy, so port reading was the obvious explanation.</a:t>
            </a:r>
          </a:p>
          <a:p>
            <a:pPr algn="l">
              <a:lnSpc>
                <a:spcPct val="122000"/>
              </a:lnSpc>
              <a:spcBef>
                <a:spcPts val="0"/>
              </a:spcBef>
              <a:spcAft>
                <a:spcPts val="800"/>
              </a:spcAft>
            </a:pPr>
            <a:r>
              <a:rPr sz="1019" b="1">
                <a:solidFill>
                  <a:srgbClr val="0F2A47"/>
                </a:solidFill>
                <a:latin typeface="Segoe UI"/>
              </a:rPr>
              <a:t>The hypothesis was tested by ablation and rejected. </a:t>
            </a:r>
            <a:r>
              <a:rPr sz="1019" b="0">
                <a:solidFill>
                  <a:srgbClr val="2A3441"/>
                </a:solidFill>
                <a:latin typeface="Segoe UI"/>
              </a:rPr>
              <a:t>Removing Dst Port and Protocol together costs only −0.0011 macro F1: 0.9882 → 0.9870.</a:t>
            </a:r>
          </a:p>
          <a:p>
            <a:pPr algn="l">
              <a:lnSpc>
                <a:spcPct val="122000"/>
              </a:lnSpc>
              <a:spcBef>
                <a:spcPts val="0"/>
              </a:spcBef>
              <a:spcAft>
                <a:spcPts val="800"/>
              </a:spcAft>
            </a:pPr>
            <a:r>
              <a:rPr sz="1019" b="0">
                <a:solidFill>
                  <a:srgbClr val="2A3441"/>
                </a:solidFill>
                <a:latin typeface="Segoe UI"/>
              </a:rPr>
              <a:t>The real cause is less flattering to the dataset than to the model: </a:t>
            </a:r>
            <a:r>
              <a:rPr sz="1019" b="1">
                <a:solidFill>
                  <a:srgbClr val="C0392B"/>
                </a:solidFill>
                <a:latin typeface="Segoe UI"/>
              </a:rPr>
              <a:t>each attack class was generated by a single tool with fixed configuration, so every class carries a near-constant flow fingerprint.</a:t>
            </a:r>
          </a:p>
        </p:txBody>
      </p:sp>
      <p:sp>
        <p:nvSpPr>
          <p:cNvPr id="10" name="Rectangle 9"/>
          <p:cNvSpPr/>
          <p:nvPr/>
        </p:nvSpPr>
        <p:spPr>
          <a:xfrm>
            <a:off x="5458968" y="4846320"/>
            <a:ext cx="6165799" cy="1097280"/>
          </a:xfrm>
          <a:prstGeom prst="rect">
            <a:avLst/>
          </a:prstGeom>
          <a:solidFill>
            <a:srgbClr val="FDECEA"/>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23559" y="4956048"/>
            <a:ext cx="5836615" cy="896112"/>
          </a:xfrm>
          <a:prstGeom prst="rect">
            <a:avLst/>
          </a:prstGeom>
          <a:noFill/>
        </p:spPr>
        <p:txBody>
          <a:bodyPr wrap="square" anchor="t" lIns="0" rIns="0" tIns="0" bIns="0">
            <a:spAutoFit/>
          </a:bodyPr>
          <a:lstStyle/>
          <a:p>
            <a:pPr algn="l">
              <a:spcBef>
                <a:spcPts val="0"/>
              </a:spcBef>
              <a:spcAft>
                <a:spcPts val="300"/>
              </a:spcAft>
            </a:pPr>
            <a:r>
              <a:rPr sz="1080" b="1" i="0">
                <a:solidFill>
                  <a:srgbClr val="C0392B"/>
                </a:solidFill>
                <a:latin typeface="Segoe UI"/>
              </a:rPr>
              <a:t>Read this before quoting any model score</a:t>
            </a:r>
          </a:p>
          <a:p>
            <a:pPr algn="l">
              <a:lnSpc>
                <a:spcPct val="118000"/>
              </a:lnSpc>
              <a:spcBef>
                <a:spcPts val="0"/>
              </a:spcBef>
              <a:spcAft>
                <a:spcPts val="0"/>
              </a:spcAft>
            </a:pPr>
            <a:r>
              <a:rPr sz="960" b="0" i="0">
                <a:solidFill>
                  <a:srgbClr val="2A3441"/>
                </a:solidFill>
                <a:latin typeface="Segoe UI"/>
              </a:rPr>
              <a:t>The 0.9882 macro F1 is a property of this testbed. It is honest on this data and will not transfer to real traffic. It must never be presented as a real-world detection capability.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 AND MODEL</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strong model — two splits, one clean hold-out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The demo sample never trained it, and the held-out rows never fitted it.</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26</a:t>
            </a:r>
          </a:p>
        </p:txBody>
      </p:sp>
      <p:sp>
        <p:nvSpPr>
          <p:cNvPr id="9" name="Rectangle 8"/>
          <p:cNvSpPr/>
          <p:nvPr/>
        </p:nvSpPr>
        <p:spPr>
          <a:xfrm>
            <a:off x="566928"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73936"/>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4944"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250,655</a:t>
            </a:r>
          </a:p>
          <a:p>
            <a:pPr algn="ctr">
              <a:lnSpc>
                <a:spcPct val="112000"/>
              </a:lnSpc>
              <a:spcBef>
                <a:spcPts val="0"/>
              </a:spcBef>
              <a:spcAft>
                <a:spcPts val="0"/>
              </a:spcAft>
            </a:pPr>
            <a:r>
              <a:rPr sz="950" b="0" i="0">
                <a:solidFill>
                  <a:srgbClr val="6B7684"/>
                </a:solidFill>
                <a:latin typeface="Segoe UI"/>
              </a:rPr>
              <a:t>rows in the training sample</a:t>
            </a:r>
          </a:p>
        </p:txBody>
      </p:sp>
      <p:sp>
        <p:nvSpPr>
          <p:cNvPr id="12" name="Rectangle 11"/>
          <p:cNvSpPr/>
          <p:nvPr/>
        </p:nvSpPr>
        <p:spPr>
          <a:xfrm>
            <a:off x="2818729"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818729" y="1773936"/>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46745"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200,524</a:t>
            </a:r>
          </a:p>
          <a:p>
            <a:pPr algn="ctr">
              <a:lnSpc>
                <a:spcPct val="112000"/>
              </a:lnSpc>
              <a:spcBef>
                <a:spcPts val="0"/>
              </a:spcBef>
              <a:spcAft>
                <a:spcPts val="0"/>
              </a:spcAft>
            </a:pPr>
            <a:r>
              <a:rPr sz="950" b="0" i="0">
                <a:solidFill>
                  <a:srgbClr val="6B7684"/>
                </a:solidFill>
                <a:latin typeface="Segoe UI"/>
              </a:rPr>
              <a:t>rows the model fitted on</a:t>
            </a:r>
          </a:p>
        </p:txBody>
      </p:sp>
      <p:sp>
        <p:nvSpPr>
          <p:cNvPr id="15" name="Rectangle 14"/>
          <p:cNvSpPr/>
          <p:nvPr/>
        </p:nvSpPr>
        <p:spPr>
          <a:xfrm>
            <a:off x="5070530"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70530" y="1773936"/>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198546"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50,131</a:t>
            </a:r>
          </a:p>
          <a:p>
            <a:pPr algn="ctr">
              <a:lnSpc>
                <a:spcPct val="112000"/>
              </a:lnSpc>
              <a:spcBef>
                <a:spcPts val="0"/>
              </a:spcBef>
              <a:spcAft>
                <a:spcPts val="0"/>
              </a:spcAft>
            </a:pPr>
            <a:r>
              <a:rPr sz="950" b="0" i="0">
                <a:solidFill>
                  <a:srgbClr val="6B7684"/>
                </a:solidFill>
                <a:latin typeface="Segoe UI"/>
              </a:rPr>
              <a:t>held-out rows it never saw</a:t>
            </a:r>
          </a:p>
        </p:txBody>
      </p:sp>
      <p:sp>
        <p:nvSpPr>
          <p:cNvPr id="18" name="Rectangle 17"/>
          <p:cNvSpPr/>
          <p:nvPr/>
        </p:nvSpPr>
        <p:spPr>
          <a:xfrm>
            <a:off x="7322332"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322332" y="1773936"/>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450348"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82</a:t>
            </a:r>
          </a:p>
          <a:p>
            <a:pPr algn="ctr">
              <a:lnSpc>
                <a:spcPct val="112000"/>
              </a:lnSpc>
              <a:spcBef>
                <a:spcPts val="0"/>
              </a:spcBef>
              <a:spcAft>
                <a:spcPts val="0"/>
              </a:spcAft>
            </a:pPr>
            <a:r>
              <a:rPr sz="950" b="0" i="0">
                <a:solidFill>
                  <a:srgbClr val="6B7684"/>
                </a:solidFill>
                <a:latin typeface="Segoe UI"/>
              </a:rPr>
              <a:t>features, from 91 columns</a:t>
            </a:r>
          </a:p>
        </p:txBody>
      </p:sp>
      <p:sp>
        <p:nvSpPr>
          <p:cNvPr id="21" name="Rectangle 20"/>
          <p:cNvSpPr/>
          <p:nvPr/>
        </p:nvSpPr>
        <p:spPr>
          <a:xfrm>
            <a:off x="9574133"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574133" y="1773936"/>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02149"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8</a:t>
            </a:r>
          </a:p>
          <a:p>
            <a:pPr algn="ctr">
              <a:lnSpc>
                <a:spcPct val="112000"/>
              </a:lnSpc>
              <a:spcBef>
                <a:spcPts val="0"/>
              </a:spcBef>
              <a:spcAft>
                <a:spcPts val="0"/>
              </a:spcAft>
            </a:pPr>
            <a:r>
              <a:rPr sz="950" b="0" i="0">
                <a:solidFill>
                  <a:srgbClr val="6B7684"/>
                </a:solidFill>
                <a:latin typeface="Segoe UI"/>
              </a:rPr>
              <a:t>classes it can emit</a:t>
            </a:r>
          </a:p>
        </p:txBody>
      </p:sp>
      <p:sp>
        <p:nvSpPr>
          <p:cNvPr id="24" name="Rectangle 23"/>
          <p:cNvSpPr/>
          <p:nvPr/>
        </p:nvSpPr>
        <p:spPr>
          <a:xfrm>
            <a:off x="566928" y="2944368"/>
            <a:ext cx="5419191" cy="11887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2944368"/>
            <a:ext cx="50292" cy="1188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9808" y="3054096"/>
            <a:ext cx="5108295" cy="987552"/>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Split 1 — between the two samples (Q20)</a:t>
            </a:r>
          </a:p>
          <a:p>
            <a:pPr algn="l">
              <a:lnSpc>
                <a:spcPct val="120000"/>
              </a:lnSpc>
              <a:spcBef>
                <a:spcPts val="0"/>
              </a:spcBef>
              <a:spcAft>
                <a:spcPts val="0"/>
              </a:spcAft>
            </a:pPr>
            <a:r>
              <a:rPr sz="1000" b="0" i="0">
                <a:solidFill>
                  <a:srgbClr val="2A3441"/>
                </a:solidFill>
                <a:latin typeface="Segoe UI"/>
              </a:rPr>
              <a:t>train_sample.csv holds 250,655 rows for training; demo_sample.csv holds 5,000 for the demo. The two files are disjoint, drawn with seed 20260911, and asserted free of overlap — so the demo can never be a memorisation test.</a:t>
            </a:r>
          </a:p>
        </p:txBody>
      </p:sp>
      <p:sp>
        <p:nvSpPr>
          <p:cNvPr id="27" name="Rectangle 26"/>
          <p:cNvSpPr/>
          <p:nvPr/>
        </p:nvSpPr>
        <p:spPr>
          <a:xfrm>
            <a:off x="6205575" y="2944368"/>
            <a:ext cx="5419191" cy="11887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05575" y="2944368"/>
            <a:ext cx="50292" cy="1188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88455" y="3054096"/>
            <a:ext cx="5108295" cy="987552"/>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Split 2 — the model's own hold-out</a:t>
            </a:r>
          </a:p>
          <a:p>
            <a:pPr algn="l">
              <a:lnSpc>
                <a:spcPct val="120000"/>
              </a:lnSpc>
              <a:spcBef>
                <a:spcPts val="0"/>
              </a:spcBef>
              <a:spcAft>
                <a:spcPts val="0"/>
              </a:spcAft>
            </a:pPr>
            <a:r>
              <a:rPr sz="1000" b="0" i="0">
                <a:solidFill>
                  <a:srgbClr val="2A3441"/>
                </a:solidFill>
                <a:latin typeface="Segoe UI"/>
              </a:rPr>
              <a:t>Inside the training sample the model fitted on 200,524 rows and was tested on 50,131 it had never seen: an 80/20 stratified hold-out. Every per-class figure in this deck comes from that held-out half.</a:t>
            </a:r>
          </a:p>
        </p:txBody>
      </p:sp>
      <p:sp>
        <p:nvSpPr>
          <p:cNvPr id="30" name="Rectangle 29"/>
          <p:cNvSpPr/>
          <p:nvPr/>
        </p:nvSpPr>
        <p:spPr>
          <a:xfrm>
            <a:off x="566928" y="4224528"/>
            <a:ext cx="11057839" cy="2066543"/>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86384" y="4334256"/>
            <a:ext cx="10618927" cy="1828800"/>
          </a:xfrm>
          <a:prstGeom prst="rect">
            <a:avLst/>
          </a:prstGeom>
          <a:noFill/>
        </p:spPr>
        <p:txBody>
          <a:bodyPr wrap="square" anchor="t" lIns="0" rIns="0" tIns="0" bIns="0">
            <a:spAutoFit/>
          </a:bodyPr>
          <a:lstStyle/>
          <a:p>
            <a:pPr algn="l">
              <a:spcBef>
                <a:spcPts val="0"/>
              </a:spcBef>
              <a:spcAft>
                <a:spcPts val="500"/>
              </a:spcAft>
            </a:pPr>
            <a:r>
              <a:rPr sz="1200" b="1" i="0">
                <a:solidFill>
                  <a:srgbClr val="0F2A47"/>
                </a:solidFill>
                <a:latin typeface="Segoe UI"/>
              </a:rPr>
              <a:t>What the held-out half said</a:t>
            </a:r>
          </a:p>
        </p:txBody>
      </p:sp>
      <p:sp>
        <p:nvSpPr>
          <p:cNvPr id="32" name="TextBox 31"/>
          <p:cNvSpPr txBox="1"/>
          <p:nvPr/>
        </p:nvSpPr>
        <p:spPr>
          <a:xfrm>
            <a:off x="786384" y="4626864"/>
            <a:ext cx="10618927" cy="1572768"/>
          </a:xfrm>
          <a:prstGeom prst="rect">
            <a:avLst/>
          </a:prstGeom>
          <a:noFill/>
        </p:spPr>
        <p:txBody>
          <a:bodyPr wrap="square" anchor="t" lIns="0" rIns="0" tIns="0" bIns="0">
            <a:spAutoFit/>
          </a:bodyPr>
          <a:lstStyle/>
          <a:p>
            <a:pPr algn="l">
              <a:lnSpc>
                <a:spcPct val="118000"/>
              </a:lnSpc>
              <a:spcBef>
                <a:spcPts val="0"/>
              </a:spcBef>
              <a:spcAft>
                <a:spcPts val="500"/>
              </a:spcAft>
            </a:pPr>
            <a:r>
              <a:rPr sz="980" b="0" i="0">
                <a:solidFill>
                  <a:srgbClr val="2A3441"/>
                </a:solidFill>
                <a:latin typeface="Segoe UI"/>
              </a:rPr>
              <a:t>macro F1 0.9882 and weighted F1 0.9997, measured on 50,131 held-out rows the model never fitted on.</a:t>
            </a:r>
          </a:p>
          <a:p>
            <a:pPr algn="l">
              <a:lnSpc>
                <a:spcPct val="118000"/>
              </a:lnSpc>
              <a:spcBef>
                <a:spcPts val="0"/>
              </a:spcBef>
              <a:spcAft>
                <a:spcPts val="500"/>
              </a:spcAft>
            </a:pPr>
            <a:r>
              <a:rPr sz="980" b="0" i="0">
                <a:solidFill>
                  <a:srgbClr val="2A3441"/>
                </a:solidFill>
                <a:latin typeface="Segoe UI"/>
              </a:rPr>
              <a:t>Six of the eight classes score precision 1.000 and recall 1.000. The two that do not are the two the testbed barely contains: Infiltration 0.913 on 55 held-out rows, and Web Attack 0.993 on 76.</a:t>
            </a:r>
          </a:p>
          <a:p>
            <a:pPr algn="l">
              <a:lnSpc>
                <a:spcPct val="118000"/>
              </a:lnSpc>
              <a:spcBef>
                <a:spcPts val="0"/>
              </a:spcBef>
              <a:spcAft>
                <a:spcPts val="500"/>
              </a:spcAft>
            </a:pPr>
            <a:r>
              <a:rPr sz="980" b="0" i="0">
                <a:solidFill>
                  <a:srgbClr val="2A3441"/>
                </a:solidFill>
                <a:latin typeface="Segoe UI"/>
              </a:rPr>
              <a:t>Eleven fields are refused to the model outright — Label, attack_class, is_attempted, Attempted Category, the addresses and ports, Flow ID and Timestamp — so the answer key cannot reach a detector even by accident.</a:t>
            </a:r>
          </a:p>
          <a:p>
            <a:pPr algn="l">
              <a:lnSpc>
                <a:spcPct val="118000"/>
              </a:lnSpc>
              <a:spcBef>
                <a:spcPts val="0"/>
              </a:spcBef>
              <a:spcAft>
                <a:spcPts val="500"/>
              </a:spcAft>
            </a:pPr>
            <a:r>
              <a:rPr sz="980" b="0" i="0">
                <a:solidFill>
                  <a:srgbClr val="2A3441"/>
                </a:solidFill>
                <a:latin typeface="Segoe UI"/>
              </a:rPr>
              <a:t>Near-perfect scores were treated as an accusation: the port-shortcut hypothesis was tested by ablation and rejected, costing only −0.0011 macro F1 to remove Dst Port and Protocol.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Signature rule testing: two kept, five retired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27</a:t>
            </a:r>
          </a:p>
        </p:txBody>
      </p:sp>
      <p:graphicFrame>
        <p:nvGraphicFramePr>
          <p:cNvPr id="8" name="Table 7"/>
          <p:cNvGraphicFramePr>
            <a:graphicFrameLocks noGrp="1"/>
          </p:cNvGraphicFramePr>
          <p:nvPr/>
        </p:nvGraphicFramePr>
        <p:xfrm>
          <a:off x="566928" y="1536192"/>
          <a:ext cx="10140696" cy="2418588"/>
        </p:xfrm>
        <a:graphic>
          <a:graphicData uri="http://schemas.openxmlformats.org/drawingml/2006/table">
            <a:tbl>
              <a:tblPr firstRow="0" bandRow="0"/>
              <a:tblGrid>
                <a:gridCol w="2697480"/>
                <a:gridCol w="1417320"/>
                <a:gridCol w="1005840"/>
                <a:gridCol w="1572768"/>
                <a:gridCol w="1783080"/>
                <a:gridCol w="1664208"/>
              </a:tblGrid>
              <a:tr h="402336">
                <a:tc>
                  <a:txBody>
                    <a:bodyPr wrap="square"/>
                    <a:lstStyle/>
                    <a:p>
                      <a:pPr algn="l"/>
                      <a:r>
                        <a:rPr sz="880" b="1">
                          <a:solidFill>
                            <a:srgbClr val="FFFFFF"/>
                          </a:solidFill>
                          <a:latin typeface="Segoe UI"/>
                        </a:rPr>
                        <a:t>Rule</a:t>
                      </a:r>
                    </a:p>
                  </a:txBody>
                  <a:tcPr marL="82296" marR="82296" marT="13716" marB="13716" anchor="ctr">
                    <a:solidFill>
                      <a:srgbClr val="0F2A47"/>
                    </a:solidFill>
                  </a:tcPr>
                </a:tc>
                <a:tc>
                  <a:txBody>
                    <a:bodyPr wrap="square"/>
                    <a:lstStyle/>
                    <a:p>
                      <a:pPr algn="l"/>
                      <a:r>
                        <a:rPr sz="880" b="1">
                          <a:solidFill>
                            <a:srgbClr val="FFFFFF"/>
                          </a:solidFill>
                          <a:latin typeface="Segoe UI"/>
                        </a:rPr>
                        <a:t>Target class</a:t>
                      </a:r>
                    </a:p>
                  </a:txBody>
                  <a:tcPr marL="82296" marR="82296" marT="13716" marB="13716" anchor="ctr">
                    <a:solidFill>
                      <a:srgbClr val="0F2A47"/>
                    </a:solidFill>
                  </a:tcPr>
                </a:tc>
                <a:tc>
                  <a:txBody>
                    <a:bodyPr wrap="square"/>
                    <a:lstStyle/>
                    <a:p>
                      <a:pPr algn="r"/>
                      <a:r>
                        <a:rPr sz="880" b="1">
                          <a:solidFill>
                            <a:srgbClr val="FFFFFF"/>
                          </a:solidFill>
                          <a:latin typeface="Segoe UI"/>
                        </a:rPr>
                        <a:t>Hits now</a:t>
                      </a:r>
                    </a:p>
                  </a:txBody>
                  <a:tcPr marL="82296" marR="82296" marT="13716" marB="13716" anchor="ctr">
                    <a:solidFill>
                      <a:srgbClr val="0F2A47"/>
                    </a:solidFill>
                  </a:tcPr>
                </a:tc>
                <a:tc>
                  <a:txBody>
                    <a:bodyPr wrap="square"/>
                    <a:lstStyle/>
                    <a:p>
                      <a:pPr algn="r"/>
                      <a:r>
                        <a:rPr sz="880" b="1">
                          <a:solidFill>
                            <a:srgbClr val="FFFFFF"/>
                          </a:solidFill>
                          <a:latin typeface="Segoe UI"/>
                        </a:rPr>
                        <a:t>Reaches P ≥ 0.90</a:t>
                      </a:r>
                    </a:p>
                  </a:txBody>
                  <a:tcPr marL="82296" marR="82296" marT="13716" marB="13716" anchor="ctr">
                    <a:solidFill>
                      <a:srgbClr val="0F2A47"/>
                    </a:solidFill>
                  </a:tcPr>
                </a:tc>
                <a:tc>
                  <a:txBody>
                    <a:bodyPr wrap="square"/>
                    <a:lstStyle/>
                    <a:p>
                      <a:pPr algn="r"/>
                      <a:r>
                        <a:rPr sz="880" b="1">
                          <a:solidFill>
                            <a:srgbClr val="FFFFFF"/>
                          </a:solidFill>
                          <a:latin typeface="Segoe UI"/>
                        </a:rPr>
                        <a:t>Best precision</a:t>
                      </a:r>
                    </a:p>
                  </a:txBody>
                  <a:tcPr marL="82296" marR="82296" marT="13716" marB="13716" anchor="ctr">
                    <a:solidFill>
                      <a:srgbClr val="0F2A47"/>
                    </a:solidFill>
                  </a:tcPr>
                </a:tc>
                <a:tc>
                  <a:txBody>
                    <a:bodyPr wrap="square"/>
                    <a:lstStyle/>
                    <a:p>
                      <a:pPr algn="r"/>
                      <a:r>
                        <a:rPr sz="880" b="1">
                          <a:solidFill>
                            <a:srgbClr val="FFFFFF"/>
                          </a:solidFill>
                          <a:latin typeface="Segoe UI"/>
                        </a:rPr>
                        <a:t>Best recall</a:t>
                      </a:r>
                    </a:p>
                  </a:txBody>
                  <a:tcPr marL="82296" marR="82296" marT="13716" marB="13716" anchor="ctr">
                    <a:solidFill>
                      <a:srgbClr val="0F2A47"/>
                    </a:solidFill>
                  </a:tcPr>
                </a:tc>
              </a:tr>
              <a:tr h="288036">
                <a:tc>
                  <a:txBody>
                    <a:bodyPr wrap="square"/>
                    <a:lstStyle/>
                    <a:p>
                      <a:pPr algn="l"/>
                      <a:r>
                        <a:rPr sz="919" b="0">
                          <a:solidFill>
                            <a:srgbClr val="2A3441"/>
                          </a:solidFill>
                          <a:latin typeface="Segoe UI"/>
                        </a:rPr>
                        <a:t>SIG-FTP-BRUTE-FORCE</a:t>
                      </a:r>
                    </a:p>
                  </a:txBody>
                  <a:tcPr marL="82296" marR="82296" marT="13716" marB="13716" anchor="ctr">
                    <a:solidFill>
                      <a:srgbClr val="FFFFFF"/>
                    </a:solidFill>
                  </a:tcPr>
                </a:tc>
                <a:tc>
                  <a:txBody>
                    <a:bodyPr wrap="square"/>
                    <a:lstStyle/>
                    <a:p>
                      <a:pPr algn="l"/>
                      <a:r>
                        <a:rPr sz="919" b="1">
                          <a:solidFill>
                            <a:srgbClr val="1E7A45"/>
                          </a:solidFill>
                          <a:latin typeface="Segoe UI"/>
                        </a:rPr>
                        <a:t>Brute Force</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1">
                          <a:solidFill>
                            <a:srgbClr val="1E7A45"/>
                          </a:solidFill>
                          <a:latin typeface="Segoe UI"/>
                        </a:rPr>
                        <a:t>YES</a:t>
                      </a:r>
                    </a:p>
                  </a:txBody>
                  <a:tcPr marL="82296" marR="82296" marT="13716" marB="13716" anchor="ctr">
                    <a:solidFill>
                      <a:srgbClr val="FFFFFF"/>
                    </a:solidFill>
                  </a:tcPr>
                </a:tc>
                <a:tc>
                  <a:txBody>
                    <a:bodyPr wrap="square"/>
                    <a:lstStyle/>
                    <a:p>
                      <a:pPr algn="r"/>
                      <a:r>
                        <a:rPr sz="919" b="0">
                          <a:solidFill>
                            <a:srgbClr val="2A3441"/>
                          </a:solidFill>
                          <a:latin typeface="Segoe UI"/>
                        </a:rPr>
                        <a:t>1.0000</a:t>
                      </a:r>
                    </a:p>
                  </a:txBody>
                  <a:tcPr marL="82296" marR="82296" marT="13716" marB="13716" anchor="ctr">
                    <a:solidFill>
                      <a:srgbClr val="FFFFFF"/>
                    </a:solidFill>
                  </a:tcPr>
                </a:tc>
                <a:tc>
                  <a:txBody>
                    <a:bodyPr wrap="square"/>
                    <a:lstStyle/>
                    <a:p>
                      <a:pPr algn="r"/>
                      <a:r>
                        <a:rPr sz="919" b="0">
                          <a:solidFill>
                            <a:srgbClr val="2A3441"/>
                          </a:solidFill>
                          <a:latin typeface="Segoe UI"/>
                        </a:rPr>
                        <a:t>0.7300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SIG-SSH-BRUTE-FORCE</a:t>
                      </a:r>
                    </a:p>
                  </a:txBody>
                  <a:tcPr marL="82296" marR="82296" marT="13716" marB="13716" anchor="ctr">
                    <a:solidFill>
                      <a:srgbClr val="F4F7FB"/>
                    </a:solidFill>
                  </a:tcPr>
                </a:tc>
                <a:tc>
                  <a:txBody>
                    <a:bodyPr wrap="square"/>
                    <a:lstStyle/>
                    <a:p>
                      <a:pPr algn="l"/>
                      <a:r>
                        <a:rPr sz="919" b="1">
                          <a:solidFill>
                            <a:srgbClr val="1E7A45"/>
                          </a:solidFill>
                          <a:latin typeface="Segoe UI"/>
                        </a:rPr>
                        <a:t>Brute Force</a:t>
                      </a:r>
                    </a:p>
                  </a:txBody>
                  <a:tcPr marL="82296" marR="82296" marT="13716" marB="13716" anchor="ctr">
                    <a:solidFill>
                      <a:srgbClr val="F4F7FB"/>
                    </a:solidFill>
                  </a:tcPr>
                </a:tc>
                <a:tc>
                  <a:txBody>
                    <a:bodyPr wrap="square"/>
                    <a:lstStyle/>
                    <a:p>
                      <a:pPr algn="r"/>
                      <a:r>
                        <a:rPr sz="919" b="0">
                          <a:solidFill>
                            <a:srgbClr val="2A3441"/>
                          </a:solidFill>
                          <a:latin typeface="Segoe UI"/>
                        </a:rPr>
                        <a:t>55</a:t>
                      </a:r>
                    </a:p>
                  </a:txBody>
                  <a:tcPr marL="82296" marR="82296" marT="13716" marB="13716" anchor="ctr">
                    <a:solidFill>
                      <a:srgbClr val="F4F7FB"/>
                    </a:solidFill>
                  </a:tcPr>
                </a:tc>
                <a:tc>
                  <a:txBody>
                    <a:bodyPr wrap="square"/>
                    <a:lstStyle/>
                    <a:p>
                      <a:pPr algn="r"/>
                      <a:r>
                        <a:rPr sz="919" b="1">
                          <a:solidFill>
                            <a:srgbClr val="1E7A45"/>
                          </a:solidFill>
                          <a:latin typeface="Segoe UI"/>
                        </a:rPr>
                        <a:t>YES</a:t>
                      </a:r>
                    </a:p>
                  </a:txBody>
                  <a:tcPr marL="82296" marR="82296" marT="13716" marB="13716" anchor="ctr">
                    <a:solidFill>
                      <a:srgbClr val="F4F7FB"/>
                    </a:solidFill>
                  </a:tcPr>
                </a:tc>
                <a:tc>
                  <a:txBody>
                    <a:bodyPr wrap="square"/>
                    <a:lstStyle/>
                    <a:p>
                      <a:pPr algn="r"/>
                      <a:r>
                        <a:rPr sz="919" b="0">
                          <a:solidFill>
                            <a:srgbClr val="2A3441"/>
                          </a:solidFill>
                          <a:latin typeface="Segoe UI"/>
                        </a:rPr>
                        <a:t>1.0000</a:t>
                      </a:r>
                    </a:p>
                  </a:txBody>
                  <a:tcPr marL="82296" marR="82296" marT="13716" marB="13716" anchor="ctr">
                    <a:solidFill>
                      <a:srgbClr val="F4F7FB"/>
                    </a:solidFill>
                  </a:tcPr>
                </a:tc>
                <a:tc>
                  <a:txBody>
                    <a:bodyPr wrap="square"/>
                    <a:lstStyle/>
                    <a:p>
                      <a:pPr algn="r"/>
                      <a:r>
                        <a:rPr sz="919" b="0">
                          <a:solidFill>
                            <a:srgbClr val="2A3441"/>
                          </a:solidFill>
                          <a:latin typeface="Segoe UI"/>
                        </a:rPr>
                        <a:t>0.2700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SIG-DOS-HIGH-RATE-FLOW</a:t>
                      </a:r>
                    </a:p>
                  </a:txBody>
                  <a:tcPr marL="82296" marR="82296" marT="13716" marB="13716" anchor="ctr">
                    <a:solidFill>
                      <a:srgbClr val="FFFFFF"/>
                    </a:solidFill>
                  </a:tcPr>
                </a:tc>
                <a:tc>
                  <a:txBody>
                    <a:bodyPr wrap="square"/>
                    <a:lstStyle/>
                    <a:p>
                      <a:pPr algn="l"/>
                      <a:r>
                        <a:rPr sz="919" b="0">
                          <a:solidFill>
                            <a:srgbClr val="C0392B"/>
                          </a:solidFill>
                          <a:latin typeface="Segoe UI"/>
                        </a:rPr>
                        <a:t>DoS</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no</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SIG-DDOS-HIGH-RATE-FLOW</a:t>
                      </a:r>
                    </a:p>
                  </a:txBody>
                  <a:tcPr marL="82296" marR="82296" marT="13716" marB="13716" anchor="ctr">
                    <a:solidFill>
                      <a:srgbClr val="F4F7FB"/>
                    </a:solidFill>
                  </a:tcPr>
                </a:tc>
                <a:tc>
                  <a:txBody>
                    <a:bodyPr wrap="square"/>
                    <a:lstStyle/>
                    <a:p>
                      <a:pPr algn="l"/>
                      <a:r>
                        <a:rPr sz="919" b="0">
                          <a:solidFill>
                            <a:srgbClr val="C0392B"/>
                          </a:solidFill>
                          <a:latin typeface="Segoe UI"/>
                        </a:rPr>
                        <a:t>DDoS</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c>
                  <a:txBody>
                    <a:bodyPr wrap="square"/>
                    <a:lstStyle/>
                    <a:p>
                      <a:pPr algn="r"/>
                      <a:r>
                        <a:rPr sz="919" b="0">
                          <a:solidFill>
                            <a:srgbClr val="2A3441"/>
                          </a:solidFill>
                          <a:latin typeface="Segoe UI"/>
                        </a:rPr>
                        <a:t>no</a:t>
                      </a:r>
                    </a:p>
                  </a:txBody>
                  <a:tcPr marL="82296" marR="82296" marT="13716" marB="13716" anchor="ctr">
                    <a:solidFill>
                      <a:srgbClr val="F4F7FB"/>
                    </a:solidFill>
                  </a:tcPr>
                </a:tc>
                <a:tc>
                  <a:txBody>
                    <a:bodyPr wrap="square"/>
                    <a:lstStyle/>
                    <a:p>
                      <a:pPr algn="r"/>
                      <a:r>
                        <a:rPr sz="919" b="0">
                          <a:solidFill>
                            <a:srgbClr val="2A3441"/>
                          </a:solidFill>
                          <a:latin typeface="Segoe UI"/>
                        </a:rPr>
                        <a:t>0.3423</a:t>
                      </a:r>
                    </a:p>
                  </a:txBody>
                  <a:tcPr marL="82296" marR="82296" marT="13716" marB="13716" anchor="ctr">
                    <a:solidFill>
                      <a:srgbClr val="F4F7FB"/>
                    </a:solidFill>
                  </a:tcPr>
                </a:tc>
                <a:tc>
                  <a:txBody>
                    <a:bodyPr wrap="square"/>
                    <a:lstStyle/>
                    <a:p>
                      <a:pPr algn="r"/>
                      <a:r>
                        <a:rPr sz="919" b="0">
                          <a:solidFill>
                            <a:srgbClr val="2A3441"/>
                          </a:solidFill>
                          <a:latin typeface="Segoe UI"/>
                        </a:rPr>
                        <a:t>0.3800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SIG-BOTNET-BEACON-FLOW</a:t>
                      </a:r>
                    </a:p>
                  </a:txBody>
                  <a:tcPr marL="82296" marR="82296" marT="13716" marB="13716" anchor="ctr">
                    <a:solidFill>
                      <a:srgbClr val="FFFFFF"/>
                    </a:solidFill>
                  </a:tcPr>
                </a:tc>
                <a:tc>
                  <a:txBody>
                    <a:bodyPr wrap="square"/>
                    <a:lstStyle/>
                    <a:p>
                      <a:pPr algn="l"/>
                      <a:r>
                        <a:rPr sz="919" b="0">
                          <a:solidFill>
                            <a:srgbClr val="C0392B"/>
                          </a:solidFill>
                          <a:latin typeface="Segoe UI"/>
                        </a:rPr>
                        <a:t>Botnet</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no</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SIG-WEB-ATTACK-FLOW</a:t>
                      </a:r>
                    </a:p>
                  </a:txBody>
                  <a:tcPr marL="82296" marR="82296" marT="13716" marB="13716" anchor="ctr">
                    <a:solidFill>
                      <a:srgbClr val="F4F7FB"/>
                    </a:solidFill>
                  </a:tcPr>
                </a:tc>
                <a:tc>
                  <a:txBody>
                    <a:bodyPr wrap="square"/>
                    <a:lstStyle/>
                    <a:p>
                      <a:pPr algn="l"/>
                      <a:r>
                        <a:rPr sz="919" b="0">
                          <a:solidFill>
                            <a:srgbClr val="C0392B"/>
                          </a:solidFill>
                          <a:latin typeface="Segoe UI"/>
                        </a:rPr>
                        <a:t>Web Attack</a:t>
                      </a:r>
                    </a:p>
                  </a:txBody>
                  <a:tcPr marL="82296" marR="82296" marT="13716" marB="13716" anchor="ctr">
                    <a:solidFill>
                      <a:srgbClr val="F4F7FB"/>
                    </a:solidFill>
                  </a:tcPr>
                </a:tc>
                <a:tc>
                  <a:txBody>
                    <a:bodyPr wrap="square"/>
                    <a:lstStyle/>
                    <a:p>
                      <a:pPr algn="r"/>
                      <a:r>
                        <a:rPr sz="919" b="0">
                          <a:solidFill>
                            <a:srgbClr val="2A3441"/>
                          </a:solidFill>
                          <a:latin typeface="Segoe UI"/>
                        </a:rPr>
                        <a:t>5</a:t>
                      </a:r>
                    </a:p>
                  </a:txBody>
                  <a:tcPr marL="82296" marR="82296" marT="13716" marB="13716" anchor="ctr">
                    <a:solidFill>
                      <a:srgbClr val="F4F7FB"/>
                    </a:solidFill>
                  </a:tcPr>
                </a:tc>
                <a:tc>
                  <a:txBody>
                    <a:bodyPr wrap="square"/>
                    <a:lstStyle/>
                    <a:p>
                      <a:pPr algn="r"/>
                      <a:r>
                        <a:rPr sz="919" b="0">
                          <a:solidFill>
                            <a:srgbClr val="2A3441"/>
                          </a:solidFill>
                          <a:latin typeface="Segoe UI"/>
                        </a:rPr>
                        <a:t>no</a:t>
                      </a:r>
                    </a:p>
                  </a:txBody>
                  <a:tcPr marL="82296" marR="82296" marT="13716" marB="13716" anchor="ctr">
                    <a:solidFill>
                      <a:srgbClr val="F4F7FB"/>
                    </a:solidFill>
                  </a:tcPr>
                </a:tc>
                <a:tc>
                  <a:txBody>
                    <a:bodyPr wrap="square"/>
                    <a:lstStyle/>
                    <a:p>
                      <a:pPr algn="r"/>
                      <a:r>
                        <a:rPr sz="919" b="0">
                          <a:solidFill>
                            <a:srgbClr val="2A3441"/>
                          </a:solidFill>
                          <a:latin typeface="Segoe UI"/>
                        </a:rPr>
                        <a:t>0.7838</a:t>
                      </a:r>
                    </a:p>
                  </a:txBody>
                  <a:tcPr marL="82296" marR="82296" marT="13716" marB="13716" anchor="ctr">
                    <a:solidFill>
                      <a:srgbClr val="F4F7FB"/>
                    </a:solidFill>
                  </a:tcPr>
                </a:tc>
                <a:tc>
                  <a:txBody>
                    <a:bodyPr wrap="square"/>
                    <a:lstStyle/>
                    <a:p>
                      <a:pPr algn="r"/>
                      <a:r>
                        <a:rPr sz="919" b="0">
                          <a:solidFill>
                            <a:srgbClr val="2A3441"/>
                          </a:solidFill>
                          <a:latin typeface="Segoe UI"/>
                        </a:rPr>
                        <a:t>0.4833</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SIG-INFILTRATION-LONG-FLOW</a:t>
                      </a:r>
                    </a:p>
                  </a:txBody>
                  <a:tcPr marL="82296" marR="82296" marT="13716" marB="13716" anchor="ctr">
                    <a:solidFill>
                      <a:srgbClr val="FFFFFF"/>
                    </a:solidFill>
                  </a:tcPr>
                </a:tc>
                <a:tc>
                  <a:txBody>
                    <a:bodyPr wrap="square"/>
                    <a:lstStyle/>
                    <a:p>
                      <a:pPr algn="l"/>
                      <a:r>
                        <a:rPr sz="919" b="0">
                          <a:solidFill>
                            <a:srgbClr val="C0392B"/>
                          </a:solidFill>
                          <a:latin typeface="Segoe UI"/>
                        </a:rPr>
                        <a:t>Infiltration</a:t>
                      </a:r>
                    </a:p>
                  </a:txBody>
                  <a:tcPr marL="82296" marR="82296" marT="13716" marB="13716" anchor="ctr">
                    <a:solidFill>
                      <a:srgbClr val="FFFFFF"/>
                    </a:solidFill>
                  </a:tcPr>
                </a:tc>
                <a:tc>
                  <a:txBody>
                    <a:bodyPr wrap="square"/>
                    <a:lstStyle/>
                    <a:p>
                      <a:pPr algn="r"/>
                      <a:r>
                        <a:rPr sz="919" b="0">
                          <a:solidFill>
                            <a:srgbClr val="2A3441"/>
                          </a:solidFill>
                          <a:latin typeface="Segoe UI"/>
                        </a:rPr>
                        <a:t>3</a:t>
                      </a:r>
                    </a:p>
                  </a:txBody>
                  <a:tcPr marL="82296" marR="82296" marT="13716" marB="13716" anchor="ctr">
                    <a:solidFill>
                      <a:srgbClr val="FFFFFF"/>
                    </a:solidFill>
                  </a:tcPr>
                </a:tc>
                <a:tc>
                  <a:txBody>
                    <a:bodyPr wrap="square"/>
                    <a:lstStyle/>
                    <a:p>
                      <a:pPr algn="r"/>
                      <a:r>
                        <a:rPr sz="919" b="0">
                          <a:solidFill>
                            <a:srgbClr val="2A3441"/>
                          </a:solidFill>
                          <a:latin typeface="Segoe UI"/>
                        </a:rPr>
                        <a:t>no</a:t>
                      </a:r>
                    </a:p>
                  </a:txBody>
                  <a:tcPr marL="82296" marR="82296" marT="13716" marB="13716" anchor="ctr">
                    <a:solidFill>
                      <a:srgbClr val="FFFFFF"/>
                    </a:solidFill>
                  </a:tcPr>
                </a:tc>
                <a:tc>
                  <a:txBody>
                    <a:bodyPr wrap="square"/>
                    <a:lstStyle/>
                    <a:p>
                      <a:pPr algn="r"/>
                      <a:r>
                        <a:rPr sz="919" b="0">
                          <a:solidFill>
                            <a:srgbClr val="2A3441"/>
                          </a:solidFill>
                          <a:latin typeface="Segoe UI"/>
                        </a:rPr>
                        <a:t>0.2500</a:t>
                      </a:r>
                    </a:p>
                  </a:txBody>
                  <a:tcPr marL="82296" marR="82296" marT="13716" marB="13716" anchor="ctr">
                    <a:solidFill>
                      <a:srgbClr val="FFFFFF"/>
                    </a:solidFill>
                  </a:tcPr>
                </a:tc>
                <a:tc>
                  <a:txBody>
                    <a:bodyPr wrap="square"/>
                    <a:lstStyle/>
                    <a:p>
                      <a:pPr algn="r"/>
                      <a:r>
                        <a:rPr sz="919" b="0">
                          <a:solidFill>
                            <a:srgbClr val="2A3441"/>
                          </a:solidFill>
                          <a:latin typeface="Segoe UI"/>
                        </a:rPr>
                        <a:t>0.0250</a:t>
                      </a:r>
                    </a:p>
                  </a:txBody>
                  <a:tcPr marL="82296" marR="82296" marT="13716" marB="13716" anchor="ctr">
                    <a:solidFill>
                      <a:srgbClr val="FFFFFF"/>
                    </a:solidFill>
                  </a:tcPr>
                </a:tc>
              </a:tr>
            </a:tbl>
          </a:graphicData>
        </a:graphic>
      </p:graphicFrame>
      <p:sp>
        <p:nvSpPr>
          <p:cNvPr id="9" name="TextBox 8"/>
          <p:cNvSpPr txBox="1"/>
          <p:nvPr/>
        </p:nvSpPr>
        <p:spPr>
          <a:xfrm>
            <a:off x="566928" y="4041648"/>
            <a:ext cx="5418341" cy="2286000"/>
          </a:xfrm>
          <a:prstGeom prst="rect">
            <a:avLst/>
          </a:prstGeom>
          <a:noFill/>
        </p:spPr>
        <p:txBody>
          <a:bodyPr wrap="square" anchor="t" lIns="0" rIns="0" tIns="0" bIns="0">
            <a:spAutoFit/>
          </a:bodyPr>
          <a:lstStyle/>
          <a:p>
            <a:pPr algn="l">
              <a:spcBef>
                <a:spcPts val="0"/>
              </a:spcBef>
              <a:spcAft>
                <a:spcPts val="400"/>
              </a:spcAft>
            </a:pPr>
            <a:r>
              <a:rPr sz="1150" b="1" i="0">
                <a:solidFill>
                  <a:srgbClr val="0F2A47"/>
                </a:solidFill>
                <a:latin typeface="Segoe UI"/>
              </a:rPr>
              <a:t>The two rules we kept, and their tuned thresholds</a:t>
            </a:r>
          </a:p>
          <a:p>
            <a:pPr algn="l">
              <a:lnSpc>
                <a:spcPct val="120000"/>
              </a:lnSpc>
              <a:spcBef>
                <a:spcPts val="0"/>
              </a:spcBef>
              <a:spcAft>
                <a:spcPts val="700"/>
              </a:spcAft>
            </a:pPr>
            <a:r>
              <a:rPr sz="1000" b="0" i="0">
                <a:solidFill>
                  <a:srgbClr val="2A3441"/>
                </a:solidFill>
                <a:latin typeface="Segoe UI"/>
              </a:rPr>
              <a:t>FTP brute force: TCP, destination port 21, at least 1 forward packet, and the rule's other original clauses. SSH brute force: TCP, port 22, flowPacketsPerSecond ≥ 10.66689. Every clause is checkable by a human against the flow record.</a:t>
            </a:r>
          </a:p>
          <a:p>
            <a:pPr algn="l">
              <a:spcBef>
                <a:spcPts val="0"/>
              </a:spcBef>
              <a:spcAft>
                <a:spcPts val="400"/>
              </a:spcAft>
            </a:pPr>
            <a:r>
              <a:rPr sz="1150" b="1" i="0">
                <a:solidFill>
                  <a:srgbClr val="0F2A47"/>
                </a:solidFill>
                <a:latin typeface="Segoe UI"/>
              </a:rPr>
              <a:t>Five rules are retired, not deleted</a:t>
            </a:r>
          </a:p>
          <a:p>
            <a:pPr algn="l">
              <a:lnSpc>
                <a:spcPct val="120000"/>
              </a:lnSpc>
              <a:spcBef>
                <a:spcPts val="0"/>
              </a:spcBef>
              <a:spcAft>
                <a:spcPts val="700"/>
              </a:spcAft>
            </a:pPr>
            <a:r>
              <a:rPr sz="1000" b="0" i="0">
                <a:solidFill>
                  <a:srgbClr val="2A3441"/>
                </a:solidFill>
                <a:latin typeface="Segoe UI"/>
              </a:rPr>
              <a:t>Their best achievable precision on the observable features has hard ceilings: DoS 0.000, Botnet 0.000, DDoS 0.342, Infiltration 0.250, Web Attack 0.784. A low-precision “high-confidence oracle” destroys the reason the signature layer exists, so they stay in the file with enabled: false.</a:t>
            </a:r>
          </a:p>
          <a:p>
            <a:pPr algn="l">
              <a:lnSpc>
                <a:spcPct val="120000"/>
              </a:lnSpc>
              <a:spcBef>
                <a:spcPts val="0"/>
              </a:spcBef>
              <a:spcAft>
                <a:spcPts val="0"/>
              </a:spcAft>
            </a:pPr>
            <a:r>
              <a:rPr sz="1000" b="0" i="0">
                <a:solidFill>
                  <a:srgbClr val="2A3441"/>
                </a:solidFill>
                <a:latin typeface="Segoe UI"/>
              </a:rPr>
              <a:t>Coverage with the retuned set: ml_only 794 · signature_only 0 · both 200 · missed by both 6, out of 1,000 malicious flows.</a:t>
            </a:r>
          </a:p>
        </p:txBody>
      </p:sp>
      <p:sp>
        <p:nvSpPr>
          <p:cNvPr id="10" name="Rectangle 9"/>
          <p:cNvSpPr/>
          <p:nvPr/>
        </p:nvSpPr>
        <p:spPr>
          <a:xfrm>
            <a:off x="6206425" y="4041648"/>
            <a:ext cx="5418341" cy="213969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7593" y="4169663"/>
            <a:ext cx="5016005" cy="192024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Held-out validation — the overfitting risk, closed</a:t>
            </a:r>
          </a:p>
          <a:p>
            <a:pPr algn="l">
              <a:lnSpc>
                <a:spcPct val="120000"/>
              </a:lnSpc>
              <a:spcBef>
                <a:spcPts val="0"/>
              </a:spcBef>
              <a:spcAft>
                <a:spcPts val="700"/>
              </a:spcAft>
            </a:pPr>
            <a:r>
              <a:rPr sz="980" b="0" i="0">
                <a:solidFill>
                  <a:srgbClr val="2A3441"/>
                </a:solidFill>
                <a:latin typeface="Segoe UI"/>
              </a:rPr>
              <a:t>The tuned thresholds were re-tested on 250,655 rows the rules had never seen — fifty times the tuning set — through the production engine. 30,025 hits, the same count first reported.</a:t>
            </a:r>
          </a:p>
          <a:p>
            <a:pPr algn="l">
              <a:lnSpc>
                <a:spcPct val="120000"/>
              </a:lnSpc>
              <a:spcBef>
                <a:spcPts val="0"/>
              </a:spcBef>
              <a:spcAft>
                <a:spcPts val="500"/>
              </a:spcAft>
            </a:pPr>
            <a:r>
              <a:rPr sz="980" b="1">
                <a:solidFill>
                  <a:srgbClr val="2A3441"/>
                </a:solidFill>
                <a:latin typeface="Segoe UI"/>
              </a:rPr>
              <a:t>Any-attack scoring: </a:t>
            </a:r>
            <a:r>
              <a:rPr sz="980" b="0">
                <a:solidFill>
                  <a:srgbClr val="2A3441"/>
                </a:solidFill>
                <a:latin typeface="Segoe UI"/>
              </a:rPr>
              <a:t>precision 0.9999, recall 0.1993, with 2 false positives.</a:t>
            </a:r>
          </a:p>
          <a:p>
            <a:pPr algn="l">
              <a:lnSpc>
                <a:spcPct val="120000"/>
              </a:lnSpc>
              <a:spcBef>
                <a:spcPts val="0"/>
              </a:spcBef>
              <a:spcAft>
                <a:spcPts val="700"/>
              </a:spcAft>
            </a:pPr>
            <a:r>
              <a:rPr sz="980" b="1">
                <a:solidFill>
                  <a:srgbClr val="2A3441"/>
                </a:solidFill>
                <a:latin typeface="Segoe UI"/>
              </a:rPr>
              <a:t>Class-correct scoring: </a:t>
            </a:r>
            <a:r>
              <a:rPr sz="980" b="0">
                <a:solidFill>
                  <a:srgbClr val="2A3441"/>
                </a:solidFill>
                <a:latin typeface="Segoe UI"/>
              </a:rPr>
              <a:t>precision 0.9992, recall 0.1991 — the 23 differing hits are NMAP probes of TCP/21 labelled FTP brute force.</a:t>
            </a:r>
          </a:p>
          <a:p>
            <a:pPr algn="l">
              <a:lnSpc>
                <a:spcPct val="120000"/>
              </a:lnSpc>
              <a:spcBef>
                <a:spcPts val="0"/>
              </a:spcBef>
              <a:spcAft>
                <a:spcPts val="0"/>
              </a:spcAft>
            </a:pPr>
            <a:r>
              <a:rPr sz="980" b="1" i="0">
                <a:solidFill>
                  <a:srgbClr val="0F2A47"/>
                </a:solidFill>
                <a:latin typeface="Segoe UI"/>
              </a:rPr>
              <a:t>Verdict: retuning made the signature layer good — precision 0.871 → 1.000, recall 5.4% → 20% — but never complementary. Unique coverage stayed at zero.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repositioning: trust, not coverage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If the signature layer adds no unique detections, its justification has to be something other than recall.</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28</a:t>
            </a:r>
          </a:p>
        </p:txBody>
      </p:sp>
      <p:sp>
        <p:nvSpPr>
          <p:cNvPr id="9" name="Rectangle 8"/>
          <p:cNvSpPr/>
          <p:nvPr/>
        </p:nvSpPr>
        <p:spPr>
          <a:xfrm>
            <a:off x="566928" y="1773936"/>
            <a:ext cx="11057839" cy="786384"/>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1901952"/>
            <a:ext cx="10618927" cy="548640"/>
          </a:xfrm>
          <a:prstGeom prst="rect">
            <a:avLst/>
          </a:prstGeom>
          <a:noFill/>
        </p:spPr>
        <p:txBody>
          <a:bodyPr wrap="square" anchor="t" lIns="0" rIns="0" tIns="0" bIns="0">
            <a:spAutoFit/>
          </a:bodyPr>
          <a:lstStyle/>
          <a:p>
            <a:pPr algn="l">
              <a:spcBef>
                <a:spcPts val="0"/>
              </a:spcBef>
              <a:spcAft>
                <a:spcPts val="0"/>
              </a:spcAft>
            </a:pPr>
            <a:r>
              <a:rPr sz="1400" b="1" i="0">
                <a:solidFill>
                  <a:srgbClr val="FFFFFF"/>
                </a:solidFill>
                <a:latin typeface="Segoe UI"/>
              </a:rPr>
              <a:t>When the signature layer fires, it is right 100% of the time — and a human can check why.</a:t>
            </a:r>
          </a:p>
        </p:txBody>
      </p:sp>
      <p:graphicFrame>
        <p:nvGraphicFramePr>
          <p:cNvPr id="11" name="Table 10"/>
          <p:cNvGraphicFramePr>
            <a:graphicFrameLocks noGrp="1"/>
          </p:cNvGraphicFramePr>
          <p:nvPr/>
        </p:nvGraphicFramePr>
        <p:xfrm>
          <a:off x="566928" y="2798064"/>
          <a:ext cx="11055096" cy="2011680"/>
        </p:xfrm>
        <a:graphic>
          <a:graphicData uri="http://schemas.openxmlformats.org/drawingml/2006/table">
            <a:tbl>
              <a:tblPr firstRow="0" bandRow="0"/>
              <a:tblGrid>
                <a:gridCol w="1572768"/>
                <a:gridCol w="777240"/>
                <a:gridCol w="4617720"/>
                <a:gridCol w="4087368"/>
              </a:tblGrid>
              <a:tr h="329184">
                <a:tc>
                  <a:txBody>
                    <a:bodyPr wrap="square"/>
                    <a:lstStyle/>
                    <a:p>
                      <a:pPr algn="l"/>
                      <a:r>
                        <a:rPr sz="900" b="1">
                          <a:solidFill>
                            <a:srgbClr val="FFFFFF"/>
                          </a:solidFill>
                          <a:latin typeface="Segoe UI"/>
                        </a:rPr>
                        <a:t>Evidence class</a:t>
                      </a:r>
                    </a:p>
                  </a:txBody>
                  <a:tcPr marL="82296" marR="82296" marT="13716" marB="13716" anchor="ctr">
                    <a:solidFill>
                      <a:srgbClr val="0F2A47"/>
                    </a:solidFill>
                  </a:tcPr>
                </a:tc>
                <a:tc>
                  <a:txBody>
                    <a:bodyPr wrap="square"/>
                    <a:lstStyle/>
                    <a:p>
                      <a:pPr algn="r"/>
                      <a:r>
                        <a:rPr sz="900" b="1">
                          <a:solidFill>
                            <a:srgbClr val="FFFFFF"/>
                          </a:solidFill>
                          <a:latin typeface="Segoe UI"/>
                        </a:rPr>
                        <a:t>Flows</a:t>
                      </a:r>
                    </a:p>
                  </a:txBody>
                  <a:tcPr marL="82296" marR="82296" marT="13716" marB="13716" anchor="ctr">
                    <a:solidFill>
                      <a:srgbClr val="0F2A47"/>
                    </a:solidFill>
                  </a:tcPr>
                </a:tc>
                <a:tc>
                  <a:txBody>
                    <a:bodyPr wrap="square"/>
                    <a:lstStyle/>
                    <a:p>
                      <a:pPr algn="l"/>
                      <a:r>
                        <a:rPr sz="900" b="1">
                          <a:solidFill>
                            <a:srgbClr val="FFFFFF"/>
                          </a:solidFill>
                          <a:latin typeface="Segoe UI"/>
                        </a:rPr>
                        <a:t>What it means</a:t>
                      </a:r>
                    </a:p>
                  </a:txBody>
                  <a:tcPr marL="82296" marR="82296" marT="13716" marB="13716" anchor="ctr">
                    <a:solidFill>
                      <a:srgbClr val="0F2A47"/>
                    </a:solidFill>
                  </a:tcPr>
                </a:tc>
                <a:tc>
                  <a:txBody>
                    <a:bodyPr wrap="square"/>
                    <a:lstStyle/>
                    <a:p>
                      <a:pPr algn="l"/>
                      <a:r>
                        <a:rPr sz="900" b="1">
                          <a:solidFill>
                            <a:srgbClr val="FFFFFF"/>
                          </a:solidFill>
                          <a:latin typeface="Segoe UI"/>
                        </a:rPr>
                        <a:t>Where the analyst's effort goes</a:t>
                      </a:r>
                    </a:p>
                  </a:txBody>
                  <a:tcPr marL="82296" marR="82296" marT="13716" marB="13716" anchor="ctr">
                    <a:solidFill>
                      <a:srgbClr val="0F2A47"/>
                    </a:solidFill>
                  </a:tcPr>
                </a:tc>
              </a:tr>
              <a:tr h="420624">
                <a:tc>
                  <a:txBody>
                    <a:bodyPr wrap="square"/>
                    <a:lstStyle/>
                    <a:p>
                      <a:pPr algn="l"/>
                      <a:r>
                        <a:rPr sz="980" b="0">
                          <a:solidFill>
                            <a:srgbClr val="2A3441"/>
                          </a:solidFill>
                          <a:latin typeface="Segoe UI"/>
                        </a:rPr>
                        <a:t>corroborated</a:t>
                      </a:r>
                    </a:p>
                  </a:txBody>
                  <a:tcPr marL="82296" marR="82296" marT="13716" marB="13716" anchor="ctr">
                    <a:solidFill>
                      <a:srgbClr val="FFFFFF"/>
                    </a:solidFill>
                  </a:tcPr>
                </a:tc>
                <a:tc>
                  <a:txBody>
                    <a:bodyPr wrap="square"/>
                    <a:lstStyle/>
                    <a:p>
                      <a:pPr algn="r"/>
                      <a:r>
                        <a:rPr sz="980" b="0">
                          <a:solidFill>
                            <a:srgbClr val="2A3441"/>
                          </a:solidFill>
                          <a:latin typeface="Segoe UI"/>
                        </a:rPr>
                        <a:t>200</a:t>
                      </a:r>
                    </a:p>
                  </a:txBody>
                  <a:tcPr marL="82296" marR="82296" marT="13716" marB="13716" anchor="ctr">
                    <a:solidFill>
                      <a:srgbClr val="FFFFFF"/>
                    </a:solidFill>
                  </a:tcPr>
                </a:tc>
                <a:tc>
                  <a:txBody>
                    <a:bodyPr wrap="square"/>
                    <a:lstStyle/>
                    <a:p>
                      <a:pPr algn="l"/>
                      <a:r>
                        <a:rPr sz="980" b="0">
                          <a:solidFill>
                            <a:srgbClr val="2A3441"/>
                          </a:solidFill>
                          <a:latin typeface="Segoe UI"/>
                        </a:rPr>
                        <a:t>A verifiable rule and the model agree</a:t>
                      </a:r>
                    </a:p>
                  </a:txBody>
                  <a:tcPr marL="82296" marR="82296" marT="13716" marB="13716" anchor="ctr">
                    <a:solidFill>
                      <a:srgbClr val="FFFFFF"/>
                    </a:solidFill>
                  </a:tcPr>
                </a:tc>
                <a:tc>
                  <a:txBody>
                    <a:bodyPr wrap="square"/>
                    <a:lstStyle/>
                    <a:p>
                      <a:pPr algn="l"/>
                      <a:r>
                        <a:rPr sz="980" b="0">
                          <a:solidFill>
                            <a:srgbClr val="2A3441"/>
                          </a:solidFill>
                          <a:latin typeface="Segoe UI"/>
                        </a:rPr>
                        <a:t>Lowest — fast-track these</a:t>
                      </a:r>
                    </a:p>
                  </a:txBody>
                  <a:tcPr marL="82296" marR="82296" marT="13716" marB="13716" anchor="ctr">
                    <a:solidFill>
                      <a:srgbClr val="FFFFFF"/>
                    </a:solidFill>
                  </a:tcPr>
                </a:tc>
              </a:tr>
              <a:tr h="420624">
                <a:tc>
                  <a:txBody>
                    <a:bodyPr wrap="square"/>
                    <a:lstStyle/>
                    <a:p>
                      <a:pPr algn="l"/>
                      <a:r>
                        <a:rPr sz="980" b="0">
                          <a:solidFill>
                            <a:srgbClr val="2A3441"/>
                          </a:solidFill>
                          <a:latin typeface="Segoe UI"/>
                        </a:rPr>
                        <a:t>ml_only</a:t>
                      </a:r>
                    </a:p>
                  </a:txBody>
                  <a:tcPr marL="82296" marR="82296" marT="13716" marB="13716" anchor="ctr">
                    <a:solidFill>
                      <a:srgbClr val="F4F7FB"/>
                    </a:solidFill>
                  </a:tcPr>
                </a:tc>
                <a:tc>
                  <a:txBody>
                    <a:bodyPr wrap="square"/>
                    <a:lstStyle/>
                    <a:p>
                      <a:pPr algn="r"/>
                      <a:r>
                        <a:rPr sz="980" b="1">
                          <a:solidFill>
                            <a:srgbClr val="1E7A45"/>
                          </a:solidFill>
                          <a:latin typeface="Segoe UI"/>
                        </a:rPr>
                        <a:t>794</a:t>
                      </a:r>
                    </a:p>
                  </a:txBody>
                  <a:tcPr marL="82296" marR="82296" marT="13716" marB="13716" anchor="ctr">
                    <a:solidFill>
                      <a:srgbClr val="F4F7FB"/>
                    </a:solidFill>
                  </a:tcPr>
                </a:tc>
                <a:tc>
                  <a:txBody>
                    <a:bodyPr wrap="square"/>
                    <a:lstStyle/>
                    <a:p>
                      <a:pPr algn="l"/>
                      <a:r>
                        <a:rPr sz="980" b="0">
                          <a:solidFill>
                            <a:srgbClr val="2A3441"/>
                          </a:solidFill>
                          <a:latin typeface="Segoe UI"/>
                        </a:rPr>
                        <a:t>The model alone; no human-checkable reason</a:t>
                      </a:r>
                    </a:p>
                  </a:txBody>
                  <a:tcPr marL="82296" marR="82296" marT="13716" marB="13716" anchor="ctr">
                    <a:solidFill>
                      <a:srgbClr val="F4F7FB"/>
                    </a:solidFill>
                  </a:tcPr>
                </a:tc>
                <a:tc>
                  <a:txBody>
                    <a:bodyPr wrap="square"/>
                    <a:lstStyle/>
                    <a:p>
                      <a:pPr algn="l"/>
                      <a:r>
                        <a:rPr sz="980" b="0">
                          <a:solidFill>
                            <a:srgbClr val="2A3441"/>
                          </a:solidFill>
                          <a:latin typeface="Segoe UI"/>
                        </a:rPr>
                        <a:t>Highest — this is where the human belongs</a:t>
                      </a:r>
                    </a:p>
                  </a:txBody>
                  <a:tcPr marL="82296" marR="82296" marT="13716" marB="13716" anchor="ctr">
                    <a:solidFill>
                      <a:srgbClr val="F4F7FB"/>
                    </a:solidFill>
                  </a:tcPr>
                </a:tc>
              </a:tr>
              <a:tr h="420624">
                <a:tc>
                  <a:txBody>
                    <a:bodyPr wrap="square"/>
                    <a:lstStyle/>
                    <a:p>
                      <a:pPr algn="l"/>
                      <a:r>
                        <a:rPr sz="980" b="0">
                          <a:solidFill>
                            <a:srgbClr val="2A3441"/>
                          </a:solidFill>
                          <a:latin typeface="Segoe UI"/>
                        </a:rPr>
                        <a:t>signature_only</a:t>
                      </a:r>
                    </a:p>
                  </a:txBody>
                  <a:tcPr marL="82296" marR="82296" marT="13716" marB="13716" anchor="ctr">
                    <a:solidFill>
                      <a:srgbClr val="FFFFFF"/>
                    </a:solidFill>
                  </a:tcPr>
                </a:tc>
                <a:tc>
                  <a:txBody>
                    <a:bodyPr wrap="square"/>
                    <a:lstStyle/>
                    <a:p>
                      <a:pPr algn="r"/>
                      <a:r>
                        <a:rPr sz="980" b="0">
                          <a:solidFill>
                            <a:srgbClr val="2A3441"/>
                          </a:solidFill>
                          <a:latin typeface="Segoe UI"/>
                        </a:rPr>
                        <a:t>0</a:t>
                      </a:r>
                    </a:p>
                  </a:txBody>
                  <a:tcPr marL="82296" marR="82296" marT="13716" marB="13716" anchor="ctr">
                    <a:solidFill>
                      <a:srgbClr val="FFFFFF"/>
                    </a:solidFill>
                  </a:tcPr>
                </a:tc>
                <a:tc>
                  <a:txBody>
                    <a:bodyPr wrap="square"/>
                    <a:lstStyle/>
                    <a:p>
                      <a:pPr algn="l"/>
                      <a:r>
                        <a:rPr sz="980" b="0">
                          <a:solidFill>
                            <a:srgbClr val="2A3441"/>
                          </a:solidFill>
                          <a:latin typeface="Segoe UI"/>
                        </a:rPr>
                        <a:t>A rule fires and the model disagrees</a:t>
                      </a:r>
                    </a:p>
                  </a:txBody>
                  <a:tcPr marL="82296" marR="82296" marT="13716" marB="13716" anchor="ctr">
                    <a:solidFill>
                      <a:srgbClr val="FFFFFF"/>
                    </a:solidFill>
                  </a:tcPr>
                </a:tc>
                <a:tc>
                  <a:txBody>
                    <a:bodyPr wrap="square"/>
                    <a:lstStyle/>
                    <a:p>
                      <a:pPr algn="l"/>
                      <a:r>
                        <a:rPr sz="980" b="0">
                          <a:solidFill>
                            <a:srgbClr val="2A3441"/>
                          </a:solidFill>
                          <a:latin typeface="Segoe UI"/>
                        </a:rPr>
                        <a:t>Does not occur on this data</a:t>
                      </a:r>
                    </a:p>
                  </a:txBody>
                  <a:tcPr marL="82296" marR="82296" marT="13716" marB="13716" anchor="ctr">
                    <a:solidFill>
                      <a:srgbClr val="FFFFFF"/>
                    </a:solidFill>
                  </a:tcPr>
                </a:tc>
              </a:tr>
              <a:tr h="420624">
                <a:tc>
                  <a:txBody>
                    <a:bodyPr wrap="square"/>
                    <a:lstStyle/>
                    <a:p>
                      <a:pPr algn="l"/>
                      <a:r>
                        <a:rPr sz="980" b="0">
                          <a:solidFill>
                            <a:srgbClr val="2A3441"/>
                          </a:solidFill>
                          <a:latin typeface="Segoe UI"/>
                        </a:rPr>
                        <a:t>missed by both</a:t>
                      </a:r>
                    </a:p>
                  </a:txBody>
                  <a:tcPr marL="82296" marR="82296" marT="13716" marB="13716" anchor="ctr">
                    <a:solidFill>
                      <a:srgbClr val="F4F7FB"/>
                    </a:solidFill>
                  </a:tcPr>
                </a:tc>
                <a:tc>
                  <a:txBody>
                    <a:bodyPr wrap="square"/>
                    <a:lstStyle/>
                    <a:p>
                      <a:pPr algn="r"/>
                      <a:r>
                        <a:rPr sz="980" b="1">
                          <a:solidFill>
                            <a:srgbClr val="C0392B"/>
                          </a:solidFill>
                          <a:latin typeface="Segoe UI"/>
                        </a:rPr>
                        <a:t>6</a:t>
                      </a:r>
                    </a:p>
                  </a:txBody>
                  <a:tcPr marL="82296" marR="82296" marT="13716" marB="13716" anchor="ctr">
                    <a:solidFill>
                      <a:srgbClr val="F4F7FB"/>
                    </a:solidFill>
                  </a:tcPr>
                </a:tc>
                <a:tc>
                  <a:txBody>
                    <a:bodyPr wrap="square"/>
                    <a:lstStyle/>
                    <a:p>
                      <a:pPr algn="l"/>
                      <a:r>
                        <a:rPr sz="980" b="0">
                          <a:solidFill>
                            <a:srgbClr val="2A3441"/>
                          </a:solidFill>
                          <a:latin typeface="Segoe UI"/>
                        </a:rPr>
                        <a:t>The residual blind spot</a:t>
                      </a:r>
                    </a:p>
                  </a:txBody>
                  <a:tcPr marL="82296" marR="82296" marT="13716" marB="13716" anchor="ctr">
                    <a:solidFill>
                      <a:srgbClr val="F4F7FB"/>
                    </a:solidFill>
                  </a:tcPr>
                </a:tc>
                <a:tc>
                  <a:txBody>
                    <a:bodyPr wrap="square"/>
                    <a:lstStyle/>
                    <a:p>
                      <a:pPr algn="l"/>
                      <a:r>
                        <a:rPr sz="980" b="0">
                          <a:solidFill>
                            <a:srgbClr val="2A3441"/>
                          </a:solidFill>
                          <a:latin typeface="Segoe UI"/>
                        </a:rPr>
                        <a:t>Feeds rule development</a:t>
                      </a:r>
                    </a:p>
                  </a:txBody>
                  <a:tcPr marL="82296" marR="82296" marT="13716" marB="13716" anchor="ctr">
                    <a:solidFill>
                      <a:srgbClr val="F4F7FB"/>
                    </a:solidFill>
                  </a:tcPr>
                </a:tc>
              </a:tr>
            </a:tbl>
          </a:graphicData>
        </a:graphic>
      </p:graphicFrame>
      <p:sp>
        <p:nvSpPr>
          <p:cNvPr id="12" name="Rectangle 11"/>
          <p:cNvSpPr/>
          <p:nvPr/>
        </p:nvSpPr>
        <p:spPr>
          <a:xfrm>
            <a:off x="566928" y="466344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4663440"/>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477316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80" b="1" i="0">
                <a:solidFill>
                  <a:srgbClr val="0F2A47"/>
                </a:solidFill>
                <a:latin typeface="Segoe UI"/>
              </a:rPr>
              <a:t>A checkable claim vs an uncheckable one</a:t>
            </a:r>
          </a:p>
          <a:p>
            <a:pPr algn="l">
              <a:lnSpc>
                <a:spcPct val="120000"/>
              </a:lnSpc>
              <a:spcBef>
                <a:spcPts val="0"/>
              </a:spcBef>
              <a:spcAft>
                <a:spcPts val="0"/>
              </a:spcAft>
            </a:pPr>
            <a:r>
              <a:rPr sz="1000" b="0" i="0">
                <a:solidFill>
                  <a:srgbClr val="2A3441"/>
                </a:solidFill>
                <a:latin typeface="Segoe UI"/>
              </a:rPr>
              <a:t>“SSH on port 22, above 10.67 packets per second, at least 10 forward packets, under 5 seconds” can be verified against the flow record. “Bwd Packet Length Min contributed +0.31” cannot — SHAP explains the model, not the traffic.</a:t>
            </a:r>
          </a:p>
        </p:txBody>
      </p:sp>
      <p:sp>
        <p:nvSpPr>
          <p:cNvPr id="15" name="Rectangle 14"/>
          <p:cNvSpPr/>
          <p:nvPr/>
        </p:nvSpPr>
        <p:spPr>
          <a:xfrm>
            <a:off x="6205575" y="466344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205575" y="466344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88455" y="477316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80" b="1" i="0">
                <a:solidFill>
                  <a:srgbClr val="0F2A47"/>
                </a:solidFill>
                <a:latin typeface="Segoe UI"/>
              </a:rPr>
              <a:t>The claim the project can defend</a:t>
            </a:r>
          </a:p>
          <a:p>
            <a:pPr algn="l">
              <a:lnSpc>
                <a:spcPct val="120000"/>
              </a:lnSpc>
              <a:spcBef>
                <a:spcPts val="0"/>
              </a:spcBef>
              <a:spcAft>
                <a:spcPts val="0"/>
              </a:spcAft>
            </a:pPr>
            <a:r>
              <a:rPr sz="1000" b="0" i="0">
                <a:solidFill>
                  <a:srgbClr val="2A3441"/>
                </a:solidFill>
                <a:latin typeface="Segoe UI"/>
              </a:rPr>
              <a:t>The hybrid does not detect more; it tells the analyst where their attention is worth spending. 20% of malicious flows carry verifiable corroboration, and 79% rest on model evidence alone — which is precisely where human review has the most value.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07 — MODEL BAKE-OFF</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Is the shipped model family the right one?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Four families, identical features, identical folds, identical protocol — stratified 5-fold cross-validation on the committed 5,000-flow sample.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29</a:t>
            </a:r>
          </a:p>
        </p:txBody>
      </p:sp>
      <p:graphicFrame>
        <p:nvGraphicFramePr>
          <p:cNvPr id="9" name="Table 8"/>
          <p:cNvGraphicFramePr>
            <a:graphicFrameLocks noGrp="1"/>
          </p:cNvGraphicFramePr>
          <p:nvPr/>
        </p:nvGraphicFramePr>
        <p:xfrm>
          <a:off x="566928" y="1773936"/>
          <a:ext cx="7287768" cy="1938528"/>
        </p:xfrm>
        <a:graphic>
          <a:graphicData uri="http://schemas.openxmlformats.org/drawingml/2006/table">
            <a:tbl>
              <a:tblPr firstRow="0" bandRow="0"/>
              <a:tblGrid>
                <a:gridCol w="2359152"/>
                <a:gridCol w="1417320"/>
                <a:gridCol w="1298448"/>
                <a:gridCol w="1097280"/>
                <a:gridCol w="1115568"/>
              </a:tblGrid>
              <a:tr h="402336">
                <a:tc>
                  <a:txBody>
                    <a:bodyPr wrap="square"/>
                    <a:lstStyle/>
                    <a:p>
                      <a:pPr algn="l"/>
                      <a:r>
                        <a:rPr sz="900" b="1">
                          <a:solidFill>
                            <a:srgbClr val="FFFFFF"/>
                          </a:solidFill>
                          <a:latin typeface="Segoe UI"/>
                        </a:rPr>
                        <a:t>Model family</a:t>
                      </a:r>
                    </a:p>
                  </a:txBody>
                  <a:tcPr marL="82296" marR="82296" marT="13716" marB="13716" anchor="ctr">
                    <a:solidFill>
                      <a:srgbClr val="0F2A47"/>
                    </a:solidFill>
                  </a:tcPr>
                </a:tc>
                <a:tc>
                  <a:txBody>
                    <a:bodyPr wrap="square"/>
                    <a:lstStyle/>
                    <a:p>
                      <a:pPr algn="r"/>
                      <a:r>
                        <a:rPr sz="900" b="1">
                          <a:solidFill>
                            <a:srgbClr val="FFFFFF"/>
                          </a:solidFill>
                          <a:latin typeface="Segoe UI"/>
                        </a:rPr>
                        <a:t>macro F1 (mean)</a:t>
                      </a:r>
                    </a:p>
                  </a:txBody>
                  <a:tcPr marL="82296" marR="82296" marT="13716" marB="13716" anchor="ctr">
                    <a:solidFill>
                      <a:srgbClr val="0F2A47"/>
                    </a:solidFill>
                  </a:tcPr>
                </a:tc>
                <a:tc>
                  <a:txBody>
                    <a:bodyPr wrap="square"/>
                    <a:lstStyle/>
                    <a:p>
                      <a:pPr algn="r"/>
                      <a:r>
                        <a:rPr sz="900" b="1">
                          <a:solidFill>
                            <a:srgbClr val="FFFFFF"/>
                          </a:solidFill>
                          <a:latin typeface="Segoe UI"/>
                        </a:rPr>
                        <a:t>macro F1 (std)</a:t>
                      </a:r>
                    </a:p>
                  </a:txBody>
                  <a:tcPr marL="82296" marR="82296" marT="13716" marB="13716" anchor="ctr">
                    <a:solidFill>
                      <a:srgbClr val="0F2A47"/>
                    </a:solidFill>
                  </a:tcPr>
                </a:tc>
                <a:tc>
                  <a:txBody>
                    <a:bodyPr wrap="square"/>
                    <a:lstStyle/>
                    <a:p>
                      <a:pPr algn="r"/>
                      <a:r>
                        <a:rPr sz="900" b="1">
                          <a:solidFill>
                            <a:srgbClr val="FFFFFF"/>
                          </a:solidFill>
                          <a:latin typeface="Segoe UI"/>
                        </a:rPr>
                        <a:t>Accuracy</a:t>
                      </a:r>
                    </a:p>
                  </a:txBody>
                  <a:tcPr marL="82296" marR="82296" marT="13716" marB="13716" anchor="ctr">
                    <a:solidFill>
                      <a:srgbClr val="0F2A47"/>
                    </a:solidFill>
                  </a:tcPr>
                </a:tc>
                <a:tc>
                  <a:txBody>
                    <a:bodyPr wrap="square"/>
                    <a:lstStyle/>
                    <a:p>
                      <a:pPr algn="r"/>
                      <a:r>
                        <a:rPr sz="900" b="1">
                          <a:solidFill>
                            <a:srgbClr val="FFFFFF"/>
                          </a:solidFill>
                          <a:latin typeface="Segoe UI"/>
                        </a:rPr>
                        <a:t>Fit seconds</a:t>
                      </a:r>
                    </a:p>
                  </a:txBody>
                  <a:tcPr marL="82296" marR="82296" marT="13716" marB="13716" anchor="ctr">
                    <a:solidFill>
                      <a:srgbClr val="0F2A47"/>
                    </a:solidFill>
                  </a:tcPr>
                </a:tc>
              </a:tr>
              <a:tr h="384048">
                <a:tc>
                  <a:txBody>
                    <a:bodyPr wrap="square"/>
                    <a:lstStyle/>
                    <a:p>
                      <a:pPr algn="l"/>
                      <a:r>
                        <a:rPr sz="960" b="0">
                          <a:solidFill>
                            <a:srgbClr val="2A3441"/>
                          </a:solidFill>
                          <a:latin typeface="Segoe UI"/>
                        </a:rPr>
                        <a:t>Logistic Regression</a:t>
                      </a:r>
                    </a:p>
                  </a:txBody>
                  <a:tcPr marL="82296" marR="82296" marT="13716" marB="13716" anchor="ctr">
                    <a:solidFill>
                      <a:srgbClr val="FFFFFF"/>
                    </a:solidFill>
                  </a:tcPr>
                </a:tc>
                <a:tc>
                  <a:txBody>
                    <a:bodyPr wrap="square"/>
                    <a:lstStyle/>
                    <a:p>
                      <a:pPr algn="r"/>
                      <a:r>
                        <a:rPr sz="960" b="1">
                          <a:solidFill>
                            <a:srgbClr val="C0392B"/>
                          </a:solidFill>
                          <a:latin typeface="Segoe UI"/>
                        </a:rPr>
                        <a:t>0.5133</a:t>
                      </a:r>
                    </a:p>
                  </a:txBody>
                  <a:tcPr marL="82296" marR="82296" marT="13716" marB="13716" anchor="ctr">
                    <a:solidFill>
                      <a:srgbClr val="FFFFFF"/>
                    </a:solidFill>
                  </a:tcPr>
                </a:tc>
                <a:tc>
                  <a:txBody>
                    <a:bodyPr wrap="square"/>
                    <a:lstStyle/>
                    <a:p>
                      <a:pPr algn="r"/>
                      <a:r>
                        <a:rPr sz="960" b="0">
                          <a:solidFill>
                            <a:srgbClr val="2A3441"/>
                          </a:solidFill>
                          <a:latin typeface="Segoe UI"/>
                        </a:rPr>
                        <a:t>0.0462</a:t>
                      </a:r>
                    </a:p>
                  </a:txBody>
                  <a:tcPr marL="82296" marR="82296" marT="13716" marB="13716" anchor="ctr">
                    <a:solidFill>
                      <a:srgbClr val="FFFFFF"/>
                    </a:solidFill>
                  </a:tcPr>
                </a:tc>
                <a:tc>
                  <a:txBody>
                    <a:bodyPr wrap="square"/>
                    <a:lstStyle/>
                    <a:p>
                      <a:pPr algn="r"/>
                      <a:r>
                        <a:rPr sz="960" b="0">
                          <a:solidFill>
                            <a:srgbClr val="2A3441"/>
                          </a:solidFill>
                          <a:latin typeface="Segoe UI"/>
                        </a:rPr>
                        <a:t>0.7866</a:t>
                      </a:r>
                    </a:p>
                  </a:txBody>
                  <a:tcPr marL="82296" marR="82296" marT="13716" marB="13716" anchor="ctr">
                    <a:solidFill>
                      <a:srgbClr val="FFFFFF"/>
                    </a:solidFill>
                  </a:tcPr>
                </a:tc>
                <a:tc>
                  <a:txBody>
                    <a:bodyPr wrap="square"/>
                    <a:lstStyle/>
                    <a:p>
                      <a:pPr algn="r"/>
                      <a:r>
                        <a:rPr sz="960" b="0">
                          <a:solidFill>
                            <a:srgbClr val="2A3441"/>
                          </a:solidFill>
                          <a:latin typeface="Segoe UI"/>
                        </a:rPr>
                        <a:t>2.03</a:t>
                      </a:r>
                    </a:p>
                  </a:txBody>
                  <a:tcPr marL="82296" marR="82296" marT="13716" marB="13716" anchor="ctr">
                    <a:solidFill>
                      <a:srgbClr val="FFFFFF"/>
                    </a:solidFill>
                  </a:tcPr>
                </a:tc>
              </a:tr>
              <a:tr h="384048">
                <a:tc>
                  <a:txBody>
                    <a:bodyPr wrap="square"/>
                    <a:lstStyle/>
                    <a:p>
                      <a:pPr algn="l"/>
                      <a:r>
                        <a:rPr sz="960" b="0">
                          <a:solidFill>
                            <a:srgbClr val="2A3441"/>
                          </a:solidFill>
                          <a:latin typeface="Segoe UI"/>
                        </a:rPr>
                        <a:t>Random Forest</a:t>
                      </a:r>
                    </a:p>
                  </a:txBody>
                  <a:tcPr marL="82296" marR="82296" marT="13716" marB="13716" anchor="ctr">
                    <a:solidFill>
                      <a:srgbClr val="F4F7FB"/>
                    </a:solidFill>
                  </a:tcPr>
                </a:tc>
                <a:tc>
                  <a:txBody>
                    <a:bodyPr wrap="square"/>
                    <a:lstStyle/>
                    <a:p>
                      <a:pPr algn="r"/>
                      <a:r>
                        <a:rPr sz="960" b="0">
                          <a:solidFill>
                            <a:srgbClr val="2A3441"/>
                          </a:solidFill>
                          <a:latin typeface="Segoe UI"/>
                        </a:rPr>
                        <a:t>0.9618</a:t>
                      </a:r>
                    </a:p>
                  </a:txBody>
                  <a:tcPr marL="82296" marR="82296" marT="13716" marB="13716" anchor="ctr">
                    <a:solidFill>
                      <a:srgbClr val="F4F7FB"/>
                    </a:solidFill>
                  </a:tcPr>
                </a:tc>
                <a:tc>
                  <a:txBody>
                    <a:bodyPr wrap="square"/>
                    <a:lstStyle/>
                    <a:p>
                      <a:pPr algn="r"/>
                      <a:r>
                        <a:rPr sz="960" b="0">
                          <a:solidFill>
                            <a:srgbClr val="2A3441"/>
                          </a:solidFill>
                          <a:latin typeface="Segoe UI"/>
                        </a:rPr>
                        <a:t>0.0137</a:t>
                      </a:r>
                    </a:p>
                  </a:txBody>
                  <a:tcPr marL="82296" marR="82296" marT="13716" marB="13716" anchor="ctr">
                    <a:solidFill>
                      <a:srgbClr val="F4F7FB"/>
                    </a:solidFill>
                  </a:tcPr>
                </a:tc>
                <a:tc>
                  <a:txBody>
                    <a:bodyPr wrap="square"/>
                    <a:lstStyle/>
                    <a:p>
                      <a:pPr algn="r"/>
                      <a:r>
                        <a:rPr sz="960" b="0">
                          <a:solidFill>
                            <a:srgbClr val="2A3441"/>
                          </a:solidFill>
                          <a:latin typeface="Segoe UI"/>
                        </a:rPr>
                        <a:t>0.9928</a:t>
                      </a:r>
                    </a:p>
                  </a:txBody>
                  <a:tcPr marL="82296" marR="82296" marT="13716" marB="13716" anchor="ctr">
                    <a:solidFill>
                      <a:srgbClr val="F4F7FB"/>
                    </a:solidFill>
                  </a:tcPr>
                </a:tc>
                <a:tc>
                  <a:txBody>
                    <a:bodyPr wrap="square"/>
                    <a:lstStyle/>
                    <a:p>
                      <a:pPr algn="r"/>
                      <a:r>
                        <a:rPr sz="960" b="0">
                          <a:solidFill>
                            <a:srgbClr val="2A3441"/>
                          </a:solidFill>
                          <a:latin typeface="Segoe UI"/>
                        </a:rPr>
                        <a:t>0.62</a:t>
                      </a:r>
                    </a:p>
                  </a:txBody>
                  <a:tcPr marL="82296" marR="82296" marT="13716" marB="13716" anchor="ctr">
                    <a:solidFill>
                      <a:srgbClr val="F4F7FB"/>
                    </a:solidFill>
                  </a:tcPr>
                </a:tc>
              </a:tr>
              <a:tr h="384048">
                <a:tc>
                  <a:txBody>
                    <a:bodyPr wrap="square"/>
                    <a:lstStyle/>
                    <a:p>
                      <a:pPr algn="l"/>
                      <a:r>
                        <a:rPr sz="960" b="0">
                          <a:solidFill>
                            <a:srgbClr val="2A3441"/>
                          </a:solidFill>
                          <a:latin typeface="Segoe UI"/>
                        </a:rPr>
                        <a:t>HistGradientBoosting</a:t>
                      </a:r>
                    </a:p>
                  </a:txBody>
                  <a:tcPr marL="82296" marR="82296" marT="13716" marB="13716" anchor="ctr">
                    <a:solidFill>
                      <a:srgbClr val="FFFFFF"/>
                    </a:solidFill>
                  </a:tcPr>
                </a:tc>
                <a:tc>
                  <a:txBody>
                    <a:bodyPr wrap="square"/>
                    <a:lstStyle/>
                    <a:p>
                      <a:pPr algn="r"/>
                      <a:r>
                        <a:rPr sz="960" b="0">
                          <a:solidFill>
                            <a:srgbClr val="2A3441"/>
                          </a:solidFill>
                          <a:latin typeface="Segoe UI"/>
                        </a:rPr>
                        <a:t>0.9687</a:t>
                      </a:r>
                    </a:p>
                  </a:txBody>
                  <a:tcPr marL="82296" marR="82296" marT="13716" marB="13716" anchor="ctr">
                    <a:solidFill>
                      <a:srgbClr val="FFFFFF"/>
                    </a:solidFill>
                  </a:tcPr>
                </a:tc>
                <a:tc>
                  <a:txBody>
                    <a:bodyPr wrap="square"/>
                    <a:lstStyle/>
                    <a:p>
                      <a:pPr algn="r"/>
                      <a:r>
                        <a:rPr sz="960" b="0">
                          <a:solidFill>
                            <a:srgbClr val="2A3441"/>
                          </a:solidFill>
                          <a:latin typeface="Segoe UI"/>
                        </a:rPr>
                        <a:t>0.0106</a:t>
                      </a:r>
                    </a:p>
                  </a:txBody>
                  <a:tcPr marL="82296" marR="82296" marT="13716" marB="13716" anchor="ctr">
                    <a:solidFill>
                      <a:srgbClr val="FFFFFF"/>
                    </a:solidFill>
                  </a:tcPr>
                </a:tc>
                <a:tc>
                  <a:txBody>
                    <a:bodyPr wrap="square"/>
                    <a:lstStyle/>
                    <a:p>
                      <a:pPr algn="r"/>
                      <a:r>
                        <a:rPr sz="960" b="0">
                          <a:solidFill>
                            <a:srgbClr val="2A3441"/>
                          </a:solidFill>
                          <a:latin typeface="Segoe UI"/>
                        </a:rPr>
                        <a:t>0.9946</a:t>
                      </a:r>
                    </a:p>
                  </a:txBody>
                  <a:tcPr marL="82296" marR="82296" marT="13716" marB="13716" anchor="ctr">
                    <a:solidFill>
                      <a:srgbClr val="FFFFFF"/>
                    </a:solidFill>
                  </a:tcPr>
                </a:tc>
                <a:tc>
                  <a:txBody>
                    <a:bodyPr wrap="square"/>
                    <a:lstStyle/>
                    <a:p>
                      <a:pPr algn="r"/>
                      <a:r>
                        <a:rPr sz="960" b="0">
                          <a:solidFill>
                            <a:srgbClr val="2A3441"/>
                          </a:solidFill>
                          <a:latin typeface="Segoe UI"/>
                        </a:rPr>
                        <a:t>2.66</a:t>
                      </a:r>
                    </a:p>
                  </a:txBody>
                  <a:tcPr marL="82296" marR="82296" marT="13716" marB="13716" anchor="ctr">
                    <a:solidFill>
                      <a:srgbClr val="FFFFFF"/>
                    </a:solidFill>
                  </a:tcPr>
                </a:tc>
              </a:tr>
              <a:tr h="384048">
                <a:tc>
                  <a:txBody>
                    <a:bodyPr wrap="square"/>
                    <a:lstStyle/>
                    <a:p>
                      <a:pPr algn="l"/>
                      <a:r>
                        <a:rPr sz="960" b="0">
                          <a:solidFill>
                            <a:srgbClr val="2A3441"/>
                          </a:solidFill>
                          <a:latin typeface="Segoe UI"/>
                        </a:rPr>
                        <a:t>XGBoost (incumbent family)</a:t>
                      </a:r>
                    </a:p>
                  </a:txBody>
                  <a:tcPr marL="82296" marR="82296" marT="13716" marB="13716" anchor="ctr">
                    <a:solidFill>
                      <a:srgbClr val="F4F7FB"/>
                    </a:solidFill>
                  </a:tcPr>
                </a:tc>
                <a:tc>
                  <a:txBody>
                    <a:bodyPr wrap="square"/>
                    <a:lstStyle/>
                    <a:p>
                      <a:pPr algn="r"/>
                      <a:r>
                        <a:rPr sz="960" b="1">
                          <a:solidFill>
                            <a:srgbClr val="1E7A45"/>
                          </a:solidFill>
                          <a:latin typeface="Segoe UI"/>
                        </a:rPr>
                        <a:t>0.9657</a:t>
                      </a:r>
                    </a:p>
                  </a:txBody>
                  <a:tcPr marL="82296" marR="82296" marT="13716" marB="13716" anchor="ctr">
                    <a:solidFill>
                      <a:srgbClr val="F4F7FB"/>
                    </a:solidFill>
                  </a:tcPr>
                </a:tc>
                <a:tc>
                  <a:txBody>
                    <a:bodyPr wrap="square"/>
                    <a:lstStyle/>
                    <a:p>
                      <a:pPr algn="r"/>
                      <a:r>
                        <a:rPr sz="960" b="0">
                          <a:solidFill>
                            <a:srgbClr val="2A3441"/>
                          </a:solidFill>
                          <a:latin typeface="Segoe UI"/>
                        </a:rPr>
                        <a:t>0.0146</a:t>
                      </a:r>
                    </a:p>
                  </a:txBody>
                  <a:tcPr marL="82296" marR="82296" marT="13716" marB="13716" anchor="ctr">
                    <a:solidFill>
                      <a:srgbClr val="F4F7FB"/>
                    </a:solidFill>
                  </a:tcPr>
                </a:tc>
                <a:tc>
                  <a:txBody>
                    <a:bodyPr wrap="square"/>
                    <a:lstStyle/>
                    <a:p>
                      <a:pPr algn="r"/>
                      <a:r>
                        <a:rPr sz="960" b="0">
                          <a:solidFill>
                            <a:srgbClr val="2A3441"/>
                          </a:solidFill>
                          <a:latin typeface="Segoe UI"/>
                        </a:rPr>
                        <a:t>0.9946</a:t>
                      </a:r>
                    </a:p>
                  </a:txBody>
                  <a:tcPr marL="82296" marR="82296" marT="13716" marB="13716" anchor="ctr">
                    <a:solidFill>
                      <a:srgbClr val="F4F7FB"/>
                    </a:solidFill>
                  </a:tcPr>
                </a:tc>
                <a:tc>
                  <a:txBody>
                    <a:bodyPr wrap="square"/>
                    <a:lstStyle/>
                    <a:p>
                      <a:pPr algn="r"/>
                      <a:r>
                        <a:rPr sz="960" b="0">
                          <a:solidFill>
                            <a:srgbClr val="2A3441"/>
                          </a:solidFill>
                          <a:latin typeface="Segoe UI"/>
                        </a:rPr>
                        <a:t>1.26</a:t>
                      </a:r>
                    </a:p>
                  </a:txBody>
                  <a:tcPr marL="82296" marR="82296" marT="13716" marB="13716" anchor="ctr">
                    <a:solidFill>
                      <a:srgbClr val="F4F7FB"/>
                    </a:solidFill>
                  </a:tcPr>
                </a:tc>
              </a:tr>
            </a:tbl>
          </a:graphicData>
        </a:graphic>
      </p:graphicFrame>
      <p:sp>
        <p:nvSpPr>
          <p:cNvPr id="10" name="TextBox 9"/>
          <p:cNvSpPr txBox="1"/>
          <p:nvPr/>
        </p:nvSpPr>
        <p:spPr>
          <a:xfrm>
            <a:off x="566928" y="3291840"/>
            <a:ext cx="6634703" cy="2926080"/>
          </a:xfrm>
          <a:prstGeom prst="rect">
            <a:avLst/>
          </a:prstGeom>
          <a:noFill/>
        </p:spPr>
        <p:txBody>
          <a:bodyPr wrap="square" anchor="t" lIns="0" rIns="0" tIns="0" bIns="0">
            <a:spAutoFit/>
          </a:bodyPr>
          <a:lstStyle/>
          <a:p>
            <a:pPr algn="l">
              <a:spcBef>
                <a:spcPts val="0"/>
              </a:spcBef>
              <a:spcAft>
                <a:spcPts val="600"/>
              </a:spcAft>
            </a:pPr>
            <a:r>
              <a:rPr sz="1150" b="1" i="0">
                <a:solidFill>
                  <a:srgbClr val="0F2A47"/>
                </a:solidFill>
                <a:latin typeface="Segoe UI"/>
              </a:rPr>
              <a:t>What the comparison measured</a:t>
            </a:r>
          </a:p>
        </p:txBody>
      </p:sp>
      <p:sp>
        <p:nvSpPr>
          <p:cNvPr id="11" name="TextBox 10"/>
          <p:cNvSpPr txBox="1"/>
          <p:nvPr/>
        </p:nvSpPr>
        <p:spPr>
          <a:xfrm>
            <a:off x="566928" y="3566160"/>
            <a:ext cx="6634703" cy="2651760"/>
          </a:xfrm>
          <a:prstGeom prst="rect">
            <a:avLst/>
          </a:prstGeom>
          <a:noFill/>
        </p:spPr>
        <p:txBody>
          <a:bodyPr wrap="square" anchor="t" lIns="0" rIns="0" tIns="0" bIns="0">
            <a:spAutoFit/>
          </a:bodyPr>
          <a:lstStyle/>
          <a:p>
            <a:pPr algn="l">
              <a:lnSpc>
                <a:spcPct val="118000"/>
              </a:lnSpc>
              <a:spcBef>
                <a:spcPts val="0"/>
              </a:spcBef>
              <a:spcAft>
                <a:spcPts val="600"/>
              </a:spcAft>
            </a:pPr>
            <a:r>
              <a:rPr sz="1000" b="0" i="0">
                <a:solidFill>
                  <a:srgbClr val="2A3441"/>
                </a:solidFill>
                <a:latin typeface="Segoe UI"/>
              </a:rPr>
              <a:t>A linear baseline collapses exactly where it matters. Logistic Regression reaches 78.7% accuracy — which hides the rare classes — but only 0.51 macro F1, which exposes them. That number is why macro F1 leads the protocol.</a:t>
            </a:r>
          </a:p>
          <a:p>
            <a:pPr algn="l">
              <a:lnSpc>
                <a:spcPct val="118000"/>
              </a:lnSpc>
              <a:spcBef>
                <a:spcPts val="0"/>
              </a:spcBef>
              <a:spcAft>
                <a:spcPts val="600"/>
              </a:spcAft>
            </a:pPr>
            <a:r>
              <a:rPr sz="1000" b="0" i="0">
                <a:solidFill>
                  <a:srgbClr val="2A3441"/>
                </a:solidFill>
                <a:latin typeface="Segoe UI"/>
              </a:rPr>
              <a:t>Tree ensembles win, and gradient boosting leads them. Random Forest 0.962; XGBoost 0.966 ± 0.015; HistGradientBoosting 0.969 ± 0.011 — a statistical tie, both clear of bagging.</a:t>
            </a:r>
          </a:p>
          <a:p>
            <a:pPr algn="l">
              <a:lnSpc>
                <a:spcPct val="118000"/>
              </a:lnSpc>
              <a:spcBef>
                <a:spcPts val="0"/>
              </a:spcBef>
              <a:spcAft>
                <a:spcPts val="600"/>
              </a:spcAft>
            </a:pPr>
            <a:r>
              <a:rPr sz="1000" b="0" i="0">
                <a:solidFill>
                  <a:srgbClr val="2A3441"/>
                </a:solidFill>
                <a:latin typeface="Segoe UI"/>
              </a:rPr>
              <a:t>The incumbent family is confirmed by measurement, not habit. XGBoost ties its nearest challenger and carries native TreeSHAP at no extra training cost.</a:t>
            </a:r>
          </a:p>
        </p:txBody>
      </p:sp>
      <p:sp>
        <p:nvSpPr>
          <p:cNvPr id="12" name="Rectangle 11"/>
          <p:cNvSpPr/>
          <p:nvPr/>
        </p:nvSpPr>
        <p:spPr>
          <a:xfrm>
            <a:off x="7422788" y="1773936"/>
            <a:ext cx="4201978" cy="444398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642244" y="1938528"/>
            <a:ext cx="3763066" cy="4114800"/>
          </a:xfrm>
          <a:prstGeom prst="rect">
            <a:avLst/>
          </a:prstGeom>
          <a:noFill/>
        </p:spPr>
        <p:txBody>
          <a:bodyPr wrap="square" anchor="t" lIns="0" rIns="0" tIns="0" bIns="0">
            <a:spAutoFit/>
          </a:bodyPr>
          <a:lstStyle/>
          <a:p>
            <a:pPr algn="l">
              <a:spcBef>
                <a:spcPts val="0"/>
              </a:spcBef>
              <a:spcAft>
                <a:spcPts val="600"/>
              </a:spcAft>
            </a:pPr>
            <a:r>
              <a:rPr sz="1200" b="1" i="0">
                <a:solidFill>
                  <a:srgbClr val="0F2A47"/>
                </a:solidFill>
                <a:latin typeface="Segoe UI"/>
              </a:rPr>
              <a:t>Why explainability decided the tie</a:t>
            </a:r>
          </a:p>
          <a:p>
            <a:pPr algn="l">
              <a:lnSpc>
                <a:spcPct val="122000"/>
              </a:lnSpc>
              <a:spcBef>
                <a:spcPts val="0"/>
              </a:spcBef>
              <a:spcAft>
                <a:spcPts val="1000"/>
              </a:spcAft>
            </a:pPr>
            <a:r>
              <a:rPr sz="1000" b="0" i="0">
                <a:solidFill>
                  <a:srgbClr val="2A3441"/>
                </a:solidFill>
                <a:latin typeface="Segoe UI"/>
              </a:rPr>
              <a:t>TreeSHAP is not bolted on afterwards. It is native to the incumbent family and it is what produces the towards-and-away evidence panels the analyst checks against the flow record.</a:t>
            </a:r>
          </a:p>
          <a:p>
            <a:pPr algn="l">
              <a:lnSpc>
                <a:spcPct val="122000"/>
              </a:lnSpc>
              <a:spcBef>
                <a:spcPts val="0"/>
              </a:spcBef>
              <a:spcAft>
                <a:spcPts val="1000"/>
              </a:spcAft>
            </a:pPr>
            <a:r>
              <a:rPr sz="1000" b="0" i="0">
                <a:solidFill>
                  <a:srgbClr val="2A3441"/>
                </a:solidFill>
                <a:latin typeface="Segoe UI"/>
              </a:rPr>
              <a:t>Had XGBoost lost outright, this notebook would say so. It did not: the two gradient-boosted families trade places across folds, which is itself the finding — the schema suits boosted trees.</a:t>
            </a:r>
          </a:p>
          <a:p>
            <a:pPr algn="l">
              <a:spcBef>
                <a:spcPts val="0"/>
              </a:spcBef>
              <a:spcAft>
                <a:spcPts val="500"/>
              </a:spcAft>
            </a:pPr>
            <a:r>
              <a:rPr sz="950" b="1" i="0">
                <a:solidFill>
                  <a:srgbClr val="1F6FEB"/>
                </a:solidFill>
                <a:latin typeface="Segoe UI"/>
              </a:rPr>
              <a:t>DECISIONS RECORDED</a:t>
            </a:r>
          </a:p>
          <a:p>
            <a:pPr algn="l">
              <a:lnSpc>
                <a:spcPct val="118000"/>
              </a:lnSpc>
              <a:spcBef>
                <a:spcPts val="0"/>
              </a:spcBef>
              <a:spcAft>
                <a:spcPts val="500"/>
              </a:spcAft>
            </a:pPr>
            <a:r>
              <a:rPr sz="960" b="0" i="0">
                <a:solidFill>
                  <a:srgbClr val="2A3441"/>
                </a:solidFill>
                <a:latin typeface="Segoe UI"/>
              </a:rPr>
              <a:t>B1 · Model-family comparison recorded; XGBoost retained on a measured tie plus the explainability tiebreak.</a:t>
            </a:r>
          </a:p>
          <a:p>
            <a:pPr algn="l">
              <a:lnSpc>
                <a:spcPct val="118000"/>
              </a:lnSpc>
              <a:spcBef>
                <a:spcPts val="0"/>
              </a:spcBef>
              <a:spcAft>
                <a:spcPts val="500"/>
              </a:spcAft>
            </a:pPr>
            <a:r>
              <a:rPr sz="960" b="0" i="0">
                <a:solidFill>
                  <a:srgbClr val="2A3441"/>
                </a:solidFill>
                <a:latin typeface="Segoe UI"/>
              </a:rPr>
              <a:t>B2 · Macro F1, not accuracy, is the protocol's headline.</a:t>
            </a:r>
          </a:p>
          <a:p>
            <a:pPr algn="l">
              <a:lnSpc>
                <a:spcPct val="118000"/>
              </a:lnSpc>
              <a:spcBef>
                <a:spcPts val="0"/>
              </a:spcBef>
              <a:spcAft>
                <a:spcPts val="0"/>
              </a:spcAft>
            </a:pPr>
            <a:r>
              <a:rPr sz="960" b="0" i="0">
                <a:solidFill>
                  <a:srgbClr val="2A3441"/>
                </a:solidFill>
                <a:latin typeface="Segoe UI"/>
              </a:rPr>
              <a:t>B3 · Explainability stays a deciding property, not a bonus.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MODEL AND RANKING</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A second, weaker detector — so the false positives are real</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The strong model's queue was so good that analyst feedback had nothing to correct.</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30</a:t>
            </a:r>
          </a:p>
        </p:txBody>
      </p:sp>
      <p:sp>
        <p:nvSpPr>
          <p:cNvPr id="9" name="Rectangle 8"/>
          <p:cNvSpPr/>
          <p:nvPr/>
        </p:nvSpPr>
        <p:spPr>
          <a:xfrm>
            <a:off x="566928" y="1700784"/>
            <a:ext cx="3539642"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00784"/>
            <a:ext cx="50292" cy="1481328"/>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1810512"/>
            <a:ext cx="3228746" cy="1280160"/>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we built one</a:t>
            </a:r>
          </a:p>
          <a:p>
            <a:pPr algn="l">
              <a:lnSpc>
                <a:spcPct val="120000"/>
              </a:lnSpc>
              <a:spcBef>
                <a:spcPts val="0"/>
              </a:spcBef>
              <a:spcAft>
                <a:spcPts val="0"/>
              </a:spcAft>
            </a:pPr>
            <a:r>
              <a:rPr sz="940" b="0" i="0">
                <a:solidFill>
                  <a:srgbClr val="2A3441"/>
                </a:solidFill>
                <a:latin typeface="Segoe UI"/>
              </a:rPr>
              <a:t>The demo queue holds 2 false positives in 996 flagged alerts, and precision is 1.000 at every cut-off to k = 200. There was nothing to fix, so feedback could only disturb a perfect ordering.</a:t>
            </a:r>
          </a:p>
        </p:txBody>
      </p:sp>
      <p:sp>
        <p:nvSpPr>
          <p:cNvPr id="12" name="Rectangle 11"/>
          <p:cNvSpPr/>
          <p:nvPr/>
        </p:nvSpPr>
        <p:spPr>
          <a:xfrm>
            <a:off x="4326026" y="1700784"/>
            <a:ext cx="3539642"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26026" y="1700784"/>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08906" y="1810512"/>
            <a:ext cx="3228746" cy="1280160"/>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What we did</a:t>
            </a:r>
          </a:p>
          <a:p>
            <a:pPr algn="l">
              <a:lnSpc>
                <a:spcPct val="120000"/>
              </a:lnSpc>
              <a:spcBef>
                <a:spcPts val="0"/>
              </a:spcBef>
              <a:spcAft>
                <a:spcPts val="0"/>
              </a:spcAft>
            </a:pPr>
            <a:r>
              <a:rPr sz="940" b="0" i="0">
                <a:solidFill>
                  <a:srgbClr val="2A3441"/>
                </a:solidFill>
                <a:latin typeface="Segoe UI"/>
              </a:rPr>
              <a:t>We built a deliberately weaker detector and ran the real pipeline over it, into its own database, data/stress.db, so the pristine demo database is untouched.</a:t>
            </a:r>
          </a:p>
        </p:txBody>
      </p:sp>
      <p:sp>
        <p:nvSpPr>
          <p:cNvPr id="15" name="Rectangle 14"/>
          <p:cNvSpPr/>
          <p:nvPr/>
        </p:nvSpPr>
        <p:spPr>
          <a:xfrm>
            <a:off x="8085124" y="1700784"/>
            <a:ext cx="3539642"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85124" y="1700784"/>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68004" y="1810512"/>
            <a:ext cx="3228746" cy="1280160"/>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nothing in it is invented</a:t>
            </a:r>
          </a:p>
          <a:p>
            <a:pPr algn="l">
              <a:lnSpc>
                <a:spcPct val="120000"/>
              </a:lnSpc>
              <a:spcBef>
                <a:spcPts val="0"/>
              </a:spcBef>
              <a:spcAft>
                <a:spcPts val="0"/>
              </a:spcAft>
            </a:pPr>
            <a:r>
              <a:rPr sz="940" b="0" i="0">
                <a:solidFill>
                  <a:srgbClr val="2A3441"/>
                </a:solidFill>
                <a:latin typeface="Segoe UI"/>
              </a:rPr>
              <a:t>For every degraded flow the builder copies the complete prediction record of a real attack flow. Every class, probability, confidence, margin and TreeSHAP attribution is an unfabricated output of the committed model. Only the flow-to-prediction association is synthetic, which is what a struggling detector means.</a:t>
            </a:r>
          </a:p>
        </p:txBody>
      </p:sp>
      <p:graphicFrame>
        <p:nvGraphicFramePr>
          <p:cNvPr id="18" name="Table 17"/>
          <p:cNvGraphicFramePr>
            <a:graphicFrameLocks noGrp="1"/>
          </p:cNvGraphicFramePr>
          <p:nvPr/>
        </p:nvGraphicFramePr>
        <p:xfrm>
          <a:off x="566928" y="3346704"/>
          <a:ext cx="11055096" cy="2093976"/>
        </p:xfrm>
        <a:graphic>
          <a:graphicData uri="http://schemas.openxmlformats.org/drawingml/2006/table">
            <a:tbl>
              <a:tblPr firstRow="0" bandRow="0"/>
              <a:tblGrid>
                <a:gridCol w="2834640"/>
                <a:gridCol w="3566160"/>
                <a:gridCol w="4654296"/>
              </a:tblGrid>
              <a:tr h="310896">
                <a:tc>
                  <a:txBody>
                    <a:bodyPr wrap="square"/>
                    <a:lstStyle/>
                    <a:p>
                      <a:pPr algn="l"/>
                      <a:r>
                        <a:rPr sz="900" b="1">
                          <a:solidFill>
                            <a:srgbClr val="FFFFFF"/>
                          </a:solidFill>
                          <a:latin typeface="Segoe UI"/>
                        </a:rPr>
                        <a:t/>
                      </a:r>
                    </a:p>
                  </a:txBody>
                  <a:tcPr marL="82296" marR="82296" marT="13716" marB="13716" anchor="ctr">
                    <a:solidFill>
                      <a:srgbClr val="0F2A47"/>
                    </a:solidFill>
                  </a:tcPr>
                </a:tc>
                <a:tc>
                  <a:txBody>
                    <a:bodyPr wrap="square"/>
                    <a:lstStyle/>
                    <a:p>
                      <a:pPr algn="l"/>
                      <a:r>
                        <a:rPr sz="900" b="1">
                          <a:solidFill>
                            <a:srgbClr val="FFFFFF"/>
                          </a:solidFill>
                          <a:latin typeface="Segoe UI"/>
                        </a:rPr>
                        <a:t>The strong model — demo.db</a:t>
                      </a:r>
                    </a:p>
                  </a:txBody>
                  <a:tcPr marL="82296" marR="82296" marT="13716" marB="13716" anchor="ctr">
                    <a:solidFill>
                      <a:srgbClr val="0F2A47"/>
                    </a:solidFill>
                  </a:tcPr>
                </a:tc>
                <a:tc>
                  <a:txBody>
                    <a:bodyPr wrap="square"/>
                    <a:lstStyle/>
                    <a:p>
                      <a:pPr algn="l"/>
                      <a:r>
                        <a:rPr sz="900" b="1">
                          <a:solidFill>
                            <a:srgbClr val="FFFFFF"/>
                          </a:solidFill>
                          <a:latin typeface="Segoe UI"/>
                        </a:rPr>
                        <a:t>The weakened detector — stress.db</a:t>
                      </a:r>
                    </a:p>
                  </a:txBody>
                  <a:tcPr marL="82296" marR="82296" marT="13716" marB="13716" anchor="ctr">
                    <a:solidFill>
                      <a:srgbClr val="0F2A47"/>
                    </a:solidFill>
                  </a:tcPr>
                </a:tc>
              </a:tr>
              <a:tr h="297180">
                <a:tc>
                  <a:txBody>
                    <a:bodyPr wrap="square"/>
                    <a:lstStyle/>
                    <a:p>
                      <a:pPr algn="l"/>
                      <a:r>
                        <a:rPr sz="919" b="0">
                          <a:solidFill>
                            <a:srgbClr val="2A3441"/>
                          </a:solidFill>
                          <a:latin typeface="Segoe UI"/>
                        </a:rPr>
                        <a:t>Flagged alerts</a:t>
                      </a:r>
                    </a:p>
                  </a:txBody>
                  <a:tcPr marL="82296" marR="82296" marT="13716" marB="13716" anchor="ctr">
                    <a:solidFill>
                      <a:srgbClr val="FFFFFF"/>
                    </a:solidFill>
                  </a:tcPr>
                </a:tc>
                <a:tc>
                  <a:txBody>
                    <a:bodyPr wrap="square"/>
                    <a:lstStyle/>
                    <a:p>
                      <a:pPr algn="l"/>
                      <a:r>
                        <a:rPr sz="919" b="0">
                          <a:solidFill>
                            <a:srgbClr val="2A3441"/>
                          </a:solidFill>
                          <a:latin typeface="Segoe UI"/>
                        </a:rPr>
                        <a:t>996</a:t>
                      </a:r>
                    </a:p>
                  </a:txBody>
                  <a:tcPr marL="82296" marR="82296" marT="13716" marB="13716" anchor="ctr">
                    <a:solidFill>
                      <a:srgbClr val="FFFFFF"/>
                    </a:solidFill>
                  </a:tcPr>
                </a:tc>
                <a:tc>
                  <a:txBody>
                    <a:bodyPr wrap="square"/>
                    <a:lstStyle/>
                    <a:p>
                      <a:pPr algn="l"/>
                      <a:r>
                        <a:rPr sz="919" b="0">
                          <a:solidFill>
                            <a:srgbClr val="2A3441"/>
                          </a:solidFill>
                          <a:latin typeface="Segoe UI"/>
                        </a:rPr>
                        <a:t>1,346</a:t>
                      </a:r>
                    </a:p>
                  </a:txBody>
                  <a:tcPr marL="82296" marR="82296" marT="13716" marB="13716" anchor="ctr">
                    <a:solidFill>
                      <a:srgbClr val="FFFFFF"/>
                    </a:solidFill>
                  </a:tcPr>
                </a:tc>
              </a:tr>
              <a:tr h="297180">
                <a:tc>
                  <a:txBody>
                    <a:bodyPr wrap="square"/>
                    <a:lstStyle/>
                    <a:p>
                      <a:pPr algn="l"/>
                      <a:r>
                        <a:rPr sz="919" b="0">
                          <a:solidFill>
                            <a:srgbClr val="2A3441"/>
                          </a:solidFill>
                          <a:latin typeface="Segoe UI"/>
                        </a:rPr>
                        <a:t>False positives</a:t>
                      </a:r>
                    </a:p>
                  </a:txBody>
                  <a:tcPr marL="82296" marR="82296" marT="13716" marB="13716" anchor="ctr">
                    <a:solidFill>
                      <a:srgbClr val="F4F7FB"/>
                    </a:solidFill>
                  </a:tcPr>
                </a:tc>
                <a:tc>
                  <a:txBody>
                    <a:bodyPr wrap="square"/>
                    <a:lstStyle/>
                    <a:p>
                      <a:pPr algn="l"/>
                      <a:r>
                        <a:rPr sz="919" b="0">
                          <a:solidFill>
                            <a:srgbClr val="2A3441"/>
                          </a:solidFill>
                          <a:latin typeface="Segoe UI"/>
                        </a:rPr>
                        <a:t>2</a:t>
                      </a:r>
                    </a:p>
                  </a:txBody>
                  <a:tcPr marL="82296" marR="82296" marT="13716" marB="13716" anchor="ctr">
                    <a:solidFill>
                      <a:srgbClr val="F4F7FB"/>
                    </a:solidFill>
                  </a:tcPr>
                </a:tc>
                <a:tc>
                  <a:txBody>
                    <a:bodyPr wrap="square"/>
                    <a:lstStyle/>
                    <a:p>
                      <a:pPr algn="l"/>
                      <a:r>
                        <a:rPr sz="919" b="1">
                          <a:solidFill>
                            <a:srgbClr val="C0392B"/>
                          </a:solidFill>
                          <a:latin typeface="Segoe UI"/>
                        </a:rPr>
                        <a:t>600</a:t>
                      </a:r>
                    </a:p>
                  </a:txBody>
                  <a:tcPr marL="82296" marR="82296" marT="13716" marB="13716" anchor="ctr">
                    <a:solidFill>
                      <a:srgbClr val="F4F7FB"/>
                    </a:solidFill>
                  </a:tcPr>
                </a:tc>
              </a:tr>
              <a:tr h="297180">
                <a:tc>
                  <a:txBody>
                    <a:bodyPr wrap="square"/>
                    <a:lstStyle/>
                    <a:p>
                      <a:pPr algn="l"/>
                      <a:r>
                        <a:rPr sz="919" b="0">
                          <a:solidFill>
                            <a:srgbClr val="2A3441"/>
                          </a:solidFill>
                          <a:latin typeface="Segoe UI"/>
                        </a:rPr>
                        <a:t>Precision among flagged</a:t>
                      </a:r>
                    </a:p>
                  </a:txBody>
                  <a:tcPr marL="82296" marR="82296" marT="13716" marB="13716" anchor="ctr">
                    <a:solidFill>
                      <a:srgbClr val="FFFFFF"/>
                    </a:solidFill>
                  </a:tcPr>
                </a:tc>
                <a:tc>
                  <a:txBody>
                    <a:bodyPr wrap="square"/>
                    <a:lstStyle/>
                    <a:p>
                      <a:pPr algn="l"/>
                      <a:r>
                        <a:rPr sz="919" b="0">
                          <a:solidFill>
                            <a:srgbClr val="2A3441"/>
                          </a:solidFill>
                          <a:latin typeface="Segoe UI"/>
                        </a:rPr>
                        <a:t>0.998</a:t>
                      </a:r>
                    </a:p>
                  </a:txBody>
                  <a:tcPr marL="82296" marR="82296" marT="13716" marB="13716" anchor="ctr">
                    <a:solidFill>
                      <a:srgbClr val="FFFFFF"/>
                    </a:solidFill>
                  </a:tcPr>
                </a:tc>
                <a:tc>
                  <a:txBody>
                    <a:bodyPr wrap="square"/>
                    <a:lstStyle/>
                    <a:p>
                      <a:pPr algn="l"/>
                      <a:r>
                        <a:rPr sz="919" b="0">
                          <a:solidFill>
                            <a:srgbClr val="2A3441"/>
                          </a:solidFill>
                          <a:latin typeface="Segoe UI"/>
                        </a:rPr>
                        <a:t>0.554</a:t>
                      </a:r>
                    </a:p>
                  </a:txBody>
                  <a:tcPr marL="82296" marR="82296" marT="13716" marB="13716" anchor="ctr">
                    <a:solidFill>
                      <a:srgbClr val="FFFFFF"/>
                    </a:solidFill>
                  </a:tcPr>
                </a:tc>
              </a:tr>
              <a:tr h="297180">
                <a:tc>
                  <a:txBody>
                    <a:bodyPr wrap="square"/>
                    <a:lstStyle/>
                    <a:p>
                      <a:pPr algn="l"/>
                      <a:r>
                        <a:rPr sz="919" b="0">
                          <a:solidFill>
                            <a:srgbClr val="2A3441"/>
                          </a:solidFill>
                          <a:latin typeface="Segoe UI"/>
                        </a:rPr>
                        <a:t>Precision @ 10</a:t>
                      </a:r>
                    </a:p>
                  </a:txBody>
                  <a:tcPr marL="82296" marR="82296" marT="13716" marB="13716" anchor="ctr">
                    <a:solidFill>
                      <a:srgbClr val="F4F7FB"/>
                    </a:solidFill>
                  </a:tcPr>
                </a:tc>
                <a:tc>
                  <a:txBody>
                    <a:bodyPr wrap="square"/>
                    <a:lstStyle/>
                    <a:p>
                      <a:pPr algn="l"/>
                      <a:r>
                        <a:rPr sz="919" b="0">
                          <a:solidFill>
                            <a:srgbClr val="2A3441"/>
                          </a:solidFill>
                          <a:latin typeface="Segoe UI"/>
                        </a:rPr>
                        <a:t>1.000 — nothing to correct</a:t>
                      </a:r>
                    </a:p>
                  </a:txBody>
                  <a:tcPr marL="82296" marR="82296" marT="13716" marB="13716" anchor="ctr">
                    <a:solidFill>
                      <a:srgbClr val="F4F7FB"/>
                    </a:solidFill>
                  </a:tcPr>
                </a:tc>
                <a:tc>
                  <a:txBody>
                    <a:bodyPr wrap="square"/>
                    <a:lstStyle/>
                    <a:p>
                      <a:pPr algn="l"/>
                      <a:r>
                        <a:rPr sz="919" b="1">
                          <a:solidFill>
                            <a:srgbClr val="C0392B"/>
                          </a:solidFill>
                          <a:latin typeface="Segoe UI"/>
                        </a:rPr>
                        <a:t>0.400 — 6 of the top 10 are wrong</a:t>
                      </a:r>
                    </a:p>
                  </a:txBody>
                  <a:tcPr marL="82296" marR="82296" marT="13716" marB="13716" anchor="ctr">
                    <a:solidFill>
                      <a:srgbClr val="F4F7FB"/>
                    </a:solidFill>
                  </a:tcPr>
                </a:tc>
              </a:tr>
              <a:tr h="297180">
                <a:tc>
                  <a:txBody>
                    <a:bodyPr wrap="square"/>
                    <a:lstStyle/>
                    <a:p>
                      <a:pPr algn="l"/>
                      <a:r>
                        <a:rPr sz="919" b="0">
                          <a:solidFill>
                            <a:srgbClr val="2A3441"/>
                          </a:solidFill>
                          <a:latin typeface="Segoe UI"/>
                        </a:rPr>
                        <a:t>Precision @ 50 / @ 200</a:t>
                      </a:r>
                    </a:p>
                  </a:txBody>
                  <a:tcPr marL="82296" marR="82296" marT="13716" marB="13716" anchor="ctr">
                    <a:solidFill>
                      <a:srgbClr val="FFFFFF"/>
                    </a:solidFill>
                  </a:tcPr>
                </a:tc>
                <a:tc>
                  <a:txBody>
                    <a:bodyPr wrap="square"/>
                    <a:lstStyle/>
                    <a:p>
                      <a:pPr algn="l"/>
                      <a:r>
                        <a:rPr sz="919" b="0">
                          <a:solidFill>
                            <a:srgbClr val="2A3441"/>
                          </a:solidFill>
                          <a:latin typeface="Segoe UI"/>
                        </a:rPr>
                        <a:t>1.000 / 1.000</a:t>
                      </a:r>
                    </a:p>
                  </a:txBody>
                  <a:tcPr marL="82296" marR="82296" marT="13716" marB="13716" anchor="ctr">
                    <a:solidFill>
                      <a:srgbClr val="FFFFFF"/>
                    </a:solidFill>
                  </a:tcPr>
                </a:tc>
                <a:tc>
                  <a:txBody>
                    <a:bodyPr wrap="square"/>
                    <a:lstStyle/>
                    <a:p>
                      <a:pPr algn="l"/>
                      <a:r>
                        <a:rPr sz="919" b="0">
                          <a:solidFill>
                            <a:srgbClr val="2A3441"/>
                          </a:solidFill>
                          <a:latin typeface="Segoe UI"/>
                        </a:rPr>
                        <a:t>0.780 / 0.730</a:t>
                      </a:r>
                    </a:p>
                  </a:txBody>
                  <a:tcPr marL="82296" marR="82296" marT="13716" marB="13716" anchor="ctr">
                    <a:solidFill>
                      <a:srgbClr val="FFFFFF"/>
                    </a:solidFill>
                  </a:tcPr>
                </a:tc>
              </a:tr>
              <a:tr h="297180">
                <a:tc>
                  <a:txBody>
                    <a:bodyPr wrap="square"/>
                    <a:lstStyle/>
                    <a:p>
                      <a:pPr algn="l"/>
                      <a:r>
                        <a:rPr sz="919" b="0">
                          <a:solidFill>
                            <a:srgbClr val="2A3441"/>
                          </a:solidFill>
                          <a:latin typeface="Segoe UI"/>
                        </a:rPr>
                        <a:t>Evidence classes present</a:t>
                      </a:r>
                    </a:p>
                  </a:txBody>
                  <a:tcPr marL="82296" marR="82296" marT="13716" marB="13716" anchor="ctr">
                    <a:solidFill>
                      <a:srgbClr val="F4F7FB"/>
                    </a:solidFill>
                  </a:tcPr>
                </a:tc>
                <a:tc>
                  <a:txBody>
                    <a:bodyPr wrap="square"/>
                    <a:lstStyle/>
                    <a:p>
                      <a:pPr algn="l"/>
                      <a:r>
                        <a:rPr sz="919" b="0">
                          <a:solidFill>
                            <a:srgbClr val="2A3441"/>
                          </a:solidFill>
                          <a:latin typeface="Segoe UI"/>
                        </a:rPr>
                        <a:t>corroborated 200 · model-only 796</a:t>
                      </a:r>
                    </a:p>
                  </a:txBody>
                  <a:tcPr marL="82296" marR="82296" marT="13716" marB="13716" anchor="ctr">
                    <a:solidFill>
                      <a:srgbClr val="F4F7FB"/>
                    </a:solidFill>
                  </a:tcPr>
                </a:tc>
                <a:tc>
                  <a:txBody>
                    <a:bodyPr wrap="square"/>
                    <a:lstStyle/>
                    <a:p>
                      <a:pPr algn="l"/>
                      <a:r>
                        <a:rPr sz="919" b="0">
                          <a:solidFill>
                            <a:srgbClr val="2A3441"/>
                          </a:solidFill>
                          <a:latin typeface="Segoe UI"/>
                        </a:rPr>
                        <a:t>model-only 1,146 · corroborated 148 · signature override 52</a:t>
                      </a:r>
                    </a:p>
                  </a:txBody>
                  <a:tcPr marL="82296" marR="82296" marT="13716" marB="13716" anchor="ctr">
                    <a:solidFill>
                      <a:srgbClr val="F4F7FB"/>
                    </a:solidFill>
                  </a:tcPr>
                </a:tc>
              </a:tr>
            </a:tbl>
          </a:graphicData>
        </a:graphic>
      </p:graphicFrame>
      <p:sp>
        <p:nvSpPr>
          <p:cNvPr id="19" name="Rectangle 18"/>
          <p:cNvSpPr/>
          <p:nvPr/>
        </p:nvSpPr>
        <p:spPr>
          <a:xfrm>
            <a:off x="566928" y="5468112"/>
            <a:ext cx="11057839" cy="914400"/>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8096" y="5577840"/>
            <a:ext cx="10655503" cy="713232"/>
          </a:xfrm>
          <a:prstGeom prst="rect">
            <a:avLst/>
          </a:prstGeom>
          <a:noFill/>
        </p:spPr>
        <p:txBody>
          <a:bodyPr wrap="square" anchor="t" lIns="0" rIns="0" tIns="0" bIns="0">
            <a:spAutoFit/>
          </a:bodyPr>
          <a:lstStyle/>
          <a:p>
            <a:pPr algn="l">
              <a:spcBef>
                <a:spcPts val="0"/>
              </a:spcBef>
              <a:spcAft>
                <a:spcPts val="300"/>
              </a:spcAft>
            </a:pPr>
            <a:r>
              <a:rPr sz="1100" b="1" i="0">
                <a:solidFill>
                  <a:srgbClr val="0F2A47"/>
                </a:solidFill>
                <a:latin typeface="Segoe UI"/>
              </a:rPr>
              <a:t>The ranking now has work to do — and the score still cannot do it alone.</a:t>
            </a:r>
          </a:p>
          <a:p>
            <a:pPr algn="l">
              <a:lnSpc>
                <a:spcPct val="116000"/>
              </a:lnSpc>
              <a:spcBef>
                <a:spcPts val="0"/>
              </a:spcBef>
              <a:spcAft>
                <a:spcPts val="0"/>
              </a:spcAft>
            </a:pPr>
            <a:r>
              <a:rPr sz="930" b="0" i="0">
                <a:solidFill>
                  <a:srgbClr val="6B7684"/>
                </a:solidFill>
                <a:latin typeface="Segoe UI"/>
              </a:rPr>
              <a:t>The top ten went from perfect to 4-of-10 correct, so dismissals finally have something to correct. Yet 93.2% of the flagged alerts still sit at exactly 100.0, because a real attack record carries about 1.0 confidence — so the tie-break ranks the queue, not the score. It also produced 52 signature-override alerts, the evidence class with zero instances on real data, so invariant I3 becomes testable. Honest limit: an injected alert's SHAP panel describes its donor flow, so this file is never presented as a measurement of the model.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SEVEN</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Ranking, fusion and evaluation</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How the detection results became a ranking — the mathematics we tested, the formula we chose, and what the evaluation measured.</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07</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combination: four evidence classes, one score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32</a:t>
            </a:r>
          </a:p>
        </p:txBody>
      </p:sp>
      <p:graphicFrame>
        <p:nvGraphicFramePr>
          <p:cNvPr id="8" name="Table 7"/>
          <p:cNvGraphicFramePr>
            <a:graphicFrameLocks noGrp="1"/>
          </p:cNvGraphicFramePr>
          <p:nvPr/>
        </p:nvGraphicFramePr>
        <p:xfrm>
          <a:off x="566928" y="1572768"/>
          <a:ext cx="10296143" cy="2596896"/>
        </p:xfrm>
        <a:graphic>
          <a:graphicData uri="http://schemas.openxmlformats.org/drawingml/2006/table">
            <a:tbl>
              <a:tblPr firstRow="0" bandRow="0"/>
              <a:tblGrid>
                <a:gridCol w="1572768"/>
                <a:gridCol w="3749039"/>
                <a:gridCol w="2395728"/>
                <a:gridCol w="1389888"/>
                <a:gridCol w="1188720"/>
              </a:tblGrid>
              <a:tr h="329184">
                <a:tc>
                  <a:txBody>
                    <a:bodyPr wrap="square"/>
                    <a:lstStyle/>
                    <a:p>
                      <a:pPr algn="l"/>
                      <a:r>
                        <a:rPr sz="900" b="1">
                          <a:solidFill>
                            <a:srgbClr val="FFFFFF"/>
                          </a:solidFill>
                          <a:latin typeface="Segoe UI"/>
                        </a:rPr>
                        <a:t>Evidence class</a:t>
                      </a:r>
                    </a:p>
                  </a:txBody>
                  <a:tcPr marL="82296" marR="82296" marT="13716" marB="13716" anchor="ctr">
                    <a:solidFill>
                      <a:srgbClr val="0F2A47"/>
                    </a:solidFill>
                  </a:tcPr>
                </a:tc>
                <a:tc>
                  <a:txBody>
                    <a:bodyPr wrap="square"/>
                    <a:lstStyle/>
                    <a:p>
                      <a:pPr algn="l"/>
                      <a:r>
                        <a:rPr sz="900" b="1">
                          <a:solidFill>
                            <a:srgbClr val="FFFFFF"/>
                          </a:solidFill>
                          <a:latin typeface="Segoe UI"/>
                        </a:rPr>
                        <a:t>When it applies</a:t>
                      </a:r>
                    </a:p>
                  </a:txBody>
                  <a:tcPr marL="82296" marR="82296" marT="13716" marB="13716" anchor="ctr">
                    <a:solidFill>
                      <a:srgbClr val="0F2A47"/>
                    </a:solidFill>
                  </a:tcPr>
                </a:tc>
                <a:tc>
                  <a:txBody>
                    <a:bodyPr wrap="square"/>
                    <a:lstStyle/>
                    <a:p>
                      <a:pPr algn="l"/>
                      <a:r>
                        <a:rPr sz="900" b="1">
                          <a:solidFill>
                            <a:srgbClr val="FFFFFF"/>
                          </a:solidFill>
                          <a:latin typeface="Segoe UI"/>
                        </a:rPr>
                        <a:t>Score (0–100)</a:t>
                      </a:r>
                    </a:p>
                  </a:txBody>
                  <a:tcPr marL="82296" marR="82296" marT="13716" marB="13716" anchor="ctr">
                    <a:solidFill>
                      <a:srgbClr val="0F2A47"/>
                    </a:solidFill>
                  </a:tcPr>
                </a:tc>
                <a:tc>
                  <a:txBody>
                    <a:bodyPr wrap="square"/>
                    <a:lstStyle/>
                    <a:p>
                      <a:pPr algn="l"/>
                      <a:r>
                        <a:rPr sz="900" b="1">
                          <a:solidFill>
                            <a:srgbClr val="FFFFFF"/>
                          </a:solidFill>
                          <a:latin typeface="Segoe UI"/>
                        </a:rPr>
                        <a:t>Needs review</a:t>
                      </a:r>
                    </a:p>
                  </a:txBody>
                  <a:tcPr marL="82296" marR="82296" marT="13716" marB="13716" anchor="ctr">
                    <a:solidFill>
                      <a:srgbClr val="0F2A47"/>
                    </a:solidFill>
                  </a:tcPr>
                </a:tc>
                <a:tc>
                  <a:txBody>
                    <a:bodyPr wrap="square"/>
                    <a:lstStyle/>
                    <a:p>
                      <a:pPr algn="r"/>
                      <a:r>
                        <a:rPr sz="900" b="1">
                          <a:solidFill>
                            <a:srgbClr val="FFFFFF"/>
                          </a:solidFill>
                          <a:latin typeface="Segoe UI"/>
                        </a:rPr>
                        <a:t>Queue priority</a:t>
                      </a:r>
                    </a:p>
                  </a:txBody>
                  <a:tcPr marL="82296" marR="82296" marT="13716" marB="13716" anchor="ctr">
                    <a:solidFill>
                      <a:srgbClr val="0F2A47"/>
                    </a:solidFill>
                  </a:tcPr>
                </a:tc>
              </a:tr>
              <a:tr h="566928">
                <a:tc>
                  <a:txBody>
                    <a:bodyPr wrap="square"/>
                    <a:lstStyle/>
                    <a:p>
                      <a:pPr algn="l"/>
                      <a:r>
                        <a:rPr sz="960" b="0">
                          <a:solidFill>
                            <a:srgbClr val="2A3441"/>
                          </a:solidFill>
                          <a:latin typeface="Segoe UI"/>
                        </a:rPr>
                        <a:t>corroborated</a:t>
                      </a:r>
                    </a:p>
                  </a:txBody>
                  <a:tcPr marL="82296" marR="82296" marT="13716" marB="13716" anchor="ctr">
                    <a:solidFill>
                      <a:srgbClr val="FFFFFF"/>
                    </a:solidFill>
                  </a:tcPr>
                </a:tc>
                <a:tc>
                  <a:txBody>
                    <a:bodyPr wrap="square"/>
                    <a:lstStyle/>
                    <a:p>
                      <a:pPr algn="l"/>
                      <a:r>
                        <a:rPr sz="960" b="0">
                          <a:solidFill>
                            <a:srgbClr val="2A3441"/>
                          </a:solidFill>
                          <a:latin typeface="Segoe UI"/>
                        </a:rPr>
                        <a:t>A rule matched AND the model predicts that rule's class</a:t>
                      </a:r>
                    </a:p>
                  </a:txBody>
                  <a:tcPr marL="82296" marR="82296" marT="13716" marB="13716" anchor="ctr">
                    <a:solidFill>
                      <a:srgbClr val="FFFFFF"/>
                    </a:solidFill>
                  </a:tcPr>
                </a:tc>
                <a:tc>
                  <a:txBody>
                    <a:bodyPr wrap="square"/>
                    <a:lstStyle/>
                    <a:p>
                      <a:pPr algn="l"/>
                      <a:r>
                        <a:rPr sz="960" b="0">
                          <a:solidFill>
                            <a:srgbClr val="2A3441"/>
                          </a:solidFill>
                          <a:latin typeface="Segoe UI"/>
                        </a:rPr>
                        <a:t>min(100, max(sig, ml) × 100 + 5)</a:t>
                      </a:r>
                    </a:p>
                  </a:txBody>
                  <a:tcPr marL="82296" marR="82296" marT="13716" marB="13716" anchor="ctr">
                    <a:solidFill>
                      <a:srgbClr val="FFFFFF"/>
                    </a:solidFill>
                  </a:tcPr>
                </a:tc>
                <a:tc>
                  <a:txBody>
                    <a:bodyPr wrap="square"/>
                    <a:lstStyle/>
                    <a:p>
                      <a:pPr algn="l"/>
                      <a:r>
                        <a:rPr sz="960" b="0">
                          <a:solidFill>
                            <a:srgbClr val="2A3441"/>
                          </a:solidFill>
                          <a:latin typeface="Segoe UI"/>
                        </a:rPr>
                        <a:t>when score ≥ 80</a:t>
                      </a:r>
                    </a:p>
                  </a:txBody>
                  <a:tcPr marL="82296" marR="82296" marT="13716" marB="13716" anchor="ctr">
                    <a:solidFill>
                      <a:srgbClr val="FFFFFF"/>
                    </a:solidFill>
                  </a:tcPr>
                </a:tc>
                <a:tc>
                  <a:txBody>
                    <a:bodyPr wrap="square"/>
                    <a:lstStyle/>
                    <a:p>
                      <a:pPr algn="r"/>
                      <a:r>
                        <a:rPr sz="960" b="0">
                          <a:solidFill>
                            <a:srgbClr val="2A3441"/>
                          </a:solidFill>
                          <a:latin typeface="Segoe UI"/>
                        </a:rPr>
                        <a:t>0 — first</a:t>
                      </a:r>
                    </a:p>
                  </a:txBody>
                  <a:tcPr marL="82296" marR="82296" marT="13716" marB="13716" anchor="ctr">
                    <a:solidFill>
                      <a:srgbClr val="FFFFFF"/>
                    </a:solidFill>
                  </a:tcPr>
                </a:tc>
              </a:tr>
              <a:tr h="566928">
                <a:tc>
                  <a:txBody>
                    <a:bodyPr wrap="square"/>
                    <a:lstStyle/>
                    <a:p>
                      <a:pPr algn="l"/>
                      <a:r>
                        <a:rPr sz="960" b="0">
                          <a:solidFill>
                            <a:srgbClr val="2A3441"/>
                          </a:solidFill>
                          <a:latin typeface="Segoe UI"/>
                        </a:rPr>
                        <a:t>signature_override</a:t>
                      </a:r>
                    </a:p>
                  </a:txBody>
                  <a:tcPr marL="82296" marR="82296" marT="13716" marB="13716" anchor="ctr">
                    <a:solidFill>
                      <a:srgbClr val="F4F7FB"/>
                    </a:solidFill>
                  </a:tcPr>
                </a:tc>
                <a:tc>
                  <a:txBody>
                    <a:bodyPr wrap="square"/>
                    <a:lstStyle/>
                    <a:p>
                      <a:pPr algn="l"/>
                      <a:r>
                        <a:rPr sz="960" b="0">
                          <a:solidFill>
                            <a:srgbClr val="2A3441"/>
                          </a:solidFill>
                          <a:latin typeface="Segoe UI"/>
                        </a:rPr>
                        <a:t>A rule matched, but the model disputes its class</a:t>
                      </a:r>
                    </a:p>
                  </a:txBody>
                  <a:tcPr marL="82296" marR="82296" marT="13716" marB="13716" anchor="ctr">
                    <a:solidFill>
                      <a:srgbClr val="F4F7FB"/>
                    </a:solidFill>
                  </a:tcPr>
                </a:tc>
                <a:tc>
                  <a:txBody>
                    <a:bodyPr wrap="square"/>
                    <a:lstStyle/>
                    <a:p>
                      <a:pPr algn="l"/>
                      <a:r>
                        <a:rPr sz="960" b="0">
                          <a:solidFill>
                            <a:srgbClr val="2A3441"/>
                          </a:solidFill>
                          <a:latin typeface="Segoe UI"/>
                        </a:rPr>
                        <a:t>sig × 100</a:t>
                      </a:r>
                    </a:p>
                  </a:txBody>
                  <a:tcPr marL="82296" marR="82296" marT="13716" marB="13716" anchor="ctr">
                    <a:solidFill>
                      <a:srgbClr val="F4F7FB"/>
                    </a:solidFill>
                  </a:tcPr>
                </a:tc>
                <a:tc>
                  <a:txBody>
                    <a:bodyPr wrap="square"/>
                    <a:lstStyle/>
                    <a:p>
                      <a:pPr algn="l"/>
                      <a:r>
                        <a:rPr sz="960" b="0">
                          <a:solidFill>
                            <a:srgbClr val="2A3441"/>
                          </a:solidFill>
                          <a:latin typeface="Segoe UI"/>
                        </a:rPr>
                        <a:t>always</a:t>
                      </a:r>
                    </a:p>
                  </a:txBody>
                  <a:tcPr marL="82296" marR="82296" marT="13716" marB="13716" anchor="ctr">
                    <a:solidFill>
                      <a:srgbClr val="F4F7FB"/>
                    </a:solidFill>
                  </a:tcPr>
                </a:tc>
                <a:tc>
                  <a:txBody>
                    <a:bodyPr wrap="square"/>
                    <a:lstStyle/>
                    <a:p>
                      <a:pPr algn="r"/>
                      <a:r>
                        <a:rPr sz="960" b="0">
                          <a:solidFill>
                            <a:srgbClr val="2A3441"/>
                          </a:solidFill>
                          <a:latin typeface="Segoe UI"/>
                        </a:rPr>
                        <a:t>1</a:t>
                      </a:r>
                    </a:p>
                  </a:txBody>
                  <a:tcPr marL="82296" marR="82296" marT="13716" marB="13716" anchor="ctr">
                    <a:solidFill>
                      <a:srgbClr val="F4F7FB"/>
                    </a:solidFill>
                  </a:tcPr>
                </a:tc>
              </a:tr>
              <a:tr h="566928">
                <a:tc>
                  <a:txBody>
                    <a:bodyPr wrap="square"/>
                    <a:lstStyle/>
                    <a:p>
                      <a:pPr algn="l"/>
                      <a:r>
                        <a:rPr sz="960" b="0">
                          <a:solidFill>
                            <a:srgbClr val="2A3441"/>
                          </a:solidFill>
                          <a:latin typeface="Segoe UI"/>
                        </a:rPr>
                        <a:t>ml_only</a:t>
                      </a:r>
                    </a:p>
                  </a:txBody>
                  <a:tcPr marL="82296" marR="82296" marT="13716" marB="13716" anchor="ctr">
                    <a:solidFill>
                      <a:srgbClr val="FFFFFF"/>
                    </a:solidFill>
                  </a:tcPr>
                </a:tc>
                <a:tc>
                  <a:txBody>
                    <a:bodyPr wrap="square"/>
                    <a:lstStyle/>
                    <a:p>
                      <a:pPr algn="l"/>
                      <a:r>
                        <a:rPr sz="960" b="0">
                          <a:solidFill>
                            <a:srgbClr val="2A3441"/>
                          </a:solidFill>
                          <a:latin typeface="Segoe UI"/>
                        </a:rPr>
                        <a:t>No rule matched; the model predicts an attack</a:t>
                      </a:r>
                    </a:p>
                  </a:txBody>
                  <a:tcPr marL="82296" marR="82296" marT="13716" marB="13716" anchor="ctr">
                    <a:solidFill>
                      <a:srgbClr val="FFFFFF"/>
                    </a:solidFill>
                  </a:tcPr>
                </a:tc>
                <a:tc>
                  <a:txBody>
                    <a:bodyPr wrap="square"/>
                    <a:lstStyle/>
                    <a:p>
                      <a:pPr algn="l"/>
                      <a:r>
                        <a:rPr sz="960" b="0">
                          <a:solidFill>
                            <a:srgbClr val="2A3441"/>
                          </a:solidFill>
                          <a:latin typeface="Segoe UI"/>
                        </a:rPr>
                        <a:t>ml × 100</a:t>
                      </a:r>
                    </a:p>
                  </a:txBody>
                  <a:tcPr marL="82296" marR="82296" marT="13716" marB="13716" anchor="ctr">
                    <a:solidFill>
                      <a:srgbClr val="FFFFFF"/>
                    </a:solidFill>
                  </a:tcPr>
                </a:tc>
                <a:tc>
                  <a:txBody>
                    <a:bodyPr wrap="square"/>
                    <a:lstStyle/>
                    <a:p>
                      <a:pPr algn="l"/>
                      <a:r>
                        <a:rPr sz="960" b="0">
                          <a:solidFill>
                            <a:srgbClr val="2A3441"/>
                          </a:solidFill>
                          <a:latin typeface="Segoe UI"/>
                        </a:rPr>
                        <a:t>when score ≥ 80</a:t>
                      </a:r>
                    </a:p>
                  </a:txBody>
                  <a:tcPr marL="82296" marR="82296" marT="13716" marB="13716" anchor="ctr">
                    <a:solidFill>
                      <a:srgbClr val="FFFFFF"/>
                    </a:solidFill>
                  </a:tcPr>
                </a:tc>
                <a:tc>
                  <a:txBody>
                    <a:bodyPr wrap="square"/>
                    <a:lstStyle/>
                    <a:p>
                      <a:pPr algn="r"/>
                      <a:r>
                        <a:rPr sz="960" b="0">
                          <a:solidFill>
                            <a:srgbClr val="2A3441"/>
                          </a:solidFill>
                          <a:latin typeface="Segoe UI"/>
                        </a:rPr>
                        <a:t>2</a:t>
                      </a:r>
                    </a:p>
                  </a:txBody>
                  <a:tcPr marL="82296" marR="82296" marT="13716" marB="13716" anchor="ctr">
                    <a:solidFill>
                      <a:srgbClr val="FFFFFF"/>
                    </a:solidFill>
                  </a:tcPr>
                </a:tc>
              </a:tr>
              <a:tr h="566928">
                <a:tc>
                  <a:txBody>
                    <a:bodyPr wrap="square"/>
                    <a:lstStyle/>
                    <a:p>
                      <a:pPr algn="l"/>
                      <a:r>
                        <a:rPr sz="960" b="0">
                          <a:solidFill>
                            <a:srgbClr val="2A3441"/>
                          </a:solidFill>
                          <a:latin typeface="Segoe UI"/>
                        </a:rPr>
                        <a:t>none</a:t>
                      </a:r>
                    </a:p>
                  </a:txBody>
                  <a:tcPr marL="82296" marR="82296" marT="13716" marB="13716" anchor="ctr">
                    <a:solidFill>
                      <a:srgbClr val="F4F7FB"/>
                    </a:solidFill>
                  </a:tcPr>
                </a:tc>
                <a:tc>
                  <a:txBody>
                    <a:bodyPr wrap="square"/>
                    <a:lstStyle/>
                    <a:p>
                      <a:pPr algn="l"/>
                      <a:r>
                        <a:rPr sz="960" b="0">
                          <a:solidFill>
                            <a:srgbClr val="2A3441"/>
                          </a:solidFill>
                          <a:latin typeface="Segoe UI"/>
                        </a:rPr>
                        <a:t>Neither detector flagged the flow</a:t>
                      </a:r>
                    </a:p>
                  </a:txBody>
                  <a:tcPr marL="82296" marR="82296" marT="13716" marB="13716" anchor="ctr">
                    <a:solidFill>
                      <a:srgbClr val="F4F7FB"/>
                    </a:solidFill>
                  </a:tcPr>
                </a:tc>
                <a:tc>
                  <a:txBody>
                    <a:bodyPr wrap="square"/>
                    <a:lstStyle/>
                    <a:p>
                      <a:pPr algn="l"/>
                      <a:r>
                        <a:rPr sz="960" b="0">
                          <a:solidFill>
                            <a:srgbClr val="2A3441"/>
                          </a:solidFill>
                          <a:latin typeface="Segoe UI"/>
                        </a:rPr>
                        <a:t>ml × 100</a:t>
                      </a:r>
                    </a:p>
                  </a:txBody>
                  <a:tcPr marL="82296" marR="82296" marT="13716" marB="13716" anchor="ctr">
                    <a:solidFill>
                      <a:srgbClr val="F4F7FB"/>
                    </a:solidFill>
                  </a:tcPr>
                </a:tc>
                <a:tc>
                  <a:txBody>
                    <a:bodyPr wrap="square"/>
                    <a:lstStyle/>
                    <a:p>
                      <a:pPr algn="l"/>
                      <a:r>
                        <a:rPr sz="960" b="0">
                          <a:solidFill>
                            <a:srgbClr val="2A3441"/>
                          </a:solidFill>
                          <a:latin typeface="Segoe UI"/>
                        </a:rPr>
                        <a:t>no</a:t>
                      </a:r>
                    </a:p>
                  </a:txBody>
                  <a:tcPr marL="82296" marR="82296" marT="13716" marB="13716" anchor="ctr">
                    <a:solidFill>
                      <a:srgbClr val="F4F7FB"/>
                    </a:solidFill>
                  </a:tcPr>
                </a:tc>
                <a:tc>
                  <a:txBody>
                    <a:bodyPr wrap="square"/>
                    <a:lstStyle/>
                    <a:p>
                      <a:pPr algn="r"/>
                      <a:r>
                        <a:rPr sz="960" b="0">
                          <a:solidFill>
                            <a:srgbClr val="2A3441"/>
                          </a:solidFill>
                          <a:latin typeface="Segoe UI"/>
                        </a:rPr>
                        <a:t>3 — last</a:t>
                      </a:r>
                    </a:p>
                  </a:txBody>
                  <a:tcPr marL="82296" marR="82296" marT="13716" marB="13716" anchor="ctr">
                    <a:solidFill>
                      <a:srgbClr val="F4F7FB"/>
                    </a:solidFill>
                  </a:tcPr>
                </a:tc>
              </a:tr>
            </a:tbl>
          </a:graphicData>
        </a:graphic>
      </p:graphicFrame>
      <p:sp>
        <p:nvSpPr>
          <p:cNvPr id="9" name="Rectangle 8"/>
          <p:cNvSpPr/>
          <p:nvPr/>
        </p:nvSpPr>
        <p:spPr>
          <a:xfrm>
            <a:off x="566928" y="4059936"/>
            <a:ext cx="5419191" cy="11704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4059936"/>
            <a:ext cx="50292" cy="11704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4169664"/>
            <a:ext cx="5108295" cy="96926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Where sig and ml come from</a:t>
            </a:r>
          </a:p>
          <a:p>
            <a:pPr algn="l">
              <a:lnSpc>
                <a:spcPct val="120000"/>
              </a:lnSpc>
              <a:spcBef>
                <a:spcPts val="0"/>
              </a:spcBef>
              <a:spcAft>
                <a:spcPts val="0"/>
              </a:spcAft>
            </a:pPr>
            <a:r>
              <a:rPr sz="980" b="0" i="0">
                <a:solidFill>
                  <a:srgbClr val="2A3441"/>
                </a:solidFill>
                <a:latin typeface="Segoe UI"/>
              </a:rPr>
              <a:t>sig is the highest severity score among the matching rules — Low 0.40, Medium 0.60, High 0.80, Critical 0.95 — and 0 when no rule matched. ml is the model's malicious probability, 1 − P(Benign).</a:t>
            </a:r>
          </a:p>
        </p:txBody>
      </p:sp>
      <p:sp>
        <p:nvSpPr>
          <p:cNvPr id="12" name="Rectangle 11"/>
          <p:cNvSpPr/>
          <p:nvPr/>
        </p:nvSpPr>
        <p:spPr>
          <a:xfrm>
            <a:off x="6205575" y="4059936"/>
            <a:ext cx="5419191" cy="11704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05575" y="4059936"/>
            <a:ext cx="50292" cy="11704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8455" y="4169664"/>
            <a:ext cx="5108295" cy="96926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Severity, from one threshold</a:t>
            </a:r>
          </a:p>
          <a:p>
            <a:pPr algn="l">
              <a:lnSpc>
                <a:spcPct val="120000"/>
              </a:lnSpc>
              <a:spcBef>
                <a:spcPts val="0"/>
              </a:spcBef>
              <a:spcAft>
                <a:spcPts val="0"/>
              </a:spcAft>
            </a:pPr>
            <a:r>
              <a:rPr sz="980" b="0" i="0">
                <a:solidFill>
                  <a:srgbClr val="2A3441"/>
                </a:solidFill>
                <a:latin typeface="Segoe UI"/>
              </a:rPr>
              <a:t>Score ≥ 80 is Critical, and sets is_critical and the review flag at the same time, so severity, the flag and the floor can never disagree. 70–80 High, 40–70 Medium, below 40 Low.</a:t>
            </a:r>
          </a:p>
        </p:txBody>
      </p:sp>
      <p:sp>
        <p:nvSpPr>
          <p:cNvPr id="15" name="Rectangle 14"/>
          <p:cNvSpPr/>
          <p:nvPr/>
        </p:nvSpPr>
        <p:spPr>
          <a:xfrm>
            <a:off x="566928" y="5376672"/>
            <a:ext cx="11057839" cy="822960"/>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68096" y="5486400"/>
            <a:ext cx="10655503" cy="621792"/>
          </a:xfrm>
          <a:prstGeom prst="rect">
            <a:avLst/>
          </a:prstGeom>
          <a:noFill/>
        </p:spPr>
        <p:txBody>
          <a:bodyPr wrap="square" anchor="t" lIns="0" rIns="0" tIns="0" bIns="0">
            <a:spAutoFit/>
          </a:bodyPr>
          <a:lstStyle/>
          <a:p>
            <a:pPr algn="l">
              <a:lnSpc>
                <a:spcPct val="115000"/>
              </a:lnSpc>
              <a:spcBef>
                <a:spcPts val="0"/>
              </a:spcBef>
              <a:spcAft>
                <a:spcPts val="300"/>
              </a:spcAft>
            </a:pPr>
            <a:r>
              <a:rPr sz="1019" b="1" i="0">
                <a:solidFill>
                  <a:srgbClr val="0F2A47"/>
                </a:solidFill>
                <a:latin typeface="Segoe UI"/>
              </a:rPr>
              <a:t>On the demo sample the fusion places 200 flows as corroborated — every one a real attack — 796 as model-only, 4,004 as nothing flagged, and 0 as signature_override.</a:t>
            </a:r>
          </a:p>
          <a:p>
            <a:pPr algn="l">
              <a:spcBef>
                <a:spcPts val="0"/>
              </a:spcBef>
              <a:spcAft>
                <a:spcPts val="0"/>
              </a:spcAft>
            </a:pPr>
            <a:r>
              <a:rPr sz="960" b="0" i="0">
                <a:solidFill>
                  <a:srgbClr val="6B7684"/>
                </a:solidFill>
                <a:latin typeface="Segoe UI"/>
              </a:rPr>
              <a:t>The queue then orders by band first, then score: corroborated → signature_override → ml_only → none, then combined_score descending.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ranking mathematics: how far should a verdict move an alert?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33</a:t>
            </a:r>
          </a:p>
        </p:txBody>
      </p:sp>
      <p:sp>
        <p:nvSpPr>
          <p:cNvPr id="8" name="Rectangle 7"/>
          <p:cNvSpPr/>
          <p:nvPr/>
        </p:nvSpPr>
        <p:spPr>
          <a:xfrm>
            <a:off x="566928" y="1481328"/>
            <a:ext cx="5419191" cy="7498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481328"/>
            <a:ext cx="50292" cy="7498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1591056"/>
            <a:ext cx="5108295" cy="548640"/>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The question we had to answer</a:t>
            </a:r>
          </a:p>
          <a:p>
            <a:pPr algn="l">
              <a:lnSpc>
                <a:spcPct val="120000"/>
              </a:lnSpc>
              <a:spcBef>
                <a:spcPts val="0"/>
              </a:spcBef>
              <a:spcAft>
                <a:spcPts val="0"/>
              </a:spcAft>
            </a:pPr>
            <a:r>
              <a:rPr sz="980" b="0" i="0">
                <a:solidFill>
                  <a:srgbClr val="2A3441"/>
                </a:solidFill>
                <a:latin typeface="Segoe UI"/>
              </a:rPr>
              <a:t>How far should a confirmed alert rise, how far should a false positive fall — and should the attack type change those distances?</a:t>
            </a:r>
          </a:p>
        </p:txBody>
      </p:sp>
      <p:sp>
        <p:nvSpPr>
          <p:cNvPr id="11" name="Rectangle 10"/>
          <p:cNvSpPr/>
          <p:nvPr/>
        </p:nvSpPr>
        <p:spPr>
          <a:xfrm>
            <a:off x="6205575" y="1481328"/>
            <a:ext cx="5419191" cy="7498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05575" y="1481328"/>
            <a:ext cx="50292" cy="7498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8455" y="1591056"/>
            <a:ext cx="5108295" cy="548640"/>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Where the ideas came from</a:t>
            </a:r>
          </a:p>
          <a:p>
            <a:pPr algn="l">
              <a:lnSpc>
                <a:spcPct val="120000"/>
              </a:lnSpc>
              <a:spcBef>
                <a:spcPts val="0"/>
              </a:spcBef>
              <a:spcAft>
                <a:spcPts val="0"/>
              </a:spcAft>
            </a:pPr>
            <a:r>
              <a:rPr sz="980" b="0" i="0">
                <a:solidFill>
                  <a:srgbClr val="2A3441"/>
                </a:solidFill>
                <a:latin typeface="Segoe UI"/>
              </a:rPr>
              <a:t>Game ranking systems, because they solve the same problem: repeatedly updating a rating from human-judged outcomes, without letting one verdict dominate.</a:t>
            </a:r>
          </a:p>
        </p:txBody>
      </p:sp>
      <p:graphicFrame>
        <p:nvGraphicFramePr>
          <p:cNvPr id="14" name="Table 13"/>
          <p:cNvGraphicFramePr>
            <a:graphicFrameLocks noGrp="1"/>
          </p:cNvGraphicFramePr>
          <p:nvPr/>
        </p:nvGraphicFramePr>
        <p:xfrm>
          <a:off x="566928" y="2395728"/>
          <a:ext cx="5568695" cy="3401568"/>
        </p:xfrm>
        <a:graphic>
          <a:graphicData uri="http://schemas.openxmlformats.org/drawingml/2006/table">
            <a:tbl>
              <a:tblPr firstRow="0" bandRow="0"/>
              <a:tblGrid>
                <a:gridCol w="1298448"/>
                <a:gridCol w="2432304"/>
                <a:gridCol w="1837943"/>
              </a:tblGrid>
              <a:tr h="292608">
                <a:tc>
                  <a:txBody>
                    <a:bodyPr wrap="square"/>
                    <a:lstStyle/>
                    <a:p>
                      <a:pPr algn="l"/>
                      <a:r>
                        <a:rPr sz="860" b="1">
                          <a:solidFill>
                            <a:srgbClr val="FFFFFF"/>
                          </a:solidFill>
                          <a:latin typeface="Segoe UI"/>
                        </a:rPr>
                        <a:t>System</a:t>
                      </a:r>
                    </a:p>
                  </a:txBody>
                  <a:tcPr marL="82296" marR="82296" marT="13716" marB="13716" anchor="ctr">
                    <a:solidFill>
                      <a:srgbClr val="0F2A47"/>
                    </a:solidFill>
                  </a:tcPr>
                </a:tc>
                <a:tc>
                  <a:txBody>
                    <a:bodyPr wrap="square"/>
                    <a:lstStyle/>
                    <a:p>
                      <a:pPr algn="l"/>
                      <a:r>
                        <a:rPr sz="860" b="1">
                          <a:solidFill>
                            <a:srgbClr val="FFFFFF"/>
                          </a:solidFill>
                          <a:latin typeface="Segoe UI"/>
                        </a:rPr>
                        <a:t>Mechanism</a:t>
                      </a:r>
                    </a:p>
                  </a:txBody>
                  <a:tcPr marL="82296" marR="82296" marT="13716" marB="13716" anchor="ctr">
                    <a:solidFill>
                      <a:srgbClr val="0F2A47"/>
                    </a:solidFill>
                  </a:tcPr>
                </a:tc>
                <a:tc>
                  <a:txBody>
                    <a:bodyPr wrap="square"/>
                    <a:lstStyle/>
                    <a:p>
                      <a:pPr algn="l"/>
                      <a:r>
                        <a:rPr sz="860" b="1">
                          <a:solidFill>
                            <a:srgbClr val="FFFFFF"/>
                          </a:solidFill>
                          <a:latin typeface="Segoe UI"/>
                        </a:rPr>
                        <a:t>The lesson for alert ranking</a:t>
                      </a:r>
                    </a:p>
                  </a:txBody>
                  <a:tcPr marL="82296" marR="82296" marT="13716" marB="13716" anchor="ctr">
                    <a:solidFill>
                      <a:srgbClr val="0F2A47"/>
                    </a:solidFill>
                  </a:tcPr>
                </a:tc>
              </a:tr>
              <a:tr h="777240">
                <a:tc>
                  <a:txBody>
                    <a:bodyPr wrap="square"/>
                    <a:lstStyle/>
                    <a:p>
                      <a:pPr algn="l"/>
                      <a:r>
                        <a:rPr sz="880" b="0">
                          <a:solidFill>
                            <a:srgbClr val="2A3441"/>
                          </a:solidFill>
                          <a:latin typeface="Segoe UI"/>
                        </a:rPr>
                        <a:t>Elo (chess)</a:t>
                      </a:r>
                    </a:p>
                  </a:txBody>
                  <a:tcPr marL="82296" marR="82296" marT="13716" marB="13716" anchor="ctr">
                    <a:solidFill>
                      <a:srgbClr val="FFFFFF"/>
                    </a:solidFill>
                  </a:tcPr>
                </a:tc>
                <a:tc>
                  <a:txBody>
                    <a:bodyPr wrap="square"/>
                    <a:lstStyle/>
                    <a:p>
                      <a:pPr algn="l"/>
                      <a:r>
                        <a:rPr sz="880" b="0">
                          <a:solidFill>
                            <a:srgbClr val="2A3441"/>
                          </a:solidFill>
                          <a:latin typeface="Segoe UI"/>
                        </a:rPr>
                        <a:t>Update in proportion to the surprise: R′ = R + K·(S − E), with K capping one step.</a:t>
                      </a:r>
                    </a:p>
                  </a:txBody>
                  <a:tcPr marL="82296" marR="82296" marT="13716" marB="13716" anchor="ctr">
                    <a:solidFill>
                      <a:srgbClr val="FFFFFF"/>
                    </a:solidFill>
                  </a:tcPr>
                </a:tc>
                <a:tc>
                  <a:txBody>
                    <a:bodyPr wrap="square"/>
                    <a:lstStyle/>
                    <a:p>
                      <a:pPr algn="l"/>
                      <a:r>
                        <a:rPr sz="880" b="0">
                          <a:solidFill>
                            <a:srgbClr val="2A3441"/>
                          </a:solidFill>
                          <a:latin typeface="Segoe UI"/>
                        </a:rPr>
                        <a:t>Move in proportion to surprise, and let K set the maximum step.</a:t>
                      </a:r>
                    </a:p>
                  </a:txBody>
                  <a:tcPr marL="82296" marR="82296" marT="13716" marB="13716" anchor="ctr">
                    <a:solidFill>
                      <a:srgbClr val="FFFFFF"/>
                    </a:solidFill>
                  </a:tcPr>
                </a:tc>
              </a:tr>
              <a:tr h="777240">
                <a:tc>
                  <a:txBody>
                    <a:bodyPr wrap="square"/>
                    <a:lstStyle/>
                    <a:p>
                      <a:pPr algn="l"/>
                      <a:r>
                        <a:rPr sz="880" b="0">
                          <a:solidFill>
                            <a:srgbClr val="2A3441"/>
                          </a:solidFill>
                          <a:latin typeface="Segoe UI"/>
                        </a:rPr>
                        <a:t>Glicko-2</a:t>
                      </a:r>
                    </a:p>
                  </a:txBody>
                  <a:tcPr marL="82296" marR="82296" marT="13716" marB="13716" anchor="ctr">
                    <a:solidFill>
                      <a:srgbClr val="F4F7FB"/>
                    </a:solidFill>
                  </a:tcPr>
                </a:tc>
                <a:tc>
                  <a:txBody>
                    <a:bodyPr wrap="square"/>
                    <a:lstStyle/>
                    <a:p>
                      <a:pPr algn="l"/>
                      <a:r>
                        <a:rPr sz="880" b="0">
                          <a:solidFill>
                            <a:srgbClr val="2A3441"/>
                          </a:solidFill>
                          <a:latin typeface="Segoe UI"/>
                        </a:rPr>
                        <a:t>Adds a rating deviation — an explicit measure of uncertainty that shrinks with evidence.</a:t>
                      </a:r>
                    </a:p>
                  </a:txBody>
                  <a:tcPr marL="82296" marR="82296" marT="13716" marB="13716" anchor="ctr">
                    <a:solidFill>
                      <a:srgbClr val="F4F7FB"/>
                    </a:solidFill>
                  </a:tcPr>
                </a:tc>
                <a:tc>
                  <a:txBody>
                    <a:bodyPr wrap="square"/>
                    <a:lstStyle/>
                    <a:p>
                      <a:pPr algn="l"/>
                      <a:r>
                        <a:rPr sz="880" b="0">
                          <a:solidFill>
                            <a:srgbClr val="2A3441"/>
                          </a:solidFill>
                          <a:latin typeface="Segoe UI"/>
                        </a:rPr>
                        <a:t>New patterns move fast; well-judged families settle.</a:t>
                      </a:r>
                    </a:p>
                  </a:txBody>
                  <a:tcPr marL="82296" marR="82296" marT="13716" marB="13716" anchor="ctr">
                    <a:solidFill>
                      <a:srgbClr val="F4F7FB"/>
                    </a:solidFill>
                  </a:tcPr>
                </a:tc>
              </a:tr>
              <a:tr h="777240">
                <a:tc>
                  <a:txBody>
                    <a:bodyPr wrap="square"/>
                    <a:lstStyle/>
                    <a:p>
                      <a:pPr algn="l"/>
                      <a:r>
                        <a:rPr sz="880" b="0">
                          <a:solidFill>
                            <a:srgbClr val="2A3441"/>
                          </a:solidFill>
                          <a:latin typeface="Segoe UI"/>
                        </a:rPr>
                        <a:t>TrueSkill</a:t>
                      </a:r>
                    </a:p>
                  </a:txBody>
                  <a:tcPr marL="82296" marR="82296" marT="13716" marB="13716" anchor="ctr">
                    <a:solidFill>
                      <a:srgbClr val="FFFFFF"/>
                    </a:solidFill>
                  </a:tcPr>
                </a:tc>
                <a:tc>
                  <a:txBody>
                    <a:bodyPr wrap="square"/>
                    <a:lstStyle/>
                    <a:p>
                      <a:pPr algn="l"/>
                      <a:r>
                        <a:rPr sz="880" b="0">
                          <a:solidFill>
                            <a:srgbClr val="2A3441"/>
                          </a:solidFill>
                          <a:latin typeface="Segoe UI"/>
                        </a:rPr>
                        <a:t>Ranks players by the conservative estimate μ − 3σ, not the mean.</a:t>
                      </a:r>
                    </a:p>
                  </a:txBody>
                  <a:tcPr marL="82296" marR="82296" marT="13716" marB="13716" anchor="ctr">
                    <a:solidFill>
                      <a:srgbClr val="FFFFFF"/>
                    </a:solidFill>
                  </a:tcPr>
                </a:tc>
                <a:tc>
                  <a:txBody>
                    <a:bodyPr wrap="square"/>
                    <a:lstStyle/>
                    <a:p>
                      <a:pPr algn="l"/>
                      <a:r>
                        <a:rPr sz="880" b="0">
                          <a:solidFill>
                            <a:srgbClr val="2A3441"/>
                          </a:solidFill>
                          <a:latin typeface="Segoe UI"/>
                        </a:rPr>
                        <a:t>Do not promote on thin evidence.</a:t>
                      </a:r>
                    </a:p>
                  </a:txBody>
                  <a:tcPr marL="82296" marR="82296" marT="13716" marB="13716" anchor="ctr">
                    <a:solidFill>
                      <a:srgbClr val="FFFFFF"/>
                    </a:solidFill>
                  </a:tcPr>
                </a:tc>
              </a:tr>
              <a:tr h="777240">
                <a:tc>
                  <a:txBody>
                    <a:bodyPr wrap="square"/>
                    <a:lstStyle/>
                    <a:p>
                      <a:pPr algn="l"/>
                      <a:r>
                        <a:rPr sz="880" b="0">
                          <a:solidFill>
                            <a:srgbClr val="2A3441"/>
                          </a:solidFill>
                          <a:latin typeface="Segoe UI"/>
                        </a:rPr>
                        <a:t>Ranked ladders (LoL)</a:t>
                      </a:r>
                    </a:p>
                  </a:txBody>
                  <a:tcPr marL="82296" marR="82296" marT="13716" marB="13716" anchor="ctr">
                    <a:solidFill>
                      <a:srgbClr val="F4F7FB"/>
                    </a:solidFill>
                  </a:tcPr>
                </a:tc>
                <a:tc>
                  <a:txBody>
                    <a:bodyPr wrap="square"/>
                    <a:lstStyle/>
                    <a:p>
                      <a:pPr algn="l"/>
                      <a:r>
                        <a:rPr sz="880" b="0">
                          <a:solidFill>
                            <a:srgbClr val="2A3441"/>
                          </a:solidFill>
                          <a:latin typeface="Segoe UI"/>
                        </a:rPr>
                        <a:t>Tier and division promotion, with a demotion-protection shield after promotion.</a:t>
                      </a:r>
                    </a:p>
                  </a:txBody>
                  <a:tcPr marL="82296" marR="82296" marT="13716" marB="13716" anchor="ctr">
                    <a:solidFill>
                      <a:srgbClr val="F4F7FB"/>
                    </a:solidFill>
                  </a:tcPr>
                </a:tc>
                <a:tc>
                  <a:txBody>
                    <a:bodyPr wrap="square"/>
                    <a:lstStyle/>
                    <a:p>
                      <a:pPr algn="l"/>
                      <a:r>
                        <a:rPr sz="880" b="0">
                          <a:solidFill>
                            <a:srgbClr val="2A3441"/>
                          </a:solidFill>
                          <a:latin typeface="Segoe UI"/>
                        </a:rPr>
                        <a:t>Hysteresis prevents flapping: falling out of a class must be harder than entering it.</a:t>
                      </a:r>
                    </a:p>
                  </a:txBody>
                  <a:tcPr marL="82296" marR="82296" marT="13716" marB="13716" anchor="ctr">
                    <a:solidFill>
                      <a:srgbClr val="F4F7FB"/>
                    </a:solidFill>
                  </a:tcPr>
                </a:tc>
              </a:tr>
            </a:tbl>
          </a:graphicData>
        </a:graphic>
      </p:graphicFrame>
      <p:sp>
        <p:nvSpPr>
          <p:cNvPr id="15" name="TextBox 14"/>
          <p:cNvSpPr txBox="1"/>
          <p:nvPr/>
        </p:nvSpPr>
        <p:spPr>
          <a:xfrm>
            <a:off x="6317004" y="2395728"/>
            <a:ext cx="5307762" cy="3566160"/>
          </a:xfrm>
          <a:prstGeom prst="rect">
            <a:avLst/>
          </a:prstGeom>
          <a:noFill/>
        </p:spPr>
        <p:txBody>
          <a:bodyPr wrap="square" anchor="t" lIns="0" rIns="0" tIns="0" bIns="0">
            <a:spAutoFit/>
          </a:bodyPr>
          <a:lstStyle/>
          <a:p>
            <a:pPr algn="l">
              <a:spcBef>
                <a:spcPts val="0"/>
              </a:spcBef>
              <a:spcAft>
                <a:spcPts val="600"/>
              </a:spcAft>
            </a:pPr>
            <a:r>
              <a:rPr sz="950" b="1" i="0">
                <a:solidFill>
                  <a:srgbClr val="1F6FEB"/>
                </a:solidFill>
                <a:latin typeface="Segoe UI"/>
              </a:rPr>
              <a:t>THE MAPPING, AND THE FOUR CANDIDATES</a:t>
            </a:r>
          </a:p>
          <a:p>
            <a:pPr algn="l">
              <a:lnSpc>
                <a:spcPct val="118000"/>
              </a:lnSpc>
              <a:spcBef>
                <a:spcPts val="0"/>
              </a:spcBef>
              <a:spcAft>
                <a:spcPts val="400"/>
              </a:spcAft>
            </a:pPr>
            <a:r>
              <a:rPr sz="960" b="1">
                <a:solidFill>
                  <a:srgbClr val="0F2A47"/>
                </a:solidFill>
                <a:latin typeface="Segoe UI"/>
              </a:rPr>
              <a:t>Player — </a:t>
            </a:r>
            <a:r>
              <a:rPr sz="960" b="0">
                <a:solidFill>
                  <a:srgbClr val="2A3441"/>
                </a:solidFill>
                <a:latin typeface="Segoe UI"/>
              </a:rPr>
              <a:t>an alert family</a:t>
            </a:r>
          </a:p>
          <a:p>
            <a:pPr algn="l">
              <a:lnSpc>
                <a:spcPct val="118000"/>
              </a:lnSpc>
              <a:spcBef>
                <a:spcPts val="0"/>
              </a:spcBef>
              <a:spcAft>
                <a:spcPts val="400"/>
              </a:spcAft>
            </a:pPr>
            <a:r>
              <a:rPr sz="960" b="1">
                <a:solidFill>
                  <a:srgbClr val="0F2A47"/>
                </a:solidFill>
                <a:latin typeface="Segoe UI"/>
              </a:rPr>
              <a:t>Match result — </a:t>
            </a:r>
            <a:r>
              <a:rPr sz="960" b="0">
                <a:solidFill>
                  <a:srgbClr val="2A3441"/>
                </a:solidFill>
                <a:latin typeface="Segoe UI"/>
              </a:rPr>
              <a:t>an analyst verdict — confirm or escalate is a win, false positive or benign positive is a loss</a:t>
            </a:r>
          </a:p>
          <a:p>
            <a:pPr algn="l">
              <a:lnSpc>
                <a:spcPct val="118000"/>
              </a:lnSpc>
              <a:spcBef>
                <a:spcPts val="0"/>
              </a:spcBef>
              <a:spcAft>
                <a:spcPts val="400"/>
              </a:spcAft>
            </a:pPr>
            <a:r>
              <a:rPr sz="960" b="1">
                <a:solidFill>
                  <a:srgbClr val="0F2A47"/>
                </a:solidFill>
                <a:latin typeface="Segoe UI"/>
              </a:rPr>
              <a:t>Expected score — </a:t>
            </a:r>
            <a:r>
              <a:rPr sz="960" b="0">
                <a:solidFill>
                  <a:srgbClr val="2A3441"/>
                </a:solidFill>
                <a:latin typeface="Segoe UI"/>
              </a:rPr>
              <a:t>the judged alert's current score ÷ 100</a:t>
            </a:r>
          </a:p>
          <a:p>
            <a:pPr algn="l">
              <a:lnSpc>
                <a:spcPct val="118000"/>
              </a:lnSpc>
              <a:spcBef>
                <a:spcPts val="0"/>
              </a:spcBef>
              <a:spcAft>
                <a:spcPts val="400"/>
              </a:spcAft>
            </a:pPr>
            <a:r>
              <a:rPr sz="960" b="1">
                <a:solidFill>
                  <a:srgbClr val="0F2A47"/>
                </a:solidFill>
                <a:latin typeface="Segoe UI"/>
              </a:rPr>
              <a:t>K-factor — </a:t>
            </a:r>
            <a:r>
              <a:rPr sz="960" b="0">
                <a:solidFill>
                  <a:srgbClr val="2A3441"/>
                </a:solidFill>
                <a:latin typeface="Segoe UI"/>
              </a:rPr>
              <a:t>the largest movement one verdict can cause, scaled by attack-type severity</a:t>
            </a:r>
          </a:p>
          <a:p>
            <a:pPr algn="l">
              <a:lnSpc>
                <a:spcPct val="118000"/>
              </a:lnSpc>
              <a:spcBef>
                <a:spcPts val="600"/>
              </a:spcBef>
              <a:spcAft>
                <a:spcPts val="500"/>
              </a:spcAft>
            </a:pPr>
            <a:r>
              <a:rPr sz="960" b="1" i="0">
                <a:solidFill>
                  <a:srgbClr val="2A3441"/>
                </a:solidFill>
                <a:latin typeface="Segoe UI"/>
              </a:rPr>
              <a:t>Four candidate formulas, with K = 30 and w = severity ÷ 10:</a:t>
            </a:r>
          </a:p>
          <a:p>
            <a:pPr algn="l">
              <a:lnSpc>
                <a:spcPct val="116000"/>
              </a:lnSpc>
              <a:spcBef>
                <a:spcPts val="0"/>
              </a:spcBef>
              <a:spcAft>
                <a:spcPts val="400"/>
              </a:spcAft>
            </a:pPr>
            <a:r>
              <a:rPr sz="940" b="1">
                <a:solidFill>
                  <a:srgbClr val="1F6FEB"/>
                </a:solidFill>
                <a:latin typeface="Segoe UI"/>
              </a:rPr>
              <a:t>C0 · fixed step — </a:t>
            </a:r>
            <a:r>
              <a:rPr sz="940" b="0">
                <a:solidFill>
                  <a:srgbClr val="2A3441"/>
                </a:solidFill>
                <a:latin typeface="Segoe UI"/>
              </a:rPr>
              <a:t>+10 confirm, −30 false positive, −15 expected, +15 escalate. Today's engine; ignores type.</a:t>
            </a:r>
          </a:p>
          <a:p>
            <a:pPr algn="l">
              <a:lnSpc>
                <a:spcPct val="116000"/>
              </a:lnSpc>
              <a:spcBef>
                <a:spcPts val="0"/>
              </a:spcBef>
              <a:spcAft>
                <a:spcPts val="400"/>
              </a:spcAft>
            </a:pPr>
            <a:r>
              <a:rPr sz="940" b="1">
                <a:solidFill>
                  <a:srgbClr val="1F6FEB"/>
                </a:solidFill>
                <a:latin typeface="Segoe UI"/>
              </a:rPr>
              <a:t>C1 · severity-weighted — </a:t>
            </a:r>
            <a:r>
              <a:rPr sz="940" b="0">
                <a:solidFill>
                  <a:srgbClr val="2A3441"/>
                </a:solidFill>
                <a:latin typeface="Segoe UI"/>
              </a:rPr>
              <a:t>up by +K·w, down by −K·(1 − w). Severe types rise fast and fall slowly.</a:t>
            </a:r>
          </a:p>
          <a:p>
            <a:pPr algn="l">
              <a:lnSpc>
                <a:spcPct val="116000"/>
              </a:lnSpc>
              <a:spcBef>
                <a:spcPts val="0"/>
              </a:spcBef>
              <a:spcAft>
                <a:spcPts val="400"/>
              </a:spcAft>
            </a:pPr>
            <a:r>
              <a:rPr sz="940" b="1">
                <a:solidFill>
                  <a:srgbClr val="1F6FEB"/>
                </a:solidFill>
                <a:latin typeface="Segoe UI"/>
              </a:rPr>
              <a:t>C2 · Elo-style — </a:t>
            </a:r>
            <a:r>
              <a:rPr sz="940" b="0">
                <a:solidFill>
                  <a:srgbClr val="2A3441"/>
                </a:solidFill>
                <a:latin typeface="Segoe UI"/>
              </a:rPr>
              <a:t>Δ = K_dir·(S − E). Moves by surprise, and is self-limiting: confirming a 100-point alert moves it 0.</a:t>
            </a:r>
          </a:p>
          <a:p>
            <a:pPr algn="l">
              <a:lnSpc>
                <a:spcPct val="116000"/>
              </a:lnSpc>
              <a:spcBef>
                <a:spcPts val="0"/>
              </a:spcBef>
              <a:spcAft>
                <a:spcPts val="400"/>
              </a:spcAft>
            </a:pPr>
            <a:r>
              <a:rPr sz="940" b="1">
                <a:solidFill>
                  <a:srgbClr val="1F6FEB"/>
                </a:solidFill>
                <a:latin typeface="Segoe UI"/>
              </a:rPr>
              <a:t>C3 · Elo + uncertainty — </a:t>
            </a:r>
            <a:r>
              <a:rPr sz="940" b="0">
                <a:solidFill>
                  <a:srgbClr val="2A3441"/>
                </a:solidFill>
                <a:latin typeface="Segoe UI"/>
              </a:rPr>
              <a:t>C2 shrunk by family uncertainty. New families respond strongly.</a:t>
            </a:r>
          </a:p>
          <a:p>
            <a:pPr algn="l">
              <a:lnSpc>
                <a:spcPct val="118000"/>
              </a:lnSpc>
              <a:spcBef>
                <a:spcPts val="700"/>
              </a:spcBef>
              <a:spcAft>
                <a:spcPts val="0"/>
              </a:spcAft>
            </a:pPr>
            <a:r>
              <a:rPr sz="960" b="1" i="0">
                <a:solidFill>
                  <a:srgbClr val="0F2A47"/>
                </a:solidFill>
                <a:latin typeface="Segoe UI"/>
              </a:rPr>
              <a:t>Movement on top of any formula: M1 moves one queue band at a time with a demotion shield; M2 sends a confirmed alert straight to the Tier 2 candidate band.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formula we chose — and why</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34</a:t>
            </a:r>
          </a:p>
        </p:txBody>
      </p:sp>
      <p:sp>
        <p:nvSpPr>
          <p:cNvPr id="8" name="Rectangle 7"/>
          <p:cNvSpPr/>
          <p:nvPr/>
        </p:nvSpPr>
        <p:spPr>
          <a:xfrm>
            <a:off x="566928" y="1481328"/>
            <a:ext cx="11057839" cy="100584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1591056"/>
            <a:ext cx="10582351" cy="804672"/>
          </a:xfrm>
          <a:prstGeom prst="rect">
            <a:avLst/>
          </a:prstGeom>
          <a:noFill/>
        </p:spPr>
        <p:txBody>
          <a:bodyPr wrap="square" anchor="t" lIns="0" rIns="0" tIns="0" bIns="0">
            <a:spAutoFit/>
          </a:bodyPr>
          <a:lstStyle/>
          <a:p>
            <a:pPr algn="l">
              <a:spcBef>
                <a:spcPts val="0"/>
              </a:spcBef>
              <a:spcAft>
                <a:spcPts val="400"/>
              </a:spcAft>
            </a:pPr>
            <a:r>
              <a:rPr sz="1100" b="1" i="0">
                <a:solidFill>
                  <a:srgbClr val="7FB0F5"/>
                </a:solidFill>
                <a:latin typeface="Segoe UI"/>
              </a:rPr>
              <a:t>CHOSEN:  formula C1, movement M1, behind the agreement gate</a:t>
            </a:r>
          </a:p>
          <a:p>
            <a:pPr algn="l">
              <a:lnSpc>
                <a:spcPct val="100000"/>
              </a:lnSpc>
              <a:spcBef>
                <a:spcPts val="0"/>
              </a:spcBef>
              <a:spcAft>
                <a:spcPts val="300"/>
              </a:spcAft>
            </a:pPr>
            <a:r>
              <a:rPr sz="1500" b="0">
                <a:solidFill>
                  <a:srgbClr val="FFFFFF"/>
                </a:solidFill>
                <a:latin typeface="Consolas"/>
              </a:rPr>
              <a:t>A confirmed alert rises by  K · w.      A false positive falls by  K · (1 − w).      K = 30 points,  w = severity ÷ 10.</a:t>
            </a:r>
          </a:p>
          <a:p>
            <a:pPr algn="l">
              <a:spcBef>
                <a:spcPts val="0"/>
              </a:spcBef>
              <a:spcAft>
                <a:spcPts val="0"/>
              </a:spcAft>
            </a:pPr>
            <a:r>
              <a:rPr sz="1000" b="0" i="0">
                <a:solidFill>
                  <a:srgbClr val="C3CEDA"/>
                </a:solidFill>
                <a:latin typeface="Segoe UI"/>
              </a:rPr>
              <a:t>Severe attack types rise fast and fall slowly; mild types the reverse. That is exactly what the severity requirement asked for.</a:t>
            </a:r>
          </a:p>
        </p:txBody>
      </p:sp>
      <p:sp>
        <p:nvSpPr>
          <p:cNvPr id="10" name="TextBox 9"/>
          <p:cNvSpPr txBox="1"/>
          <p:nvPr/>
        </p:nvSpPr>
        <p:spPr>
          <a:xfrm>
            <a:off x="566928" y="2670048"/>
            <a:ext cx="5363052"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WHY C1</a:t>
            </a:r>
          </a:p>
        </p:txBody>
      </p:sp>
      <p:sp>
        <p:nvSpPr>
          <p:cNvPr id="11" name="TextBox 10"/>
          <p:cNvSpPr txBox="1"/>
          <p:nvPr/>
        </p:nvSpPr>
        <p:spPr>
          <a:xfrm>
            <a:off x="566928" y="2980944"/>
            <a:ext cx="5363052" cy="2377440"/>
          </a:xfrm>
          <a:prstGeom prst="rect">
            <a:avLst/>
          </a:prstGeom>
          <a:noFill/>
        </p:spPr>
        <p:txBody>
          <a:bodyPr wrap="square" anchor="t" lIns="0" rIns="0" tIns="0" bIns="0">
            <a:spAutoFit/>
          </a:bodyPr>
          <a:lstStyle/>
          <a:p>
            <a:pPr algn="l">
              <a:lnSpc>
                <a:spcPct val="118000"/>
              </a:lnSpc>
              <a:spcBef>
                <a:spcPts val="0"/>
              </a:spcBef>
              <a:spcAft>
                <a:spcPts val="600"/>
              </a:spcAft>
            </a:pPr>
            <a:r>
              <a:rPr sz="1000" b="0" i="0">
                <a:solidFill>
                  <a:srgbClr val="2A3441"/>
                </a:solidFill>
                <a:latin typeface="Segoe UI"/>
              </a:rPr>
              <a:t>It satisfies the severity requirement: the movement must scale with the attack type's severity.</a:t>
            </a:r>
          </a:p>
          <a:p>
            <a:pPr algn="l">
              <a:lnSpc>
                <a:spcPct val="118000"/>
              </a:lnSpc>
              <a:spcBef>
                <a:spcPts val="0"/>
              </a:spcBef>
              <a:spcAft>
                <a:spcPts val="600"/>
              </a:spcAft>
            </a:pPr>
            <a:r>
              <a:rPr sz="1000" b="0" i="0">
                <a:solidFill>
                  <a:srgbClr val="2A3441"/>
                </a:solidFill>
                <a:latin typeface="Segoe UI"/>
              </a:rPr>
              <a:t>It leads the field on mean attack position — 0.0828 against 0.0829 for the Elo forms, about a quarter of one queue position.</a:t>
            </a:r>
          </a:p>
          <a:p>
            <a:pPr algn="l">
              <a:lnSpc>
                <a:spcPct val="118000"/>
              </a:lnSpc>
              <a:spcBef>
                <a:spcPts val="0"/>
              </a:spcBef>
              <a:spcAft>
                <a:spcPts val="600"/>
              </a:spcAft>
            </a:pPr>
            <a:r>
              <a:rPr sz="1000" b="0" i="0">
                <a:solidFill>
                  <a:srgbClr val="2A3441"/>
                </a:solidFill>
                <a:latin typeface="Segoe UI"/>
              </a:rPr>
              <a:t>It is the simplest of the candidates that scale by severity.</a:t>
            </a:r>
          </a:p>
          <a:p>
            <a:pPr algn="l">
              <a:lnSpc>
                <a:spcPct val="118000"/>
              </a:lnSpc>
              <a:spcBef>
                <a:spcPts val="0"/>
              </a:spcBef>
              <a:spcAft>
                <a:spcPts val="600"/>
              </a:spcAft>
            </a:pPr>
            <a:r>
              <a:rPr sz="1000" b="0" i="0">
                <a:solidFill>
                  <a:srgbClr val="2A3441"/>
                </a:solidFill>
                <a:latin typeface="Segoe UI"/>
              </a:rPr>
              <a:t>We state the honest limit: C1's edge rests as much on the requirement and on simplicity as on measured performance. On this testbed the detector is too good for the formulas to separate.</a:t>
            </a:r>
          </a:p>
        </p:txBody>
      </p:sp>
      <p:sp>
        <p:nvSpPr>
          <p:cNvPr id="12" name="TextBox 11"/>
          <p:cNvSpPr txBox="1"/>
          <p:nvPr/>
        </p:nvSpPr>
        <p:spPr>
          <a:xfrm>
            <a:off x="6261715" y="2670048"/>
            <a:ext cx="5363052"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WHY M1 — AND WHY THE GATE MATTERS MORE</a:t>
            </a:r>
          </a:p>
        </p:txBody>
      </p:sp>
      <p:sp>
        <p:nvSpPr>
          <p:cNvPr id="13" name="TextBox 12"/>
          <p:cNvSpPr txBox="1"/>
          <p:nvPr/>
        </p:nvSpPr>
        <p:spPr>
          <a:xfrm>
            <a:off x="6261715" y="2980944"/>
            <a:ext cx="5363052" cy="2377440"/>
          </a:xfrm>
          <a:prstGeom prst="rect">
            <a:avLst/>
          </a:prstGeom>
          <a:noFill/>
        </p:spPr>
        <p:txBody>
          <a:bodyPr wrap="square" anchor="t" lIns="0" rIns="0" tIns="0" bIns="0">
            <a:spAutoFit/>
          </a:bodyPr>
          <a:lstStyle/>
          <a:p>
            <a:pPr algn="l">
              <a:lnSpc>
                <a:spcPct val="118000"/>
              </a:lnSpc>
              <a:spcBef>
                <a:spcPts val="0"/>
              </a:spcBef>
              <a:spcAft>
                <a:spcPts val="600"/>
              </a:spcAft>
            </a:pPr>
            <a:r>
              <a:rPr sz="1000" b="0" i="0">
                <a:solidFill>
                  <a:srgbClr val="2A3441"/>
                </a:solidFill>
                <a:latin typeface="Segoe UI"/>
              </a:rPr>
              <a:t>Moving straight to the top (M2) lets one confirmation override any history. In one seed, a single wrong confirmation outweighed thirteen correct dismissals and lifted 779 benign flows into Tier 2.</a:t>
            </a:r>
          </a:p>
          <a:p>
            <a:pPr algn="l">
              <a:lnSpc>
                <a:spcPct val="118000"/>
              </a:lnSpc>
              <a:spcBef>
                <a:spcPts val="0"/>
              </a:spcBef>
              <a:spcAft>
                <a:spcPts val="600"/>
              </a:spcAft>
            </a:pPr>
            <a:r>
              <a:rPr sz="1000" b="0" i="0">
                <a:solidFill>
                  <a:srgbClr val="2A3441"/>
                </a:solidFill>
                <a:latin typeface="Segoe UI"/>
              </a:rPr>
              <a:t>Mean Tier 2 precision under M2 was 0.74, against 1.00 under M1. Under M1 no single verdict can do this.</a:t>
            </a:r>
          </a:p>
          <a:p>
            <a:pPr algn="l">
              <a:lnSpc>
                <a:spcPct val="118000"/>
              </a:lnSpc>
              <a:spcBef>
                <a:spcPts val="0"/>
              </a:spcBef>
              <a:spcAft>
                <a:spcPts val="600"/>
              </a:spcAft>
            </a:pPr>
            <a:r>
              <a:rPr sz="1000" b="0" i="0">
                <a:solidFill>
                  <a:srgbClr val="2A3441"/>
                </a:solidFill>
                <a:latin typeface="Segoe UI"/>
              </a:rPr>
              <a:t>So the movement is M1 — but the experiment's real finding is that the risk was single-verdict family learning, not the formula.</a:t>
            </a:r>
          </a:p>
          <a:p>
            <a:pPr algn="l">
              <a:lnSpc>
                <a:spcPct val="118000"/>
              </a:lnSpc>
              <a:spcBef>
                <a:spcPts val="0"/>
              </a:spcBef>
              <a:spcAft>
                <a:spcPts val="600"/>
              </a:spcAft>
            </a:pPr>
            <a:r>
              <a:rPr sz="1000" b="0" i="0">
                <a:solidFill>
                  <a:srgbClr val="2A3441"/>
                </a:solidFill>
                <a:latin typeface="Segoe UI"/>
              </a:rPr>
              <a:t>That is why the agreement gate was adopted before the formula was chosen, and it is why every gated arm showed zero harm.</a:t>
            </a:r>
          </a:p>
        </p:txBody>
      </p:sp>
      <p:sp>
        <p:nvSpPr>
          <p:cNvPr id="14" name="Rectangle 13"/>
          <p:cNvSpPr/>
          <p:nvPr/>
        </p:nvSpPr>
        <p:spPr>
          <a:xfrm>
            <a:off x="566928" y="5413248"/>
            <a:ext cx="11057839" cy="786384"/>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8096" y="5522976"/>
            <a:ext cx="10655503" cy="585216"/>
          </a:xfrm>
          <a:prstGeom prst="rect">
            <a:avLst/>
          </a:prstGeom>
          <a:noFill/>
        </p:spPr>
        <p:txBody>
          <a:bodyPr wrap="square" anchor="t" lIns="0" rIns="0" tIns="0" bIns="0">
            <a:spAutoFit/>
          </a:bodyPr>
          <a:lstStyle/>
          <a:p>
            <a:pPr algn="l">
              <a:lnSpc>
                <a:spcPct val="115000"/>
              </a:lnSpc>
              <a:spcBef>
                <a:spcPts val="0"/>
              </a:spcBef>
              <a:spcAft>
                <a:spcPts val="300"/>
              </a:spcAft>
            </a:pPr>
            <a:r>
              <a:rPr sz="1019" b="1" i="0">
                <a:solidFill>
                  <a:srgbClr val="0F2A47"/>
                </a:solidFill>
                <a:latin typeface="Segoe UI"/>
              </a:rPr>
              <a:t>One decision remains open and is the project lead's to make: whether to add the fine family key — which includes the destination address — as defence in depth.</a:t>
            </a:r>
          </a:p>
          <a:p>
            <a:pPr algn="l">
              <a:lnSpc>
                <a:spcPct val="115000"/>
              </a:lnSpc>
              <a:spcBef>
                <a:spcPts val="0"/>
              </a:spcBef>
              <a:spcAft>
                <a:spcPts val="0"/>
              </a:spcAft>
            </a:pPr>
            <a:r>
              <a:rPr sz="960" b="0" i="0">
                <a:solidFill>
                  <a:srgbClr val="6B7684"/>
                </a:solidFill>
                <a:latin typeface="Segoe UI"/>
              </a:rPr>
              <a:t>The coarse key promoted a benign alert from rank 639 to rank 1 in the evaluation. The fine key keeps that false positive and the genuine attacks apart.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agreement gate, and the severity chart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35</a:t>
            </a:r>
          </a:p>
        </p:txBody>
      </p:sp>
      <p:sp>
        <p:nvSpPr>
          <p:cNvPr id="8" name="TextBox 7"/>
          <p:cNvSpPr txBox="1"/>
          <p:nvPr/>
        </p:nvSpPr>
        <p:spPr>
          <a:xfrm>
            <a:off x="566928" y="1481328"/>
            <a:ext cx="11057839"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THE AGREEMENT GATE — PORTED FROM THE COLLABORATOR'S ENGINE</a:t>
            </a:r>
          </a:p>
        </p:txBody>
      </p:sp>
      <p:graphicFrame>
        <p:nvGraphicFramePr>
          <p:cNvPr id="9" name="Table 8"/>
          <p:cNvGraphicFramePr>
            <a:graphicFrameLocks noGrp="1"/>
          </p:cNvGraphicFramePr>
          <p:nvPr/>
        </p:nvGraphicFramePr>
        <p:xfrm>
          <a:off x="566928" y="1792224"/>
          <a:ext cx="6355080" cy="2706624"/>
        </p:xfrm>
        <a:graphic>
          <a:graphicData uri="http://schemas.openxmlformats.org/drawingml/2006/table">
            <a:tbl>
              <a:tblPr firstRow="0" bandRow="0"/>
              <a:tblGrid>
                <a:gridCol w="1691640"/>
                <a:gridCol w="1325880"/>
                <a:gridCol w="3337560"/>
              </a:tblGrid>
              <a:tr h="292608">
                <a:tc>
                  <a:txBody>
                    <a:bodyPr wrap="square"/>
                    <a:lstStyle/>
                    <a:p>
                      <a:pPr algn="l"/>
                      <a:r>
                        <a:rPr sz="880" b="1">
                          <a:solidFill>
                            <a:srgbClr val="FFFFFF"/>
                          </a:solidFill>
                          <a:latin typeface="Segoe UI"/>
                        </a:rPr>
                        <a:t>Condition</a:t>
                      </a:r>
                    </a:p>
                  </a:txBody>
                  <a:tcPr marL="82296" marR="82296" marT="13716" marB="13716" anchor="ctr">
                    <a:solidFill>
                      <a:srgbClr val="0F2A47"/>
                    </a:solidFill>
                  </a:tcPr>
                </a:tc>
                <a:tc>
                  <a:txBody>
                    <a:bodyPr wrap="square"/>
                    <a:lstStyle/>
                    <a:p>
                      <a:pPr algn="l"/>
                      <a:r>
                        <a:rPr sz="880" b="1">
                          <a:solidFill>
                            <a:srgbClr val="FFFFFF"/>
                          </a:solidFill>
                          <a:latin typeface="Segoe UI"/>
                        </a:rPr>
                        <a:t>Value</a:t>
                      </a:r>
                    </a:p>
                  </a:txBody>
                  <a:tcPr marL="82296" marR="82296" marT="13716" marB="13716" anchor="ctr">
                    <a:solidFill>
                      <a:srgbClr val="0F2A47"/>
                    </a:solidFill>
                  </a:tcPr>
                </a:tc>
                <a:tc>
                  <a:txBody>
                    <a:bodyPr wrap="square"/>
                    <a:lstStyle/>
                    <a:p>
                      <a:pPr algn="l"/>
                      <a:r>
                        <a:rPr sz="880" b="1">
                          <a:solidFill>
                            <a:srgbClr val="FFFFFF"/>
                          </a:solidFill>
                          <a:latin typeface="Segoe UI"/>
                        </a:rPr>
                        <a:t>Why this way</a:t>
                      </a:r>
                    </a:p>
                  </a:txBody>
                  <a:tcPr marL="82296" marR="82296" marT="13716" marB="13716" anchor="ctr">
                    <a:solidFill>
                      <a:srgbClr val="0F2A47"/>
                    </a:solidFill>
                  </a:tcPr>
                </a:tc>
              </a:tr>
              <a:tr h="603504">
                <a:tc>
                  <a:txBody>
                    <a:bodyPr wrap="square"/>
                    <a:lstStyle/>
                    <a:p>
                      <a:pPr algn="l"/>
                      <a:r>
                        <a:rPr sz="900" b="0">
                          <a:solidFill>
                            <a:srgbClr val="2A3441"/>
                          </a:solidFill>
                          <a:latin typeface="Segoe UI"/>
                        </a:rPr>
                        <a:t>Learning verdicts required</a:t>
                      </a:r>
                    </a:p>
                  </a:txBody>
                  <a:tcPr marL="82296" marR="82296" marT="13716" marB="13716" anchor="ctr">
                    <a:solidFill>
                      <a:srgbClr val="FFFFFF"/>
                    </a:solidFill>
                  </a:tcPr>
                </a:tc>
                <a:tc>
                  <a:txBody>
                    <a:bodyPr wrap="square"/>
                    <a:lstStyle/>
                    <a:p>
                      <a:pPr algn="l"/>
                      <a:r>
                        <a:rPr sz="900" b="0">
                          <a:solidFill>
                            <a:srgbClr val="2A3441"/>
                          </a:solidFill>
                          <a:latin typeface="Segoe UI"/>
                        </a:rPr>
                        <a:t>at least 3</a:t>
                      </a:r>
                    </a:p>
                  </a:txBody>
                  <a:tcPr marL="82296" marR="82296" marT="13716" marB="13716" anchor="ctr">
                    <a:solidFill>
                      <a:srgbClr val="FFFFFF"/>
                    </a:solidFill>
                  </a:tcPr>
                </a:tc>
                <a:tc>
                  <a:txBody>
                    <a:bodyPr wrap="square"/>
                    <a:lstStyle/>
                    <a:p>
                      <a:pPr algn="l"/>
                      <a:r>
                        <a:rPr sz="900" b="0">
                          <a:solidFill>
                            <a:srgbClr val="2A3441"/>
                          </a:solidFill>
                          <a:latin typeface="Segoe UI"/>
                        </a:rPr>
                        <a:t>One analyst cannot move a family; three who agree can.</a:t>
                      </a:r>
                    </a:p>
                  </a:txBody>
                  <a:tcPr marL="82296" marR="82296" marT="13716" marB="13716" anchor="ctr">
                    <a:solidFill>
                      <a:srgbClr val="FFFFFF"/>
                    </a:solidFill>
                  </a:tcPr>
                </a:tc>
              </a:tr>
              <a:tr h="603504">
                <a:tc>
                  <a:txBody>
                    <a:bodyPr wrap="square"/>
                    <a:lstStyle/>
                    <a:p>
                      <a:pPr algn="l"/>
                      <a:r>
                        <a:rPr sz="900" b="0">
                          <a:solidFill>
                            <a:srgbClr val="2A3441"/>
                          </a:solidFill>
                          <a:latin typeface="Segoe UI"/>
                        </a:rPr>
                        <a:t>Agreement required</a:t>
                      </a:r>
                    </a:p>
                  </a:txBody>
                  <a:tcPr marL="82296" marR="82296" marT="13716" marB="13716" anchor="ctr">
                    <a:solidFill>
                      <a:srgbClr val="F4F7FB"/>
                    </a:solidFill>
                  </a:tcPr>
                </a:tc>
                <a:tc>
                  <a:txBody>
                    <a:bodyPr wrap="square"/>
                    <a:lstStyle/>
                    <a:p>
                      <a:pPr algn="l"/>
                      <a:r>
                        <a:rPr sz="900" b="0">
                          <a:solidFill>
                            <a:srgbClr val="2A3441"/>
                          </a:solidFill>
                          <a:latin typeface="Segoe UI"/>
                        </a:rPr>
                        <a:t>0.67</a:t>
                      </a:r>
                    </a:p>
                  </a:txBody>
                  <a:tcPr marL="82296" marR="82296" marT="13716" marB="13716" anchor="ctr">
                    <a:solidFill>
                      <a:srgbClr val="F4F7FB"/>
                    </a:solidFill>
                  </a:tcPr>
                </a:tc>
                <a:tc>
                  <a:txBody>
                    <a:bodyPr wrap="square"/>
                    <a:lstStyle/>
                    <a:p>
                      <a:pPr algn="l"/>
                      <a:r>
                        <a:rPr sz="900" b="0">
                          <a:solidFill>
                            <a:srgbClr val="2A3441"/>
                          </a:solidFill>
                          <a:latin typeface="Segoe UI"/>
                        </a:rPr>
                        <a:t>2 of 3 rounds to 0.6667 and fails, so three agreeing verdicts are the true minimum. 0.80 counts as strong.</a:t>
                      </a:r>
                    </a:p>
                  </a:txBody>
                  <a:tcPr marL="82296" marR="82296" marT="13716" marB="13716" anchor="ctr">
                    <a:solidFill>
                      <a:srgbClr val="F4F7FB"/>
                    </a:solidFill>
                  </a:tcPr>
                </a:tc>
              </a:tr>
              <a:tr h="603504">
                <a:tc>
                  <a:txBody>
                    <a:bodyPr wrap="square"/>
                    <a:lstStyle/>
                    <a:p>
                      <a:pPr algn="l"/>
                      <a:r>
                        <a:rPr sz="900" b="0">
                          <a:solidFill>
                            <a:srgbClr val="2A3441"/>
                          </a:solidFill>
                          <a:latin typeface="Segoe UI"/>
                        </a:rPr>
                        <a:t>Tie</a:t>
                      </a:r>
                    </a:p>
                  </a:txBody>
                  <a:tcPr marL="82296" marR="82296" marT="13716" marB="13716" anchor="ctr">
                    <a:solidFill>
                      <a:srgbClr val="FFFFFF"/>
                    </a:solidFill>
                  </a:tcPr>
                </a:tc>
                <a:tc>
                  <a:txBody>
                    <a:bodyPr wrap="square"/>
                    <a:lstStyle/>
                    <a:p>
                      <a:pPr algn="l"/>
                      <a:r>
                        <a:rPr sz="900" b="0">
                          <a:solidFill>
                            <a:srgbClr val="2A3441"/>
                          </a:solidFill>
                          <a:latin typeface="Segoe UI"/>
                        </a:rPr>
                        <a:t>no tie</a:t>
                      </a:r>
                    </a:p>
                  </a:txBody>
                  <a:tcPr marL="82296" marR="82296" marT="13716" marB="13716" anchor="ctr">
                    <a:solidFill>
                      <a:srgbClr val="FFFFFF"/>
                    </a:solidFill>
                  </a:tcPr>
                </a:tc>
                <a:tc>
                  <a:txBody>
                    <a:bodyPr wrap="square"/>
                    <a:lstStyle/>
                    <a:p>
                      <a:pPr algn="l"/>
                      <a:r>
                        <a:rPr sz="900" b="0">
                          <a:solidFill>
                            <a:srgbClr val="2A3441"/>
                          </a:solidFill>
                          <a:latin typeface="Segoe UI"/>
                        </a:rPr>
                        <a:t>An even split teaches nothing and is withheld.</a:t>
                      </a:r>
                    </a:p>
                  </a:txBody>
                  <a:tcPr marL="82296" marR="82296" marT="13716" marB="13716" anchor="ctr">
                    <a:solidFill>
                      <a:srgbClr val="FFFFFF"/>
                    </a:solidFill>
                  </a:tcPr>
                </a:tc>
              </a:tr>
              <a:tr h="603504">
                <a:tc>
                  <a:txBody>
                    <a:bodyPr wrap="square"/>
                    <a:lstStyle/>
                    <a:p>
                      <a:pPr algn="l"/>
                      <a:r>
                        <a:rPr sz="900" b="0">
                          <a:solidFill>
                            <a:srgbClr val="2A3441"/>
                          </a:solidFill>
                          <a:latin typeface="Segoe UI"/>
                        </a:rPr>
                        <a:t>Counted by</a:t>
                      </a:r>
                    </a:p>
                  </a:txBody>
                  <a:tcPr marL="82296" marR="82296" marT="13716" marB="13716" anchor="ctr">
                    <a:solidFill>
                      <a:srgbClr val="F4F7FB"/>
                    </a:solidFill>
                  </a:tcPr>
                </a:tc>
                <a:tc>
                  <a:txBody>
                    <a:bodyPr wrap="square"/>
                    <a:lstStyle/>
                    <a:p>
                      <a:pPr algn="l"/>
                      <a:r>
                        <a:rPr sz="900" b="0">
                          <a:solidFill>
                            <a:srgbClr val="2A3441"/>
                          </a:solidFill>
                          <a:latin typeface="Segoe UI"/>
                        </a:rPr>
                        <a:t>category, not direction</a:t>
                      </a:r>
                    </a:p>
                  </a:txBody>
                  <a:tcPr marL="82296" marR="82296" marT="13716" marB="13716" anchor="ctr">
                    <a:solidFill>
                      <a:srgbClr val="F4F7FB"/>
                    </a:solidFill>
                  </a:tcPr>
                </a:tc>
                <a:tc>
                  <a:txBody>
                    <a:bodyPr wrap="square"/>
                    <a:lstStyle/>
                    <a:p>
                      <a:pPr algn="l"/>
                      <a:r>
                        <a:rPr sz="900" b="0">
                          <a:solidFill>
                            <a:srgbClr val="2A3441"/>
                          </a:solidFill>
                          <a:latin typeface="Segoe UI"/>
                        </a:rPr>
                        <a:t>As the collaborator's engine does: 2 false positives plus 1 benign-positive verdict is 0.6667 agreement, and the gate stays shut.</a:t>
                      </a:r>
                    </a:p>
                  </a:txBody>
                  <a:tcPr marL="82296" marR="82296" marT="13716" marB="13716" anchor="ctr">
                    <a:solidFill>
                      <a:srgbClr val="F4F7FB"/>
                    </a:solidFill>
                  </a:tcPr>
                </a:tc>
              </a:tr>
            </a:tbl>
          </a:graphicData>
        </a:graphic>
      </p:graphicFrame>
      <p:sp>
        <p:nvSpPr>
          <p:cNvPr id="10" name="TextBox 9"/>
          <p:cNvSpPr txBox="1"/>
          <p:nvPr/>
        </p:nvSpPr>
        <p:spPr>
          <a:xfrm>
            <a:off x="6814607" y="1792224"/>
            <a:ext cx="4810160"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THE SEVERITY CHART — CONFIGURATION, NOT CODE</a:t>
            </a:r>
          </a:p>
        </p:txBody>
      </p:sp>
      <p:graphicFrame>
        <p:nvGraphicFramePr>
          <p:cNvPr id="11" name="Table 10"/>
          <p:cNvGraphicFramePr>
            <a:graphicFrameLocks noGrp="1"/>
          </p:cNvGraphicFramePr>
          <p:nvPr/>
        </p:nvGraphicFramePr>
        <p:xfrm>
          <a:off x="6814607" y="2103120"/>
          <a:ext cx="4160520" cy="2308860"/>
        </p:xfrm>
        <a:graphic>
          <a:graphicData uri="http://schemas.openxmlformats.org/drawingml/2006/table">
            <a:tbl>
              <a:tblPr firstRow="0" bandRow="0"/>
              <a:tblGrid>
                <a:gridCol w="2395728"/>
                <a:gridCol w="914400"/>
                <a:gridCol w="850392"/>
              </a:tblGrid>
              <a:tr h="292608">
                <a:tc>
                  <a:txBody>
                    <a:bodyPr wrap="square"/>
                    <a:lstStyle/>
                    <a:p>
                      <a:pPr algn="l"/>
                      <a:r>
                        <a:rPr sz="880" b="1">
                          <a:solidFill>
                            <a:srgbClr val="FFFFFF"/>
                          </a:solidFill>
                          <a:latin typeface="Segoe UI"/>
                        </a:rPr>
                        <a:t>Attack type</a:t>
                      </a:r>
                    </a:p>
                  </a:txBody>
                  <a:tcPr marL="82296" marR="82296" marT="13716" marB="13716" anchor="ctr">
                    <a:solidFill>
                      <a:srgbClr val="0F2A47"/>
                    </a:solidFill>
                  </a:tcPr>
                </a:tc>
                <a:tc>
                  <a:txBody>
                    <a:bodyPr wrap="square"/>
                    <a:lstStyle/>
                    <a:p>
                      <a:pPr algn="r"/>
                      <a:r>
                        <a:rPr sz="880" b="1">
                          <a:solidFill>
                            <a:srgbClr val="FFFFFF"/>
                          </a:solidFill>
                          <a:latin typeface="Segoe UI"/>
                        </a:rPr>
                        <a:t>Severity</a:t>
                      </a:r>
                    </a:p>
                  </a:txBody>
                  <a:tcPr marL="82296" marR="82296" marT="13716" marB="13716" anchor="ctr">
                    <a:solidFill>
                      <a:srgbClr val="0F2A47"/>
                    </a:solidFill>
                  </a:tcPr>
                </a:tc>
                <a:tc>
                  <a:txBody>
                    <a:bodyPr wrap="square"/>
                    <a:lstStyle/>
                    <a:p>
                      <a:pPr algn="r"/>
                      <a:r>
                        <a:rPr sz="880" b="1">
                          <a:solidFill>
                            <a:srgbClr val="FFFFFF"/>
                          </a:solidFill>
                          <a:latin typeface="Segoe UI"/>
                        </a:rPr>
                        <a:t>Weight w</a:t>
                      </a:r>
                    </a:p>
                  </a:txBody>
                  <a:tcPr marL="82296" marR="82296" marT="13716" marB="13716" anchor="ctr">
                    <a:solidFill>
                      <a:srgbClr val="0F2A47"/>
                    </a:solidFill>
                  </a:tcPr>
                </a:tc>
              </a:tr>
              <a:tr h="288036">
                <a:tc>
                  <a:txBody>
                    <a:bodyPr wrap="square"/>
                    <a:lstStyle/>
                    <a:p>
                      <a:pPr algn="l"/>
                      <a:r>
                        <a:rPr sz="919" b="0">
                          <a:solidFill>
                            <a:srgbClr val="2A3441"/>
                          </a:solidFill>
                          <a:latin typeface="Segoe UI"/>
                        </a:rPr>
                        <a:t>Port Scan</a:t>
                      </a:r>
                    </a:p>
                  </a:txBody>
                  <a:tcPr marL="82296" marR="82296" marT="13716" marB="13716" anchor="ctr">
                    <a:solidFill>
                      <a:srgbClr val="FFFFFF"/>
                    </a:solidFill>
                  </a:tcPr>
                </a:tc>
                <a:tc>
                  <a:txBody>
                    <a:bodyPr wrap="square"/>
                    <a:lstStyle/>
                    <a:p>
                      <a:pPr algn="r"/>
                      <a:r>
                        <a:rPr sz="919" b="0">
                          <a:solidFill>
                            <a:srgbClr val="2A3441"/>
                          </a:solidFill>
                          <a:latin typeface="Segoe UI"/>
                        </a:rPr>
                        <a:t>3.0</a:t>
                      </a:r>
                    </a:p>
                  </a:txBody>
                  <a:tcPr marL="82296" marR="82296" marT="13716" marB="13716" anchor="ctr">
                    <a:solidFill>
                      <a:srgbClr val="FFFFFF"/>
                    </a:solidFill>
                  </a:tcPr>
                </a:tc>
                <a:tc>
                  <a:txBody>
                    <a:bodyPr wrap="square"/>
                    <a:lstStyle/>
                    <a:p>
                      <a:pPr algn="r"/>
                      <a:r>
                        <a:rPr sz="919" b="0">
                          <a:solidFill>
                            <a:srgbClr val="2A3441"/>
                          </a:solidFill>
                          <a:latin typeface="Segoe UI"/>
                        </a:rPr>
                        <a:t>0.30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Brute Force (attempted)</a:t>
                      </a:r>
                    </a:p>
                  </a:txBody>
                  <a:tcPr marL="82296" marR="82296" marT="13716" marB="13716" anchor="ctr">
                    <a:solidFill>
                      <a:srgbClr val="F4F7FB"/>
                    </a:solidFill>
                  </a:tcPr>
                </a:tc>
                <a:tc>
                  <a:txBody>
                    <a:bodyPr wrap="square"/>
                    <a:lstStyle/>
                    <a:p>
                      <a:pPr algn="r"/>
                      <a:r>
                        <a:rPr sz="919" b="0">
                          <a:solidFill>
                            <a:srgbClr val="2A3441"/>
                          </a:solidFill>
                          <a:latin typeface="Segoe UI"/>
                        </a:rPr>
                        <a:t>5.0</a:t>
                      </a:r>
                    </a:p>
                  </a:txBody>
                  <a:tcPr marL="82296" marR="82296" marT="13716" marB="13716" anchor="ctr">
                    <a:solidFill>
                      <a:srgbClr val="F4F7FB"/>
                    </a:solidFill>
                  </a:tcPr>
                </a:tc>
                <a:tc>
                  <a:txBody>
                    <a:bodyPr wrap="square"/>
                    <a:lstStyle/>
                    <a:p>
                      <a:pPr algn="r"/>
                      <a:r>
                        <a:rPr sz="919" b="0">
                          <a:solidFill>
                            <a:srgbClr val="2A3441"/>
                          </a:solidFill>
                          <a:latin typeface="Segoe UI"/>
                        </a:rPr>
                        <a:t>0.50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Denial of service</a:t>
                      </a:r>
                    </a:p>
                  </a:txBody>
                  <a:tcPr marL="82296" marR="82296" marT="13716" marB="13716" anchor="ctr">
                    <a:solidFill>
                      <a:srgbClr val="FFFFFF"/>
                    </a:solidFill>
                  </a:tcPr>
                </a:tc>
                <a:tc>
                  <a:txBody>
                    <a:bodyPr wrap="square"/>
                    <a:lstStyle/>
                    <a:p>
                      <a:pPr algn="r"/>
                      <a:r>
                        <a:rPr sz="919" b="0">
                          <a:solidFill>
                            <a:srgbClr val="2A3441"/>
                          </a:solidFill>
                          <a:latin typeface="Segoe UI"/>
                        </a:rPr>
                        <a:t>6.5</a:t>
                      </a:r>
                    </a:p>
                  </a:txBody>
                  <a:tcPr marL="82296" marR="82296" marT="13716" marB="13716" anchor="ctr">
                    <a:solidFill>
                      <a:srgbClr val="FFFFFF"/>
                    </a:solidFill>
                  </a:tcPr>
                </a:tc>
                <a:tc>
                  <a:txBody>
                    <a:bodyPr wrap="square"/>
                    <a:lstStyle/>
                    <a:p>
                      <a:pPr algn="r"/>
                      <a:r>
                        <a:rPr sz="919" b="0">
                          <a:solidFill>
                            <a:srgbClr val="2A3441"/>
                          </a:solidFill>
                          <a:latin typeface="Segoe UI"/>
                        </a:rPr>
                        <a:t>0.65</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Distributed denial of service</a:t>
                      </a:r>
                    </a:p>
                  </a:txBody>
                  <a:tcPr marL="82296" marR="82296" marT="13716" marB="13716" anchor="ctr">
                    <a:solidFill>
                      <a:srgbClr val="F4F7FB"/>
                    </a:solidFill>
                  </a:tcPr>
                </a:tc>
                <a:tc>
                  <a:txBody>
                    <a:bodyPr wrap="square"/>
                    <a:lstStyle/>
                    <a:p>
                      <a:pPr algn="r"/>
                      <a:r>
                        <a:rPr sz="919" b="0">
                          <a:solidFill>
                            <a:srgbClr val="2A3441"/>
                          </a:solidFill>
                          <a:latin typeface="Segoe UI"/>
                        </a:rPr>
                        <a:t>7.5</a:t>
                      </a:r>
                    </a:p>
                  </a:txBody>
                  <a:tcPr marL="82296" marR="82296" marT="13716" marB="13716" anchor="ctr">
                    <a:solidFill>
                      <a:srgbClr val="F4F7FB"/>
                    </a:solidFill>
                  </a:tcPr>
                </a:tc>
                <a:tc>
                  <a:txBody>
                    <a:bodyPr wrap="square"/>
                    <a:lstStyle/>
                    <a:p>
                      <a:pPr algn="r"/>
                      <a:r>
                        <a:rPr sz="919" b="0">
                          <a:solidFill>
                            <a:srgbClr val="2A3441"/>
                          </a:solidFill>
                          <a:latin typeface="Segoe UI"/>
                        </a:rPr>
                        <a:t>0.75</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Web application attack</a:t>
                      </a:r>
                    </a:p>
                  </a:txBody>
                  <a:tcPr marL="82296" marR="82296" marT="13716" marB="13716" anchor="ctr">
                    <a:solidFill>
                      <a:srgbClr val="FFFFFF"/>
                    </a:solidFill>
                  </a:tcPr>
                </a:tc>
                <a:tc>
                  <a:txBody>
                    <a:bodyPr wrap="square"/>
                    <a:lstStyle/>
                    <a:p>
                      <a:pPr algn="r"/>
                      <a:r>
                        <a:rPr sz="919" b="0">
                          <a:solidFill>
                            <a:srgbClr val="2A3441"/>
                          </a:solidFill>
                          <a:latin typeface="Segoe UI"/>
                        </a:rPr>
                        <a:t>8.0</a:t>
                      </a:r>
                    </a:p>
                  </a:txBody>
                  <a:tcPr marL="82296" marR="82296" marT="13716" marB="13716" anchor="ctr">
                    <a:solidFill>
                      <a:srgbClr val="FFFFFF"/>
                    </a:solidFill>
                  </a:tcPr>
                </a:tc>
                <a:tc>
                  <a:txBody>
                    <a:bodyPr wrap="square"/>
                    <a:lstStyle/>
                    <a:p>
                      <a:pPr algn="r"/>
                      <a:r>
                        <a:rPr sz="919" b="0">
                          <a:solidFill>
                            <a:srgbClr val="2A3441"/>
                          </a:solidFill>
                          <a:latin typeface="Segoe UI"/>
                        </a:rPr>
                        <a:t>0.80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Botnet / command and control</a:t>
                      </a:r>
                    </a:p>
                  </a:txBody>
                  <a:tcPr marL="82296" marR="82296" marT="13716" marB="13716" anchor="ctr">
                    <a:solidFill>
                      <a:srgbClr val="F4F7FB"/>
                    </a:solidFill>
                  </a:tcPr>
                </a:tc>
                <a:tc>
                  <a:txBody>
                    <a:bodyPr wrap="square"/>
                    <a:lstStyle/>
                    <a:p>
                      <a:pPr algn="r"/>
                      <a:r>
                        <a:rPr sz="919" b="0">
                          <a:solidFill>
                            <a:srgbClr val="2A3441"/>
                          </a:solidFill>
                          <a:latin typeface="Segoe UI"/>
                        </a:rPr>
                        <a:t>9.0</a:t>
                      </a:r>
                    </a:p>
                  </a:txBody>
                  <a:tcPr marL="82296" marR="82296" marT="13716" marB="13716" anchor="ctr">
                    <a:solidFill>
                      <a:srgbClr val="F4F7FB"/>
                    </a:solidFill>
                  </a:tcPr>
                </a:tc>
                <a:tc>
                  <a:txBody>
                    <a:bodyPr wrap="square"/>
                    <a:lstStyle/>
                    <a:p>
                      <a:pPr algn="r"/>
                      <a:r>
                        <a:rPr sz="919" b="0">
                          <a:solidFill>
                            <a:srgbClr val="2A3441"/>
                          </a:solidFill>
                          <a:latin typeface="Segoe UI"/>
                        </a:rPr>
                        <a:t>0.90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Infiltration / lateral movement</a:t>
                      </a:r>
                    </a:p>
                  </a:txBody>
                  <a:tcPr marL="82296" marR="82296" marT="13716" marB="13716" anchor="ctr">
                    <a:solidFill>
                      <a:srgbClr val="FFFFFF"/>
                    </a:solidFill>
                  </a:tcPr>
                </a:tc>
                <a:tc>
                  <a:txBody>
                    <a:bodyPr wrap="square"/>
                    <a:lstStyle/>
                    <a:p>
                      <a:pPr algn="r"/>
                      <a:r>
                        <a:rPr sz="919" b="0">
                          <a:solidFill>
                            <a:srgbClr val="2A3441"/>
                          </a:solidFill>
                          <a:latin typeface="Segoe UI"/>
                        </a:rPr>
                        <a:t>9.5</a:t>
                      </a:r>
                    </a:p>
                  </a:txBody>
                  <a:tcPr marL="82296" marR="82296" marT="13716" marB="13716" anchor="ctr">
                    <a:solidFill>
                      <a:srgbClr val="FFFFFF"/>
                    </a:solidFill>
                  </a:tcPr>
                </a:tc>
                <a:tc>
                  <a:txBody>
                    <a:bodyPr wrap="square"/>
                    <a:lstStyle/>
                    <a:p>
                      <a:pPr algn="r"/>
                      <a:r>
                        <a:rPr sz="919" b="0">
                          <a:solidFill>
                            <a:srgbClr val="2A3441"/>
                          </a:solidFill>
                          <a:latin typeface="Segoe UI"/>
                        </a:rPr>
                        <a:t>0.95</a:t>
                      </a:r>
                    </a:p>
                  </a:txBody>
                  <a:tcPr marL="82296" marR="82296" marT="13716" marB="13716" anchor="ctr">
                    <a:solidFill>
                      <a:srgbClr val="FFFFFF"/>
                    </a:solidFill>
                  </a:tcPr>
                </a:tc>
              </a:tr>
            </a:tbl>
          </a:graphicData>
        </a:graphic>
      </p:graphicFrame>
      <p:sp>
        <p:nvSpPr>
          <p:cNvPr id="12" name="TextBox 11"/>
          <p:cNvSpPr txBox="1"/>
          <p:nvPr/>
        </p:nvSpPr>
        <p:spPr>
          <a:xfrm>
            <a:off x="566928" y="4224528"/>
            <a:ext cx="6026522" cy="210312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Effect of the gate, measured</a:t>
            </a:r>
          </a:p>
        </p:txBody>
      </p:sp>
      <p:sp>
        <p:nvSpPr>
          <p:cNvPr id="13" name="TextBox 12"/>
          <p:cNvSpPr txBox="1"/>
          <p:nvPr/>
        </p:nvSpPr>
        <p:spPr>
          <a:xfrm>
            <a:off x="566928" y="4517136"/>
            <a:ext cx="6026522" cy="1828800"/>
          </a:xfrm>
          <a:prstGeom prst="rect">
            <a:avLst/>
          </a:prstGeom>
          <a:noFill/>
        </p:spPr>
        <p:txBody>
          <a:bodyPr wrap="square" anchor="t" lIns="0" rIns="0" tIns="0" bIns="0">
            <a:spAutoFit/>
          </a:bodyPr>
          <a:lstStyle/>
          <a:p>
            <a:pPr algn="l">
              <a:lnSpc>
                <a:spcPct val="118000"/>
              </a:lnSpc>
              <a:spcBef>
                <a:spcPts val="0"/>
              </a:spcBef>
              <a:spcAft>
                <a:spcPts val="600"/>
              </a:spcAft>
            </a:pPr>
            <a:r>
              <a:rPr sz="980" b="0" i="0">
                <a:solidFill>
                  <a:srgbClr val="2A3441"/>
                </a:solidFill>
                <a:latin typeface="Segoe UI"/>
              </a:rPr>
              <a:t>Every gated arm — for every formula, movement and family key — demoted 0 attacks and held Tier 2 at precision 1.00, matching the no-feedback control exactly.</a:t>
            </a:r>
          </a:p>
          <a:p>
            <a:pPr algn="l">
              <a:lnSpc>
                <a:spcPct val="118000"/>
              </a:lnSpc>
              <a:spcBef>
                <a:spcPts val="0"/>
              </a:spcBef>
              <a:spcAft>
                <a:spcPts val="600"/>
              </a:spcAft>
            </a:pPr>
            <a:r>
              <a:rPr sz="980" b="0" i="0">
                <a:solidFill>
                  <a:srgbClr val="2A3441"/>
                </a:solidFill>
                <a:latin typeface="Segoe UI"/>
              </a:rPr>
              <a:t>A counterfactual proves the gate did the work: scoring the ungated arms' own learned families with the gate on brings 59 demoted attacks and 780 misplaced benign alerts to zero, in every seed.</a:t>
            </a:r>
          </a:p>
          <a:p>
            <a:pPr algn="l">
              <a:lnSpc>
                <a:spcPct val="118000"/>
              </a:lnSpc>
              <a:spcBef>
                <a:spcPts val="0"/>
              </a:spcBef>
              <a:spcAft>
                <a:spcPts val="600"/>
              </a:spcAft>
            </a:pPr>
            <a:r>
              <a:rPr sz="980" b="0" i="0">
                <a:solidFill>
                  <a:srgbClr val="2A3441"/>
                </a:solidFill>
                <a:latin typeface="Segoe UI"/>
              </a:rPr>
              <a:t>The limit is recorded rather than hidden: under the gate, feedback barely touches the future queue on this data. Only 4 of 32–34 learned families pass, and three of those have no flows in the future half.</a:t>
            </a:r>
          </a:p>
        </p:txBody>
      </p:sp>
      <p:sp>
        <p:nvSpPr>
          <p:cNvPr id="14" name="TextBox 13"/>
          <p:cNvSpPr txBox="1"/>
          <p:nvPr/>
        </p:nvSpPr>
        <p:spPr>
          <a:xfrm>
            <a:off x="6814607" y="4133087"/>
            <a:ext cx="4810160" cy="219456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How the numbers are defended</a:t>
            </a:r>
          </a:p>
          <a:p>
            <a:pPr algn="l">
              <a:lnSpc>
                <a:spcPct val="120000"/>
              </a:lnSpc>
              <a:spcBef>
                <a:spcPts val="0"/>
              </a:spcBef>
              <a:spcAft>
                <a:spcPts val="800"/>
              </a:spcAft>
            </a:pPr>
            <a:r>
              <a:rPr sz="980" b="0" i="0">
                <a:solidFill>
                  <a:srgbClr val="2A3441"/>
                </a:solidFill>
                <a:latin typeface="Segoe UI"/>
              </a:rPr>
              <a:t>Each value is anchored on three published scales, so any number can be defended rather than asserted: Suricata's classtype priority, the MITRE ATT&amp;CK tactic stage, and the CVSS v3.1 numeric bands.</a:t>
            </a:r>
          </a:p>
          <a:p>
            <a:pPr algn="l">
              <a:lnSpc>
                <a:spcPct val="120000"/>
              </a:lnSpc>
              <a:spcBef>
                <a:spcPts val="0"/>
              </a:spcBef>
              <a:spcAft>
                <a:spcPts val="800"/>
              </a:spcAft>
            </a:pPr>
            <a:r>
              <a:rPr sz="980" b="0" i="0">
                <a:solidFill>
                  <a:srgbClr val="2A3441"/>
                </a:solidFill>
                <a:latin typeface="Segoe UI"/>
              </a:rPr>
              <a:t>The chart lives in config/severity-chart.json, is versioned sev-1, is validated on load — every model class exactly once — and every detection run and experiment records the chart version it used.</a:t>
            </a:r>
          </a:p>
          <a:p>
            <a:pPr algn="l">
              <a:lnSpc>
                <a:spcPct val="120000"/>
              </a:lnSpc>
              <a:spcBef>
                <a:spcPts val="0"/>
              </a:spcBef>
              <a:spcAft>
                <a:spcPts val="0"/>
              </a:spcAft>
            </a:pPr>
            <a:r>
              <a:rPr sz="980" b="1" i="0">
                <a:solidFill>
                  <a:srgbClr val="0F2A47"/>
                </a:solidFill>
                <a:latin typeface="Segoe UI"/>
              </a:rPr>
              <a:t>Changing a value is a configuration change, never a code change.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EVALUATION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three-arm evaluation — the wrong-way result, and what replaced it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36</a:t>
            </a:r>
          </a:p>
        </p:txBody>
      </p:sp>
      <p:sp>
        <p:nvSpPr>
          <p:cNvPr id="8" name="TextBox 7"/>
          <p:cNvSpPr txBox="1"/>
          <p:nvPr/>
        </p:nvSpPr>
        <p:spPr>
          <a:xfrm>
            <a:off x="566928" y="1463040"/>
            <a:ext cx="11057839"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NEWEST RUN  ·  PRE-REGISTRATION s15-preregistration-1  ·  40 VERDICTS  ·  RE-RUN UNDER v1.31</a:t>
            </a:r>
          </a:p>
        </p:txBody>
      </p:sp>
      <p:graphicFrame>
        <p:nvGraphicFramePr>
          <p:cNvPr id="9" name="Table 8"/>
          <p:cNvGraphicFramePr>
            <a:graphicFrameLocks noGrp="1"/>
          </p:cNvGraphicFramePr>
          <p:nvPr/>
        </p:nvGraphicFramePr>
        <p:xfrm>
          <a:off x="566928" y="1773936"/>
          <a:ext cx="7132320" cy="2395728"/>
        </p:xfrm>
        <a:graphic>
          <a:graphicData uri="http://schemas.openxmlformats.org/drawingml/2006/table">
            <a:tbl>
              <a:tblPr firstRow="0" bandRow="0"/>
              <a:tblGrid>
                <a:gridCol w="2487168"/>
                <a:gridCol w="1572768"/>
                <a:gridCol w="1463040"/>
                <a:gridCol w="1609344"/>
              </a:tblGrid>
              <a:tr h="365760">
                <a:tc>
                  <a:txBody>
                    <a:bodyPr wrap="square"/>
                    <a:lstStyle/>
                    <a:p>
                      <a:pPr algn="l"/>
                      <a:r>
                        <a:rPr sz="880" b="1">
                          <a:solidFill>
                            <a:srgbClr val="FFFFFF"/>
                          </a:solidFill>
                          <a:latin typeface="Segoe UI"/>
                        </a:rPr>
                        <a:t/>
                      </a:r>
                    </a:p>
                  </a:txBody>
                  <a:tcPr marL="82296" marR="82296" marT="13716" marB="13716" anchor="ctr">
                    <a:solidFill>
                      <a:srgbClr val="0F2A47"/>
                    </a:solidFill>
                  </a:tcPr>
                </a:tc>
                <a:tc>
                  <a:txBody>
                    <a:bodyPr wrap="square"/>
                    <a:lstStyle/>
                    <a:p>
                      <a:pPr algn="r"/>
                      <a:r>
                        <a:rPr sz="880" b="1">
                          <a:solidFill>
                            <a:srgbClr val="FFFFFF"/>
                          </a:solidFill>
                          <a:latin typeface="Segoe UI"/>
                        </a:rPr>
                        <a:t>A — control</a:t>
                      </a:r>
                    </a:p>
                  </a:txBody>
                  <a:tcPr marL="82296" marR="82296" marT="13716" marB="13716" anchor="ctr">
                    <a:solidFill>
                      <a:srgbClr val="0F2A47"/>
                    </a:solidFill>
                  </a:tcPr>
                </a:tc>
                <a:tc>
                  <a:txBody>
                    <a:bodyPr wrap="square"/>
                    <a:lstStyle/>
                    <a:p>
                      <a:pPr algn="r"/>
                      <a:r>
                        <a:rPr sz="880" b="1">
                          <a:solidFill>
                            <a:srgbClr val="FFFFFF"/>
                          </a:solidFill>
                          <a:latin typeface="Segoe UI"/>
                        </a:rPr>
                        <a:t>B — treatment</a:t>
                      </a:r>
                    </a:p>
                  </a:txBody>
                  <a:tcPr marL="82296" marR="82296" marT="13716" marB="13716" anchor="ctr">
                    <a:solidFill>
                      <a:srgbClr val="0F2A47"/>
                    </a:solidFill>
                  </a:tcPr>
                </a:tc>
                <a:tc>
                  <a:txBody>
                    <a:bodyPr wrap="square"/>
                    <a:lstStyle/>
                    <a:p>
                      <a:pPr algn="r"/>
                      <a:r>
                        <a:rPr sz="880" b="1">
                          <a:solidFill>
                            <a:srgbClr val="FFFFFF"/>
                          </a:solidFill>
                          <a:latin typeface="Segoe UI"/>
                        </a:rPr>
                        <a:t>C — guardrails off</a:t>
                      </a:r>
                    </a:p>
                  </a:txBody>
                  <a:tcPr marL="82296" marR="82296" marT="13716" marB="13716" anchor="ctr">
                    <a:solidFill>
                      <a:srgbClr val="0F2A47"/>
                    </a:solidFill>
                  </a:tcPr>
                </a:tc>
              </a:tr>
              <a:tr h="338328">
                <a:tc>
                  <a:txBody>
                    <a:bodyPr wrap="square"/>
                    <a:lstStyle/>
                    <a:p>
                      <a:pPr algn="l"/>
                      <a:r>
                        <a:rPr sz="919" b="0">
                          <a:solidFill>
                            <a:srgbClr val="2A3441"/>
                          </a:solidFill>
                          <a:latin typeface="Segoe UI"/>
                        </a:rPr>
                        <a:t>Verdicts applied</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40</a:t>
                      </a:r>
                    </a:p>
                  </a:txBody>
                  <a:tcPr marL="82296" marR="82296" marT="13716" marB="13716" anchor="ctr">
                    <a:solidFill>
                      <a:srgbClr val="FFFFFF"/>
                    </a:solidFill>
                  </a:tcPr>
                </a:tc>
                <a:tc>
                  <a:txBody>
                    <a:bodyPr wrap="square"/>
                    <a:lstStyle/>
                    <a:p>
                      <a:pPr algn="r"/>
                      <a:r>
                        <a:rPr sz="919" b="0">
                          <a:solidFill>
                            <a:srgbClr val="2A3441"/>
                          </a:solidFill>
                          <a:latin typeface="Segoe UI"/>
                        </a:rPr>
                        <a:t>40</a:t>
                      </a:r>
                    </a:p>
                  </a:txBody>
                  <a:tcPr marL="82296" marR="82296" marT="13716" marB="13716" anchor="ctr">
                    <a:solidFill>
                      <a:srgbClr val="FFFFFF"/>
                    </a:solidFill>
                  </a:tcPr>
                </a:tc>
              </a:tr>
              <a:tr h="338328">
                <a:tc>
                  <a:txBody>
                    <a:bodyPr wrap="square"/>
                    <a:lstStyle/>
                    <a:p>
                      <a:pPr algn="l"/>
                      <a:r>
                        <a:rPr sz="919" b="0">
                          <a:solidFill>
                            <a:srgbClr val="2A3441"/>
                          </a:solidFill>
                          <a:latin typeface="Segoe UI"/>
                        </a:rPr>
                        <a:t>Precision @10 / @50 / @200</a:t>
                      </a:r>
                    </a:p>
                  </a:txBody>
                  <a:tcPr marL="82296" marR="82296" marT="13716" marB="13716" anchor="ctr">
                    <a:solidFill>
                      <a:srgbClr val="F4F7FB"/>
                    </a:solidFill>
                  </a:tcPr>
                </a:tc>
                <a:tc>
                  <a:txBody>
                    <a:bodyPr wrap="square"/>
                    <a:lstStyle/>
                    <a:p>
                      <a:pPr algn="r"/>
                      <a:r>
                        <a:rPr sz="919" b="0">
                          <a:solidFill>
                            <a:srgbClr val="2A3441"/>
                          </a:solidFill>
                          <a:latin typeface="Segoe UI"/>
                        </a:rPr>
                        <a:t>1.000 / 1.000 / 1.000</a:t>
                      </a:r>
                    </a:p>
                  </a:txBody>
                  <a:tcPr marL="82296" marR="82296" marT="13716" marB="13716" anchor="ctr">
                    <a:solidFill>
                      <a:srgbClr val="F4F7FB"/>
                    </a:solidFill>
                  </a:tcPr>
                </a:tc>
                <a:tc>
                  <a:txBody>
                    <a:bodyPr wrap="square"/>
                    <a:lstStyle/>
                    <a:p>
                      <a:pPr algn="r"/>
                      <a:r>
                        <a:rPr sz="919" b="1">
                          <a:solidFill>
                            <a:srgbClr val="B06A00"/>
                          </a:solidFill>
                          <a:latin typeface="Segoe UI"/>
                        </a:rPr>
                        <a:t>1.000 / 1.000 / 0.990</a:t>
                      </a:r>
                    </a:p>
                  </a:txBody>
                  <a:tcPr marL="82296" marR="82296" marT="13716" marB="13716" anchor="ctr">
                    <a:solidFill>
                      <a:srgbClr val="F4F7FB"/>
                    </a:solidFill>
                  </a:tcPr>
                </a:tc>
                <a:tc>
                  <a:txBody>
                    <a:bodyPr wrap="square"/>
                    <a:lstStyle/>
                    <a:p>
                      <a:pPr algn="r"/>
                      <a:r>
                        <a:rPr sz="919" b="1">
                          <a:solidFill>
                            <a:srgbClr val="B06A00"/>
                          </a:solidFill>
                          <a:latin typeface="Segoe UI"/>
                        </a:rPr>
                        <a:t>1.000 / 1.000 / 0.990</a:t>
                      </a:r>
                    </a:p>
                  </a:txBody>
                  <a:tcPr marL="82296" marR="82296" marT="13716" marB="13716" anchor="ctr">
                    <a:solidFill>
                      <a:srgbClr val="F4F7FB"/>
                    </a:solidFill>
                  </a:tcPr>
                </a:tc>
              </a:tr>
              <a:tr h="338328">
                <a:tc>
                  <a:txBody>
                    <a:bodyPr wrap="square"/>
                    <a:lstStyle/>
                    <a:p>
                      <a:pPr algn="l"/>
                      <a:r>
                        <a:rPr sz="919" b="0">
                          <a:solidFill>
                            <a:srgbClr val="2A3441"/>
                          </a:solidFill>
                          <a:latin typeface="Segoe UI"/>
                        </a:rPr>
                        <a:t>False positives in the top 50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r>
              <a:tr h="338328">
                <a:tc>
                  <a:txBody>
                    <a:bodyPr wrap="square"/>
                    <a:lstStyle/>
                    <a:p>
                      <a:pPr algn="l"/>
                      <a:r>
                        <a:rPr sz="919" b="0">
                          <a:solidFill>
                            <a:srgbClr val="2A3441"/>
                          </a:solidFill>
                          <a:latin typeface="Segoe UI"/>
                        </a:rPr>
                        <a:t>Critical floor breaches</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r>
              <a:tr h="338328">
                <a:tc>
                  <a:txBody>
                    <a:bodyPr wrap="square"/>
                    <a:lstStyle/>
                    <a:p>
                      <a:pPr algn="l"/>
                      <a:r>
                        <a:rPr sz="919" b="0">
                          <a:solidFill>
                            <a:srgbClr val="2A3441"/>
                          </a:solidFill>
                          <a:latin typeface="Segoe UI"/>
                        </a:rPr>
                        <a:t>True positives suppressed</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r>
              <a:tr h="338328">
                <a:tc>
                  <a:txBody>
                    <a:bodyPr wrap="square"/>
                    <a:lstStyle/>
                    <a:p>
                      <a:pPr algn="l"/>
                      <a:r>
                        <a:rPr sz="919" b="0">
                          <a:solidFill>
                            <a:srgbClr val="2A3441"/>
                          </a:solidFill>
                          <a:latin typeface="Segoe UI"/>
                        </a:rPr>
                        <a:t>Detection metrics</a:t>
                      </a:r>
                    </a:p>
                  </a:txBody>
                  <a:tcPr marL="82296" marR="82296" marT="13716" marB="13716" anchor="ctr">
                    <a:solidFill>
                      <a:srgbClr val="F4F7FB"/>
                    </a:solidFill>
                  </a:tcPr>
                </a:tc>
                <a:tc>
                  <a:txBody>
                    <a:bodyPr wrap="square"/>
                    <a:lstStyle/>
                    <a:p>
                      <a:pPr algn="r"/>
                      <a:r>
                        <a:rPr sz="919" b="0">
                          <a:solidFill>
                            <a:srgbClr val="2A3441"/>
                          </a:solidFill>
                          <a:latin typeface="Segoe UI"/>
                        </a:rPr>
                        <a:t>identical</a:t>
                      </a:r>
                    </a:p>
                  </a:txBody>
                  <a:tcPr marL="82296" marR="82296" marT="13716" marB="13716" anchor="ctr">
                    <a:solidFill>
                      <a:srgbClr val="F4F7FB"/>
                    </a:solidFill>
                  </a:tcPr>
                </a:tc>
                <a:tc>
                  <a:txBody>
                    <a:bodyPr wrap="square"/>
                    <a:lstStyle/>
                    <a:p>
                      <a:pPr algn="r"/>
                      <a:r>
                        <a:rPr sz="919" b="0">
                          <a:solidFill>
                            <a:srgbClr val="2A3441"/>
                          </a:solidFill>
                          <a:latin typeface="Segoe UI"/>
                        </a:rPr>
                        <a:t>identical</a:t>
                      </a:r>
                    </a:p>
                  </a:txBody>
                  <a:tcPr marL="82296" marR="82296" marT="13716" marB="13716" anchor="ctr">
                    <a:solidFill>
                      <a:srgbClr val="F4F7FB"/>
                    </a:solidFill>
                  </a:tcPr>
                </a:tc>
                <a:tc>
                  <a:txBody>
                    <a:bodyPr wrap="square"/>
                    <a:lstStyle/>
                    <a:p>
                      <a:pPr algn="r"/>
                      <a:r>
                        <a:rPr sz="919" b="0">
                          <a:solidFill>
                            <a:srgbClr val="2A3441"/>
                          </a:solidFill>
                          <a:latin typeface="Segoe UI"/>
                        </a:rPr>
                        <a:t>identical</a:t>
                      </a:r>
                    </a:p>
                  </a:txBody>
                  <a:tcPr marL="82296" marR="82296" marT="13716" marB="13716" anchor="ctr">
                    <a:solidFill>
                      <a:srgbClr val="F4F7FB"/>
                    </a:solidFill>
                  </a:tcPr>
                </a:tc>
              </a:tr>
            </a:tbl>
          </a:graphicData>
        </a:graphic>
      </p:graphicFrame>
      <p:sp>
        <p:nvSpPr>
          <p:cNvPr id="10" name="TextBox 9"/>
          <p:cNvSpPr txBox="1"/>
          <p:nvPr/>
        </p:nvSpPr>
        <p:spPr>
          <a:xfrm>
            <a:off x="566928" y="4041648"/>
            <a:ext cx="6026522" cy="219456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The design that makes it trustworthy</a:t>
            </a:r>
          </a:p>
        </p:txBody>
      </p:sp>
      <p:sp>
        <p:nvSpPr>
          <p:cNvPr id="11" name="TextBox 10"/>
          <p:cNvSpPr txBox="1"/>
          <p:nvPr/>
        </p:nvSpPr>
        <p:spPr>
          <a:xfrm>
            <a:off x="566928" y="4334256"/>
            <a:ext cx="6026522" cy="2011680"/>
          </a:xfrm>
          <a:prstGeom prst="rect">
            <a:avLst/>
          </a:prstGeom>
          <a:noFill/>
        </p:spPr>
        <p:txBody>
          <a:bodyPr wrap="square" anchor="t" lIns="0" rIns="0" tIns="0" bIns="0">
            <a:spAutoFit/>
          </a:bodyPr>
          <a:lstStyle/>
          <a:p>
            <a:pPr algn="l">
              <a:lnSpc>
                <a:spcPct val="118000"/>
              </a:lnSpc>
              <a:spcBef>
                <a:spcPts val="0"/>
              </a:spcBef>
              <a:spcAft>
                <a:spcPts val="600"/>
              </a:spcAft>
            </a:pPr>
            <a:r>
              <a:rPr sz="960" b="0" i="0">
                <a:solidFill>
                  <a:srgbClr val="2A3441"/>
                </a:solidFill>
                <a:latin typeface="Segoe UI"/>
              </a:rPr>
              <a:t>The arms are byte copies of one detection database, so the dataset, model, rule set and seed are identical by construction — not by promise.</a:t>
            </a:r>
          </a:p>
          <a:p>
            <a:pPr algn="l">
              <a:lnSpc>
                <a:spcPct val="118000"/>
              </a:lnSpc>
              <a:spcBef>
                <a:spcPts val="0"/>
              </a:spcBef>
              <a:spcAft>
                <a:spcPts val="600"/>
              </a:spcAft>
            </a:pPr>
            <a:r>
              <a:rPr sz="960" b="0" i="0">
                <a:solidFill>
                  <a:srgbClr val="2A3441"/>
                </a:solidFill>
                <a:latin typeface="Segoe UI"/>
              </a:rPr>
              <a:t>The feedback sequence is derived by a rule fixed before any arm ran: an oracle analyst over flagged alerts, at most 5 per family, families of 8 or more.</a:t>
            </a:r>
          </a:p>
          <a:p>
            <a:pPr algn="l">
              <a:lnSpc>
                <a:spcPct val="118000"/>
              </a:lnSpc>
              <a:spcBef>
                <a:spcPts val="0"/>
              </a:spcBef>
              <a:spcAft>
                <a:spcPts val="600"/>
              </a:spcAft>
            </a:pPr>
            <a:r>
              <a:rPr sz="960" b="0" i="0">
                <a:solidFill>
                  <a:srgbClr val="2A3441"/>
                </a:solidFill>
                <a:latin typeface="Segoe UI"/>
              </a:rPr>
              <a:t>An earlier plan version instructed strengthening the sequence until it produced the wanted answer. That instruction was struck out, and pre-registration replaced it.</a:t>
            </a:r>
          </a:p>
        </p:txBody>
      </p:sp>
      <p:sp>
        <p:nvSpPr>
          <p:cNvPr id="12" name="TextBox 11"/>
          <p:cNvSpPr txBox="1"/>
          <p:nvPr/>
        </p:nvSpPr>
        <p:spPr>
          <a:xfrm>
            <a:off x="6814607" y="1773936"/>
            <a:ext cx="4810160"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WHAT IT FOUND</a:t>
            </a:r>
          </a:p>
        </p:txBody>
      </p:sp>
      <p:sp>
        <p:nvSpPr>
          <p:cNvPr id="13" name="Rectangle 12"/>
          <p:cNvSpPr/>
          <p:nvPr/>
        </p:nvSpPr>
        <p:spPr>
          <a:xfrm>
            <a:off x="6814607" y="2084831"/>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814607" y="2084831"/>
            <a:ext cx="45720" cy="804672"/>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79199" y="2176272"/>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Learning works and does not leak</a:t>
            </a:r>
          </a:p>
          <a:p>
            <a:pPr algn="l">
              <a:lnSpc>
                <a:spcPct val="115000"/>
              </a:lnSpc>
              <a:spcBef>
                <a:spcPts val="0"/>
              </a:spcBef>
              <a:spcAft>
                <a:spcPts val="0"/>
              </a:spcAft>
            </a:pPr>
            <a:r>
              <a:rPr sz="890" b="0" i="0">
                <a:solidFill>
                  <a:srgbClr val="2A3441"/>
                </a:solidFill>
                <a:latin typeface="Segoe UI"/>
              </a:rPr>
              <a:t>All 8 judged families opened their gate at agreement 1.000. Of 805 untouched members, 205 were adjusted and 198 true positives promoted. Of 4,155 alerts outside any judged family, 0 were adjusted.</a:t>
            </a:r>
          </a:p>
        </p:txBody>
      </p:sp>
      <p:sp>
        <p:nvSpPr>
          <p:cNvPr id="16" name="Rectangle 15"/>
          <p:cNvSpPr/>
          <p:nvPr/>
        </p:nvSpPr>
        <p:spPr>
          <a:xfrm>
            <a:off x="6814607" y="2953511"/>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814607" y="2953511"/>
            <a:ext cx="45720" cy="8046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79199" y="3044951"/>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It promoted two false positives — one to rank 1</a:t>
            </a:r>
          </a:p>
          <a:p>
            <a:pPr algn="l">
              <a:lnSpc>
                <a:spcPct val="115000"/>
              </a:lnSpc>
              <a:spcBef>
                <a:spcPts val="0"/>
              </a:spcBef>
              <a:spcAft>
                <a:spcPts val="0"/>
              </a:spcAft>
            </a:pPr>
            <a:r>
              <a:rPr sz="890" b="0" i="0">
                <a:solidFill>
                  <a:srgbClr val="2A3441"/>
                </a:solidFill>
                <a:latin typeface="Segoe UI"/>
              </a:rPr>
              <a:t>A benign flow classified as a Web Attack rose from rank 639 to rank 1, on verdicts given to other members of its family. The cost of a coarse family key, measured rather than argued.</a:t>
            </a:r>
          </a:p>
        </p:txBody>
      </p:sp>
      <p:sp>
        <p:nvSpPr>
          <p:cNvPr id="19" name="Rectangle 18"/>
          <p:cNvSpPr/>
          <p:nvPr/>
        </p:nvSpPr>
        <p:spPr>
          <a:xfrm>
            <a:off x="6814607" y="3822191"/>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814607" y="3822191"/>
            <a:ext cx="45720" cy="8046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79199" y="3913631"/>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Precision fell because the control had nowhere to go</a:t>
            </a:r>
          </a:p>
          <a:p>
            <a:pPr algn="l">
              <a:lnSpc>
                <a:spcPct val="115000"/>
              </a:lnSpc>
              <a:spcBef>
                <a:spcPts val="0"/>
              </a:spcBef>
              <a:spcAft>
                <a:spcPts val="0"/>
              </a:spcAft>
            </a:pPr>
            <a:r>
              <a:rPr sz="890" b="0" i="0">
                <a:solidFill>
                  <a:srgbClr val="2A3441"/>
                </a:solidFill>
                <a:latin typeface="Segoe UI"/>
              </a:rPr>
              <a:t>The control queue was already perfect: precision 1.000 at every cut-off to 200, with 2 false positives in 996 flagged alerts. Feedback could only break that ordering.</a:t>
            </a:r>
          </a:p>
        </p:txBody>
      </p:sp>
      <p:sp>
        <p:nvSpPr>
          <p:cNvPr id="22" name="Rectangle 21"/>
          <p:cNvSpPr/>
          <p:nvPr/>
        </p:nvSpPr>
        <p:spPr>
          <a:xfrm>
            <a:off x="6814607" y="4690872"/>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814607" y="4690872"/>
            <a:ext cx="45720" cy="804672"/>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979199" y="4782312"/>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The score is saturated</a:t>
            </a:r>
          </a:p>
          <a:p>
            <a:pPr algn="l">
              <a:lnSpc>
                <a:spcPct val="115000"/>
              </a:lnSpc>
              <a:spcBef>
                <a:spcPts val="0"/>
              </a:spcBef>
              <a:spcAft>
                <a:spcPts val="0"/>
              </a:spcAft>
            </a:pPr>
            <a:r>
              <a:rPr sz="890" b="0" i="0">
                <a:solidFill>
                  <a:srgbClr val="2A3441"/>
                </a:solidFill>
                <a:latin typeface="Segoe UI"/>
              </a:rPr>
              <a:t>975 of 996 flagged alerts sit at exactly 100.0, across only 13 distinct scores. Ordering inside the top band falls to the tie-break, not to what the analyst said.</a:t>
            </a:r>
          </a:p>
        </p:txBody>
      </p:sp>
      <p:sp>
        <p:nvSpPr>
          <p:cNvPr id="25" name="Rectangle 24"/>
          <p:cNvSpPr/>
          <p:nvPr/>
        </p:nvSpPr>
        <p:spPr>
          <a:xfrm>
            <a:off x="6814607" y="5559552"/>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814607" y="5559552"/>
            <a:ext cx="45720" cy="804672"/>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979199" y="5650992"/>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Arm C had no power, and the rule is why</a:t>
            </a:r>
          </a:p>
          <a:p>
            <a:pPr algn="l">
              <a:lnSpc>
                <a:spcPct val="115000"/>
              </a:lnSpc>
              <a:spcBef>
                <a:spcPts val="0"/>
              </a:spcBef>
              <a:spcAft>
                <a:spcPts val="0"/>
              </a:spcAft>
            </a:pPr>
            <a:r>
              <a:rPr sz="890" b="0" i="0">
                <a:solidFill>
                  <a:srgbClr val="2A3441"/>
                </a:solidFill>
                <a:latin typeface="Segoe UI"/>
              </a:rPr>
              <a:t>The oracle analyst over a near-perfect detector produced no dismissals, and every guardrail that could bind protects against downward pressure — so switching them off changed nothing.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EIGHT</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Commercial tools, and where we fit</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The commercial landscape, what the research says consoles must do, and where this project sits inside a real SOC workflow.</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08</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COMMERCIAL LANDSCAPE</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Existing IDS tools, and the gap they leave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38</a:t>
            </a:r>
          </a:p>
        </p:txBody>
      </p:sp>
      <p:graphicFrame>
        <p:nvGraphicFramePr>
          <p:cNvPr id="8" name="Table 7"/>
          <p:cNvGraphicFramePr>
            <a:graphicFrameLocks noGrp="1"/>
          </p:cNvGraphicFramePr>
          <p:nvPr/>
        </p:nvGraphicFramePr>
        <p:xfrm>
          <a:off x="566928" y="1572768"/>
          <a:ext cx="11055096" cy="3877056"/>
        </p:xfrm>
        <a:graphic>
          <a:graphicData uri="http://schemas.openxmlformats.org/drawingml/2006/table">
            <a:tbl>
              <a:tblPr firstRow="0" bandRow="0"/>
              <a:tblGrid>
                <a:gridCol w="1691640"/>
                <a:gridCol w="2148840"/>
                <a:gridCol w="3703320"/>
                <a:gridCol w="3511296"/>
              </a:tblGrid>
              <a:tr h="310896">
                <a:tc>
                  <a:txBody>
                    <a:bodyPr wrap="square"/>
                    <a:lstStyle/>
                    <a:p>
                      <a:pPr algn="l"/>
                      <a:r>
                        <a:rPr sz="900" b="1">
                          <a:solidFill>
                            <a:srgbClr val="FFFFFF"/>
                          </a:solidFill>
                          <a:latin typeface="Segoe UI"/>
                        </a:rPr>
                        <a:t>Product</a:t>
                      </a:r>
                    </a:p>
                  </a:txBody>
                  <a:tcPr marL="82296" marR="82296" marT="13716" marB="13716" anchor="ctr">
                    <a:solidFill>
                      <a:srgbClr val="0F2A47"/>
                    </a:solidFill>
                  </a:tcPr>
                </a:tc>
                <a:tc>
                  <a:txBody>
                    <a:bodyPr wrap="square"/>
                    <a:lstStyle/>
                    <a:p>
                      <a:pPr algn="l"/>
                      <a:r>
                        <a:rPr sz="900" b="1">
                          <a:solidFill>
                            <a:srgbClr val="FFFFFF"/>
                          </a:solidFill>
                          <a:latin typeface="Segoe UI"/>
                        </a:rPr>
                        <a:t>Approach</a:t>
                      </a:r>
                    </a:p>
                  </a:txBody>
                  <a:tcPr marL="82296" marR="82296" marT="13716" marB="13716" anchor="ctr">
                    <a:solidFill>
                      <a:srgbClr val="0F2A47"/>
                    </a:solidFill>
                  </a:tcPr>
                </a:tc>
                <a:tc>
                  <a:txBody>
                    <a:bodyPr wrap="square"/>
                    <a:lstStyle/>
                    <a:p>
                      <a:pPr algn="l"/>
                      <a:r>
                        <a:rPr sz="900" b="1">
                          <a:solidFill>
                            <a:srgbClr val="FFFFFF"/>
                          </a:solidFill>
                          <a:latin typeface="Segoe UI"/>
                        </a:rPr>
                        <a:t>What it does well</a:t>
                      </a:r>
                    </a:p>
                  </a:txBody>
                  <a:tcPr marL="82296" marR="82296" marT="13716" marB="13716" anchor="ctr">
                    <a:solidFill>
                      <a:srgbClr val="0F2A47"/>
                    </a:solidFill>
                  </a:tcPr>
                </a:tc>
                <a:tc>
                  <a:txBody>
                    <a:bodyPr wrap="square"/>
                    <a:lstStyle/>
                    <a:p>
                      <a:pPr algn="l"/>
                      <a:r>
                        <a:rPr sz="900" b="1">
                          <a:solidFill>
                            <a:srgbClr val="FFFFFF"/>
                          </a:solidFill>
                          <a:latin typeface="Segoe UI"/>
                        </a:rPr>
                        <a:t>The gap this project targets</a:t>
                      </a:r>
                    </a:p>
                  </a:txBody>
                  <a:tcPr marL="82296" marR="82296" marT="13716" marB="13716" anchor="ctr">
                    <a:solidFill>
                      <a:srgbClr val="0F2A47"/>
                    </a:solidFill>
                  </a:tcPr>
                </a:tc>
              </a:tr>
              <a:tr h="713232">
                <a:tc>
                  <a:txBody>
                    <a:bodyPr wrap="square"/>
                    <a:lstStyle/>
                    <a:p>
                      <a:pPr algn="l"/>
                      <a:r>
                        <a:rPr sz="919" b="0">
                          <a:solidFill>
                            <a:srgbClr val="2A3441"/>
                          </a:solidFill>
                          <a:latin typeface="Segoe UI"/>
                        </a:rPr>
                        <a:t>Snort</a:t>
                      </a:r>
                    </a:p>
                  </a:txBody>
                  <a:tcPr marL="82296" marR="82296" marT="13716" marB="13716" anchor="ctr">
                    <a:solidFill>
                      <a:srgbClr val="FFFFFF"/>
                    </a:solidFill>
                  </a:tcPr>
                </a:tc>
                <a:tc>
                  <a:txBody>
                    <a:bodyPr wrap="square"/>
                    <a:lstStyle/>
                    <a:p>
                      <a:pPr algn="l"/>
                      <a:r>
                        <a:rPr sz="919" b="0">
                          <a:solidFill>
                            <a:srgbClr val="2A3441"/>
                          </a:solidFill>
                          <a:latin typeface="Segoe UI"/>
                        </a:rPr>
                        <a:t>Signature-based IDS</a:t>
                      </a:r>
                    </a:p>
                  </a:txBody>
                  <a:tcPr marL="82296" marR="82296" marT="13716" marB="13716" anchor="ctr">
                    <a:solidFill>
                      <a:srgbClr val="FFFFFF"/>
                    </a:solidFill>
                  </a:tcPr>
                </a:tc>
                <a:tc>
                  <a:txBody>
                    <a:bodyPr wrap="square"/>
                    <a:lstStyle/>
                    <a:p>
                      <a:pPr algn="l"/>
                      <a:r>
                        <a:rPr sz="919" b="0">
                          <a:solidFill>
                            <a:srgbClr val="2A3441"/>
                          </a:solidFill>
                          <a:latin typeface="Segoe UI"/>
                        </a:rPr>
                        <a:t>Mature rule ecosystem; matches are explainable</a:t>
                      </a:r>
                    </a:p>
                  </a:txBody>
                  <a:tcPr marL="82296" marR="82296" marT="13716" marB="13716" anchor="ctr">
                    <a:solidFill>
                      <a:srgbClr val="FFFFFF"/>
                    </a:solidFill>
                  </a:tcPr>
                </a:tc>
                <a:tc>
                  <a:txBody>
                    <a:bodyPr wrap="square"/>
                    <a:lstStyle/>
                    <a:p>
                      <a:pPr algn="l"/>
                      <a:r>
                        <a:rPr sz="919" b="0">
                          <a:solidFill>
                            <a:srgbClr val="2A3441"/>
                          </a:solidFill>
                          <a:latin typeface="Segoe UI"/>
                        </a:rPr>
                        <a:t>No feedback-driven prioritisation — every rule hit arrives with the same standing</a:t>
                      </a:r>
                    </a:p>
                  </a:txBody>
                  <a:tcPr marL="82296" marR="82296" marT="13716" marB="13716" anchor="ctr">
                    <a:solidFill>
                      <a:srgbClr val="FFFFFF"/>
                    </a:solidFill>
                  </a:tcPr>
                </a:tc>
              </a:tr>
              <a:tr h="713232">
                <a:tc>
                  <a:txBody>
                    <a:bodyPr wrap="square"/>
                    <a:lstStyle/>
                    <a:p>
                      <a:pPr algn="l"/>
                      <a:r>
                        <a:rPr sz="919" b="0">
                          <a:solidFill>
                            <a:srgbClr val="2A3441"/>
                          </a:solidFill>
                          <a:latin typeface="Segoe UI"/>
                        </a:rPr>
                        <a:t>Suricata</a:t>
                      </a:r>
                    </a:p>
                  </a:txBody>
                  <a:tcPr marL="82296" marR="82296" marT="13716" marB="13716" anchor="ctr">
                    <a:solidFill>
                      <a:srgbClr val="F4F7FB"/>
                    </a:solidFill>
                  </a:tcPr>
                </a:tc>
                <a:tc>
                  <a:txBody>
                    <a:bodyPr wrap="square"/>
                    <a:lstStyle/>
                    <a:p>
                      <a:pPr algn="l"/>
                      <a:r>
                        <a:rPr sz="919" b="0">
                          <a:solidFill>
                            <a:srgbClr val="2A3441"/>
                          </a:solidFill>
                          <a:latin typeface="Segoe UI"/>
                        </a:rPr>
                        <a:t>Signature and protocol analysis</a:t>
                      </a:r>
                    </a:p>
                  </a:txBody>
                  <a:tcPr marL="82296" marR="82296" marT="13716" marB="13716" anchor="ctr">
                    <a:solidFill>
                      <a:srgbClr val="F4F7FB"/>
                    </a:solidFill>
                  </a:tcPr>
                </a:tc>
                <a:tc>
                  <a:txBody>
                    <a:bodyPr wrap="square"/>
                    <a:lstStyle/>
                    <a:p>
                      <a:pPr algn="l"/>
                      <a:r>
                        <a:rPr sz="919" b="0">
                          <a:solidFill>
                            <a:srgbClr val="2A3441"/>
                          </a:solidFill>
                          <a:latin typeface="Segoe UI"/>
                        </a:rPr>
                        <a:t>High throughput; detailed, well-structured logs</a:t>
                      </a:r>
                    </a:p>
                  </a:txBody>
                  <a:tcPr marL="82296" marR="82296" marT="13716" marB="13716" anchor="ctr">
                    <a:solidFill>
                      <a:srgbClr val="F4F7FB"/>
                    </a:solidFill>
                  </a:tcPr>
                </a:tc>
                <a:tc>
                  <a:txBody>
                    <a:bodyPr wrap="square"/>
                    <a:lstStyle/>
                    <a:p>
                      <a:pPr algn="l"/>
                      <a:r>
                        <a:rPr sz="919" b="0">
                          <a:solidFill>
                            <a:srgbClr val="2A3441"/>
                          </a:solidFill>
                          <a:latin typeface="Segoe UI"/>
                        </a:rPr>
                        <a:t>The same triage burden is passed downstream to the analyst</a:t>
                      </a:r>
                    </a:p>
                  </a:txBody>
                  <a:tcPr marL="82296" marR="82296" marT="13716" marB="13716" anchor="ctr">
                    <a:solidFill>
                      <a:srgbClr val="F4F7FB"/>
                    </a:solidFill>
                  </a:tcPr>
                </a:tc>
              </a:tr>
              <a:tr h="713232">
                <a:tc>
                  <a:txBody>
                    <a:bodyPr wrap="square"/>
                    <a:lstStyle/>
                    <a:p>
                      <a:pPr algn="l"/>
                      <a:r>
                        <a:rPr sz="919" b="0">
                          <a:solidFill>
                            <a:srgbClr val="2A3441"/>
                          </a:solidFill>
                          <a:latin typeface="Segoe UI"/>
                        </a:rPr>
                        <a:t>Darktrace</a:t>
                      </a:r>
                    </a:p>
                  </a:txBody>
                  <a:tcPr marL="82296" marR="82296" marT="13716" marB="13716" anchor="ctr">
                    <a:solidFill>
                      <a:srgbClr val="FFFFFF"/>
                    </a:solidFill>
                  </a:tcPr>
                </a:tc>
                <a:tc>
                  <a:txBody>
                    <a:bodyPr wrap="square"/>
                    <a:lstStyle/>
                    <a:p>
                      <a:pPr algn="l"/>
                      <a:r>
                        <a:rPr sz="919" b="0">
                          <a:solidFill>
                            <a:srgbClr val="2A3441"/>
                          </a:solidFill>
                          <a:latin typeface="Segoe UI"/>
                        </a:rPr>
                        <a:t>Behavioural machine learning</a:t>
                      </a:r>
                    </a:p>
                  </a:txBody>
                  <a:tcPr marL="82296" marR="82296" marT="13716" marB="13716" anchor="ctr">
                    <a:solidFill>
                      <a:srgbClr val="FFFFFF"/>
                    </a:solidFill>
                  </a:tcPr>
                </a:tc>
                <a:tc>
                  <a:txBody>
                    <a:bodyPr wrap="square"/>
                    <a:lstStyle/>
                    <a:p>
                      <a:pPr algn="l"/>
                      <a:r>
                        <a:rPr sz="919" b="0">
                          <a:solidFill>
                            <a:srgbClr val="2A3441"/>
                          </a:solidFill>
                          <a:latin typeface="Segoe UI"/>
                        </a:rPr>
                        <a:t>Self-learning; offers autonomous response</a:t>
                      </a:r>
                    </a:p>
                  </a:txBody>
                  <a:tcPr marL="82296" marR="82296" marT="13716" marB="13716" anchor="ctr">
                    <a:solidFill>
                      <a:srgbClr val="FFFFFF"/>
                    </a:solidFill>
                  </a:tcPr>
                </a:tc>
                <a:tc>
                  <a:txBody>
                    <a:bodyPr wrap="square"/>
                    <a:lstStyle/>
                    <a:p>
                      <a:pPr algn="l"/>
                      <a:r>
                        <a:rPr sz="919" b="0">
                          <a:solidFill>
                            <a:srgbClr val="2A3441"/>
                          </a:solidFill>
                          <a:latin typeface="Segoe UI"/>
                        </a:rPr>
                        <a:t>Limited transparency into how decisions are reached</a:t>
                      </a:r>
                    </a:p>
                  </a:txBody>
                  <a:tcPr marL="82296" marR="82296" marT="13716" marB="13716" anchor="ctr">
                    <a:solidFill>
                      <a:srgbClr val="FFFFFF"/>
                    </a:solidFill>
                  </a:tcPr>
                </a:tc>
              </a:tr>
              <a:tr h="713232">
                <a:tc>
                  <a:txBody>
                    <a:bodyPr wrap="square"/>
                    <a:lstStyle/>
                    <a:p>
                      <a:pPr algn="l"/>
                      <a:r>
                        <a:rPr sz="919" b="0">
                          <a:solidFill>
                            <a:srgbClr val="2A3441"/>
                          </a:solidFill>
                          <a:latin typeface="Segoe UI"/>
                        </a:rPr>
                        <a:t>Vectra AI</a:t>
                      </a:r>
                    </a:p>
                  </a:txBody>
                  <a:tcPr marL="82296" marR="82296" marT="13716" marB="13716" anchor="ctr">
                    <a:solidFill>
                      <a:srgbClr val="F4F7FB"/>
                    </a:solidFill>
                  </a:tcPr>
                </a:tc>
                <a:tc>
                  <a:txBody>
                    <a:bodyPr wrap="square"/>
                    <a:lstStyle/>
                    <a:p>
                      <a:pPr algn="l"/>
                      <a:r>
                        <a:rPr sz="919" b="0">
                          <a:solidFill>
                            <a:srgbClr val="2A3441"/>
                          </a:solidFill>
                          <a:latin typeface="Segoe UI"/>
                        </a:rPr>
                        <a:t>AI behavioural detection (NDR)</a:t>
                      </a:r>
                    </a:p>
                  </a:txBody>
                  <a:tcPr marL="82296" marR="82296" marT="13716" marB="13716" anchor="ctr">
                    <a:solidFill>
                      <a:srgbClr val="F4F7FB"/>
                    </a:solidFill>
                  </a:tcPr>
                </a:tc>
                <a:tc>
                  <a:txBody>
                    <a:bodyPr wrap="square"/>
                    <a:lstStyle/>
                    <a:p>
                      <a:pPr algn="l"/>
                      <a:r>
                        <a:rPr sz="919" b="0">
                          <a:solidFill>
                            <a:srgbClr val="2A3441"/>
                          </a:solidFill>
                          <a:latin typeface="Segoe UI"/>
                        </a:rPr>
                        <a:t>Correlates and scores attacker behaviour across the estate</a:t>
                      </a:r>
                    </a:p>
                  </a:txBody>
                  <a:tcPr marL="82296" marR="82296" marT="13716" marB="13716" anchor="ctr">
                    <a:solidFill>
                      <a:srgbClr val="F4F7FB"/>
                    </a:solidFill>
                  </a:tcPr>
                </a:tc>
                <a:tc>
                  <a:txBody>
                    <a:bodyPr wrap="square"/>
                    <a:lstStyle/>
                    <a:p>
                      <a:pPr algn="l"/>
                      <a:r>
                        <a:rPr sz="919" b="0">
                          <a:solidFill>
                            <a:srgbClr val="2A3441"/>
                          </a:solidFill>
                          <a:latin typeface="Segoe UI"/>
                        </a:rPr>
                        <a:t>Enterprise-priced, and opaque as a decision surface</a:t>
                      </a:r>
                    </a:p>
                  </a:txBody>
                  <a:tcPr marL="82296" marR="82296" marT="13716" marB="13716" anchor="ctr">
                    <a:solidFill>
                      <a:srgbClr val="F4F7FB"/>
                    </a:solidFill>
                  </a:tcPr>
                </a:tc>
              </a:tr>
              <a:tr h="713232">
                <a:tc>
                  <a:txBody>
                    <a:bodyPr wrap="square"/>
                    <a:lstStyle/>
                    <a:p>
                      <a:pPr algn="l"/>
                      <a:r>
                        <a:rPr sz="919" b="0">
                          <a:solidFill>
                            <a:srgbClr val="2A3441"/>
                          </a:solidFill>
                          <a:latin typeface="Segoe UI"/>
                        </a:rPr>
                        <a:t>SIEM consoles
(Sentinel, Elastic, Splunk)</a:t>
                      </a:r>
                    </a:p>
                  </a:txBody>
                  <a:tcPr marL="82296" marR="82296" marT="13716" marB="13716" anchor="ctr">
                    <a:solidFill>
                      <a:srgbClr val="FFFFFF"/>
                    </a:solidFill>
                  </a:tcPr>
                </a:tc>
                <a:tc>
                  <a:txBody>
                    <a:bodyPr wrap="square"/>
                    <a:lstStyle/>
                    <a:p>
                      <a:pPr algn="l"/>
                      <a:r>
                        <a:rPr sz="919" b="0">
                          <a:solidFill>
                            <a:srgbClr val="2A3441"/>
                          </a:solidFill>
                          <a:latin typeface="Segoe UI"/>
                        </a:rPr>
                        <a:t>Aggregation and triage on top of detection</a:t>
                      </a:r>
                    </a:p>
                  </a:txBody>
                  <a:tcPr marL="82296" marR="82296" marT="13716" marB="13716" anchor="ctr">
                    <a:solidFill>
                      <a:srgbClr val="FFFFFF"/>
                    </a:solidFill>
                  </a:tcPr>
                </a:tc>
                <a:tc>
                  <a:txBody>
                    <a:bodyPr wrap="square"/>
                    <a:lstStyle/>
                    <a:p>
                      <a:pPr algn="l"/>
                      <a:r>
                        <a:rPr sz="919" b="0">
                          <a:solidFill>
                            <a:srgbClr val="2A3441"/>
                          </a:solidFill>
                          <a:latin typeface="Segoe UI"/>
                        </a:rPr>
                        <a:t>Genuinely good triage workflow — queue, owner, status, classification, notes</a:t>
                      </a:r>
                    </a:p>
                  </a:txBody>
                  <a:tcPr marL="82296" marR="82296" marT="13716" marB="13716" anchor="ctr">
                    <a:solidFill>
                      <a:srgbClr val="FFFFFF"/>
                    </a:solidFill>
                  </a:tcPr>
                </a:tc>
                <a:tc>
                  <a:txBody>
                    <a:bodyPr wrap="square"/>
                    <a:lstStyle/>
                    <a:p>
                      <a:pPr algn="l"/>
                      <a:r>
                        <a:rPr sz="919" b="0">
                          <a:solidFill>
                            <a:srgbClr val="2A3441"/>
                          </a:solidFill>
                          <a:latin typeface="Segoe UI"/>
                        </a:rPr>
                        <a:t>They inherit the alert volume, and still leave the analyst to decide what matters</a:t>
                      </a:r>
                    </a:p>
                  </a:txBody>
                  <a:tcPr marL="82296" marR="82296" marT="13716" marB="13716" anchor="ctr">
                    <a:solidFill>
                      <a:srgbClr val="FFFFFF"/>
                    </a:solidFill>
                  </a:tcPr>
                </a:tc>
              </a:tr>
            </a:tbl>
          </a:graphicData>
        </a:graphic>
      </p:graphicFrame>
      <p:sp>
        <p:nvSpPr>
          <p:cNvPr id="9" name="Rectangle 8"/>
          <p:cNvSpPr/>
          <p:nvPr/>
        </p:nvSpPr>
        <p:spPr>
          <a:xfrm>
            <a:off x="566928" y="5541264"/>
            <a:ext cx="11057839" cy="658368"/>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5650992"/>
            <a:ext cx="10655503" cy="457200"/>
          </a:xfrm>
          <a:prstGeom prst="rect">
            <a:avLst/>
          </a:prstGeom>
          <a:noFill/>
        </p:spPr>
        <p:txBody>
          <a:bodyPr wrap="square" anchor="t" lIns="0" rIns="0" tIns="0" bIns="0">
            <a:spAutoFit/>
          </a:bodyPr>
          <a:lstStyle/>
          <a:p>
            <a:pPr algn="l">
              <a:lnSpc>
                <a:spcPct val="115000"/>
              </a:lnSpc>
              <a:spcBef>
                <a:spcPts val="0"/>
              </a:spcBef>
              <a:spcAft>
                <a:spcPts val="200"/>
              </a:spcAft>
            </a:pPr>
            <a:r>
              <a:rPr sz="1100" b="1" i="0">
                <a:solidFill>
                  <a:srgbClr val="0F2A47"/>
                </a:solidFill>
                <a:latin typeface="Segoe UI"/>
              </a:rPr>
              <a:t>The gap: existing products still generate large alert volumes, need complex configuration, and give limited transparency into how analyst feedback should shape prioritisation.</a:t>
            </a:r>
          </a:p>
          <a:p>
            <a:pPr algn="l">
              <a:spcBef>
                <a:spcPts val="0"/>
              </a:spcBef>
              <a:spcAft>
                <a:spcPts val="0"/>
              </a:spcAft>
            </a:pPr>
            <a:r>
              <a:rPr sz="960" b="0" i="0">
                <a:solidFill>
                  <a:srgbClr val="6B7684"/>
                </a:solidFill>
                <a:latin typeface="Segoe UI"/>
              </a:rPr>
              <a:t>This project fuses two detectors into one explainable alert and closes the loop with guardrailed, structured feedback.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COMMERCIAL LANDSCAPE</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our product fits the workflow commercial settings already use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39</a:t>
            </a:r>
          </a:p>
        </p:txBody>
      </p:sp>
      <p:graphicFrame>
        <p:nvGraphicFramePr>
          <p:cNvPr id="8" name="Table 7"/>
          <p:cNvGraphicFramePr>
            <a:graphicFrameLocks noGrp="1"/>
          </p:cNvGraphicFramePr>
          <p:nvPr/>
        </p:nvGraphicFramePr>
        <p:xfrm>
          <a:off x="566928" y="1572768"/>
          <a:ext cx="11055095" cy="2670048"/>
        </p:xfrm>
        <a:graphic>
          <a:graphicData uri="http://schemas.openxmlformats.org/drawingml/2006/table">
            <a:tbl>
              <a:tblPr firstRow="0" bandRow="0"/>
              <a:tblGrid>
                <a:gridCol w="2194560"/>
                <a:gridCol w="3977639"/>
                <a:gridCol w="4882896"/>
              </a:tblGrid>
              <a:tr h="310896">
                <a:tc>
                  <a:txBody>
                    <a:bodyPr wrap="square"/>
                    <a:lstStyle/>
                    <a:p>
                      <a:pPr algn="l"/>
                      <a:r>
                        <a:rPr sz="900" b="1">
                          <a:solidFill>
                            <a:srgbClr val="FFFFFF"/>
                          </a:solidFill>
                          <a:latin typeface="Segoe UI"/>
                        </a:rPr>
                        <a:t>SOC tier</a:t>
                      </a:r>
                    </a:p>
                  </a:txBody>
                  <a:tcPr marL="82296" marR="82296" marT="13716" marB="13716" anchor="ctr">
                    <a:solidFill>
                      <a:srgbClr val="0F2A47"/>
                    </a:solidFill>
                  </a:tcPr>
                </a:tc>
                <a:tc>
                  <a:txBody>
                    <a:bodyPr wrap="square"/>
                    <a:lstStyle/>
                    <a:p>
                      <a:pPr algn="l"/>
                      <a:r>
                        <a:rPr sz="900" b="1">
                          <a:solidFill>
                            <a:srgbClr val="FFFFFF"/>
                          </a:solidFill>
                          <a:latin typeface="Segoe UI"/>
                        </a:rPr>
                        <a:t>What they do</a:t>
                      </a:r>
                    </a:p>
                  </a:txBody>
                  <a:tcPr marL="82296" marR="82296" marT="13716" marB="13716" anchor="ctr">
                    <a:solidFill>
                      <a:srgbClr val="0F2A47"/>
                    </a:solidFill>
                  </a:tcPr>
                </a:tc>
                <a:tc>
                  <a:txBody>
                    <a:bodyPr wrap="square"/>
                    <a:lstStyle/>
                    <a:p>
                      <a:pPr algn="l"/>
                      <a:r>
                        <a:rPr sz="900" b="1">
                          <a:solidFill>
                            <a:srgbClr val="FFFFFF"/>
                          </a:solidFill>
                          <a:latin typeface="Segoe UI"/>
                        </a:rPr>
                        <a:t>Where our system sits</a:t>
                      </a:r>
                    </a:p>
                  </a:txBody>
                  <a:tcPr marL="82296" marR="82296" marT="13716" marB="13716" anchor="ctr">
                    <a:solidFill>
                      <a:srgbClr val="0F2A47"/>
                    </a:solidFill>
                  </a:tcPr>
                </a:tc>
              </a:tr>
              <a:tr h="786384">
                <a:tc>
                  <a:txBody>
                    <a:bodyPr wrap="square"/>
                    <a:lstStyle/>
                    <a:p>
                      <a:pPr algn="l"/>
                      <a:r>
                        <a:rPr sz="940" b="0">
                          <a:solidFill>
                            <a:srgbClr val="2A3441"/>
                          </a:solidFill>
                          <a:latin typeface="Segoe UI"/>
                        </a:rPr>
                        <a:t>Tier 1 — triage</a:t>
                      </a:r>
                    </a:p>
                  </a:txBody>
                  <a:tcPr marL="82296" marR="82296" marT="13716" marB="13716" anchor="ctr">
                    <a:solidFill>
                      <a:srgbClr val="FFFFFF"/>
                    </a:solidFill>
                  </a:tcPr>
                </a:tc>
                <a:tc>
                  <a:txBody>
                    <a:bodyPr wrap="square"/>
                    <a:lstStyle/>
                    <a:p>
                      <a:pPr algn="l"/>
                      <a:r>
                        <a:rPr sz="940" b="0">
                          <a:solidFill>
                            <a:srgbClr val="2A3441"/>
                          </a:solidFill>
                          <a:latin typeface="Segoe UI"/>
                        </a:rPr>
                        <a:t>Monitors the queue, decides real or false positive, enriches, escalates</a:t>
                      </a:r>
                    </a:p>
                  </a:txBody>
                  <a:tcPr marL="82296" marR="82296" marT="13716" marB="13716" anchor="ctr">
                    <a:solidFill>
                      <a:srgbClr val="FFFFFF"/>
                    </a:solidFill>
                  </a:tcPr>
                </a:tc>
                <a:tc>
                  <a:txBody>
                    <a:bodyPr wrap="square"/>
                    <a:lstStyle/>
                    <a:p>
                      <a:pPr algn="l"/>
                      <a:r>
                        <a:rPr sz="940" b="0">
                          <a:solidFill>
                            <a:srgbClr val="2A3441"/>
                          </a:solidFill>
                          <a:latin typeface="Segoe UI"/>
                        </a:rPr>
                        <a:t>This is Tier 1's tool. The analyst queue is Tier 1's queue and every verdict is a Tier 1 decision.</a:t>
                      </a:r>
                    </a:p>
                  </a:txBody>
                  <a:tcPr marL="82296" marR="82296" marT="13716" marB="13716" anchor="ctr">
                    <a:solidFill>
                      <a:srgbClr val="FFFFFF"/>
                    </a:solidFill>
                  </a:tcPr>
                </a:tc>
              </a:tr>
              <a:tr h="786384">
                <a:tc>
                  <a:txBody>
                    <a:bodyPr wrap="square"/>
                    <a:lstStyle/>
                    <a:p>
                      <a:pPr algn="l"/>
                      <a:r>
                        <a:rPr sz="940" b="0">
                          <a:solidFill>
                            <a:srgbClr val="2A3441"/>
                          </a:solidFill>
                          <a:latin typeface="Segoe UI"/>
                        </a:rPr>
                        <a:t>Tier 2 — incident response</a:t>
                      </a:r>
                    </a:p>
                  </a:txBody>
                  <a:tcPr marL="82296" marR="82296" marT="13716" marB="13716" anchor="ctr">
                    <a:solidFill>
                      <a:srgbClr val="F4F7FB"/>
                    </a:solidFill>
                  </a:tcPr>
                </a:tc>
                <a:tc>
                  <a:txBody>
                    <a:bodyPr wrap="square"/>
                    <a:lstStyle/>
                    <a:p>
                      <a:pPr algn="l"/>
                      <a:r>
                        <a:rPr sz="940" b="0">
                          <a:solidFill>
                            <a:srgbClr val="2A3441"/>
                          </a:solidFill>
                          <a:latin typeface="Segoe UI"/>
                        </a:rPr>
                        <a:t>Takes escalated incidents; deep investigation, containment, remediation</a:t>
                      </a:r>
                    </a:p>
                  </a:txBody>
                  <a:tcPr marL="82296" marR="82296" marT="13716" marB="13716" anchor="ctr">
                    <a:solidFill>
                      <a:srgbClr val="F4F7FB"/>
                    </a:solidFill>
                  </a:tcPr>
                </a:tc>
                <a:tc>
                  <a:txBody>
                    <a:bodyPr wrap="square"/>
                    <a:lstStyle/>
                    <a:p>
                      <a:pPr algn="l"/>
                      <a:r>
                        <a:rPr sz="940" b="0">
                          <a:solidFill>
                            <a:srgbClr val="2A3441"/>
                          </a:solidFill>
                          <a:latin typeface="Segoe UI"/>
                        </a:rPr>
                        <a:t>Alerts meeting escalation criteria carry a → Tier 2 marker. In the demo this is a recommendation; automatic routing is post-demo.</a:t>
                      </a:r>
                    </a:p>
                  </a:txBody>
                  <a:tcPr marL="82296" marR="82296" marT="13716" marB="13716" anchor="ctr">
                    <a:solidFill>
                      <a:srgbClr val="F4F7FB"/>
                    </a:solidFill>
                  </a:tcPr>
                </a:tc>
              </a:tr>
              <a:tr h="786384">
                <a:tc>
                  <a:txBody>
                    <a:bodyPr wrap="square"/>
                    <a:lstStyle/>
                    <a:p>
                      <a:pPr algn="l"/>
                      <a:r>
                        <a:rPr sz="940" b="0">
                          <a:solidFill>
                            <a:srgbClr val="2A3441"/>
                          </a:solidFill>
                          <a:latin typeface="Segoe UI"/>
                        </a:rPr>
                        <a:t>Tier 3 — detection engineering</a:t>
                      </a:r>
                    </a:p>
                  </a:txBody>
                  <a:tcPr marL="82296" marR="82296" marT="13716" marB="13716" anchor="ctr">
                    <a:solidFill>
                      <a:srgbClr val="FFFFFF"/>
                    </a:solidFill>
                  </a:tcPr>
                </a:tc>
                <a:tc>
                  <a:txBody>
                    <a:bodyPr wrap="square"/>
                    <a:lstStyle/>
                    <a:p>
                      <a:pPr algn="l"/>
                      <a:r>
                        <a:rPr sz="940" b="0">
                          <a:solidFill>
                            <a:srgbClr val="2A3441"/>
                          </a:solidFill>
                          <a:latin typeface="Segoe UI"/>
                        </a:rPr>
                        <a:t>Hunts advanced threats; builds and fixes detections</a:t>
                      </a:r>
                    </a:p>
                  </a:txBody>
                  <a:tcPr marL="82296" marR="82296" marT="13716" marB="13716" anchor="ctr">
                    <a:solidFill>
                      <a:srgbClr val="FFFFFF"/>
                    </a:solidFill>
                  </a:tcPr>
                </a:tc>
                <a:tc>
                  <a:txBody>
                    <a:bodyPr wrap="square"/>
                    <a:lstStyle/>
                    <a:p>
                      <a:pPr algn="l"/>
                      <a:r>
                        <a:rPr sz="940" b="0">
                          <a:solidFill>
                            <a:srgbClr val="2A3441"/>
                          </a:solidFill>
                          <a:latin typeface="Segoe UI"/>
                        </a:rPr>
                        <a:t>A verdict that disputes a precision-1.000 rule is routed to the administrator, as are the attacks both detectors missed.</a:t>
                      </a:r>
                    </a:p>
                  </a:txBody>
                  <a:tcPr marL="82296" marR="82296" marT="13716" marB="13716" anchor="ctr">
                    <a:solidFill>
                      <a:srgbClr val="FFFFFF"/>
                    </a:solidFill>
                  </a:tcPr>
                </a:tc>
              </a:tr>
            </a:tbl>
          </a:graphicData>
        </a:graphic>
      </p:graphicFrame>
      <p:sp>
        <p:nvSpPr>
          <p:cNvPr id="9" name="Rectangle 8"/>
          <p:cNvSpPr/>
          <p:nvPr/>
        </p:nvSpPr>
        <p:spPr>
          <a:xfrm>
            <a:off x="566928"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4151376"/>
            <a:ext cx="50292" cy="18470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Our verdicts use the industry's own vocabulary</a:t>
            </a:r>
          </a:p>
          <a:p>
            <a:pPr algn="l">
              <a:lnSpc>
                <a:spcPct val="120000"/>
              </a:lnSpc>
              <a:spcBef>
                <a:spcPts val="0"/>
              </a:spcBef>
              <a:spcAft>
                <a:spcPts val="0"/>
              </a:spcAft>
            </a:pPr>
            <a:r>
              <a:rPr sz="919" b="0" i="0">
                <a:solidFill>
                  <a:srgbClr val="2A3441"/>
                </a:solidFill>
                <a:latin typeface="Segoe UI"/>
              </a:rPr>
              <a:t>True Positive · Benign Positive · False Positive · Needs investigation · Escalate to Tier 2. These map one-to-one onto the closing classifications that Sentinel, Elastic and Splunk already require.</a:t>
            </a:r>
          </a:p>
        </p:txBody>
      </p:sp>
      <p:sp>
        <p:nvSpPr>
          <p:cNvPr id="12" name="Rectangle 11"/>
          <p:cNvSpPr/>
          <p:nvPr/>
        </p:nvSpPr>
        <p:spPr>
          <a:xfrm>
            <a:off x="4326026"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26026" y="4151376"/>
            <a:ext cx="50292" cy="184708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08906"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Console patterns we adopted from verified product documentation</a:t>
            </a:r>
          </a:p>
          <a:p>
            <a:pPr algn="l">
              <a:lnSpc>
                <a:spcPct val="120000"/>
              </a:lnSpc>
              <a:spcBef>
                <a:spcPts val="0"/>
              </a:spcBef>
              <a:spcAft>
                <a:spcPts val="0"/>
              </a:spcAft>
            </a:pPr>
            <a:r>
              <a:rPr sz="919" b="0" i="0">
                <a:solidFill>
                  <a:srgbClr val="2A3441"/>
                </a:solidFill>
                <a:latin typeface="Segoe UI"/>
              </a:rPr>
              <a:t>A queue beside a details pane, not a page per alert. Explanation first. Four triage controls. Related context as a first-class section — our family is Sentinel's “similar incidents”. Guardrail floors kept visually separate from model confidence.</a:t>
            </a:r>
          </a:p>
        </p:txBody>
      </p:sp>
      <p:sp>
        <p:nvSpPr>
          <p:cNvPr id="15" name="Rectangle 14"/>
          <p:cNvSpPr/>
          <p:nvPr/>
        </p:nvSpPr>
        <p:spPr>
          <a:xfrm>
            <a:off x="8085124"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85124" y="4151376"/>
            <a:ext cx="50292" cy="1847088"/>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68004"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Where we deliberately stop</a:t>
            </a:r>
          </a:p>
          <a:p>
            <a:pPr algn="l">
              <a:lnSpc>
                <a:spcPct val="120000"/>
              </a:lnSpc>
              <a:spcBef>
                <a:spcPts val="0"/>
              </a:spcBef>
              <a:spcAft>
                <a:spcPts val="0"/>
              </a:spcAft>
            </a:pPr>
            <a:r>
              <a:rPr sz="919" b="0" i="0">
                <a:solidFill>
                  <a:srgbClr val="2A3441"/>
                </a:solidFill>
                <a:latin typeface="Segoe UI"/>
              </a:rPr>
              <a:t>No live capture, no automated response, no host-based agents, and no online retraining. Nothing invented for the demo: no geolocation, no threat-intel feeds, no asset names. The console says “Recorded flows”, not “Live”.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NINE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demo</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What is implemented and running, what remains planned, and the narrative the demo performs.</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09</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the demo covers — implemented and running</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41</a:t>
            </a:r>
          </a:p>
        </p:txBody>
      </p:sp>
      <p:sp>
        <p:nvSpPr>
          <p:cNvPr id="8" name="Rectangle 7"/>
          <p:cNvSpPr/>
          <p:nvPr/>
        </p:nvSpPr>
        <p:spPr>
          <a:xfrm>
            <a:off x="566928"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481328"/>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5,000</a:t>
            </a:r>
          </a:p>
          <a:p>
            <a:pPr algn="ctr">
              <a:lnSpc>
                <a:spcPct val="112000"/>
              </a:lnSpc>
              <a:spcBef>
                <a:spcPts val="0"/>
              </a:spcBef>
              <a:spcAft>
                <a:spcPts val="0"/>
              </a:spcAft>
            </a:pPr>
            <a:r>
              <a:rPr sz="950" b="0" i="0">
                <a:solidFill>
                  <a:srgbClr val="6B7684"/>
                </a:solidFill>
                <a:latin typeface="Segoe UI"/>
              </a:rPr>
              <a:t>flows → 5,000 alerts</a:t>
            </a:r>
          </a:p>
        </p:txBody>
      </p:sp>
      <p:sp>
        <p:nvSpPr>
          <p:cNvPr id="11" name="Rectangle 10"/>
          <p:cNvSpPr/>
          <p:nvPr/>
        </p:nvSpPr>
        <p:spPr>
          <a:xfrm>
            <a:off x="2818729"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818729"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46745"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445</a:t>
            </a:r>
          </a:p>
          <a:p>
            <a:pPr algn="ctr">
              <a:lnSpc>
                <a:spcPct val="112000"/>
              </a:lnSpc>
              <a:spcBef>
                <a:spcPts val="0"/>
              </a:spcBef>
              <a:spcAft>
                <a:spcPts val="0"/>
              </a:spcAft>
            </a:pPr>
            <a:r>
              <a:rPr sz="950" b="0" i="0">
                <a:solidFill>
                  <a:srgbClr val="6B7684"/>
                </a:solidFill>
                <a:latin typeface="Segoe UI"/>
              </a:rPr>
              <a:t>Python tests, 0 skipped</a:t>
            </a:r>
          </a:p>
        </p:txBody>
      </p:sp>
      <p:sp>
        <p:nvSpPr>
          <p:cNvPr id="14" name="Rectangle 13"/>
          <p:cNvSpPr/>
          <p:nvPr/>
        </p:nvSpPr>
        <p:spPr>
          <a:xfrm>
            <a:off x="5070530"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70530"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98546"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132</a:t>
            </a:r>
          </a:p>
          <a:p>
            <a:pPr algn="ctr">
              <a:lnSpc>
                <a:spcPct val="112000"/>
              </a:lnSpc>
              <a:spcBef>
                <a:spcPts val="0"/>
              </a:spcBef>
              <a:spcAft>
                <a:spcPts val="0"/>
              </a:spcAft>
            </a:pPr>
            <a:r>
              <a:rPr sz="950" b="0" i="0">
                <a:solidFill>
                  <a:srgbClr val="6B7684"/>
                </a:solidFill>
                <a:latin typeface="Segoe UI"/>
              </a:rPr>
              <a:t>web tests</a:t>
            </a:r>
          </a:p>
        </p:txBody>
      </p:sp>
      <p:sp>
        <p:nvSpPr>
          <p:cNvPr id="17" name="Rectangle 16"/>
          <p:cNvSpPr/>
          <p:nvPr/>
        </p:nvSpPr>
        <p:spPr>
          <a:xfrm>
            <a:off x="7322332"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22332"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50348"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41/41</a:t>
            </a:r>
          </a:p>
          <a:p>
            <a:pPr algn="ctr">
              <a:lnSpc>
                <a:spcPct val="112000"/>
              </a:lnSpc>
              <a:spcBef>
                <a:spcPts val="0"/>
              </a:spcBef>
              <a:spcAft>
                <a:spcPts val="0"/>
              </a:spcAft>
            </a:pPr>
            <a:r>
              <a:rPr sz="950" b="0" i="0">
                <a:solidFill>
                  <a:srgbClr val="6B7684"/>
                </a:solidFill>
                <a:latin typeface="Segoe UI"/>
              </a:rPr>
              <a:t>rehearsal checks</a:t>
            </a:r>
          </a:p>
        </p:txBody>
      </p:sp>
      <p:sp>
        <p:nvSpPr>
          <p:cNvPr id="20" name="Rectangle 19"/>
          <p:cNvSpPr/>
          <p:nvPr/>
        </p:nvSpPr>
        <p:spPr>
          <a:xfrm>
            <a:off x="9574133"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574133" y="1481328"/>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702149"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3</a:t>
            </a:r>
          </a:p>
          <a:p>
            <a:pPr algn="ctr">
              <a:lnSpc>
                <a:spcPct val="112000"/>
              </a:lnSpc>
              <a:spcBef>
                <a:spcPts val="0"/>
              </a:spcBef>
              <a:spcAft>
                <a:spcPts val="0"/>
              </a:spcAft>
            </a:pPr>
            <a:r>
              <a:rPr sz="950" b="0" i="0">
                <a:solidFill>
                  <a:srgbClr val="6B7684"/>
                </a:solidFill>
                <a:latin typeface="Segoe UI"/>
              </a:rPr>
              <a:t>real signed-in accounts</a:t>
            </a:r>
          </a:p>
        </p:txBody>
      </p:sp>
      <p:sp>
        <p:nvSpPr>
          <p:cNvPr id="23" name="Rectangle 22"/>
          <p:cNvSpPr/>
          <p:nvPr/>
        </p:nvSpPr>
        <p:spPr>
          <a:xfrm>
            <a:off x="566928" y="2633472"/>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2633472"/>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9808" y="2743200"/>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Analyst — the workstation</a:t>
            </a:r>
          </a:p>
          <a:p>
            <a:pPr algn="l">
              <a:lnSpc>
                <a:spcPct val="120000"/>
              </a:lnSpc>
              <a:spcBef>
                <a:spcPts val="0"/>
              </a:spcBef>
              <a:spcAft>
                <a:spcPts val="0"/>
              </a:spcAft>
            </a:pPr>
            <a:r>
              <a:rPr sz="960" b="0" i="0">
                <a:solidFill>
                  <a:srgbClr val="2A3441"/>
                </a:solidFill>
                <a:latin typeface="Segoe UI"/>
              </a:rPr>
              <a:t>Ranked queue with filters, sort and paging; alert detail with the four evidence panels, the family panel and the flow record; the verdict form with the score-adjustment chain and its guardrail sentences; Investigations and Feedback Impact; journey keys j and k.</a:t>
            </a:r>
          </a:p>
        </p:txBody>
      </p:sp>
      <p:sp>
        <p:nvSpPr>
          <p:cNvPr id="26" name="Rectangle 25"/>
          <p:cNvSpPr/>
          <p:nvPr/>
        </p:nvSpPr>
        <p:spPr>
          <a:xfrm>
            <a:off x="6205575" y="2633472"/>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05575" y="2633472"/>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388455" y="2743200"/>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Analyst — Overview and Entity</a:t>
            </a:r>
          </a:p>
          <a:p>
            <a:pPr algn="l">
              <a:lnSpc>
                <a:spcPct val="120000"/>
              </a:lnSpc>
              <a:spcBef>
                <a:spcPts val="0"/>
              </a:spcBef>
              <a:spcAft>
                <a:spcPts val="0"/>
              </a:spcAft>
            </a:pPr>
            <a:r>
              <a:rPr sz="960" b="0" i="0">
                <a:solidFill>
                  <a:srgbClr val="2A3441"/>
                </a:solidFill>
                <a:latin typeface="Segoe UI"/>
              </a:rPr>
              <a:t>Overview: flow volume by capture hour, top source and destination addresses and ports, alerts by predicted class, verdict and status mix, guardrail interventions. Entity: a per-address page with its peers, each linking onward.</a:t>
            </a:r>
          </a:p>
        </p:txBody>
      </p:sp>
      <p:sp>
        <p:nvSpPr>
          <p:cNvPr id="29" name="Rectangle 28"/>
          <p:cNvSpPr/>
          <p:nvPr/>
        </p:nvSpPr>
        <p:spPr>
          <a:xfrm>
            <a:off x="566928" y="429768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66928" y="429768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9808" y="440740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Administrator</a:t>
            </a:r>
          </a:p>
          <a:p>
            <a:pPr algn="l">
              <a:lnSpc>
                <a:spcPct val="120000"/>
              </a:lnSpc>
              <a:spcBef>
                <a:spcPts val="0"/>
              </a:spcBef>
              <a:spcAft>
                <a:spcPts val="0"/>
              </a:spcAft>
            </a:pPr>
            <a:r>
              <a:rPr sz="960" b="0" i="0">
                <a:solidFill>
                  <a:srgbClr val="2A3441"/>
                </a:solidFill>
                <a:latin typeface="Segoe UI"/>
              </a:rPr>
              <a:t>The platform owner, not a triage role: they own the guardrail policy — how far feedback may move a score, which floors protect critical findings — plus service health, the guardrail log and the audit trail with CSV export.</a:t>
            </a:r>
          </a:p>
        </p:txBody>
      </p:sp>
      <p:sp>
        <p:nvSpPr>
          <p:cNvPr id="32" name="Rectangle 31"/>
          <p:cNvSpPr/>
          <p:nvPr/>
        </p:nvSpPr>
        <p:spPr>
          <a:xfrm>
            <a:off x="6205575" y="429768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205575" y="429768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88455" y="440740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Evaluator</a:t>
            </a:r>
          </a:p>
          <a:p>
            <a:pPr algn="l">
              <a:lnSpc>
                <a:spcPct val="120000"/>
              </a:lnSpc>
              <a:spcBef>
                <a:spcPts val="0"/>
              </a:spcBef>
              <a:spcAft>
                <a:spcPts val="0"/>
              </a:spcAft>
            </a:pPr>
            <a:r>
              <a:rPr sz="960" b="0" i="0">
                <a:solidFill>
                  <a:srgbClr val="2A3441"/>
                </a:solidFill>
                <a:latin typeface="Segoe UI"/>
              </a:rPr>
              <a:t>The detection engineer who answers "is this getting better?": the three-arm comparison with every delta as measured, per-class metrics, and each run's pre-registration — accountability rather than a black box.</a:t>
            </a:r>
          </a:p>
        </p:txBody>
      </p:sp>
      <p:sp>
        <p:nvSpPr>
          <p:cNvPr id="35" name="Rectangle 34"/>
          <p:cNvSpPr/>
          <p:nvPr/>
        </p:nvSpPr>
        <p:spPr>
          <a:xfrm>
            <a:off x="566928" y="5669280"/>
            <a:ext cx="11057839" cy="548640"/>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68096" y="5760720"/>
            <a:ext cx="10655503" cy="384048"/>
          </a:xfrm>
          <a:prstGeom prst="rect">
            <a:avLst/>
          </a:prstGeom>
          <a:noFill/>
        </p:spPr>
        <p:txBody>
          <a:bodyPr wrap="square" anchor="t" lIns="0" rIns="0" tIns="0" bIns="0">
            <a:spAutoFit/>
          </a:bodyPr>
          <a:lstStyle/>
          <a:p>
            <a:pPr algn="l">
              <a:lnSpc>
                <a:spcPct val="118000"/>
              </a:lnSpc>
              <a:spcBef>
                <a:spcPts val="0"/>
              </a:spcBef>
              <a:spcAft>
                <a:spcPts val="0"/>
              </a:spcAft>
            </a:pPr>
            <a:r>
              <a:rPr sz="940" b="0" i="0">
                <a:solidFill>
                  <a:srgbClr val="2A3441"/>
                </a:solidFill>
                <a:latin typeface="Segoe UI"/>
              </a:rPr>
              <a:t>Verification that found what tests missed: the browser end-to-end run caught a SQLite cross-thread error that 381 passing Python tests, TestClient and curl all missed — because only a browser fires an alert's three reads at once.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remains planned, and how the pieces connect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42</a:t>
            </a:r>
          </a:p>
        </p:txBody>
      </p:sp>
      <p:sp>
        <p:nvSpPr>
          <p:cNvPr id="8" name="TextBox 7"/>
          <p:cNvSpPr txBox="1"/>
          <p:nvPr/>
        </p:nvSpPr>
        <p:spPr>
          <a:xfrm>
            <a:off x="566928" y="1463040"/>
            <a:ext cx="11057839"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NOT YET BUILT — PHASE 6, POST-DEMO</a:t>
            </a:r>
          </a:p>
        </p:txBody>
      </p:sp>
      <p:sp>
        <p:nvSpPr>
          <p:cNvPr id="9" name="Rectangle 8"/>
          <p:cNvSpPr/>
          <p:nvPr/>
        </p:nvSpPr>
        <p:spPr>
          <a:xfrm>
            <a:off x="566928" y="1773936"/>
            <a:ext cx="5419191" cy="153619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73936"/>
            <a:ext cx="50292"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1883664"/>
            <a:ext cx="5108295" cy="133502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S17 — the prefix flow exporter</a:t>
            </a:r>
          </a:p>
          <a:p>
            <a:pPr algn="l">
              <a:lnSpc>
                <a:spcPct val="120000"/>
              </a:lnSpc>
              <a:spcBef>
                <a:spcPts val="0"/>
              </a:spcBef>
              <a:spcAft>
                <a:spcPts val="0"/>
              </a:spcAft>
            </a:pPr>
            <a:r>
              <a:rPr sz="969" b="0" i="0">
                <a:solidFill>
                  <a:srgbClr val="2A3441"/>
                </a:solidFill>
                <a:latin typeface="Segoe UI"/>
              </a:rPr>
              <a:t>A capture path for real traffic: the GintsEngelen CICFlowMeter fork turns PCAP into CIC features, entering the pipeline through the same FlowSource interface that CSV replay already uses, so nothing downstream changes. Its exit criterion is strict: if schema reconciliation against feature-columns.json fails, the step stops and reports — it never silently coerces a column.</a:t>
            </a:r>
          </a:p>
        </p:txBody>
      </p:sp>
      <p:sp>
        <p:nvSpPr>
          <p:cNvPr id="12" name="Rectangle 11"/>
          <p:cNvSpPr/>
          <p:nvPr/>
        </p:nvSpPr>
        <p:spPr>
          <a:xfrm>
            <a:off x="6205575" y="1773936"/>
            <a:ext cx="5419191" cy="153619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05575" y="1773936"/>
            <a:ext cx="50292"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8455" y="1883664"/>
            <a:ext cx="5108295" cy="133502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S18 — the full backend</a:t>
            </a:r>
          </a:p>
          <a:p>
            <a:pPr algn="l">
              <a:lnSpc>
                <a:spcPct val="120000"/>
              </a:lnSpc>
              <a:spcBef>
                <a:spcPts val="0"/>
              </a:spcBef>
              <a:spcAft>
                <a:spcPts val="0"/>
              </a:spcAft>
            </a:pPr>
            <a:r>
              <a:rPr sz="969" b="0" i="0">
                <a:solidFill>
                  <a:srgbClr val="2A3441"/>
                </a:solidFill>
                <a:latin typeface="Segoe UI"/>
              </a:rPr>
              <a:t>SQLite moves to PostgreSQL, which the schema was written for in S2. The remaining TDM endpoints arrive: user management, rule manager, model version management, fusion weight configuration, bulk feedback, exports and notifications. Append-only immutability and the RBAC matrix are re-proven on Postgres.</a:t>
            </a:r>
          </a:p>
        </p:txBody>
      </p:sp>
      <p:sp>
        <p:nvSpPr>
          <p:cNvPr id="15" name="TextBox 14"/>
          <p:cNvSpPr txBox="1"/>
          <p:nvPr/>
        </p:nvSpPr>
        <p:spPr>
          <a:xfrm>
            <a:off x="566928" y="3474720"/>
            <a:ext cx="11057839"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ALSO OPEN — RECORDED, NOT SILENTLY DROPPED</a:t>
            </a:r>
          </a:p>
        </p:txBody>
      </p:sp>
      <p:sp>
        <p:nvSpPr>
          <p:cNvPr id="16" name="TextBox 15"/>
          <p:cNvSpPr txBox="1"/>
          <p:nvPr/>
        </p:nvSpPr>
        <p:spPr>
          <a:xfrm>
            <a:off x="566928" y="3785615"/>
            <a:ext cx="11057839" cy="1828800"/>
          </a:xfrm>
          <a:prstGeom prst="rect">
            <a:avLst/>
          </a:prstGeom>
          <a:noFill/>
        </p:spPr>
        <p:txBody>
          <a:bodyPr wrap="square" anchor="t" lIns="0" rIns="0" tIns="0" bIns="0">
            <a:spAutoFit/>
          </a:bodyPr>
          <a:lstStyle/>
          <a:p>
            <a:pPr algn="l">
              <a:lnSpc>
                <a:spcPct val="118000"/>
              </a:lnSpc>
              <a:spcBef>
                <a:spcPts val="0"/>
              </a:spcBef>
              <a:spcAft>
                <a:spcPts val="700"/>
              </a:spcAft>
            </a:pPr>
            <a:r>
              <a:rPr sz="1000" b="0" i="0">
                <a:solidFill>
                  <a:srgbClr val="2A3441"/>
                </a:solidFill>
                <a:latin typeface="Segoe UI"/>
              </a:rPr>
              <a:t>The efficiency stress test. The weaker detector is now built and measured — data/stress.db, 600 false positives and 300 false negatives, precision@10 at 0.400 against 1.000 on the pristine queue. The pre-registered run over it is what remains, and it must be reported as its own labelled experiment, never folded into the headline.</a:t>
            </a:r>
          </a:p>
          <a:p>
            <a:pPr algn="l">
              <a:lnSpc>
                <a:spcPct val="118000"/>
              </a:lnSpc>
              <a:spcBef>
                <a:spcPts val="0"/>
              </a:spcBef>
              <a:spcAft>
                <a:spcPts val="700"/>
              </a:spcAft>
            </a:pPr>
            <a:r>
              <a:rPr sz="1000" b="0" i="0">
                <a:solidFill>
                  <a:srgbClr val="2A3441"/>
                </a:solidFill>
                <a:latin typeface="Segoe UI"/>
              </a:rPr>
              <a:t>A dismissal-direction sequence, so the guardrails-off arm has something to measure. An oracle analyst over a near-perfect detector produces no dismissals.</a:t>
            </a:r>
          </a:p>
          <a:p>
            <a:pPr algn="l">
              <a:lnSpc>
                <a:spcPct val="118000"/>
              </a:lnSpc>
              <a:spcBef>
                <a:spcPts val="0"/>
              </a:spcBef>
              <a:spcAft>
                <a:spcPts val="700"/>
              </a:spcAft>
            </a:pPr>
            <a:r>
              <a:rPr sz="1000" b="0" i="0">
                <a:solidFill>
                  <a:srgbClr val="2A3441"/>
                </a:solidFill>
                <a:latin typeface="Segoe UI"/>
              </a:rPr>
              <a:t>The fine family key as defence in depth, and the queue band names, which currently reuse the evidence-class names.</a:t>
            </a:r>
          </a:p>
        </p:txBody>
      </p:sp>
      <p:sp>
        <p:nvSpPr>
          <p:cNvPr id="17" name="Rectangle 16"/>
          <p:cNvSpPr/>
          <p:nvPr/>
        </p:nvSpPr>
        <p:spPr>
          <a:xfrm>
            <a:off x="566928" y="5504688"/>
            <a:ext cx="11057839" cy="71323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8096" y="5614416"/>
            <a:ext cx="10655503" cy="512064"/>
          </a:xfrm>
          <a:prstGeom prst="rect">
            <a:avLst/>
          </a:prstGeom>
          <a:noFill/>
        </p:spPr>
        <p:txBody>
          <a:bodyPr wrap="square" anchor="t" lIns="0" rIns="0" tIns="0" bIns="0">
            <a:spAutoFit/>
          </a:bodyPr>
          <a:lstStyle/>
          <a:p>
            <a:pPr algn="l">
              <a:lnSpc>
                <a:spcPct val="116000"/>
              </a:lnSpc>
              <a:spcBef>
                <a:spcPts val="0"/>
              </a:spcBef>
              <a:spcAft>
                <a:spcPts val="200"/>
              </a:spcAft>
            </a:pPr>
            <a:r>
              <a:rPr sz="1000" b="1" i="0">
                <a:solidFill>
                  <a:srgbClr val="0F2A47"/>
                </a:solidFill>
                <a:latin typeface="Segoe UI"/>
              </a:rPr>
              <a:t>How the pieces connect: the flow exporter becomes a second implementation of the same FlowSource interface, so detection, fusion, ranking, guardrails, storage, the API and the console are untouched. Postgres replaces SQLite behind the same repository layer.</a:t>
            </a:r>
          </a:p>
          <a:p>
            <a:pPr algn="l">
              <a:spcBef>
                <a:spcPts val="0"/>
              </a:spcBef>
              <a:spcAft>
                <a:spcPts val="0"/>
              </a:spcAft>
            </a:pPr>
            <a:r>
              <a:rPr sz="940" b="0" i="0">
                <a:solidFill>
                  <a:srgbClr val="6B7684"/>
                </a:solidFill>
                <a:latin typeface="Segoe UI"/>
              </a:rPr>
              <a:t>That is why the schema, the contract and the queue order were fixed early — so the remaining work is additive.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narrative, click by click</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Every number below was produced by scripts/rehearse_demo.py against the demo database.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43</a:t>
            </a:r>
          </a:p>
        </p:txBody>
      </p:sp>
      <p:graphicFrame>
        <p:nvGraphicFramePr>
          <p:cNvPr id="9" name="Table 8"/>
          <p:cNvGraphicFramePr>
            <a:graphicFrameLocks noGrp="1"/>
          </p:cNvGraphicFramePr>
          <p:nvPr/>
        </p:nvGraphicFramePr>
        <p:xfrm>
          <a:off x="566928" y="1773936"/>
          <a:ext cx="11055096" cy="4549140"/>
        </p:xfrm>
        <a:graphic>
          <a:graphicData uri="http://schemas.openxmlformats.org/drawingml/2006/table">
            <a:tbl>
              <a:tblPr firstRow="0" bandRow="0"/>
              <a:tblGrid>
                <a:gridCol w="502920"/>
                <a:gridCol w="3063240"/>
                <a:gridCol w="7488936"/>
              </a:tblGrid>
              <a:tr h="292608">
                <a:tc>
                  <a:txBody>
                    <a:bodyPr wrap="square"/>
                    <a:lstStyle/>
                    <a:p>
                      <a:pPr algn="r"/>
                      <a:r>
                        <a:rPr sz="900" b="1">
                          <a:solidFill>
                            <a:srgbClr val="FFFFFF"/>
                          </a:solidFill>
                          <a:latin typeface="Segoe UI"/>
                        </a:rPr>
                        <a:t>Step</a:t>
                      </a:r>
                    </a:p>
                  </a:txBody>
                  <a:tcPr marL="82296" marR="82296" marT="13716" marB="13716" anchor="ctr">
                    <a:solidFill>
                      <a:srgbClr val="0F2A47"/>
                    </a:solidFill>
                  </a:tcPr>
                </a:tc>
                <a:tc>
                  <a:txBody>
                    <a:bodyPr wrap="square"/>
                    <a:lstStyle/>
                    <a:p>
                      <a:pPr algn="l"/>
                      <a:r>
                        <a:rPr sz="900" b="1">
                          <a:solidFill>
                            <a:srgbClr val="FFFFFF"/>
                          </a:solidFill>
                          <a:latin typeface="Segoe UI"/>
                        </a:rPr>
                        <a:t>The action</a:t>
                      </a:r>
                    </a:p>
                  </a:txBody>
                  <a:tcPr marL="82296" marR="82296" marT="13716" marB="13716" anchor="ctr">
                    <a:solidFill>
                      <a:srgbClr val="0F2A47"/>
                    </a:solidFill>
                  </a:tcPr>
                </a:tc>
                <a:tc>
                  <a:txBody>
                    <a:bodyPr wrap="square"/>
                    <a:lstStyle/>
                    <a:p>
                      <a:pPr algn="l"/>
                      <a:r>
                        <a:rPr sz="900" b="1">
                          <a:solidFill>
                            <a:srgbClr val="FFFFFF"/>
                          </a:solidFill>
                          <a:latin typeface="Segoe UI"/>
                        </a:rPr>
                        <a:t>What the screen shows</a:t>
                      </a:r>
                    </a:p>
                  </a:txBody>
                  <a:tcPr marL="82296" marR="82296" marT="13716" marB="13716" anchor="ctr">
                    <a:solidFill>
                      <a:srgbClr val="0F2A47"/>
                    </a:solidFill>
                  </a:tcPr>
                </a:tc>
              </a:tr>
              <a:tr h="608076">
                <a:tc>
                  <a:txBody>
                    <a:bodyPr wrap="square"/>
                    <a:lstStyle/>
                    <a:p>
                      <a:pPr algn="r"/>
                      <a:r>
                        <a:rPr sz="919" b="0">
                          <a:solidFill>
                            <a:srgbClr val="2A3441"/>
                          </a:solidFill>
                          <a:latin typeface="Segoe UI"/>
                        </a:rPr>
                        <a:t>1</a:t>
                      </a:r>
                    </a:p>
                  </a:txBody>
                  <a:tcPr marL="82296" marR="82296" marT="13716" marB="13716" anchor="ctr">
                    <a:solidFill>
                      <a:srgbClr val="FFFFFF"/>
                    </a:solidFill>
                  </a:tcPr>
                </a:tc>
                <a:tc>
                  <a:txBody>
                    <a:bodyPr wrap="square"/>
                    <a:lstStyle/>
                    <a:p>
                      <a:pPr algn="l"/>
                      <a:r>
                        <a:rPr sz="919" b="0">
                          <a:solidFill>
                            <a:srgbClr val="2A3441"/>
                          </a:solidFill>
                          <a:latin typeface="Segoe UI"/>
                        </a:rPr>
                        <a:t>Sign in as g.ang / analyst-demo</a:t>
                      </a:r>
                    </a:p>
                  </a:txBody>
                  <a:tcPr marL="82296" marR="82296" marT="13716" marB="13716" anchor="ctr">
                    <a:solidFill>
                      <a:srgbClr val="FFFFFF"/>
                    </a:solidFill>
                  </a:tcPr>
                </a:tc>
                <a:tc>
                  <a:txBody>
                    <a:bodyPr wrap="square"/>
                    <a:lstStyle/>
                    <a:p>
                      <a:pPr algn="l"/>
                      <a:r>
                        <a:rPr sz="919" b="0">
                          <a:solidFill>
                            <a:srgbClr val="2A3441"/>
                          </a:solidFill>
                          <a:latin typeface="Segoe UI"/>
                        </a:rPr>
                        <a:t>Lands on the Workstation — “5,000 alerts”. Every flow becomes an alert; two score columns: Detection never changes, Operational is what analysts move.</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2</a:t>
                      </a:r>
                    </a:p>
                  </a:txBody>
                  <a:tcPr marL="82296" marR="82296" marT="13716" marB="13716" anchor="ctr">
                    <a:solidFill>
                      <a:srgbClr val="F4F7FB"/>
                    </a:solidFill>
                  </a:tcPr>
                </a:tc>
                <a:tc>
                  <a:txBody>
                    <a:bodyPr wrap="square"/>
                    <a:lstStyle/>
                    <a:p>
                      <a:pPr algn="l"/>
                      <a:r>
                        <a:rPr sz="919" b="0">
                          <a:solidFill>
                            <a:srgbClr val="2A3441"/>
                          </a:solidFill>
                          <a:latin typeface="Segoe UI"/>
                        </a:rPr>
                        <a:t>Search AL-00478 and open it</a:t>
                      </a:r>
                    </a:p>
                  </a:txBody>
                  <a:tcPr marL="82296" marR="82296" marT="13716" marB="13716" anchor="ctr">
                    <a:solidFill>
                      <a:srgbClr val="F4F7FB"/>
                    </a:solidFill>
                  </a:tcPr>
                </a:tc>
                <a:tc>
                  <a:txBody>
                    <a:bodyPr wrap="square"/>
                    <a:lstStyle/>
                    <a:p>
                      <a:pPr algn="l"/>
                      <a:r>
                        <a:rPr sz="919" b="0">
                          <a:solidFill>
                            <a:srgbClr val="2A3441"/>
                          </a:solidFill>
                          <a:latin typeface="Segoe UI"/>
                        </a:rPr>
                        <a:t>A Tier 2 candidate at 99.89, rank 639. No rule matched. The model says Web Attack with 99.9% confidence. Ground truth: benign.</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3</a:t>
                      </a:r>
                    </a:p>
                  </a:txBody>
                  <a:tcPr marL="82296" marR="82296" marT="13716" marB="13716" anchor="ctr">
                    <a:solidFill>
                      <a:srgbClr val="FFFFFF"/>
                    </a:solidFill>
                  </a:tcPr>
                </a:tc>
                <a:tc>
                  <a:txBody>
                    <a:bodyPr wrap="square"/>
                    <a:lstStyle/>
                    <a:p>
                      <a:pPr algn="l"/>
                      <a:r>
                        <a:rPr sz="919" b="0">
                          <a:solidFill>
                            <a:srgbClr val="2A3441"/>
                          </a:solidFill>
                          <a:latin typeface="Segoe UI"/>
                        </a:rPr>
                        <a:t>Record verdict: False Positive</a:t>
                      </a:r>
                    </a:p>
                  </a:txBody>
                  <a:tcPr marL="82296" marR="82296" marT="13716" marB="13716" anchor="ctr">
                    <a:solidFill>
                      <a:srgbClr val="FFFFFF"/>
                    </a:solidFill>
                  </a:tcPr>
                </a:tc>
                <a:tc>
                  <a:txBody>
                    <a:bodyPr wrap="square"/>
                    <a:lstStyle/>
                    <a:p>
                      <a:pPr algn="l"/>
                      <a:r>
                        <a:rPr sz="919" b="0">
                          <a:solidFill>
                            <a:srgbClr val="2A3441"/>
                          </a:solidFill>
                          <a:latin typeface="Segoe UI"/>
                        </a:rPr>
                        <a:t>The chain reads 99.89 → requested −30.00 → bound → applied −29.89 → 70.00, labelled “Capped by a guardrail”, with the guardrail's own sentence. Band moves Tier 2 candidate → Model only; rank 639 → 996. Refresh: still 70.00, and the history shows the verdict in effect.</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4</a:t>
                      </a:r>
                    </a:p>
                  </a:txBody>
                  <a:tcPr marL="82296" marR="82296" marT="13716" marB="13716" anchor="ctr">
                    <a:solidFill>
                      <a:srgbClr val="F4F7FB"/>
                    </a:solidFill>
                  </a:tcPr>
                </a:tc>
                <a:tc>
                  <a:txBody>
                    <a:bodyPr wrap="square"/>
                    <a:lstStyle/>
                    <a:p>
                      <a:pPr algn="l"/>
                      <a:r>
                        <a:rPr sz="919" b="0">
                          <a:solidFill>
                            <a:srgbClr val="2A3441"/>
                          </a:solidFill>
                          <a:latin typeface="Segoe UI"/>
                        </a:rPr>
                        <a:t>Search AL-03086 and confirm it</a:t>
                      </a:r>
                    </a:p>
                  </a:txBody>
                  <a:tcPr marL="82296" marR="82296" marT="13716" marB="13716" anchor="ctr">
                    <a:solidFill>
                      <a:srgbClr val="F4F7FB"/>
                    </a:solidFill>
                  </a:tcPr>
                </a:tc>
                <a:tc>
                  <a:txBody>
                    <a:bodyPr wrap="square"/>
                    <a:lstStyle/>
                    <a:p>
                      <a:pPr algn="l"/>
                      <a:r>
                        <a:rPr sz="919" b="0">
                          <a:solidFill>
                            <a:srgbClr val="2A3441"/>
                          </a:solidFill>
                          <a:latin typeface="Segoe UI"/>
                        </a:rPr>
                        <a:t>The attack both detectors missed, at 36.94, bottom band. True Positive requests +10 and is applied as requested: 36.94 → 46.94. It leaves the bottom band but climbs only from rank 998 to 997 — one confirmation moves one band.</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5</a:t>
                      </a:r>
                    </a:p>
                  </a:txBody>
                  <a:tcPr marL="82296" marR="82296" marT="13716" marB="13716" anchor="ctr">
                    <a:solidFill>
                      <a:srgbClr val="FFFFFF"/>
                    </a:solidFill>
                  </a:tcPr>
                </a:tc>
                <a:tc>
                  <a:txBody>
                    <a:bodyPr wrap="square"/>
                    <a:lstStyle/>
                    <a:p>
                      <a:pPr algn="l"/>
                      <a:r>
                        <a:rPr sz="919" b="0">
                          <a:solidFill>
                            <a:srgbClr val="2A3441"/>
                          </a:solidFill>
                          <a:latin typeface="Segoe UI"/>
                        </a:rPr>
                        <a:t>Confirm three members of the Port Scan / port 445 family</a:t>
                      </a:r>
                    </a:p>
                  </a:txBody>
                  <a:tcPr marL="82296" marR="82296" marT="13716" marB="13716" anchor="ctr">
                    <a:solidFill>
                      <a:srgbClr val="FFFFFF"/>
                    </a:solidFill>
                  </a:tcPr>
                </a:tc>
                <a:tc>
                  <a:txBody>
                    <a:bodyPr wrap="square"/>
                    <a:lstStyle/>
                    <a:p>
                      <a:pPr algn="l"/>
                      <a:r>
                        <a:rPr sz="919" b="0">
                          <a:solidFill>
                            <a:srgbClr val="2A3441"/>
                          </a:solidFill>
                          <a:latin typeface="Segoe UI"/>
                        </a:rPr>
                        <a:t>The first two say learning did not apply — not enough learning verdicts. The third says: learning applied, 2 other alerts in this family moved. AL-03044 and AL-04526 are now Tier 2 candidates, with no verdict of their own.</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6</a:t>
                      </a:r>
                    </a:p>
                  </a:txBody>
                  <a:tcPr marL="82296" marR="82296" marT="13716" marB="13716" anchor="ctr">
                    <a:solidFill>
                      <a:srgbClr val="F4F7FB"/>
                    </a:solidFill>
                  </a:tcPr>
                </a:tc>
                <a:tc>
                  <a:txBody>
                    <a:bodyPr wrap="square"/>
                    <a:lstStyle/>
                    <a:p>
                      <a:pPr algn="l"/>
                      <a:r>
                        <a:rPr sz="919" b="0">
                          <a:solidFill>
                            <a:srgbClr val="2A3441"/>
                          </a:solidFill>
                          <a:latin typeface="Segoe UI"/>
                        </a:rPr>
                        <a:t>Sign in as admin / admin-demo</a:t>
                      </a:r>
                    </a:p>
                  </a:txBody>
                  <a:tcPr marL="82296" marR="82296" marT="13716" marB="13716" anchor="ctr">
                    <a:solidFill>
                      <a:srgbClr val="F4F7FB"/>
                    </a:solidFill>
                  </a:tcPr>
                </a:tc>
                <a:tc>
                  <a:txBody>
                    <a:bodyPr wrap="square"/>
                    <a:lstStyle/>
                    <a:p>
                      <a:pPr algn="l"/>
                      <a:r>
                        <a:rPr sz="919" b="0">
                          <a:solidFill>
                            <a:srgbClr val="2A3441"/>
                          </a:solidFill>
                          <a:latin typeface="Segoe UI"/>
                        </a:rPr>
                        <a:t>The guardrail log shows the cap on AL-00478 with the same sentence. The audit trail shows every verdict, guardrail action and family-learning event, exportable as CSV.</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7</a:t>
                      </a:r>
                    </a:p>
                  </a:txBody>
                  <a:tcPr marL="82296" marR="82296" marT="13716" marB="13716" anchor="ctr">
                    <a:solidFill>
                      <a:srgbClr val="FFFFFF"/>
                    </a:solidFill>
                  </a:tcPr>
                </a:tc>
                <a:tc>
                  <a:txBody>
                    <a:bodyPr wrap="square"/>
                    <a:lstStyle/>
                    <a:p>
                      <a:pPr algn="l"/>
                      <a:r>
                        <a:rPr sz="919" b="0">
                          <a:solidFill>
                            <a:srgbClr val="2A3441"/>
                          </a:solidFill>
                          <a:latin typeface="Segoe UI"/>
                        </a:rPr>
                        <a:t>Sign in as evaluator / evaluator-demo</a:t>
                      </a:r>
                    </a:p>
                  </a:txBody>
                  <a:tcPr marL="82296" marR="82296" marT="13716" marB="13716" anchor="ctr">
                    <a:solidFill>
                      <a:srgbClr val="FFFFFF"/>
                    </a:solidFill>
                  </a:tcPr>
                </a:tc>
                <a:tc>
                  <a:txBody>
                    <a:bodyPr wrap="square"/>
                    <a:lstStyle/>
                    <a:p>
                      <a:pPr algn="l"/>
                      <a:r>
                        <a:rPr sz="919" b="0">
                          <a:solidFill>
                            <a:srgbClr val="2A3441"/>
                          </a:solidFill>
                          <a:latin typeface="Segoe UI"/>
                        </a:rPr>
                        <a:t>Open the newest evaluation run. Detection metrics are identical across all three arms. Under the v1.31 severity-first order precision@50 holds at 1.000 in every arm; the honest cost is the small mean-rank shift (Δ −0.515) and precision@200 (Δ −0.010).</a:t>
                      </a:r>
                    </a:p>
                  </a:txBody>
                  <a:tcPr marL="82296" marR="82296" marT="13716" marB="13716"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LIMITATIONS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this project does not cover</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Stated before they are asked. Each is recorded in the repository's deviations register.</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44</a:t>
            </a:r>
          </a:p>
        </p:txBody>
      </p:sp>
      <p:graphicFrame>
        <p:nvGraphicFramePr>
          <p:cNvPr id="9" name="Table 8"/>
          <p:cNvGraphicFramePr>
            <a:graphicFrameLocks noGrp="1"/>
          </p:cNvGraphicFramePr>
          <p:nvPr/>
        </p:nvGraphicFramePr>
        <p:xfrm>
          <a:off x="566928" y="1773936"/>
          <a:ext cx="11055096" cy="4572000"/>
        </p:xfrm>
        <a:graphic>
          <a:graphicData uri="http://schemas.openxmlformats.org/drawingml/2006/table">
            <a:tbl>
              <a:tblPr firstRow="0" bandRow="0"/>
              <a:tblGrid>
                <a:gridCol w="3611880"/>
                <a:gridCol w="7443216"/>
              </a:tblGrid>
              <a:tr h="292608">
                <a:tc>
                  <a:txBody>
                    <a:bodyPr wrap="square"/>
                    <a:lstStyle/>
                    <a:p>
                      <a:pPr algn="l"/>
                      <a:r>
                        <a:rPr sz="900" b="1">
                          <a:solidFill>
                            <a:srgbClr val="FFFFFF"/>
                          </a:solidFill>
                          <a:latin typeface="Segoe UI"/>
                        </a:rPr>
                        <a:t>Limitation</a:t>
                      </a:r>
                    </a:p>
                  </a:txBody>
                  <a:tcPr marL="82296" marR="82296" marT="13716" marB="13716" anchor="ctr">
                    <a:solidFill>
                      <a:srgbClr val="0F2A47"/>
                    </a:solidFill>
                  </a:tcPr>
                </a:tc>
                <a:tc>
                  <a:txBody>
                    <a:bodyPr wrap="square"/>
                    <a:lstStyle/>
                    <a:p>
                      <a:pPr algn="l"/>
                      <a:r>
                        <a:rPr sz="900" b="1">
                          <a:solidFill>
                            <a:srgbClr val="FFFFFF"/>
                          </a:solidFill>
                          <a:latin typeface="Segoe UI"/>
                        </a:rPr>
                        <a:t>Why it is so</a:t>
                      </a:r>
                    </a:p>
                  </a:txBody>
                  <a:tcPr marL="82296" marR="82296" marT="13716" marB="13716" anchor="ctr">
                    <a:solidFill>
                      <a:srgbClr val="0F2A47"/>
                    </a:solidFill>
                  </a:tcPr>
                </a:tc>
              </a:tr>
              <a:tr h="475488">
                <a:tc>
                  <a:txBody>
                    <a:bodyPr wrap="square"/>
                    <a:lstStyle/>
                    <a:p>
                      <a:pPr algn="l"/>
                      <a:r>
                        <a:rPr sz="919" b="0">
                          <a:solidFill>
                            <a:srgbClr val="2A3441"/>
                          </a:solidFill>
                          <a:latin typeface="Segoe UI"/>
                        </a:rPr>
                        <a:t>The 0.99 macro F1 is a testbed artefact</a:t>
                      </a:r>
                    </a:p>
                  </a:txBody>
                  <a:tcPr marL="82296" marR="82296" marT="13716" marB="13716" anchor="ctr">
                    <a:solidFill>
                      <a:srgbClr val="FFFFFF"/>
                    </a:solidFill>
                  </a:tcPr>
                </a:tc>
                <a:tc>
                  <a:txBody>
                    <a:bodyPr wrap="square"/>
                    <a:lstStyle/>
                    <a:p>
                      <a:pPr algn="l"/>
                      <a:r>
                        <a:rPr sz="919" b="0">
                          <a:solidFill>
                            <a:srgbClr val="2A3441"/>
                          </a:solidFill>
                          <a:latin typeface="Segoe UI"/>
                        </a:rPr>
                        <a:t>Each attack class was generated by a single tool with fixed configuration, so every class carries a near-constant flow fingerprint. Honest on this data; it will not transfer to real traffic.</a:t>
                      </a:r>
                    </a:p>
                  </a:txBody>
                  <a:tcPr marL="82296" marR="82296" marT="13716" marB="13716" anchor="ctr">
                    <a:solidFill>
                      <a:srgbClr val="FFFFFF"/>
                    </a:solidFill>
                  </a:tcPr>
                </a:tc>
              </a:tr>
              <a:tr h="475488">
                <a:tc>
                  <a:txBody>
                    <a:bodyPr wrap="square"/>
                    <a:lstStyle/>
                    <a:p>
                      <a:pPr algn="l"/>
                      <a:r>
                        <a:rPr sz="919" b="0">
                          <a:solidFill>
                            <a:srgbClr val="2A3441"/>
                          </a:solidFill>
                          <a:latin typeface="Segoe UI"/>
                        </a:rPr>
                        <a:t>Feedback could not improve precision on this sample</a:t>
                      </a:r>
                    </a:p>
                  </a:txBody>
                  <a:tcPr marL="82296" marR="82296" marT="13716" marB="13716" anchor="ctr">
                    <a:solidFill>
                      <a:srgbClr val="F4F7FB"/>
                    </a:solidFill>
                  </a:tcPr>
                </a:tc>
                <a:tc>
                  <a:txBody>
                    <a:bodyPr wrap="square"/>
                    <a:lstStyle/>
                    <a:p>
                      <a:pPr algn="l"/>
                      <a:r>
                        <a:rPr sz="919" b="0">
                          <a:solidFill>
                            <a:srgbClr val="2A3441"/>
                          </a:solidFill>
                          <a:latin typeface="Segoe UI"/>
                        </a:rPr>
                        <a:t>The control queue was already at precision 1.000 to k = 200, with 2 false positives among 996 flagged alerts. Feedback had nothing to correct, so it could only disturb a perfect ordering.</a:t>
                      </a:r>
                    </a:p>
                  </a:txBody>
                  <a:tcPr marL="82296" marR="82296" marT="13716" marB="13716" anchor="ctr">
                    <a:solidFill>
                      <a:srgbClr val="F4F7FB"/>
                    </a:solidFill>
                  </a:tcPr>
                </a:tc>
              </a:tr>
              <a:tr h="475488">
                <a:tc>
                  <a:txBody>
                    <a:bodyPr wrap="square"/>
                    <a:lstStyle/>
                    <a:p>
                      <a:pPr algn="l"/>
                      <a:r>
                        <a:rPr sz="919" b="0">
                          <a:solidFill>
                            <a:srgbClr val="2A3441"/>
                          </a:solidFill>
                          <a:latin typeface="Segoe UI"/>
                        </a:rPr>
                        <a:t>The coarse family key promoted a benign alert to rank 1</a:t>
                      </a:r>
                    </a:p>
                  </a:txBody>
                  <a:tcPr marL="82296" marR="82296" marT="13716" marB="13716" anchor="ctr">
                    <a:solidFill>
                      <a:srgbClr val="FFFFFF"/>
                    </a:solidFill>
                  </a:tcPr>
                </a:tc>
                <a:tc>
                  <a:txBody>
                    <a:bodyPr wrap="square"/>
                    <a:lstStyle/>
                    <a:p>
                      <a:pPr algn="l"/>
                      <a:r>
                        <a:rPr sz="919" b="0">
                          <a:solidFill>
                            <a:srgbClr val="2A3441"/>
                          </a:solidFill>
                          <a:latin typeface="Segoe UI"/>
                        </a:rPr>
                        <a:t>A family is keyed by attack class, port, protocol and rule, so a false positive resembling confirmed attacks inherits their promotion. The fine key is proposed as defence in depth.</a:t>
                      </a:r>
                    </a:p>
                  </a:txBody>
                  <a:tcPr marL="82296" marR="82296" marT="13716" marB="13716" anchor="ctr">
                    <a:solidFill>
                      <a:srgbClr val="FFFFFF"/>
                    </a:solidFill>
                  </a:tcPr>
                </a:tc>
              </a:tr>
              <a:tr h="475488">
                <a:tc>
                  <a:txBody>
                    <a:bodyPr wrap="square"/>
                    <a:lstStyle/>
                    <a:p>
                      <a:pPr algn="l"/>
                      <a:r>
                        <a:rPr sz="919" b="0">
                          <a:solidFill>
                            <a:srgbClr val="2A3441"/>
                          </a:solidFill>
                          <a:latin typeface="Segoe UI"/>
                        </a:rPr>
                        <a:t>The guardrails' protective value is untested by the evaluation</a:t>
                      </a:r>
                    </a:p>
                  </a:txBody>
                  <a:tcPr marL="82296" marR="82296" marT="13716" marB="13716" anchor="ctr">
                    <a:solidFill>
                      <a:srgbClr val="F4F7FB"/>
                    </a:solidFill>
                  </a:tcPr>
                </a:tc>
                <a:tc>
                  <a:txBody>
                    <a:bodyPr wrap="square"/>
                    <a:lstStyle/>
                    <a:p>
                      <a:pPr algn="l"/>
                      <a:r>
                        <a:rPr sz="919" b="0">
                          <a:solidFill>
                            <a:srgbClr val="2A3441"/>
                          </a:solidFill>
                          <a:latin typeface="Segoe UI"/>
                        </a:rPr>
                        <a:t>Arm C had no power: the pre-registered sequence contained no dismissals, and every guardrail that could bind protects against downward pressure.</a:t>
                      </a:r>
                    </a:p>
                  </a:txBody>
                  <a:tcPr marL="82296" marR="82296" marT="13716" marB="13716" anchor="ctr">
                    <a:solidFill>
                      <a:srgbClr val="F4F7FB"/>
                    </a:solidFill>
                  </a:tcPr>
                </a:tc>
              </a:tr>
              <a:tr h="475488">
                <a:tc>
                  <a:txBody>
                    <a:bodyPr wrap="square"/>
                    <a:lstStyle/>
                    <a:p>
                      <a:pPr algn="l"/>
                      <a:r>
                        <a:rPr sz="919" b="0">
                          <a:solidFill>
                            <a:srgbClr val="2A3441"/>
                          </a:solidFill>
                          <a:latin typeface="Segoe UI"/>
                        </a:rPr>
                        <a:t>Arms and invariants the evaluation could not exercise</a:t>
                      </a:r>
                    </a:p>
                  </a:txBody>
                  <a:tcPr marL="82296" marR="82296" marT="13716" marB="13716" anchor="ctr">
                    <a:solidFill>
                      <a:srgbClr val="FFFFFF"/>
                    </a:solidFill>
                  </a:tcPr>
                </a:tc>
                <a:tc>
                  <a:txBody>
                    <a:bodyPr wrap="square"/>
                    <a:lstStyle/>
                    <a:p>
                      <a:pPr algn="l"/>
                      <a:r>
                        <a:rPr sz="919" b="0">
                          <a:solidFill>
                            <a:srgbClr val="2A3441"/>
                          </a:solidFill>
                          <a:latin typeface="Segoe UI"/>
                        </a:rPr>
                        <a:t>signature_override has zero instances on this data, so invariant I3 is guaranteed by unit tests rather than by the evaluation.</a:t>
                      </a:r>
                    </a:p>
                  </a:txBody>
                  <a:tcPr marL="82296" marR="82296" marT="13716" marB="13716" anchor="ctr">
                    <a:solidFill>
                      <a:srgbClr val="FFFFFF"/>
                    </a:solidFill>
                  </a:tcPr>
                </a:tc>
              </a:tr>
              <a:tr h="475488">
                <a:tc>
                  <a:txBody>
                    <a:bodyPr wrap="square"/>
                    <a:lstStyle/>
                    <a:p>
                      <a:pPr algn="l"/>
                      <a:r>
                        <a:rPr sz="919" b="0">
                          <a:solidFill>
                            <a:srgbClr val="2A3441"/>
                          </a:solidFill>
                          <a:latin typeface="Segoe UI"/>
                        </a:rPr>
                        <a:t>Infiltration rests on a very small sample</a:t>
                      </a:r>
                    </a:p>
                  </a:txBody>
                  <a:tcPr marL="82296" marR="82296" marT="13716" marB="13716" anchor="ctr">
                    <a:solidFill>
                      <a:srgbClr val="F4F7FB"/>
                    </a:solidFill>
                  </a:tcPr>
                </a:tc>
                <a:tc>
                  <a:txBody>
                    <a:bodyPr wrap="square"/>
                    <a:lstStyle/>
                    <a:p>
                      <a:pPr algn="l"/>
                      <a:r>
                        <a:rPr sz="919" b="0">
                          <a:solidFill>
                            <a:srgbClr val="2A3441"/>
                          </a:solidFill>
                          <a:latin typeface="Segoe UI"/>
                        </a:rPr>
                        <a:t>277 training and 55 held-out examples. Its 0.913 F1 should always be quoted beside the support count.</a:t>
                      </a:r>
                    </a:p>
                  </a:txBody>
                  <a:tcPr marL="82296" marR="82296" marT="13716" marB="13716" anchor="ctr">
                    <a:solidFill>
                      <a:srgbClr val="F4F7FB"/>
                    </a:solidFill>
                  </a:tcPr>
                </a:tc>
              </a:tr>
              <a:tr h="475488">
                <a:tc>
                  <a:txBody>
                    <a:bodyPr wrap="square"/>
                    <a:lstStyle/>
                    <a:p>
                      <a:pPr algn="l"/>
                      <a:r>
                        <a:rPr sz="919" b="0">
                          <a:solidFill>
                            <a:srgbClr val="2A3441"/>
                          </a:solidFill>
                          <a:latin typeface="Segoe UI"/>
                        </a:rPr>
                        <a:t>Out of scope by the approved project boundary</a:t>
                      </a:r>
                    </a:p>
                  </a:txBody>
                  <a:tcPr marL="82296" marR="82296" marT="13716" marB="13716" anchor="ctr">
                    <a:solidFill>
                      <a:srgbClr val="FFFFFF"/>
                    </a:solidFill>
                  </a:tcPr>
                </a:tc>
                <a:tc>
                  <a:txBody>
                    <a:bodyPr wrap="square"/>
                    <a:lstStyle/>
                    <a:p>
                      <a:pPr algn="l"/>
                      <a:r>
                        <a:rPr sz="919" b="0">
                          <a:solidFill>
                            <a:srgbClr val="2A3441"/>
                          </a:solidFill>
                          <a:latin typeface="Segoe UI"/>
                        </a:rPr>
                        <a:t>Live packet capture, automated response or blocking, host-based IDS and endpoint agents, a full SIEM or SOAR, and online retraining of the model from feedback.</a:t>
                      </a:r>
                    </a:p>
                  </a:txBody>
                  <a:tcPr marL="82296" marR="82296" marT="13716" marB="13716" anchor="ctr">
                    <a:solidFill>
                      <a:srgbClr val="FFFFFF"/>
                    </a:solidFill>
                  </a:tcPr>
                </a:tc>
              </a:tr>
              <a:tr h="475488">
                <a:tc>
                  <a:txBody>
                    <a:bodyPr wrap="square"/>
                    <a:lstStyle/>
                    <a:p>
                      <a:pPr algn="l"/>
                      <a:r>
                        <a:rPr sz="919" b="0">
                          <a:solidFill>
                            <a:srgbClr val="2A3441"/>
                          </a:solidFill>
                          <a:latin typeface="Segoe UI"/>
                        </a:rPr>
                        <a:t>Demo-specific honest limits</a:t>
                      </a:r>
                    </a:p>
                  </a:txBody>
                  <a:tcPr marL="82296" marR="82296" marT="13716" marB="13716" anchor="ctr">
                    <a:solidFill>
                      <a:srgbClr val="F4F7FB"/>
                    </a:solidFill>
                  </a:tcPr>
                </a:tc>
                <a:tc>
                  <a:txBody>
                    <a:bodyPr wrap="square"/>
                    <a:lstStyle/>
                    <a:p>
                      <a:pPr algn="l"/>
                      <a:r>
                        <a:rPr sz="919" b="0">
                          <a:solidFill>
                            <a:srgbClr val="2A3441"/>
                          </a:solidFill>
                          <a:latin typeface="Segoe UI"/>
                        </a:rPr>
                        <a:t>Detection is an offline batch, so “Check again” reports the latest run; accounts are seeded with committed passwords; tokens live in sessionStorage; and time-to-verdict reflects session activity, not operational metrics.</a:t>
                      </a:r>
                    </a:p>
                  </a:txBody>
                  <a:tcPr marL="82296" marR="82296" marT="13716" marB="13716" anchor="ctr">
                    <a:solidFill>
                      <a:srgbClr val="F4F7FB"/>
                    </a:solidFill>
                  </a:tcPr>
                </a:tc>
              </a:tr>
              <a:tr h="475488">
                <a:tc>
                  <a:txBody>
                    <a:bodyPr wrap="square"/>
                    <a:lstStyle/>
                    <a:p>
                      <a:pPr algn="l"/>
                      <a:r>
                        <a:rPr sz="919" b="0">
                          <a:solidFill>
                            <a:srgbClr val="2A3441"/>
                          </a:solidFill>
                          <a:latin typeface="Segoe UI"/>
                        </a:rPr>
                        <a:t>The stress database is a simulation, and it says so</a:t>
                      </a:r>
                    </a:p>
                  </a:txBody>
                  <a:tcPr marL="82296" marR="82296" marT="13716" marB="13716" anchor="ctr">
                    <a:solidFill>
                      <a:srgbClr val="FFFFFF"/>
                    </a:solidFill>
                  </a:tcPr>
                </a:tc>
                <a:tc>
                  <a:txBody>
                    <a:bodyPr wrap="square"/>
                    <a:lstStyle/>
                    <a:p>
                      <a:pPr algn="l"/>
                      <a:r>
                        <a:rPr sz="919" b="0">
                          <a:solidFill>
                            <a:srgbClr val="2A3441"/>
                          </a:solidFill>
                          <a:latin typeface="Segoe UI"/>
                        </a:rPr>
                        <a:t>It re-attributes real attack predictions to benign flows, so an injected alert's TreeSHAP panel describes its donor flow. Every number in it is a real model output, but it is not a measurement of the model — data/demo.db is.</a:t>
                      </a:r>
                    </a:p>
                  </a:txBody>
                  <a:tcPr marL="82296" marR="82296" marT="13716" marB="13716" anchor="ctr">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TEAM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Six people, one trust loop</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45</a:t>
            </a:r>
          </a:p>
        </p:txBody>
      </p:sp>
      <p:sp>
        <p:nvSpPr>
          <p:cNvPr id="8" name="Rectangle 7"/>
          <p:cNvSpPr/>
          <p:nvPr/>
        </p:nvSpPr>
        <p:spPr>
          <a:xfrm>
            <a:off x="566928"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68096"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8096"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GA</a:t>
            </a:r>
          </a:p>
        </p:txBody>
      </p:sp>
      <p:sp>
        <p:nvSpPr>
          <p:cNvPr id="12" name="TextBox 11"/>
          <p:cNvSpPr txBox="1"/>
          <p:nvPr/>
        </p:nvSpPr>
        <p:spPr>
          <a:xfrm>
            <a:off x="1554480"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Glenn Ang Zhen Xiang</a:t>
            </a:r>
          </a:p>
          <a:p>
            <a:pPr algn="l">
              <a:lnSpc>
                <a:spcPct val="118000"/>
              </a:lnSpc>
              <a:spcBef>
                <a:spcPts val="0"/>
              </a:spcBef>
              <a:spcAft>
                <a:spcPts val="0"/>
              </a:spcAft>
            </a:pPr>
            <a:r>
              <a:rPr sz="960" b="0" i="0">
                <a:solidFill>
                  <a:srgbClr val="6B7684"/>
                </a:solidFill>
                <a:latin typeface="Segoe UI"/>
              </a:rPr>
              <a:t>Project Leader, Developer, Tester, Documentation</a:t>
            </a:r>
          </a:p>
        </p:txBody>
      </p:sp>
      <p:sp>
        <p:nvSpPr>
          <p:cNvPr id="13" name="Rectangle 12"/>
          <p:cNvSpPr/>
          <p:nvPr/>
        </p:nvSpPr>
        <p:spPr>
          <a:xfrm>
            <a:off x="4332122"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32122"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533290"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3290"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LC</a:t>
            </a:r>
          </a:p>
        </p:txBody>
      </p:sp>
      <p:sp>
        <p:nvSpPr>
          <p:cNvPr id="17" name="TextBox 16"/>
          <p:cNvSpPr txBox="1"/>
          <p:nvPr/>
        </p:nvSpPr>
        <p:spPr>
          <a:xfrm>
            <a:off x="5319674"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Liow Chee Kuang</a:t>
            </a:r>
          </a:p>
          <a:p>
            <a:pPr algn="l">
              <a:lnSpc>
                <a:spcPct val="118000"/>
              </a:lnSpc>
              <a:spcBef>
                <a:spcPts val="0"/>
              </a:spcBef>
              <a:spcAft>
                <a:spcPts val="0"/>
              </a:spcAft>
            </a:pPr>
            <a:r>
              <a:rPr sz="960" b="0" i="0">
                <a:solidFill>
                  <a:srgbClr val="6B7684"/>
                </a:solidFill>
                <a:latin typeface="Segoe UI"/>
              </a:rPr>
              <a:t>Lead Developer, Software Tester, Documentation</a:t>
            </a:r>
          </a:p>
        </p:txBody>
      </p:sp>
      <p:sp>
        <p:nvSpPr>
          <p:cNvPr id="18" name="Rectangle 17"/>
          <p:cNvSpPr/>
          <p:nvPr/>
        </p:nvSpPr>
        <p:spPr>
          <a:xfrm>
            <a:off x="8097316"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97316"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98484"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98484"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TJ</a:t>
            </a:r>
          </a:p>
        </p:txBody>
      </p:sp>
      <p:sp>
        <p:nvSpPr>
          <p:cNvPr id="22" name="TextBox 21"/>
          <p:cNvSpPr txBox="1"/>
          <p:nvPr/>
        </p:nvSpPr>
        <p:spPr>
          <a:xfrm>
            <a:off x="9084868"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Tan Jing Kai</a:t>
            </a:r>
          </a:p>
          <a:p>
            <a:pPr algn="l">
              <a:lnSpc>
                <a:spcPct val="118000"/>
              </a:lnSpc>
              <a:spcBef>
                <a:spcPts val="0"/>
              </a:spcBef>
              <a:spcAft>
                <a:spcPts val="0"/>
              </a:spcAft>
            </a:pPr>
            <a:r>
              <a:rPr sz="960" b="0" i="0">
                <a:solidFill>
                  <a:srgbClr val="6B7684"/>
                </a:solidFill>
                <a:latin typeface="Segoe UI"/>
              </a:rPr>
              <a:t>Lead Documentation, Software Tester, Developer</a:t>
            </a:r>
          </a:p>
        </p:txBody>
      </p:sp>
      <p:sp>
        <p:nvSpPr>
          <p:cNvPr id="23" name="Rectangle 22"/>
          <p:cNvSpPr/>
          <p:nvPr/>
        </p:nvSpPr>
        <p:spPr>
          <a:xfrm>
            <a:off x="566928"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68096"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IK</a:t>
            </a:r>
          </a:p>
        </p:txBody>
      </p:sp>
      <p:sp>
        <p:nvSpPr>
          <p:cNvPr id="27" name="TextBox 26"/>
          <p:cNvSpPr txBox="1"/>
          <p:nvPr/>
        </p:nvSpPr>
        <p:spPr>
          <a:xfrm>
            <a:off x="1554480"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Isaac Koh Zhi Xian</a:t>
            </a:r>
          </a:p>
          <a:p>
            <a:pPr algn="l">
              <a:lnSpc>
                <a:spcPct val="118000"/>
              </a:lnSpc>
              <a:spcBef>
                <a:spcPts val="0"/>
              </a:spcBef>
              <a:spcAft>
                <a:spcPts val="0"/>
              </a:spcAft>
            </a:pPr>
            <a:r>
              <a:rPr sz="960" b="0" i="0">
                <a:solidFill>
                  <a:srgbClr val="6B7684"/>
                </a:solidFill>
                <a:latin typeface="Segoe UI"/>
              </a:rPr>
              <a:t>Lead Tester, Documentation, Developer</a:t>
            </a:r>
          </a:p>
        </p:txBody>
      </p:sp>
      <p:sp>
        <p:nvSpPr>
          <p:cNvPr id="28" name="Rectangle 27"/>
          <p:cNvSpPr/>
          <p:nvPr/>
        </p:nvSpPr>
        <p:spPr>
          <a:xfrm>
            <a:off x="4332122"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332122"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4533290"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33290"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TW</a:t>
            </a:r>
          </a:p>
        </p:txBody>
      </p:sp>
      <p:sp>
        <p:nvSpPr>
          <p:cNvPr id="32" name="TextBox 31"/>
          <p:cNvSpPr txBox="1"/>
          <p:nvPr/>
        </p:nvSpPr>
        <p:spPr>
          <a:xfrm>
            <a:off x="5319674"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Thian Wen Jun Gene</a:t>
            </a:r>
          </a:p>
          <a:p>
            <a:pPr algn="l">
              <a:lnSpc>
                <a:spcPct val="118000"/>
              </a:lnSpc>
              <a:spcBef>
                <a:spcPts val="0"/>
              </a:spcBef>
              <a:spcAft>
                <a:spcPts val="0"/>
              </a:spcAft>
            </a:pPr>
            <a:r>
              <a:rPr sz="960" b="0" i="0">
                <a:solidFill>
                  <a:srgbClr val="6B7684"/>
                </a:solidFill>
                <a:latin typeface="Segoe UI"/>
              </a:rPr>
              <a:t>QA Engineer, Developer, Documentation</a:t>
            </a:r>
          </a:p>
        </p:txBody>
      </p:sp>
      <p:sp>
        <p:nvSpPr>
          <p:cNvPr id="33" name="Rectangle 32"/>
          <p:cNvSpPr/>
          <p:nvPr/>
        </p:nvSpPr>
        <p:spPr>
          <a:xfrm>
            <a:off x="8097316"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097316"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298484"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298484"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ZY</a:t>
            </a:r>
          </a:p>
        </p:txBody>
      </p:sp>
      <p:sp>
        <p:nvSpPr>
          <p:cNvPr id="37" name="TextBox 36"/>
          <p:cNvSpPr txBox="1"/>
          <p:nvPr/>
        </p:nvSpPr>
        <p:spPr>
          <a:xfrm>
            <a:off x="9084868"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Zay Yar Naing</a:t>
            </a:r>
          </a:p>
          <a:p>
            <a:pPr algn="l">
              <a:lnSpc>
                <a:spcPct val="118000"/>
              </a:lnSpc>
              <a:spcBef>
                <a:spcPts val="0"/>
              </a:spcBef>
              <a:spcAft>
                <a:spcPts val="0"/>
              </a:spcAft>
            </a:pPr>
            <a:r>
              <a:rPr sz="960" b="0" i="0">
                <a:solidFill>
                  <a:srgbClr val="6B7684"/>
                </a:solidFill>
                <a:latin typeface="Segoe UI"/>
              </a:rPr>
              <a:t>Feedback &amp; Fusion Developer, Documentation</a:t>
            </a:r>
          </a:p>
        </p:txBody>
      </p:sp>
      <p:sp>
        <p:nvSpPr>
          <p:cNvPr id="38" name="Rectangle 37"/>
          <p:cNvSpPr/>
          <p:nvPr/>
        </p:nvSpPr>
        <p:spPr>
          <a:xfrm>
            <a:off x="566928" y="4553712"/>
            <a:ext cx="11057839" cy="71323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86384" y="4663440"/>
            <a:ext cx="10618927" cy="512064"/>
          </a:xfrm>
          <a:prstGeom prst="rect">
            <a:avLst/>
          </a:prstGeom>
          <a:noFill/>
        </p:spPr>
        <p:txBody>
          <a:bodyPr wrap="square" anchor="t" lIns="0" rIns="0" tIns="0" bIns="0">
            <a:spAutoFit/>
          </a:bodyPr>
          <a:lstStyle/>
          <a:p>
            <a:pPr algn="l">
              <a:spcBef>
                <a:spcPts val="0"/>
              </a:spcBef>
              <a:spcAft>
                <a:spcPts val="300"/>
              </a:spcAft>
            </a:pPr>
            <a:r>
              <a:rPr sz="1250" b="1" i="0">
                <a:solidFill>
                  <a:srgbClr val="FFFFFF"/>
                </a:solidFill>
                <a:latin typeface="Segoe UI"/>
              </a:rPr>
              <a:t>Supervisor: Mr Lim Min Han</a:t>
            </a:r>
          </a:p>
          <a:p>
            <a:pPr algn="l">
              <a:spcBef>
                <a:spcPts val="0"/>
              </a:spcBef>
              <a:spcAft>
                <a:spcPts val="0"/>
              </a:spcAft>
            </a:pPr>
            <a:r>
              <a:rPr sz="960" b="0" i="0">
                <a:solidFill>
                  <a:srgbClr val="C3CEDA"/>
                </a:solidFill>
                <a:latin typeface="Segoe UI"/>
              </a:rPr>
              <a:t>FYP-26-S3-13  ·  CSIT321 Final Year Project  ·  github.com/CSIT-321/CSIT321-Human-in-the-loop_IDS</a:t>
            </a:r>
          </a:p>
        </p:txBody>
      </p:sp>
      <p:sp>
        <p:nvSpPr>
          <p:cNvPr id="40" name="TextBox 39"/>
          <p:cNvSpPr txBox="1"/>
          <p:nvPr/>
        </p:nvSpPr>
        <p:spPr>
          <a:xfrm>
            <a:off x="566928" y="5468112"/>
            <a:ext cx="11057839" cy="640080"/>
          </a:xfrm>
          <a:prstGeom prst="rect">
            <a:avLst/>
          </a:prstGeom>
          <a:noFill/>
        </p:spPr>
        <p:txBody>
          <a:bodyPr wrap="square" anchor="t" lIns="0" rIns="0" tIns="0" bIns="0">
            <a:spAutoFit/>
          </a:bodyPr>
          <a:lstStyle/>
          <a:p>
            <a:pPr algn="l">
              <a:lnSpc>
                <a:spcPct val="120000"/>
              </a:lnSpc>
              <a:spcBef>
                <a:spcPts val="0"/>
              </a:spcBef>
              <a:spcAft>
                <a:spcPts val="0"/>
              </a:spcAft>
            </a:pPr>
            <a:r>
              <a:rPr sz="960" b="0" i="1">
                <a:solidFill>
                  <a:srgbClr val="6B7684"/>
                </a:solidFill>
                <a:latin typeface="Segoe UI"/>
              </a:rPr>
              <a:t>The workplan for this build was the project lead plus delegated implementation workers; the team roles above are the project's own allocation.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377440"/>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FFFFFF"/>
                </a:solidFill>
                <a:latin typeface="Segoe UI"/>
              </a:rPr>
              <a:t>Questions &amp; Discussion</a:t>
            </a:r>
          </a:p>
        </p:txBody>
      </p:sp>
      <p:sp>
        <p:nvSpPr>
          <p:cNvPr id="5" name="Rectangle 4"/>
          <p:cNvSpPr/>
          <p:nvPr/>
        </p:nvSpPr>
        <p:spPr>
          <a:xfrm>
            <a:off x="886968" y="3401568"/>
            <a:ext cx="137160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86968" y="3639312"/>
            <a:ext cx="8863279" cy="1097280"/>
          </a:xfrm>
          <a:prstGeom prst="rect">
            <a:avLst/>
          </a:prstGeom>
          <a:noFill/>
        </p:spPr>
        <p:txBody>
          <a:bodyPr wrap="square" anchor="t" lIns="0" rIns="0" tIns="0" bIns="0">
            <a:spAutoFit/>
          </a:bodyPr>
          <a:lstStyle/>
          <a:p>
            <a:pPr algn="l">
              <a:spcBef>
                <a:spcPts val="0"/>
              </a:spcBef>
              <a:spcAft>
                <a:spcPts val="1000"/>
              </a:spcAft>
            </a:pPr>
            <a:r>
              <a:rPr sz="1250" b="0" i="0">
                <a:solidFill>
                  <a:srgbClr val="C3CEDA"/>
                </a:solidFill>
                <a:latin typeface="Segoe UI"/>
              </a:rPr>
              <a:t>Human-in-the-Loop Intrusion Detection Dashboard  ·  FYP-26-S3-13</a:t>
            </a:r>
          </a:p>
          <a:p>
            <a:pPr algn="l">
              <a:lnSpc>
                <a:spcPct val="120000"/>
              </a:lnSpc>
              <a:spcBef>
                <a:spcPts val="0"/>
              </a:spcBef>
              <a:spcAft>
                <a:spcPts val="1000"/>
              </a:spcAft>
            </a:pPr>
            <a:r>
              <a:rPr sz="1050" b="0" i="0">
                <a:solidFill>
                  <a:srgbClr val="8FA3B8"/>
                </a:solidFill>
                <a:latin typeface="Segoe UI"/>
              </a:rPr>
              <a:t>Tan Jing Kai · Zay Yar Naing · Glenn Ang Zhen Xiang · Isaac Koh Zhi Xian · Thian Wen Jun Gene · Liow Chee Kuang</a:t>
            </a:r>
          </a:p>
          <a:p>
            <a:pPr algn="l">
              <a:spcBef>
                <a:spcPts val="0"/>
              </a:spcBef>
              <a:spcAft>
                <a:spcPts val="0"/>
              </a:spcAft>
            </a:pPr>
            <a:r>
              <a:rPr sz="1050" b="0" i="0">
                <a:solidFill>
                  <a:srgbClr val="8FA3B8"/>
                </a:solidFill>
                <a:latin typeface="Segoe UI"/>
              </a:rPr>
              <a:t>Supervisor: Mr Lim Min Han</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